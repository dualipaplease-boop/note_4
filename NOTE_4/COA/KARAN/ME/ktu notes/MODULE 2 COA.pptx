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4"/>
  </p:sldMasterIdLst>
  <p:notesMasterIdLst>
    <p:notesMasterId r:id="rId135"/>
  </p:notesMasterIdLst>
  <p:sldIdLst>
    <p:sldId id="278" r:id="rId5"/>
    <p:sldId id="282" r:id="rId6"/>
    <p:sldId id="279" r:id="rId7"/>
    <p:sldId id="287" r:id="rId8"/>
    <p:sldId id="288" r:id="rId9"/>
    <p:sldId id="289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290" r:id="rId18"/>
    <p:sldId id="291" r:id="rId19"/>
    <p:sldId id="295" r:id="rId20"/>
    <p:sldId id="294" r:id="rId21"/>
    <p:sldId id="292" r:id="rId22"/>
    <p:sldId id="284" r:id="rId23"/>
    <p:sldId id="293" r:id="rId24"/>
    <p:sldId id="304" r:id="rId25"/>
    <p:sldId id="305" r:id="rId26"/>
    <p:sldId id="306" r:id="rId27"/>
    <p:sldId id="307" r:id="rId28"/>
    <p:sldId id="308" r:id="rId29"/>
    <p:sldId id="309" r:id="rId30"/>
    <p:sldId id="310" r:id="rId31"/>
    <p:sldId id="311" r:id="rId32"/>
    <p:sldId id="312" r:id="rId33"/>
    <p:sldId id="314" r:id="rId34"/>
    <p:sldId id="315" r:id="rId35"/>
    <p:sldId id="317" r:id="rId36"/>
    <p:sldId id="316" r:id="rId37"/>
    <p:sldId id="318" r:id="rId38"/>
    <p:sldId id="319" r:id="rId39"/>
    <p:sldId id="320" r:id="rId40"/>
    <p:sldId id="321" r:id="rId41"/>
    <p:sldId id="322" r:id="rId42"/>
    <p:sldId id="323" r:id="rId43"/>
    <p:sldId id="324" r:id="rId44"/>
    <p:sldId id="325" r:id="rId45"/>
    <p:sldId id="326" r:id="rId46"/>
    <p:sldId id="327" r:id="rId47"/>
    <p:sldId id="328" r:id="rId48"/>
    <p:sldId id="330" r:id="rId49"/>
    <p:sldId id="331" r:id="rId50"/>
    <p:sldId id="332" r:id="rId51"/>
    <p:sldId id="333" r:id="rId52"/>
    <p:sldId id="334" r:id="rId53"/>
    <p:sldId id="335" r:id="rId54"/>
    <p:sldId id="336" r:id="rId55"/>
    <p:sldId id="337" r:id="rId56"/>
    <p:sldId id="338" r:id="rId57"/>
    <p:sldId id="364" r:id="rId58"/>
    <p:sldId id="340" r:id="rId59"/>
    <p:sldId id="341" r:id="rId60"/>
    <p:sldId id="339" r:id="rId61"/>
    <p:sldId id="342" r:id="rId62"/>
    <p:sldId id="343" r:id="rId63"/>
    <p:sldId id="344" r:id="rId64"/>
    <p:sldId id="329" r:id="rId65"/>
    <p:sldId id="345" r:id="rId66"/>
    <p:sldId id="346" r:id="rId67"/>
    <p:sldId id="347" r:id="rId68"/>
    <p:sldId id="348" r:id="rId69"/>
    <p:sldId id="350" r:id="rId70"/>
    <p:sldId id="285" r:id="rId71"/>
    <p:sldId id="351" r:id="rId72"/>
    <p:sldId id="352" r:id="rId73"/>
    <p:sldId id="353" r:id="rId74"/>
    <p:sldId id="354" r:id="rId75"/>
    <p:sldId id="355" r:id="rId76"/>
    <p:sldId id="356" r:id="rId77"/>
    <p:sldId id="357" r:id="rId78"/>
    <p:sldId id="358" r:id="rId79"/>
    <p:sldId id="359" r:id="rId80"/>
    <p:sldId id="360" r:id="rId81"/>
    <p:sldId id="361" r:id="rId82"/>
    <p:sldId id="362" r:id="rId83"/>
    <p:sldId id="363" r:id="rId84"/>
    <p:sldId id="369" r:id="rId85"/>
    <p:sldId id="370" r:id="rId86"/>
    <p:sldId id="367" r:id="rId87"/>
    <p:sldId id="368" r:id="rId88"/>
    <p:sldId id="373" r:id="rId89"/>
    <p:sldId id="372" r:id="rId90"/>
    <p:sldId id="286" r:id="rId91"/>
    <p:sldId id="374" r:id="rId92"/>
    <p:sldId id="375" r:id="rId93"/>
    <p:sldId id="283" r:id="rId94"/>
    <p:sldId id="376" r:id="rId95"/>
    <p:sldId id="281" r:id="rId96"/>
    <p:sldId id="377" r:id="rId97"/>
    <p:sldId id="378" r:id="rId98"/>
    <p:sldId id="379" r:id="rId99"/>
    <p:sldId id="380" r:id="rId100"/>
    <p:sldId id="381" r:id="rId101"/>
    <p:sldId id="382" r:id="rId102"/>
    <p:sldId id="383" r:id="rId103"/>
    <p:sldId id="384" r:id="rId104"/>
    <p:sldId id="385" r:id="rId105"/>
    <p:sldId id="386" r:id="rId106"/>
    <p:sldId id="387" r:id="rId107"/>
    <p:sldId id="402" r:id="rId108"/>
    <p:sldId id="388" r:id="rId109"/>
    <p:sldId id="389" r:id="rId110"/>
    <p:sldId id="390" r:id="rId111"/>
    <p:sldId id="391" r:id="rId112"/>
    <p:sldId id="393" r:id="rId113"/>
    <p:sldId id="392" r:id="rId114"/>
    <p:sldId id="394" r:id="rId115"/>
    <p:sldId id="395" r:id="rId116"/>
    <p:sldId id="396" r:id="rId117"/>
    <p:sldId id="397" r:id="rId118"/>
    <p:sldId id="398" r:id="rId119"/>
    <p:sldId id="399" r:id="rId120"/>
    <p:sldId id="400" r:id="rId121"/>
    <p:sldId id="401" r:id="rId122"/>
    <p:sldId id="403" r:id="rId123"/>
    <p:sldId id="405" r:id="rId124"/>
    <p:sldId id="404" r:id="rId125"/>
    <p:sldId id="406" r:id="rId126"/>
    <p:sldId id="407" r:id="rId127"/>
    <p:sldId id="408" r:id="rId128"/>
    <p:sldId id="409" r:id="rId129"/>
    <p:sldId id="410" r:id="rId130"/>
    <p:sldId id="412" r:id="rId131"/>
    <p:sldId id="413" r:id="rId132"/>
    <p:sldId id="414" r:id="rId133"/>
    <p:sldId id="415" r:id="rId1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68" d="100"/>
          <a:sy n="68" d="100"/>
        </p:scale>
        <p:origin x="-198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38" Type="http://schemas.openxmlformats.org/officeDocument/2006/relationships/theme" Target="theme/theme1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28" Type="http://schemas.openxmlformats.org/officeDocument/2006/relationships/slide" Target="slides/slide124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slide" Target="slides/slide130.xml"/><Relationship Id="rId13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16" Type="http://schemas.openxmlformats.org/officeDocument/2006/relationships/slide" Target="slides/slide112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13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30" Type="http://schemas.openxmlformats.org/officeDocument/2006/relationships/slide" Target="slides/slide126.xml"/><Relationship Id="rId135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presProps" Target="pres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6-01-14T03:18:48.1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28575 7813,'25'0,"0"0,-1 0,1 0,0 0,0 0,0 0,-1 0,1 0,0 0,0 0,0 0,-1-24,1 24,0 0,0-25,0 25,-1 0,1 0,0 0,-25-25,25 25,0 0,0 0,-1 0,-24-25,25 25,0 0,0-25,0 25,-1 0,1-24,0 24,0 0,-25-25,25 0,-25 0,0 0,24 1,-24-1,0 0,0 0,25 25,-25-25,0 1,0-1,0 0,0 0,0 0,0 1,-25 24,25-25,0 0,0 0,-24 0,24 1,-25 24,25-25,-25 25,0-25,25 0,-25 25,1-25,-1 1,0-1,0 0,0 0,1 25,24-25,-50 25,25-24,0 24,0-25,1 25,-1 0,0 0,25-25,-25 25,0 0,1 0,-1 0,0 0,0 0,0 0,1 0,-1 25,25 0,-25-25,25 24,-25-24,0 25,1-25,-1 25,0-25,25 25,0 0,-25-25,0 24,1-24,24 25,-25 0,25 0,-25-25,25 25,0-1,-25-24,25 25,-25-25,25 25,0 0,-24-25,24 25,0-1,-25-24,25 25,0 0,0 0,0 0,0-1,0 1,0 0,0 0,0 0,0-1,0 1,25-25,-25 25,0 0,24 0,-24-1,25-24,-25 25,0 0,25-25,0 25,0-25,-1 25,1-25,0 0,0 0,0 0,-1 0,1 0</inkml:trace>
  <inkml:trace contextRef="#ctx0" brushRef="#br0" timeOffset="5860.4012">12427 8905,'25'0,"25"0,-1 0,1 0,-1 0,-24 0,0 0,0 0,0 0,-1 0,1 0,0 0,0 0,0 0,-1 0,1 0,0 0,0 0,0 0,-1 0,1 0,0 0,0 0,0 0,-1 0,1 0,0 0,0 0,0 0,0 0,-1 0,1 0,0 0,0 0,0 0,-1 0,1 0,0 0</inkml:trace>
  <inkml:trace contextRef="#ctx0" brushRef="#br0" timeOffset="10398.3424">7813 16197,'-24'0,"-1"-24,0 24,0-25,0 25,1-25,-1 25,0 0,0 0,0 0,1 0,-1 0,0 0,0 0,0 25,1-25,24 25,-25-25,0 0,0 0,0 24,1-24,24 25,-25-25,25 25,-25-25,0 25,25 0,-25-1,25 1,-24 0,24 0,-25 0,25 24,-25 1,25 0,0-1,-25-24,25 25,0-1,0-24,0 0,0 0,0-1,0 1,0 0,0 0,0 0,0 24,0-24,0 0,25 0,0-1,0 26,24 0,-24-26,25 26,-1 0,-24-1,25 1,-26-25,26 24,-25-24,0 0,24 0,-24 0,0-1,0 1,-1-25,1 0,25 25,-25-25,24 25,1-25,-1 0,1 0,0 0,-1 0,1 0,0 0,-1 0,-24 0,25 0,-26 0,1-25,0 25,0 0,0 0,-1-25,1 25,-25-25,25 1,0-1,0 0,-1 0,-24 0,25-24,-25 24,25 0,-25 0,25 0,-25 1,0-1,0 0,25 0,-25 0,0 1,0-1,0-25,0 25,0 1,0-1,0 0,0 0,0 0,0 1,0-26,0 25,0 0,0 1,0-1,-25 0,25 0,0 0,-25 1,25-1,0 0,0 0,0 0,-25 25,25-24,-25-1,25 0,-24 0,24 0,-25 25,25-24,0-1,-25 25,25-25,-25 0,0 0,25 0,-24 25,-1-24,25-1,-25 25,0 0,0-25,1 25,-1 0,0 0,25-25,-25 25,0 0,1 0,-1-25,0 25,0 0,0-24,1 24,-1 0,25-25,-25 25,0 0,0 0,0 0,1 0,-1 0,0 0,0 0,0 0,1 0,-1 0,0 0,0 0,0 0,1 0,-1 0,0 0,0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6-01-14T03:28:17.7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21530 8756,'50'0,"-25"0,24 0,-24 0,0-25,0 25,0 0,24 0,-24-25,25 25,-25 0,-1 0,1 0,25-24,-25 24,-1 0,26 0,-25-25,24 25,-24 0,0 0,0 0,0-25,-1 25,1 0,0 0,0 0,0 0,24-25,-24 25,0-25,0 25,-1 0,1 0,0 0,0 0,0 0,-1 0,1 0,0 0,0 0,0 0,0 0,-1 0,1 0,0 0,0 0,0 0,-1 0,1 0,0 0,0 0,0 0,-1 0,1 0,0 0,0 0,0 0,-1 0,1 0</inkml:trace>
  <inkml:trace contextRef="#ctx0" brushRef="#br0" timeOffset="10188.3444">15776 7243,'25'0,"-1"0,1 0,0 0,25 0,-1 0,-24 0,0 0,0 0,-1 0,1 0,25 0,-25 0,-1 0,1 0,25 0,-25 0,24 0,-24 0,25 0,-1 0,1 0,-25 0,0 0,-1 0,1 0,0 0,0 0,24 0,-24 0,25 0,-25 0,24 0,-24 0,0 0,0 0,-1 0,1 0,0 0,25 0,-26 0,26 0,0 0,-26 0,1 0,25 0,-25 0,24 0,-24 0,0 0,0 0,-1 0,1 0,0 0,0 0,0 0,0 0,-1 0,1 0,0 0,25 0,-26 0,1 0,0 0,0 0,0 0,-1 0,1 0,0 0,0 0,0 0,-1 0,1 0,0 0,0 0,24 0,-24 0,0 0,0 0,0 0,-1 0,26 0,-25 0,0 0,-1 0,26 0,-25 0,0 0,-1 0,1 0,0 0,0 0,0 0,0 0,-1 0,1 0,0 0,0 0,0 0,-1 0,1 0,0 0,0 0,0 0,-1 0,1 0,0 0,0 0,0 0,-1 0,1 0,0 0,0 0,0 0,-1 0,1 0,0 0,0 0,0 0,-1 0,1 0,0 0,0 0,0 0,-1 0,1 0,0 0,0 0,0 0,-1 0,1 0,0 0,0 0,0 0,0 0,-1 0,1 0,0 0,0 0,0 0,-1 0,1 0,0 0,0 0,0 0,-1 0</inkml:trace>
  <inkml:trace contextRef="#ctx0" brushRef="#br0" timeOffset="16149.2987">15949 12427,'174'0,"-149"0,0 0,-1 0,26 25,-25-25,24 0,-24 0,25 0,-25 25,0-25,24 0,-24 0,0 25,0-25,-1 24,1-24,0 0,0 0,0 0,-1 0,1 0,0 0,0 0,0 0,-1 0,1 0,0 0,0 0,0 0,-1 0,1 0,0 0,0 0,0 0,-1 0,1 0,0 0,0 0,0 0,-1 0,1 0,0 0,0 0,0 0,-1 0,1 25,0-25,0 0,0 0,-1 0,1 0,0 0,0 0,0 0,0 0,-1 0,1 0,0 0,0 0,0 0,-1 0,1 0,0 0,0 0,0-25,-1 25,1 0,0-24,0 24,0-25,-1 25,1 0,25 0,-25-25,-1 25,1 0,0 0,0 0,0 0</inkml:trace>
  <inkml:trace contextRef="#ctx0" brushRef="#br0" timeOffset="18794.1508">17983 8731,'25'0,"50"0,-1 0,0 0,1 0,-26 0,1 0,-25 0,24 0,1 0,-25 0,25 0,-26 0,1 0,25 0,-1 0,-24 0,25 0,-25 0,-1 25,1-25,0 0,25 0,-26 0,1 0,0 0,0 0,0 0,-1 0,1 0,25 0,-1 0,-24 0,0 0,0 0,0 0,-1 0,1 0,0 0,0 0,0 0,-1 0,1 0,0 0,0 0,0 0,0 0,-1 0,1 0,0 0,0 0,0 0,-1 0,1 0,0 0,0 0,0 0,-1 0,1 0,0 0,0 0,0 0,-1 0,1 0,0 0,0 0,0 0,-1 0,-24-25,25 25</inkml:trace>
  <inkml:trace contextRef="#ctx0" brushRef="#br0" timeOffset="30034.098">20737 5482,'25'0,"-1"-25,1 25,0 0,0 0,0-25,-1 25,1 0,0 0,0 0,0 0,-1 0,1 0,0 0,0 0,0 0,-1 0,-24-25,25 25,0 0,0 0,0 0,-1 0,1 0,0 0,0 0,0 0,-25-24,24 24,1 0,0 0,0 0,0 0,-1 0,1 0,0 0,0 0,0 0</inkml:trace>
  <inkml:trace contextRef="#ctx0" brushRef="#br0" timeOffset="58111.2623">22870 7888,'25'0,"0"0,-1 0,1 0,0 0,0 0,0 0,-1 0,1 0,25 0,-25 0,-1 0,1 0,0 0,0 0,0 0,-1 0,1 0,0 0,0 0,0 0,-1 0,1 0,0 0,0 0,0 0,-1 0,1 0,0 0,0 0,0 0,-1 0,1 0,0 0,0 0,0 0,-1 0,1 0,0 0,0 0,0 0,0 0,-1 0,1 0,0 0,0 0,0 0,-1 0,1 0,0 0,0 0,0 0,-1 0,1 0,0 0,0 0,0 0,-1 0,1 0,0 0,0 0,0 0,-1 0,1 0,0 0,0 0,0 0,-1 0</inkml:trace>
  <inkml:trace contextRef="#ctx0" brushRef="#br0" timeOffset="61984.1043">24755 7689,'0'-24,"25"-1,0 0,-1 0,1 0,0 25,0 0,0 0,0 0,-1 0,1 0,0 0,0 0,0 0,-1 0,-24 25,25-25,0 0,-25 25,25-25,-25 25,25-25,-25 25,24-25,-24 24,0 1,25 0,-25 0,0 0,0-1,0 1,0 0,0 0,0 0,0-1,0 1,0 0,0 0,-25-25,25 25,-24-25,-1 0,0 25,0-25,25 24,-25-24,1 0,24 25,-25-25,0 0,0 0,0 0,1 0,-1 25,0-25,0 0,0 0,0 0,1 0,-1 0,0 0,0-25,25 0,-25 25,25-24,-24 24,24-25,0 0,-25 25,25-25,0 0,0 0,0 1,0-1,0 0,0 0,0 0,0 1,0-1,0 0,0 0,25 25,-25-25,24 25,1-24,0 24,-25-25,25 25,0 0,-1 0</inkml:trace>
  <inkml:trace contextRef="#ctx0" brushRef="#br0" timeOffset="99541.7586">24854 9798,'25'0,"0"0,25 0,-26 0,26 0,0 0,24-25,-24 25,-26 0,26-25,0 0,-26 25,1 0,25 0,-25-24,-1 24,1 0,0 0,0 0,0 0,-1 0,1 0,25 0,-25 0,-1 0,1 0,0 0,0 0,0 0</inkml:trace>
  <inkml:trace contextRef="#ctx0" brushRef="#br0" timeOffset="110318.8289">15701 8359,'25'0,"0"0,0 0,0 0,-1 0,1 0,0 0,0 0,0 0,-1 0,1 0,0 0,25 0,-26 0,26 0,-25 0,0 0,24 0,-24 0,25 0,-26 0,26 0,-25 0,0 0,0 0,-1 0,1 0,0 0,0 0,0-25,24 25,-24 0,0 0,0 0,-1 0,26-24,-25 24,0 0,-1 0,1 0,0 0,0 0,0 0,-1 0,1 0,0 0,0 0,0 0,-1 0,1 0,0 0,0 0,0 0,-1 0,1 0,0 0,0 0,-25 24,25-24,-25 25,0 0,0 0,0 0,0 24,0-24,0 25,0-26,0 26,0 24,0-24,0 0,0-26,0 1,0 25,0-25,0-1,0 1,0 0,0 0,0 0,0 0,0-1,24 1,-24 0,0 0,0 0,0-1,0 1,0 0,0 0,0 0,0-1,0 1,0 0,0 0,25-25,0 25,0-25,0 0,-25 24,24-24,26 0,-25 0,0 25,24-25,-24 0,0 0,25 0,24 25,-24-25,24 0,25 0,25-25,-25 25,25 0,-24-25,-1 25,-25-24,26 24,-26 0,-24-25,24 25,-24 0,24 0,25 0,0 0,1 0,-26 0,0 0,1 0,-1 0,-24 0,24 0,-49 0,50 0,-26 0,1 0,24 0,-24 0,49 0,0 0,-49 0,-1 0,26 0,-26 0,1 0,0 0,-1 0,1 25,0-25,-1 0,1 0,24 0,-24 24,24-24,1 0,-26 25,1-25,-1 0,26 0,-26 25,1-25,0 0,-26 0,51 0,-50 0,49 0,-24 0,-1 0,1 0,24 0,-24 0,24 0,-49 0,25 0,-1 0,1 0,0 0,-1-25,1 25,-1 0,-24 0,25 0,-1 0,1 0,-25-25,24 25,1 0,49-24,-49 24,24 0,-49 0,50-25,-26 25,-24-25,49 25,-49 0,0 0,25 0,-26 0,26 0,-25 0,24 0,-24 0,0 0,25 0,-26 0,1 0,0 0,0 0,0 0,24 0,-24 0,0 0,24 0,-24 0,0 0,0 0,25 0,-26 0,26 0,-25 0,24 0,-24 0,0 0,0 0,0 0,-1 0,1 0,0 0,25 0,-26 25,1-25,0 0,0 0,0 0,-1 25,1-25,0 0,0 0,0 0,-1 0,1 0,0 0,0 0</inkml:trace>
  <inkml:trace contextRef="#ctx0" brushRef="#br0" timeOffset="116899.8439">24978 9178,'-24'0,"-1"0,25 25,-25-25,0 0,25 24,-25-24,0 0,25 25,-24-25,24 25,-25-25,0 25,0 0,0-25,1 24,24 1,-25 0,25 0,-25-25,25 25,0-1,0 1,0 0,0 0,0 0,0-1,0 1,0 0,0 0,0 0,0-1,0 1,0 0,0 0,25-25,-25 25,25-1,-1 1,1-25,-25 25,25-25,0 25,0 0,-1-25,1 0,-25 24,25-24,25 0,-25 25,-1-25,1 0,0 0,25 0,-26 0,1 0,0 0,0 0,0 0,-1 0,26 0,-25 0,0-25,49 25,-24-24,-1-1,1 0,-25 25,24-25,-49 0,25 1,0 24,-25-25,0 0,25 25,-25-25,0 0,0 1,24-1,-24 0,0 0,0 0,0 1,0-1,0 0,0 0,0 0,0 1,-24 24,24-25,0 0,0 0,-25 0,25 1,-25 24,25-25,-25 25,25-25,-25 0,1 0,-1 25,0 0,0 0,0 0,25-24,-24 24,-1 0,0 0,0 0,0 0,1 0,-1 0,0 0,0 0,0 0,1 0,-1 0,0 0,0 24,0-24,1 0,-1 0,0 0,25 25,-25-25,0 0</inkml:trace>
  <inkml:trace contextRef="#ctx0" brushRef="#br0" timeOffset="123450.3196">25747 7069,'25'0,"25"0,-26 0,26 0,-25 0,49 0,-49 0,25 0,-1 0,1 0,-25 0,24 0,-24 0,25 0,-25 0,-1 0,1 0,0 0,0 0,0 0,-1 0,1 0,0 0,0 0,0 0,-1 0,1 0,0 0</inkml:trace>
  <inkml:trace contextRef="#ctx0" brushRef="#br0" timeOffset="197338.8859">13494 17413,'248'-25,"124"-49,-124 24,0 25,-50 25,-24-25,0 1,-50 24,-50 0,50 0,0 0,0 24,-25 1,25 0,-24-25,-26 0,25 0,-24 0,24 25,0-25,0 0,75 0,-50 0,25 0,-25 0,0 0,0 0,0-25,25 25,-25 0,0 0,25 0,-25 0,24 0,-24 0,1 0,98 0,0 25,-25 0,-98-25,24 49,-50-49,25 0,1 50,-1-25,-25-25,25 24,-24-24,24 25,0-25,-24 25,-1-25,-24 0,24 25,-24-25,-1 0,-24 0,50 0,-26 0,1 0,-1 0,51 0,-26 0,25 0,-24 0,24 0,-50 0,26 0,-50 0,49 0,-49 0,49 0,1-25,-1 25,1-25,-1 25,25-25,-24 25,-1 0,-24 0,-1 0,-24 0,25 0,-1 0,-24 0,0 0,24 0,-24 0,0 0,25-24,-1 24,-24 0,25 0,-25 0,-1 0,1 0,25 0,-25 0,-1 0,1 0,0 0,0 0,0 0,-1 0,1 0,0 0,0 0,0 0,-1 0,76-25,24 25,24-25,-73 25,49-25,-25 0,0 25,1 0,-1 0,0 0,0 0,0 0,1 0,-26 0,-24 0,24 0,25 0,-49 0,0 0,-1 0,1 0,-25-24,24 24,-24 0,25 0,-26 0,1-25,0 25,0 0,0-25,-1 25,1 0,0 0,0 0,0 0,-1 0,1 0,0 0,0 0,0 0,-1 0,1 0,0 0,0 0,0 0,-1 0,1 0,0 0,0 0,0 0,-1 0,1 0,0 0,0 0,0 0,0 0</inkml:trace>
  <inkml:trace contextRef="#ctx0" brushRef="#br0" timeOffset="207431.7194">11063 6176,'0'25,"0"25,-50-1,1 1,-1 24,0 26,1-51,-1 1,25 24,1 1,-1-26,0 51,0-51,0 50,25 1,-49 24,24-50,25 50,0-50,-25 50,0-49,25-1,-24 25,24-24,0-25,0 24,0-24,0-26,0 51,0-50,0 49,0-24,0-26,0 51,24-50,-24 24,0 26,0-51,0 51,25-50,-25-1,0 26,0-25,0 0,25-1,-25 1,0 0,25 0,0 0,-1 0,-24-1,0 1,25 0,0 0,-25 0,25-1,0 1,-1-25,1 50,0-50,0 25,0-1,24-24,-24 50,25-25,-26-25,1 25,0-1,0-24,0 25,-1-25,1 25,25 0,-25-25,0 25,24-25,-24 0,0 24,0-24,24 25,-24-25,0 25,0-25,-1 25,1-25,0 0,0 25,0-25,-1 0,1 0,25 0,-25 0,-1 0,1 0,25 0,-25 0,24-25,-24 25,25 0,-26 0,1-25,0 25,25-25,-26 25,26-25,-25 1,25 24,-1-25,-24 0,25 0,-26 25,1-25,-25 1,25 24,0-25,24 0,-24 0,25-24,-25-1,24 0,-24-24,25 24,-26 1,1 24,-25 0,25 25,-25-25,0 0,25 1,-25-1,0 0,0 0,25 0,-25 1,0-26,0 25,0 0,0 1,0-1,0 0,0 0,0 0,0 1,0-1,0 0,0 0,0-24,0 24,0 0,0-25,0 1,0 24,0-25,0 1,-25-1,0 1,0-51,-24 26,-1-1,25-24,-49-25,24 50,25-1,-24 1,49 49,-25-24,-25-1,26 0,-1 1,0-1,0 1,0 24,1-50,-1 51,0-51,0 25,0 1,0 24,1 0,24-24,-25 24,0 0,0 0,0 0,1-24,-1 24,0 0,0 0,-24 1,49-1,-25 0,0 25,25-25,-25 25,0-25,1 1,-1 24,0-25,0 25,0 0,1-25,-1 25,0 0,0-25,0 25,1 0,-1 0,0 0,0 0,0 0,1 0,-1 0,0 0,0 0,0 0,1 0,-1 0,0 0,0 0,0 0,0 0,1 0,-1 0,0 25,0-25,0 0,1 0,-1 25</inkml:trace>
  <inkml:trace contextRef="#ctx0" brushRef="#br0" timeOffset="211136.8939">11832 11757,'-25'0,"0"-24,0 24,1-25,-1 25,-25-25,1 0,24 25,0 0,-25-25,1 1,-1-1,25 25,-24-25,24 25,0 0,0 0,1-25,-1 25,0 0,0 0,0 0,0 0,1 0,-26 0,25 0,0 0,1 0,-1 0,0 25,0-25,0 0,25 25,-24-25,-26 25,50-1,-25 1,25 0,-25 0,1-25,24 25,-25-1,0 1,25 0,-25 25,25-26,-49 1,49 25,-25-25,25-1,-25 26,25 0,0-1,-25-24,25 25,0-1,-25 1,25-25,0 0,0-1,0 1,0 0,0 0,0 24,0 1,0-25,0 24,25-24,-25 25,0-1,0 1,0-25,25 0,-25 24,0 1,25-25,-25-1,25 1,-25 0,24 0,1 0,-25-1,25 26,-25-25,25 0,0 24,-1-24,1 25,0-25,-25-1,50 1,-26 25,-24-25,25-1,25 1,-50 0,25 0,-1 0,1-1,25 1,-25 0,24 0,1 24,24-24,-24 0,24-25,1 25,49-25,-75 25,1-25,0 0,-1 0,26 0,-26 0,1 0,-1 0,26 0,-26-25,1 25,0-25,-1 25,26-25,-26 0,-24 1,25-1,-1 0,1-25,0 26,-1-26,-24 25,25-24,-26 24,1 0,0 0,0 0,-25-24,25 24,-25 0,0 0,0-24,0 24,0-25,0-24,0 49,0-49,0 49,0-50,0 51,0-26,0 25,0 0,0 1,0-1,0 0,0 0,0-24,-25-1,0 0,25 26,-25-26,0 0,1 26,-1-26,0 25,0 0,25 1,-49-1,24-25,25 25,-25 0,-25 1,50-26,-24 25,-26 0,25 1,0-1,1 0,-26-25,25 26,0 24,25-25,-24 0,-26 25,25-25,0 0,0 25,1-24,-1 24,0 0,0 0,0-25,1 0,-1 25,0-25,0 25,0 0,1-25,-1 1,0 24,0-25,0 25,1 0,-1-25,0 25,0 0,0 0,1 0,-1 0,0 0,0 0,0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6-01-14T03:43:32.8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7913 17611,'24'-24,"1"24,0 0,0 0,0 0,0 0,-1 0,1 0,0 0,0 0,0 0,-1 0,1 0,0 0,0 0,0 0,-1-25,1 25,0 0,-25-25,25 25,0-25,-1 0,1 0,0 1,0 24,-25-25,25 25,-25-25,24 25,-24-25,25 25,-25-25,25 25,-25-24,25 24,-25-25,25 25,-25-25,24 25,-24-25,0 0,25 1,-25-1,25 25,-25-25,0 0,0 0,0 1,0-1,0 0,0 0,0 0,0 1,0-1,0 0,-25 0,25 0,0 1,-25-1,25 0,-24 0,24 0,-25 1,0-1,0 25,25-25,-25 25,25-25,-24 25,24-25,-25 25,25-24,-25 24,0-25,0 25,1-25,-1 25,0 0,0 0,0 0,1 0,-1 0,0 0,0 0,0 0,1 0,-1 25,0 0,0-25,0 24,1-24,-1 0,0 25,0-25,0 0,0 0,1 0,-1 25,25 0,-25-25,0 0,25 25,-25-25,1 24,-1 1,0-25,25 25,-25 0,0-25,25 25,-24-25,24 24,-25 1,0 0,25 0,0 0,-25-25,25 24,0 1,0 0,0 0,0 0,0-1,0 1,0 0,0 0,0 0,0-1,0 1,25-25,-25 25,0 0,25-25,-25 25,0-1,0 1,25-25,-25 25,24 0,1-25,-25 25,25-25,0 24,0-24,-25 25,24-25,1 25,0-25,-25 25,25-25,0 0,-1 0,1 0,0 0,0 0,0 0,0 0,-25 25,24-25,1 0,0 0,0 0,0 0,-1 0,1 0,0 0,0 0,0 0,-1 0,1 0</inkml:trace>
  <inkml:trace contextRef="#ctx0" brushRef="#br0" timeOffset="14398.9037">23837 8186,'25'0,"0"0,0 0,0 0,-1 0,1 0,0 0,0 0,24 0,-24 0,0 0,0 0,0 0,-1 0,1 0,0 0,0 0,0-25,-1 25,1 0,0 0,0 0,0 0,-1 0,1 0,0 0,-50 0,0 0,1 0,-1 0,0 0,0 0,0 0,1 0,-1 0,0 0,0 0,0 0,1 0,-1-25,0 0,25 0,0 1,0-1,0 0,0 0,0 0,0 0,0 1,0-1,0 0,0 0,0 0,-25 25,25-24,0-1,-25 25,25-25,0 0,0 0,-24 25,24-24,0-1,-25 0,25 0,0 0,0 1,0-1,0 0,0 0,-25-24,25 24,0 0,-25 0,25-24,0 24,0 0,0 0,0 0,-25 1,25-1,0-25,0 25,0 1,-24-1,24 0,0 0,0-24,0 24,-25-25,25 25,0-24,-25 24,25-25,0 25,0 1,-25-1,25 0,0 0,0-24,0 24,-25 0,25 0,0 0,0 1,0-26,-25 25,25 0,0 1,0-1,0 0,-24 0,24 0,0 1,0-1,0 0,0 0,0 0,0 1,0-1,0 0,0 0,0 0,0 1,0-1,0 0,24 25,-24-25,0 0,25 25,-25-25,25 25,-25-24,25 24,0-25,0 25,-1-25,1 25,0 0,0-25,0 25,-1 0,1 0,0-25,0 25,0 0,-1 0,1 0,25 0,-25 0,-1 0,1 0,0-24,0 24,24 0,-24 0,0 0,0 0,0 0,-1 0,-24-25,25 25,0 0,0 0,0 0,-1 0,1 0,25 0,-1 0,-24-25,25 25,-25 0,0 0,-1 0,26 0,-25 0,24-25,-24 25,25-25,-25 25,-1 0,1 0,25 0,-25 0,24 0,-24 0,25-24,-26 24,1 0,0 0,25 0,-1 0,-24 0,0 0,0 0,-1 0,1 0,0 0,0 0,24 0,-24 0,25 0,-25 0,0 0,24 0,-24 0,25 0,-26 0,1 0,0 0,0 0,24 0,-24 0,0 0,25 0,-1 0,1 0,-1 0,1 0,0 0,-1 0,1 0,-1 0,1 0,0 0,-26 0,26 0,-25 0,0 0,24 0,-24 24,25-24,-25 0,24 0,-24 0,0 0,24 0,1 0,-25 0,24 0,-24 0,0 0,0 0,0 0,-1 25,1-25,0 0,0 0,0 0,-1 0,1 0,0 0,0 0,0 0,-1 0,1 0,0 0,0 0,0 0,-1 0,1 0,0 0,0 0,0 0,-1 0,1 0,0 0,0 0,0 0,0 0,-1 0,1 0,-25 25,25-25,0 0,0 0,-1 0,1 0,0 0,0 0,-25 25,25-25,-1 0,1 0,0 0,0 0,-25 25,25-25,-1 0,1 0,0 24,0-24,-25 25,25-25,-25 25,24-25,-24 25,25-25,-25 25,25-25,-25 24,0 1,0 0,25-25,-25 25,25-25,-25 25,0 0,24-25,-24 24,0 1,0 0,0 0,0 0,0-1,0 1,0 0,25-25,-25 25,0 0,0-1,0 1,0 0,0 0,0 0,0-1,0 1,0 0,0 0,0 0,0-1,0 1,0 0,0 0,0 0,0-1,0 1,0 0,25-25,-25 25,0 0,0-1,0 1,0 0,0 0,0 0,0-1,0 1,0 0,0 0,0 0,0 0,0-1,0 1,0 0,0 0,0 0,0-1,0 1,0 0,0 0,0 0,0-1,0 1,0 0,0 0,0 0,0-1,0 1,0 0,0 0,25-25,0 0,-1 0,1 0,0 0,0 0,0 0,-1 0</inkml:trace>
  <inkml:trace contextRef="#ctx0" brushRef="#br0" timeOffset="18190.6023">29939 7243,'-25'-50,"1"26,-1-26,-25-24,25 24,1 25,-26 0,25-24,0 24,1-25,-1 25,0 25,25-24,-25-1,25 0,-25 25,25-25,-24 25,24-25,-25 25,25-24,-25 24,0 0,25-25,-25 25,1-25,-1 25,0 0,0 0,0 0,1 0,-1 0,0 0,0 25,0 0,1-25,24 24,-25-24,0 25,0-25,0 25,0 0,1 0,24-1,-25 1,25 0,-25 0,25 0,-25 0,25-1,-25 1,25 0,-24 0,-1 24,0 1,25 0,-25-26,0 26,25 0,-24-26,24 26,0-25,0 24,0-24,0 25,0-1,0 51,0-26,24 50,1-50,-25 1,25-25,-25 24,25-49,0 24,-25 1,24 0,-24-26,25 26,0 24,0-49,0 50,-1-51,1 26,0 0,0-26,0 26,0-25,-1 0,1-25,25 49,-1-24,1 0,24 0,1-1,24-24,-49 25,24-25,-24 0,24 0,-24 0,-1-25,26 1,-26 24,-24-25,25 0,-26 0,26 0,-25 1,0-1,0 0,-25 0,24 0,1 1,-25-26,25 0,-25-24,0-25,0 24,0 1,0-25,0 24,0 1,0-1,0 26,0-1,0-24,0 24,-25 1,0-1,25 0,-24 1,-1-26,0 51,25-1,-25-25,0 25,0-24,25 24,-24 0,24 0,-25 1,25-1,-25 0,0 0,25 0,-25 1,1-1,24 0,-25 25,0-50,25 26,-25 24,25-25,-25 0,1 25,-1 0,0-25,0 25,0-25,1 25,-1 0,0 0,0 0,0 0,1 0,-1 0,0 0,0 0,0 0,1 0,-1 0,0 0,0 0,0 0</inkml:trace>
  <inkml:trace contextRef="#ctx0" brushRef="#br0" timeOffset="24155.1191">28724 5035,'49'0,"1"0,74-24,-50-1,51-25,-1 1,-25 24,0 0,-25-25,26 50,-26-49,25 49,-49 0,24-25,-24 25,-1-25,26 25,-26 0,1 0,0 0,-1-25,1 25,0 0,-1 0,1 0,-25 0,49 0,-24 0,-26 0,26 0,-25 0,0 0,-1 0,1 0,0 0,0 0,0 0,-1 0,1 0,0 0,0 0,0 0,-1 0,1 25,0-25,0 25,0-25,-1 0,-24 25,25-25,-25 24,25-24,-25 25</inkml:trace>
  <inkml:trace contextRef="#ctx0" brushRef="#br0" timeOffset="32260.8683">28674 5779,'0'25,"0"75,0-51,0 26,0-1,0-24,0-1,0-24,0 25,0-26,25 1,-25 0,0 0,0 0,0-1,25-24,-25 25,0 0,0 0,25 0,-25-1,0 1,0 0,0 0,0 0,0-1,0 1,0 0,24 0,-24 0,0-1,25 26,-25-25,0 0,0 0,0-1,0 1,25-25,-25 25,0 0,0 0,0-1,0 1,0 0,0 0,0 0,0-1,0 1,0 0,0 0,0 0,0-1,25-24,0 0,-1 0,1 0,0 0,0 0,0 0,-1 0,1 0,0 0,0 0,0 0,0 0,-1 0,1 0,0 0,0 0,0 0</inkml:trace>
  <inkml:trace contextRef="#ctx0" brushRef="#br0" timeOffset="36135.4763">26739 8037,'75'0,"-26"0,26 0,-26 0,1 0,0 0,-1 0,1 0,-25 0,24 25,1-25,-25 0,0 0,-1 0,26 0,-25 0,0 0,-1 0,1 0,0 0,0 0,0 0,-1 0,1 0,0 0,0 0,0 0,-1 0,1 0,0 0,0 0,24 0,-24 0,0 0,0 0,0 0,-1 0,1 0,0 0,0 0,0 0,0 0,-1 0,1 0,0 0,0 0,0 0,-1 0,1 0,0 0,0 0,0 0,-1 0,1 0,0 0,0 0,0 0,-1 0,1 0,0 0,0 0,0 0,-1 0,1 0,0 0,0 0,0 0,-1 0,1 0,0 0,0 0,0 0,-1 0,1 0,0 0,0 0,0 0,-1 0,1 0</inkml:trace>
  <inkml:trace contextRef="#ctx0" brushRef="#br0" timeOffset="42287.7906">29914 5035,'-24'-24,"-1"24,0-25,0 25,25-25,-25 25,1 0,-1-25,0 25,0 0,0 0,1 0,-1 0,0 0,0 0,0 0,1 0,24 25,-25-25,25 25,-25-25,0 0,25 25,-25-1,25 1,0 0,-24 0,24 0,0-1,0 1,0 0,0 0,0 0,0-1,0 1,0 0,0 0,0 0,0-1,0 1,0 0,24-25,-24 25,25 0,0-1,0-24,-25 25,25-25,-1 25,1-25,0 0,0 0,0 0,-1 0,1 0,0 0,0 0,0 0,-1 0,1 0,0 0,0-25,0 25,-25-25,24 1,1-1,0 0,-25 0,0 0,25 1,-25-1,0 0,0 0,25 0,-25 1,0-1,0 0,0 0,0 0,0 1,0-1,-25 25,25-25,0 0,-25 0,0 25,25-24</inkml:trace>
  <inkml:trace contextRef="#ctx0" brushRef="#br0" timeOffset="50600.2043">30138 7838</inkml:trace>
  <inkml:trace contextRef="#ctx0" brushRef="#br0" timeOffset="51167.3571">30138 7838</inkml:trace>
  <inkml:trace contextRef="#ctx0" brushRef="#br0" timeOffset="53261.208">30138 7838,'0'75,"-25"173,25 0,-25 49,0-49,25-24,-25-51,25-24,0 0,0 0,0-50,0 0,0-24,0-1,0 25,0 1,0-1,0 0,0 25,0 50,0-1,0 51,0-51,0 1,0-75,0 25,0 25,0 0,0 24,-24-49,24-24,0-1,0-50,0 1,0 0,0-1,0-24,0 0,0 0,0-1,0 1,0 0,0 0,0 0,0-1,-25 26,25-25,0 24,0 1,0-25,0 0,0 0,0-1,0 1,0 0,0 0,0 0,0-1,0 1,0 0,0 0,0 0,0-1,0 1,0 0,0 0,0 0,0-1,0 1,0 0,-25 0,0-25,0 0,25 25,-24-25,-26 0,25 0,-24 0,-1 0,0 0,1 0,-1 0,1 0,-1 0,25 0,-24 0,-1 24,0-24,26 0,-51 0,26 25,24-25,-50 0,50 25,-49-25,24 0,26 0,-26 0,25 0,-24 0,24 0,-50 25,26-25,-1 0,1 25,-26-25,26 24,-1-24,-24 25,24-25,0 0,-24 25,24-25,1 25,-1-25,-49 25,49-25,-24 0,24 24,1 1,-1-25,25 0,-49 25,24 0,-24-25,24 25,-49-25,49 24,-24 1,24-25,-24 0,-25 25,24 0,1-25,24 0,-24 0,-25 0,24 0,-24 0,-50 0,25 0,-25 0,25 0,0 0,-25 0,25 0,25 0,-25 0,25 0,-25 0,-50 0,25 0,1 0,-1 0,25-25,0 25,0-25,0 25,0 0,0-25,24 25,-24 0,25-24,-25 24,0 0,-49-25,-51 25,75-25,-24 25,24 0,0 0,50 0,-25 0,0 0,25 0,24 0,-24 25,25 0,-26-25,26 0,0 24,-1-24,26 0,-26 0,50 0,-49 0,24 0,-24 0,49 0,-49 0,49 0,-25 0,-24 0,49 25,-25 0,1-25,-1 25,25-25,-24 49,24-49,-25 0,26 25,-26 0,25 0,0-25</inkml:trace>
  <inkml:trace contextRef="#ctx0" brushRef="#br0" timeOffset="58730.6599">10269 9649,'25'0,"0"0,0 0,-1 0,1 0,0 0,0 0,0 25,-1-25,26 25,-25-25,0 0,24 0,-24 24,25-24,-1 0,-24 0,25 25,-26-25,1 0,0 0,0 0,0 0,-1 0,1 0,0 0,0 0,0 0,-1 0,1 0,0 0,0 0,0 0,0 0,-1 0,1 0,-25 25,25-25,0 0,0 0,-1 0,1 0,0 0,0 0,0 0,-1 0,1 0,0 0,0 0,0 0,-1 0,1 0,0 0,0 0,0 0,-1 0,1 0,0 0,0 0,0 0,-1 0,1 0,0 0,-25-25,25 25</inkml:trace>
  <inkml:trace contextRef="#ctx0" brushRef="#br0" timeOffset="69773.3327">10542 9674,'50'0,"-1"0,1 0,-1 0,1 0,0 0,-1 0,1 0,-25 0,24 25,-24-25,0 0,0 0,-1 0,1 0,25 0,-25 0,0 0,-1 0,1 24,0-24,0 0,0 0,-1 25,1-25,0 0,25 0,-26 0,26 25,-25-25,0 0,-1 0,1 0,0 0,0 0,0 0,-1 0,1 0,0 0,0 0,0 0,-1 0,-24 25,25-25,0 0,0 0,0 0,-1 0,1 0</inkml:trace>
  <inkml:trace contextRef="#ctx0" brushRef="#br0" timeOffset="73524.6272">12353 9947,'74'0,"-24"24,24-24,-24 25,24-25,-24 0,-1 0,26 0,-26 0,1 0,0 0,-26 0,1 0,0 0,25 0,-26 0,1 0,0 0,0 0,0 0,0 0,-1 0,1 0,0 0,0 0,0 0</inkml:trace>
  <inkml:trace contextRef="#ctx0" brushRef="#br0" timeOffset="81240.427">22671 16966,'-24'-74,"-26"0,50 24,-50-24,26 24,-1 25,0-24,0 24,25 0,-25-25,1 50,-1-24,25-1,-25 0,0 25,25-25,-25 25,25-25,-24 0,-1 25,25-24,-25 24,25-25,-25 25,0-25,1 0,-1 25,25-25,-25 25,0-24,0 24,1-25,-1 0,0 25,0 0,0-25,1 25,-1-25,0 25,0-24,0 24,1 0,-1-25,0 0,0 25,0 0,0-25,-24 25,24 0,0 0,0 0,1 0,-1 0,0 0,0 0,0 0,1 0,-1 0,0 0,0 0,0 0,1 0,-1 0,0 0,0 0,0 0,1 0,-1 0,0 0,0 0,0 0,25 25,-24-25,-1 0,0 0,25 25,-25-25,25 25,-25-25,25 24,-24-24,24 25,-25-25,25 25,-25 0,25 0,-25-25,25 24,0 1,-25 0,25 0,0 0,-24-1,24 1,0 0,0 0,-25-25,25 50,0-26,0 1,0 0,0 0,0 24,0-24,0 0,0 0,0 0,0-1,0 1,0 0,0 0,0 0,0-1,0 1,25-25,-25 25,0 0,0 0,0-1,24 1,-24 0,0 0,0 0,25-1,-25 1,0 0,25 0,-25 0,0-1,25 1,-25 0,25-25,-25 25,0 0,24-25,1 24,-25 1,0 0,25-25,-25 25,25 0,-25-1,25-24,-25 25,0 0,24 0,1 0,0 0,0-1,0 1,-1 0,26 0,-25-25,0 25,-1-25,1 24,0 1,0 0,24-25,-24 25,50 0,-51-25,26 24,24 1,-49 0,50-25,-26 25,-24-25,0 25,25-25,-26 0,26 24,0-24,-26 0,1 0,25 0,-1 0,-24 0,50 0,-26 0,-24 0,49 0,-49 0,25 0,-25-24,-1 24,1 0,0 0,0 0,24-25,-24 25,0-25,0 25,0-25,24 25,-24-25,0 1,25-1,-26 0,1 0,0 0,0 25,0-24,-1-1,1 0,0 0,-25 0,25-24,-25 24,25 25,-25-25,0 0,24-24,-24 24,0 0,0 0,0 0,0 1,0-1,0 0,0-25,0 26,0-1,-24 0,24 0,0 0,-25 1,25-1,-25 0,25 0,-25 0,25 1,0-1,-25 0,1 0,-1 0,0 25,0-24,0-1,1 0,-1 0,25 0,-25 1,-25 24,50-25,-24 25,24-25,-25 25,-25-25,25 25,0-25,1 25,-1 0,0-24,0 24,0 0,1-25,-1 25,0 0,0 0,0 0,1-25,-26 25,25 0,0 0,1 0,-1-25,0 25,0 0,0 0,1 0,-1 0,0 0,0 0,0 0,1 0,-1 0</inkml:trace>
  <inkml:trace contextRef="#ctx0" brushRef="#br0" timeOffset="85709.1524">11088 9178,'24'0,"1"0,0 0,0 0,0 0,0 0,-1 0,26 0,-25 0,0 0,-1 0,1 0,0 0,0 0,0 0,-1 0,1 0,0 0,0 0,0 0,-1 0,1 0,0 0,0 0,0 0,-1 0,1 0,0 0,0 0,0 0,-1 0,1 0,0 0,0 0,0 0,-1 0,1 0,0 0,0 0,-50 0,0 0,0 0,1 0,-1 0,0 0,25 25,-25-25,0 0,1 0,-1 0,0 0,0 24,0-24,1 0,-1 0,0 0,0 0,0 0,1 0,-1 0,0 0,0 0,25 25,-25-25,1 0,-1 0,0 0,0 0,0 0,1 0</inkml:trace>
  <inkml:trace contextRef="#ctx0" brushRef="#br0" timeOffset="89653.8295">12526 9451,'-24'0,"-26"0,25-25,25 0,-25 25,1-25,-1-24,0 49,0-25,0-25,1 25,-1-24,25 24,-25 0,25 0,-25 1,25-1,-25 25,25-25,-25-25,1 25,24 1,0-1,0 0,-25 0,25 0,0 1,0-1,0 0,0 0,0 0,0 1,0-1,25 25,-25-25,24 25,1-25,0 25,0 0,-25-25,25 25,0 0,-1 0,1 0,0 0,0 0,0 0,-1 0,1 0,0 0,0 0,0 0,-1 0,1 0,0 0,0 0,0 25,-1-25,1 25,0 0,0-25,-25 25,25-25,-25 24,24-24,-24 25,25-25,-25 25,25-25,-25 25,25 0,-25-1,0 1,0 0,0 0,0 0,0-1,0 1,0 0,0 0,0 0,0 0,-25-1,0 1,25 0,-25-25,25 25,-24-25,24 25,-25-25,25 24,-25-24,0 0,25 25,-25-25,1 0,24 25,-25-25,0 0,0 0,0 0,1 0,-1 0,0 0,0 0</inkml:trace>
  <inkml:trace contextRef="#ctx0" brushRef="#br0" timeOffset="92848.4464">12353 10344,'25'0,"-1"0,1 0,0 0,0 0,0 0,-1 24,1-24,0 0,0 0,0 25,-1-25,1 0,0 0,0 0,0 0,-1 0,1 0,0 0,0 0,0 0,24 0,-24 0,0 0,0 0,-1 0,1 0,0 0,0 0,0 0,-1 0,1 0,0 0,0 0,0 0</inkml:trace>
  <inkml:trace contextRef="#ctx0" brushRef="#br0" timeOffset="97460.8988">21034 17711,'50'-25,"0"25,-26 0,26 0,-25-25,0 0,-1 25,1 0,0 0,0 0,-25-25,25 25,-1 0,1 0,0-24,0 24,0 0,-1 0,1 0,25 0,-25 0,24 0,-24 0,25-25,-25 25,-1 0,1 0,0 0,0 0,0 0,-1 0,26 0,-25-25,24 25,-24 0,0 0,25 0,-26-25,26 25,-25 0,0 0,24-25,-24 25,25 0,-26 0,26 0,-25 0,0 0,-1 0,1 0,0 0,0 0,0 0,-1 0,1 0,0 0,0 0,0 0,0 0,-1 0,1 0,0 0,0 0,0 0,-1 0,1 0,0-25,0 25,0 0</inkml:trace>
  <inkml:trace contextRef="#ctx0" brushRef="#br0" timeOffset="104039.0712">11782 9723,'-25'-24,"1"-1,-1 25,0-25,0 25,0 0,1 0,-1 0,0 0,0 0,0 0,1 0,-1 0,0 0,0 0,0 0,1 25,-1-25,0 0,0 0,0 0,25 25,-24-25,24 24,-25-24,25 25,-25 0,25 0,-25-25,25 25,-25-1,0-24,25 25,0 0,0 0,-24 0,24-1,0 1,0 0,0 0,0 0,0 0,0-1,0 1,0 0,0 25,0-26,0 1,24 0,1 0,-25 24,25-49,-25 25,25 0,-25 0,25 0,0-1,-1 1,1 0,25 0,-25 0,-1-1,1 1,0-25,0 0,0 25,-1-25,1 0,0 25,0-25,0 0,24 0,-24 0,25 0,-26 0,26 0,-25-25,0 25,-1 0,1 0,0 0,-25-25,25 25,0-25,-1 1,-24-1,25 25,-25-25,25 0,0 0,-25 1,0-1,25 0,-25 0,0 0,0 1,0-1,0 0,0 0,0 0,0 1,0-1,0 0,0 0,0-24,0 24,0 0,0 0,0 0,0 0,0 1,0-1,-25 0,25 0,-25 0,25 1,0-1,0 0,0 0,-25 25,25-25,-25 1,1-1,24 0,-25 25,0-25,25 0,-25 25,0 0,25-24,-24 24,-1 0,0 0,25-25,-25 25,0 0</inkml:trace>
  <inkml:trace contextRef="#ctx0" brushRef="#br0" timeOffset="380269.5742">33437 0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16D7389-B600-1416-BAC3-DA3206101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98BDD4A-4F04-5A3D-938F-36C3959D7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E1995955-8101-38A3-1B26-D62C918DC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571A6E1-66C9-87EA-68A5-38A0572433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1668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082833C-F737-95E4-B564-DFA2E42E7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757EC4E-73A2-4F5F-3332-8BF06465B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6C33FB6-E32E-4D76-C86C-65BABFA0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B2786E2-A8BF-072D-6BE7-8054CD4E7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938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BA1F2F0-A53B-AFA8-EB7C-9D1DCDC5A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5183D62E-9138-A430-5217-4FA0BFD086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1A542F1F-3B34-7EBE-1287-105FA3DE7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742C2DA-CBFA-C08B-F052-AC5F33C1F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7353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709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6448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722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69888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4513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30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566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69674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956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6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00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2975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168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183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799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94011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51134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969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73ED0CC-082F-4160-86E5-0D6041F12778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170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8.e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0.e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8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8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8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8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8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8A1C807-B9AD-4C9B-BF9F-60F03428998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4518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2316463"/>
            <a:ext cx="12192001" cy="810886"/>
          </a:xfrm>
        </p:spPr>
        <p:txBody>
          <a:bodyPr>
            <a:normAutofit/>
          </a:bodyPr>
          <a:lstStyle/>
          <a:p>
            <a:pPr algn="l"/>
            <a:r>
              <a:rPr lang="en-IN" sz="4400" b="1" dirty="0"/>
              <a:t>COMPUTER ORGANIZATION AND ARCHITECTURE</a:t>
            </a:r>
            <a:endParaRPr lang="en-US" sz="3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4252" y="3730652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tx2">
                    <a:lumMod val="50000"/>
                  </a:schemeClr>
                </a:solidFill>
              </a:rPr>
              <a:t>MODULE </a:t>
            </a:r>
            <a:r>
              <a:rPr lang="en-US" sz="4400" dirty="0" smtClean="0">
                <a:solidFill>
                  <a:schemeClr val="tx2">
                    <a:lumMod val="50000"/>
                  </a:schemeClr>
                </a:solidFill>
              </a:rPr>
              <a:t>2</a:t>
            </a:r>
            <a:endParaRPr lang="en-US" sz="44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EB073B8-C21B-28A1-1224-A93FCC063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DCD4DA-D0DB-52EC-E2C3-EB2DE6367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MODULE </a:t>
            </a:r>
            <a:r>
              <a:rPr lang="en-IN" b="1" dirty="0" smtClean="0"/>
              <a:t>2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AD3EA4F-B754-2AAC-457C-F29B000D3DA6}"/>
              </a:ext>
            </a:extLst>
          </p:cNvPr>
          <p:cNvSpPr txBox="1"/>
          <p:nvPr/>
        </p:nvSpPr>
        <p:spPr>
          <a:xfrm>
            <a:off x="142874" y="1777992"/>
            <a:ext cx="1198721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Microarchitecture </a:t>
            </a:r>
            <a:r>
              <a:rPr lang="en-IN" sz="3600" dirty="0"/>
              <a:t>- Introduction; Performance analysis; </a:t>
            </a:r>
            <a:r>
              <a:rPr lang="en-IN" sz="3600" dirty="0" smtClean="0"/>
              <a:t>Single-Cycle Processor </a:t>
            </a:r>
            <a:r>
              <a:rPr lang="en-IN" sz="3600" dirty="0"/>
              <a:t>- Single Cycle </a:t>
            </a:r>
            <a:r>
              <a:rPr lang="en-IN" sz="3600" dirty="0" err="1"/>
              <a:t>Datapath</a:t>
            </a:r>
            <a:r>
              <a:rPr lang="en-IN" sz="3600" dirty="0"/>
              <a:t>, Single Cycle Control; </a:t>
            </a:r>
            <a:r>
              <a:rPr lang="en-IN" sz="3600" dirty="0" smtClean="0"/>
              <a:t>Pipelined </a:t>
            </a:r>
            <a:r>
              <a:rPr lang="en-US" sz="3600" dirty="0" smtClean="0"/>
              <a:t>Processor </a:t>
            </a:r>
            <a:r>
              <a:rPr lang="en-US" sz="3600" dirty="0"/>
              <a:t>- Pipelined Data Path, Pipelined Control: Hazards, </a:t>
            </a:r>
            <a:r>
              <a:rPr lang="en-US" sz="3600" dirty="0" smtClean="0"/>
              <a:t>Solving </a:t>
            </a:r>
            <a:r>
              <a:rPr lang="en-IN" sz="3600" dirty="0" smtClean="0"/>
              <a:t>Data/Control </a:t>
            </a:r>
            <a:r>
              <a:rPr lang="en-IN" sz="3600" dirty="0"/>
              <a:t>Hazards, Performance Analysis.</a:t>
            </a:r>
          </a:p>
        </p:txBody>
      </p:sp>
    </p:spTree>
    <p:extLst>
      <p:ext uri="{BB962C8B-B14F-4D97-AF65-F5344CB8AC3E}">
        <p14:creationId xmlns:p14="http://schemas.microsoft.com/office/powerpoint/2010/main" val="3027832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2B2D6DE-C9B5-4678-91EF-77E85F2350D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2" y="609599"/>
            <a:ext cx="4815257" cy="1019175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IN" sz="4000" b="1" dirty="0"/>
              <a:t>Microarchitecture </a:t>
            </a:r>
            <a:r>
              <a:rPr lang="en-IN" sz="4000" dirty="0"/>
              <a:t>-</a:t>
            </a:r>
            <a:endParaRPr lang="en-US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xmlns="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IN" sz="2400" dirty="0" smtClean="0"/>
              <a:t>Introduction</a:t>
            </a:r>
            <a:r>
              <a:rPr lang="en-IN" sz="2400" dirty="0"/>
              <a:t>; </a:t>
            </a:r>
            <a:endParaRPr lang="en-IN" sz="2400" dirty="0" smtClean="0"/>
          </a:p>
          <a:p>
            <a:r>
              <a:rPr lang="en-IN" sz="2400" dirty="0" smtClean="0"/>
              <a:t>Performance </a:t>
            </a:r>
            <a:r>
              <a:rPr lang="en-IN" sz="2400" dirty="0"/>
              <a:t>analysis;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577237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Introduction: </a:t>
            </a:r>
            <a:r>
              <a:rPr lang="en-US" sz="2700" b="1" dirty="0"/>
              <a:t>Architectural State and Instruction </a:t>
            </a:r>
            <a:r>
              <a:rPr lang="en-US" sz="2700" b="1" dirty="0" smtClean="0"/>
              <a:t>Set : </a:t>
            </a:r>
            <a:r>
              <a:rPr lang="en-IN" b="1" dirty="0" smtClean="0"/>
              <a:t>415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309489" y="1266092"/>
            <a:ext cx="11577711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A</a:t>
            </a:r>
            <a:r>
              <a:rPr lang="en-US" sz="3200" dirty="0" smtClean="0"/>
              <a:t> </a:t>
            </a:r>
            <a:r>
              <a:rPr lang="en-US" sz="3200" dirty="0"/>
              <a:t>computer architecture is defined by its </a:t>
            </a:r>
            <a:r>
              <a:rPr lang="en-US" sz="3200" b="1" dirty="0"/>
              <a:t>instruction set </a:t>
            </a:r>
            <a:r>
              <a:rPr lang="en-US" sz="3200" dirty="0" smtClean="0"/>
              <a:t>and </a:t>
            </a:r>
            <a:r>
              <a:rPr lang="en-US" sz="3200" b="1" dirty="0" smtClean="0"/>
              <a:t>architectural </a:t>
            </a:r>
            <a:r>
              <a:rPr lang="en-US" sz="3200" b="1" dirty="0"/>
              <a:t>state.</a:t>
            </a:r>
            <a:r>
              <a:rPr lang="en-US" sz="3200" dirty="0"/>
              <a:t>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i="1" dirty="0"/>
              <a:t>architectural state </a:t>
            </a:r>
            <a:r>
              <a:rPr lang="en-US" sz="3200" dirty="0"/>
              <a:t>for the RISC-V processor </a:t>
            </a:r>
            <a:r>
              <a:rPr lang="en-US" sz="3200" dirty="0" smtClean="0"/>
              <a:t>consists of </a:t>
            </a:r>
            <a:r>
              <a:rPr lang="en-US" sz="3200" dirty="0"/>
              <a:t>the </a:t>
            </a:r>
            <a:r>
              <a:rPr lang="en-US" sz="3200" b="1" dirty="0"/>
              <a:t>program counter and the 32 32-bit registers. </a:t>
            </a:r>
            <a:endParaRPr lang="en-US" sz="3200" b="1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Any RISC-V microarchitecture </a:t>
            </a:r>
            <a:r>
              <a:rPr lang="en-US" sz="3200" dirty="0"/>
              <a:t>must contain all of this state</a:t>
            </a:r>
            <a:r>
              <a:rPr lang="en-US" sz="3200" dirty="0" smtClean="0"/>
              <a:t>.</a:t>
            </a:r>
          </a:p>
          <a:p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Based </a:t>
            </a:r>
            <a:r>
              <a:rPr lang="en-US" sz="3200" dirty="0"/>
              <a:t>on the </a:t>
            </a:r>
            <a:r>
              <a:rPr lang="en-US" sz="3200" dirty="0" smtClean="0"/>
              <a:t>current architectural </a:t>
            </a:r>
            <a:r>
              <a:rPr lang="en-US" sz="3200" dirty="0"/>
              <a:t>state, the processor </a:t>
            </a:r>
            <a:r>
              <a:rPr lang="en-US" sz="3200" b="1" dirty="0"/>
              <a:t>executes a particular instruction with </a:t>
            </a:r>
            <a:r>
              <a:rPr lang="en-US" sz="3200" b="1" dirty="0" smtClean="0"/>
              <a:t>a particular </a:t>
            </a:r>
            <a:r>
              <a:rPr lang="en-US" sz="3200" b="1" dirty="0"/>
              <a:t>set of data </a:t>
            </a:r>
            <a:r>
              <a:rPr lang="en-US" sz="3200" dirty="0"/>
              <a:t>to produce a new architectural state.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566926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9" y="1266092"/>
            <a:ext cx="1157771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To keep the </a:t>
            </a:r>
            <a:r>
              <a:rPr lang="en-US" sz="3200" b="1" dirty="0"/>
              <a:t>microarchitectures easy to understand</a:t>
            </a:r>
            <a:r>
              <a:rPr lang="en-US" sz="3200" dirty="0"/>
              <a:t>, we focus on a</a:t>
            </a:r>
          </a:p>
          <a:p>
            <a:r>
              <a:rPr lang="en-US" sz="3200" dirty="0"/>
              <a:t>subset of the RISC-V instruction set</a:t>
            </a:r>
            <a:r>
              <a:rPr lang="en-US" sz="3200" dirty="0" smtClean="0"/>
              <a:t>.</a:t>
            </a:r>
          </a:p>
          <a:p>
            <a:endParaRPr lang="en-US" sz="3200" dirty="0" smtClean="0"/>
          </a:p>
          <a:p>
            <a:r>
              <a:rPr lang="en-US" sz="3200" dirty="0"/>
              <a:t>▸ R-type instructions: add, sub, and, or, </a:t>
            </a:r>
            <a:r>
              <a:rPr lang="en-US" sz="3200" dirty="0" err="1"/>
              <a:t>slt</a:t>
            </a:r>
            <a:endParaRPr lang="en-US" sz="3200" dirty="0"/>
          </a:p>
          <a:p>
            <a:r>
              <a:rPr lang="en-IN" sz="3200" dirty="0"/>
              <a:t>▸ Memory instructions: </a:t>
            </a:r>
            <a:r>
              <a:rPr lang="en-IN" sz="3200" dirty="0" err="1"/>
              <a:t>lw</a:t>
            </a:r>
            <a:r>
              <a:rPr lang="en-IN" sz="3200" dirty="0"/>
              <a:t>, </a:t>
            </a:r>
            <a:r>
              <a:rPr lang="en-IN" sz="3200" dirty="0" err="1"/>
              <a:t>sw</a:t>
            </a:r>
            <a:endParaRPr lang="en-IN" sz="3200" dirty="0"/>
          </a:p>
          <a:p>
            <a:r>
              <a:rPr lang="en-IN" sz="3200" dirty="0"/>
              <a:t>▸ Branches: </a:t>
            </a:r>
            <a:r>
              <a:rPr lang="en-IN" sz="3200" dirty="0" err="1"/>
              <a:t>beq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023320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118" y="114020"/>
            <a:ext cx="10364451" cy="577237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Introduction: </a:t>
            </a:r>
            <a:r>
              <a:rPr lang="en-IN" b="1" dirty="0"/>
              <a:t>Design </a:t>
            </a:r>
            <a:r>
              <a:rPr lang="en-IN" b="1" dirty="0" smtClean="0"/>
              <a:t>Process</a:t>
            </a:r>
            <a:r>
              <a:rPr lang="en-IN" dirty="0" smtClean="0"/>
              <a:t>: </a:t>
            </a:r>
            <a:r>
              <a:rPr lang="en-IN" b="1" dirty="0" smtClean="0"/>
              <a:t>416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1" y="730062"/>
            <a:ext cx="12192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We divide </a:t>
            </a:r>
            <a:r>
              <a:rPr lang="en-US" sz="3200" b="1" dirty="0" smtClean="0"/>
              <a:t>microarchitectures </a:t>
            </a:r>
            <a:r>
              <a:rPr lang="en-US" sz="3200" b="1" dirty="0"/>
              <a:t>into two interacting parts: </a:t>
            </a:r>
            <a:endParaRPr lang="en-US" sz="3200" b="1" dirty="0" smtClean="0"/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3200" b="1" dirty="0" smtClean="0"/>
              <a:t>the </a:t>
            </a:r>
            <a:r>
              <a:rPr lang="en-US" sz="3200" b="1" i="1" dirty="0" err="1"/>
              <a:t>datapath</a:t>
            </a:r>
            <a:endParaRPr lang="en-US" sz="3200" b="1" i="1" dirty="0"/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3200" b="1" dirty="0"/>
              <a:t>and the </a:t>
            </a:r>
            <a:r>
              <a:rPr lang="en-US" sz="3200" b="1" i="1" dirty="0"/>
              <a:t>control unit</a:t>
            </a:r>
            <a:r>
              <a:rPr lang="en-US" sz="3200" b="1" dirty="0"/>
              <a:t>. </a:t>
            </a:r>
            <a:endParaRPr lang="en-US" sz="3200" b="1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 err="1"/>
              <a:t>datapath</a:t>
            </a:r>
            <a:r>
              <a:rPr lang="en-US" sz="3200" dirty="0"/>
              <a:t> operates on words of data. </a:t>
            </a:r>
            <a:r>
              <a:rPr lang="en-US" sz="3200" dirty="0" smtClean="0"/>
              <a:t>It contains </a:t>
            </a:r>
            <a:r>
              <a:rPr lang="en-US" sz="3200" dirty="0"/>
              <a:t>structures such as </a:t>
            </a:r>
            <a:r>
              <a:rPr lang="en-US" sz="3200" b="1" dirty="0"/>
              <a:t>memories, registers, ALUs, and </a:t>
            </a:r>
            <a:r>
              <a:rPr lang="en-US" sz="3200" b="1" dirty="0" smtClean="0"/>
              <a:t>multiplexers.</a:t>
            </a:r>
            <a:r>
              <a:rPr lang="en-US" sz="3200" dirty="0" smtClean="0"/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[a </a:t>
            </a:r>
            <a:r>
              <a:rPr lang="en-US" sz="2400" b="1" dirty="0" err="1" smtClean="0">
                <a:solidFill>
                  <a:srgbClr val="FF0000"/>
                </a:solidFill>
              </a:rPr>
              <a:t>datapath</a:t>
            </a:r>
            <a:r>
              <a:rPr lang="en-US" sz="2400" b="1" dirty="0" smtClean="0">
                <a:solidFill>
                  <a:srgbClr val="FF0000"/>
                </a:solidFill>
              </a:rPr>
              <a:t> is</a:t>
            </a:r>
            <a:r>
              <a:rPr lang="en-US" sz="2400" b="1" dirty="0">
                <a:solidFill>
                  <a:srgbClr val="FF0000"/>
                </a:solidFill>
              </a:rPr>
              <a:t> the core set of hardware components within a </a:t>
            </a:r>
            <a:r>
              <a:rPr lang="en-US" sz="2400" b="1" dirty="0" smtClean="0">
                <a:solidFill>
                  <a:srgbClr val="FF0000"/>
                </a:solidFill>
              </a:rPr>
              <a:t>CPU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that </a:t>
            </a:r>
            <a:r>
              <a:rPr lang="en-US" sz="2400" b="1" dirty="0">
                <a:solidFill>
                  <a:srgbClr val="FF0000"/>
                </a:solidFill>
              </a:rPr>
              <a:t>process and move </a:t>
            </a:r>
            <a:r>
              <a:rPr lang="en-US" sz="2400" b="1" dirty="0" smtClean="0">
                <a:solidFill>
                  <a:srgbClr val="FF0000"/>
                </a:solidFill>
              </a:rPr>
              <a:t>data] </a:t>
            </a:r>
            <a:r>
              <a:rPr lang="en-US" sz="3200" dirty="0" smtClean="0"/>
              <a:t>We are implementing </a:t>
            </a:r>
            <a:r>
              <a:rPr lang="en-US" sz="3200" dirty="0"/>
              <a:t>the 32-bit RISC-V (RV32I) architecture, so we </a:t>
            </a:r>
            <a:r>
              <a:rPr lang="en-US" sz="3200" dirty="0" smtClean="0"/>
              <a:t>use a </a:t>
            </a:r>
            <a:r>
              <a:rPr lang="en-US" sz="3200" dirty="0"/>
              <a:t>32-bit </a:t>
            </a:r>
            <a:r>
              <a:rPr lang="en-US" sz="3200" dirty="0" err="1"/>
              <a:t>datapath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b="1" dirty="0"/>
              <a:t>control unit </a:t>
            </a:r>
            <a:r>
              <a:rPr lang="en-US" sz="3200" dirty="0"/>
              <a:t>receives the current instruction </a:t>
            </a:r>
            <a:r>
              <a:rPr lang="en-US" sz="3200" dirty="0" smtClean="0"/>
              <a:t>from the </a:t>
            </a:r>
            <a:r>
              <a:rPr lang="en-US" sz="3200" dirty="0" err="1"/>
              <a:t>datapath</a:t>
            </a:r>
            <a:r>
              <a:rPr lang="en-US" sz="3200" dirty="0"/>
              <a:t> and </a:t>
            </a:r>
            <a:r>
              <a:rPr lang="en-US" sz="3200" b="1" dirty="0"/>
              <a:t>tells the </a:t>
            </a:r>
            <a:r>
              <a:rPr lang="en-US" sz="3200" b="1" dirty="0" err="1"/>
              <a:t>datapath</a:t>
            </a:r>
            <a:r>
              <a:rPr lang="en-US" sz="3200" b="1" dirty="0"/>
              <a:t> how to execute that </a:t>
            </a:r>
            <a:r>
              <a:rPr lang="en-US" sz="3200" b="1" dirty="0" smtClean="0"/>
              <a:t>instruction</a:t>
            </a:r>
            <a:r>
              <a:rPr lang="en-US" sz="3200" dirty="0" smtClean="0"/>
              <a:t>. Specifically</a:t>
            </a:r>
            <a:r>
              <a:rPr lang="en-US" sz="3200" dirty="0"/>
              <a:t>, the control unit produces multiplexer select, register </a:t>
            </a:r>
            <a:r>
              <a:rPr lang="en-US" sz="3200" dirty="0" smtClean="0"/>
              <a:t>enable, and </a:t>
            </a:r>
            <a:r>
              <a:rPr lang="en-US" sz="3200" dirty="0"/>
              <a:t>memory write signals to control the operation of the </a:t>
            </a:r>
            <a:r>
              <a:rPr lang="en-US" sz="3200" dirty="0" err="1"/>
              <a:t>datapath</a:t>
            </a:r>
            <a:r>
              <a:rPr lang="en-US" sz="3200" dirty="0"/>
              <a:t>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270542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220" y="253218"/>
            <a:ext cx="1200912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A good way to </a:t>
            </a:r>
            <a:r>
              <a:rPr lang="en-US" sz="3200" b="1" dirty="0"/>
              <a:t>design</a:t>
            </a:r>
            <a:r>
              <a:rPr lang="en-US" sz="3200" dirty="0"/>
              <a:t> a complex system is to </a:t>
            </a:r>
            <a:r>
              <a:rPr lang="en-US" sz="3200" b="1" dirty="0"/>
              <a:t>start with </a:t>
            </a:r>
            <a:r>
              <a:rPr lang="en-US" sz="3200" b="1" dirty="0" smtClean="0"/>
              <a:t>hardware </a:t>
            </a:r>
            <a:r>
              <a:rPr lang="en-US" sz="3200" dirty="0" smtClean="0"/>
              <a:t>containing </a:t>
            </a:r>
            <a:r>
              <a:rPr lang="en-US" sz="3200" dirty="0"/>
              <a:t>the </a:t>
            </a:r>
            <a:r>
              <a:rPr lang="en-US" sz="3200" dirty="0">
                <a:solidFill>
                  <a:srgbClr val="FF0000"/>
                </a:solidFill>
              </a:rPr>
              <a:t>state elements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These </a:t>
            </a:r>
            <a:r>
              <a:rPr lang="en-US" sz="3200" dirty="0"/>
              <a:t>elements include </a:t>
            </a:r>
            <a:r>
              <a:rPr lang="en-US" sz="3200" b="1" dirty="0"/>
              <a:t>the memories </a:t>
            </a:r>
            <a:r>
              <a:rPr lang="en-US" sz="3200" b="1" dirty="0" smtClean="0"/>
              <a:t>and the </a:t>
            </a:r>
            <a:r>
              <a:rPr lang="en-US" sz="3200" b="1" dirty="0"/>
              <a:t>architectural state</a:t>
            </a:r>
            <a:r>
              <a:rPr lang="en-US" sz="3200" dirty="0"/>
              <a:t> (</a:t>
            </a:r>
            <a:r>
              <a:rPr lang="en-US" sz="3200" dirty="0">
                <a:solidFill>
                  <a:srgbClr val="FF0000"/>
                </a:solidFill>
              </a:rPr>
              <a:t>the program counter and registers</a:t>
            </a:r>
            <a:r>
              <a:rPr lang="en-US" sz="3200" dirty="0" smtClean="0"/>
              <a:t>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/>
              <a:t>Then</a:t>
            </a:r>
            <a:r>
              <a:rPr lang="en-IN" sz="3200" b="1" dirty="0"/>
              <a:t>, </a:t>
            </a:r>
            <a:r>
              <a:rPr lang="en-IN" sz="3200" b="1" dirty="0" smtClean="0"/>
              <a:t>add </a:t>
            </a:r>
            <a:r>
              <a:rPr lang="en-US" sz="3200" b="1" dirty="0" smtClean="0"/>
              <a:t>blocks </a:t>
            </a:r>
            <a:r>
              <a:rPr lang="en-US" sz="3200" b="1" dirty="0"/>
              <a:t>of combinational logic </a:t>
            </a:r>
            <a:r>
              <a:rPr lang="en-US" sz="3200" dirty="0"/>
              <a:t>between the </a:t>
            </a:r>
            <a:r>
              <a:rPr lang="en-US" sz="3200" b="1" dirty="0"/>
              <a:t>state elements </a:t>
            </a:r>
            <a:r>
              <a:rPr lang="en-US" sz="3200" dirty="0"/>
              <a:t>to compute </a:t>
            </a:r>
            <a:r>
              <a:rPr lang="en-US" sz="3200" dirty="0" smtClean="0"/>
              <a:t>the new </a:t>
            </a:r>
            <a:r>
              <a:rPr lang="en-US" sz="3200" dirty="0"/>
              <a:t>state based on the current state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b="1" dirty="0"/>
              <a:t>instruction is read from </a:t>
            </a:r>
            <a:r>
              <a:rPr lang="en-US" sz="3200" b="1" dirty="0" smtClean="0"/>
              <a:t>part of </a:t>
            </a:r>
            <a:r>
              <a:rPr lang="en-US" sz="3200" b="1" dirty="0"/>
              <a:t>memory</a:t>
            </a:r>
            <a:r>
              <a:rPr lang="en-US" sz="3200" dirty="0"/>
              <a:t>; load and store instructions then </a:t>
            </a:r>
            <a:r>
              <a:rPr lang="en-US" sz="3200" b="1" dirty="0"/>
              <a:t>read or write data </a:t>
            </a:r>
            <a:r>
              <a:rPr lang="en-US" sz="3200" b="1" dirty="0" smtClean="0"/>
              <a:t>from another </a:t>
            </a:r>
            <a:r>
              <a:rPr lang="en-US" sz="3200" b="1" dirty="0"/>
              <a:t>part of </a:t>
            </a:r>
            <a:r>
              <a:rPr lang="en-US" sz="3200" b="1" dirty="0" smtClean="0"/>
              <a:t>memory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Hence</a:t>
            </a:r>
            <a:r>
              <a:rPr lang="en-US" sz="3200" dirty="0"/>
              <a:t>, it is often convenient to </a:t>
            </a:r>
            <a:r>
              <a:rPr lang="en-US" sz="3200" b="1" dirty="0"/>
              <a:t>partition</a:t>
            </a:r>
            <a:r>
              <a:rPr lang="en-US" sz="3200" dirty="0"/>
              <a:t> </a:t>
            </a:r>
            <a:r>
              <a:rPr lang="en-US" sz="3200" dirty="0" smtClean="0"/>
              <a:t>the overall </a:t>
            </a:r>
            <a:r>
              <a:rPr lang="en-US" sz="3200" b="1" dirty="0"/>
              <a:t>memory</a:t>
            </a:r>
            <a:r>
              <a:rPr lang="en-US" sz="3200" dirty="0"/>
              <a:t> into </a:t>
            </a:r>
            <a:r>
              <a:rPr lang="en-US" sz="3200" b="1" dirty="0">
                <a:solidFill>
                  <a:srgbClr val="FF0000"/>
                </a:solidFill>
              </a:rPr>
              <a:t>two</a:t>
            </a:r>
            <a:r>
              <a:rPr lang="en-US" sz="3200" dirty="0"/>
              <a:t> smaller memories, </a:t>
            </a:r>
            <a:r>
              <a:rPr lang="en-US" sz="3200" b="1" dirty="0"/>
              <a:t>one containing </a:t>
            </a:r>
            <a:r>
              <a:rPr lang="en-US" sz="3200" b="1" dirty="0" smtClean="0"/>
              <a:t>instructions </a:t>
            </a:r>
            <a:r>
              <a:rPr lang="en-US" sz="3200" dirty="0" smtClean="0"/>
              <a:t>and </a:t>
            </a:r>
            <a:r>
              <a:rPr lang="en-US" sz="3200" dirty="0"/>
              <a:t>the other </a:t>
            </a:r>
            <a:r>
              <a:rPr lang="en-US" sz="3200" b="1" dirty="0"/>
              <a:t>containing data.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117894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235040"/>
            <a:ext cx="1157771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Figure 7.1 shows a block diagram </a:t>
            </a:r>
            <a:r>
              <a:rPr lang="en-US" sz="3200" dirty="0" smtClean="0"/>
              <a:t>with the </a:t>
            </a:r>
            <a:r>
              <a:rPr lang="en-US" sz="3200" dirty="0">
                <a:solidFill>
                  <a:srgbClr val="FF0000"/>
                </a:solidFill>
              </a:rPr>
              <a:t>four state elements</a:t>
            </a:r>
            <a:r>
              <a:rPr lang="en-US" sz="3200" dirty="0"/>
              <a:t>: the </a:t>
            </a:r>
            <a:r>
              <a:rPr lang="en-US" sz="3200" b="1" dirty="0"/>
              <a:t>program counter, register file, and </a:t>
            </a:r>
            <a:r>
              <a:rPr lang="en-US" sz="3200" b="1" dirty="0" smtClean="0"/>
              <a:t>instruction </a:t>
            </a:r>
            <a:r>
              <a:rPr lang="en-IN" sz="3200" b="1" dirty="0" smtClean="0"/>
              <a:t>and </a:t>
            </a:r>
            <a:r>
              <a:rPr lang="en-IN" sz="3200" b="1" dirty="0"/>
              <a:t>data memories.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82" t="38294" r="13769" b="32540"/>
          <a:stretch/>
        </p:blipFill>
        <p:spPr bwMode="auto">
          <a:xfrm>
            <a:off x="28136" y="2033974"/>
            <a:ext cx="12158930" cy="3860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511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9" y="1266092"/>
            <a:ext cx="1157771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b="1" dirty="0"/>
              <a:t>H</a:t>
            </a:r>
            <a:r>
              <a:rPr lang="en-US" sz="3200" b="1" dirty="0" smtClean="0"/>
              <a:t>eavy </a:t>
            </a:r>
            <a:r>
              <a:rPr lang="en-US" sz="3200" b="1" dirty="0"/>
              <a:t>lines </a:t>
            </a:r>
            <a:r>
              <a:rPr lang="en-US" sz="3200" dirty="0"/>
              <a:t>indicate </a:t>
            </a:r>
            <a:r>
              <a:rPr lang="en-US" sz="3200" dirty="0">
                <a:solidFill>
                  <a:srgbClr val="FF0000"/>
                </a:solidFill>
              </a:rPr>
              <a:t>32-bit data </a:t>
            </a:r>
            <a:r>
              <a:rPr lang="en-US" sz="3200" dirty="0"/>
              <a:t>busses.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 smtClean="0"/>
              <a:t>Medium lines </a:t>
            </a:r>
            <a:r>
              <a:rPr lang="en-US" sz="3200" dirty="0" smtClean="0"/>
              <a:t>indicate </a:t>
            </a:r>
            <a:r>
              <a:rPr lang="en-US" sz="3200" dirty="0"/>
              <a:t>narrower busses, such as the </a:t>
            </a:r>
            <a:r>
              <a:rPr lang="en-US" sz="3200" dirty="0">
                <a:solidFill>
                  <a:srgbClr val="FF0000"/>
                </a:solidFill>
              </a:rPr>
              <a:t>5-bit address </a:t>
            </a:r>
            <a:r>
              <a:rPr lang="en-US" sz="3200" dirty="0"/>
              <a:t>busses on the </a:t>
            </a:r>
            <a:r>
              <a:rPr lang="en-US" sz="3200" dirty="0" smtClean="0"/>
              <a:t>register file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 smtClean="0"/>
              <a:t>Narrow </a:t>
            </a:r>
            <a:r>
              <a:rPr lang="en-US" sz="3200" b="1" dirty="0"/>
              <a:t>lines </a:t>
            </a:r>
            <a:r>
              <a:rPr lang="en-US" sz="3200" dirty="0"/>
              <a:t>indicate </a:t>
            </a:r>
            <a:r>
              <a:rPr lang="en-US" sz="3200" dirty="0">
                <a:solidFill>
                  <a:srgbClr val="FF0000"/>
                </a:solidFill>
              </a:rPr>
              <a:t>1-bit wires</a:t>
            </a:r>
            <a:r>
              <a:rPr lang="en-US" sz="3200" dirty="0"/>
              <a:t>, and </a:t>
            </a:r>
            <a:r>
              <a:rPr lang="en-US" sz="3200" b="1" dirty="0"/>
              <a:t>blue lines </a:t>
            </a:r>
            <a:r>
              <a:rPr lang="en-US" sz="3200" dirty="0"/>
              <a:t>are used for </a:t>
            </a:r>
            <a:r>
              <a:rPr lang="en-US" sz="3200" dirty="0" smtClean="0">
                <a:solidFill>
                  <a:srgbClr val="FF0000"/>
                </a:solidFill>
              </a:rPr>
              <a:t>control signals</a:t>
            </a:r>
            <a:r>
              <a:rPr lang="en-US" sz="3200" dirty="0"/>
              <a:t>, such as the register file write enable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900680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295421"/>
            <a:ext cx="11577711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</a:t>
            </a:r>
            <a:r>
              <a:rPr lang="en-US" sz="3200" i="1" dirty="0"/>
              <a:t>program counter </a:t>
            </a:r>
            <a:r>
              <a:rPr lang="en-US" sz="3200" dirty="0"/>
              <a:t>(PC) points to the </a:t>
            </a:r>
            <a:r>
              <a:rPr lang="en-US" sz="3200" b="1" dirty="0"/>
              <a:t>current instruction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Its input</a:t>
            </a:r>
            <a:r>
              <a:rPr lang="en-US" sz="3200" dirty="0"/>
              <a:t>, </a:t>
            </a:r>
            <a:r>
              <a:rPr lang="en-US" sz="3200" b="1" i="1" dirty="0" err="1"/>
              <a:t>PCNext</a:t>
            </a:r>
            <a:r>
              <a:rPr lang="en-US" sz="3200" dirty="0"/>
              <a:t>, indicates the </a:t>
            </a:r>
            <a:r>
              <a:rPr lang="en-US" sz="3200" b="1" dirty="0"/>
              <a:t>address of the next instruction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</a:t>
            </a:r>
            <a:r>
              <a:rPr lang="en-US" sz="3200" i="1" dirty="0">
                <a:solidFill>
                  <a:srgbClr val="FF0000"/>
                </a:solidFill>
              </a:rPr>
              <a:t>instruction memory </a:t>
            </a:r>
            <a:r>
              <a:rPr lang="en-US" sz="3200" dirty="0"/>
              <a:t>has a </a:t>
            </a:r>
            <a:r>
              <a:rPr lang="en-US" sz="3200" b="1" dirty="0"/>
              <a:t>single read port</a:t>
            </a:r>
            <a:r>
              <a:rPr lang="en-US" sz="3200" b="1" dirty="0" smtClean="0"/>
              <a:t>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It </a:t>
            </a:r>
            <a:r>
              <a:rPr lang="en-US" sz="3200" dirty="0"/>
              <a:t>takes a </a:t>
            </a:r>
            <a:r>
              <a:rPr lang="en-US" sz="3200" b="1" dirty="0" smtClean="0"/>
              <a:t>32-bit instruction </a:t>
            </a:r>
            <a:r>
              <a:rPr lang="en-US" sz="3200" b="1" dirty="0"/>
              <a:t>address input, </a:t>
            </a:r>
            <a:r>
              <a:rPr lang="en-US" sz="3200" b="1" i="1" dirty="0"/>
              <a:t>A</a:t>
            </a:r>
            <a:r>
              <a:rPr lang="en-US" sz="3200" dirty="0"/>
              <a:t>, and reads the 32-bit data (i.e., </a:t>
            </a:r>
            <a:r>
              <a:rPr lang="en-US" sz="3200" dirty="0" smtClean="0"/>
              <a:t>instruction) from </a:t>
            </a:r>
            <a:r>
              <a:rPr lang="en-US" sz="3200" dirty="0"/>
              <a:t>that address onto the </a:t>
            </a:r>
            <a:r>
              <a:rPr lang="en-US" sz="3200" b="1" dirty="0"/>
              <a:t>read data output, </a:t>
            </a:r>
            <a:r>
              <a:rPr lang="en-US" sz="3200" b="1" i="1" dirty="0"/>
              <a:t>RD</a:t>
            </a:r>
            <a:r>
              <a:rPr lang="en-US" sz="3200" b="1" dirty="0" smtClean="0"/>
              <a:t>.</a:t>
            </a:r>
            <a:r>
              <a:rPr lang="en-IN" sz="3200" b="1" dirty="0"/>
              <a:t> </a:t>
            </a:r>
            <a:endParaRPr lang="en-IN" sz="3200" b="1" dirty="0" smtClean="0"/>
          </a:p>
          <a:p>
            <a:endParaRPr lang="en-IN" sz="2800" b="1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 smtClean="0"/>
              <a:t>The </a:t>
            </a:r>
            <a:r>
              <a:rPr lang="en-IN" sz="3200" dirty="0">
                <a:solidFill>
                  <a:srgbClr val="FF0000"/>
                </a:solidFill>
              </a:rPr>
              <a:t>32-element × 32-bit register file </a:t>
            </a:r>
            <a:r>
              <a:rPr lang="en-IN" sz="3200" dirty="0"/>
              <a:t>holds registers </a:t>
            </a:r>
            <a:r>
              <a:rPr lang="en-IN" sz="3200" b="1" dirty="0"/>
              <a:t>x0–x31</a:t>
            </a:r>
            <a:r>
              <a:rPr lang="en-IN" sz="3200" dirty="0" smtClean="0"/>
              <a:t>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register file has </a:t>
            </a:r>
            <a:r>
              <a:rPr lang="en-US" sz="3200" b="1" dirty="0"/>
              <a:t>two read ports and </a:t>
            </a:r>
            <a:r>
              <a:rPr lang="en-US" sz="3200" b="1" dirty="0" smtClean="0"/>
              <a:t>one </a:t>
            </a:r>
            <a:r>
              <a:rPr lang="en-IN" sz="3200" b="1" dirty="0" smtClean="0"/>
              <a:t>write </a:t>
            </a:r>
            <a:r>
              <a:rPr lang="en-IN" sz="3200" b="1" dirty="0"/>
              <a:t>port</a:t>
            </a:r>
            <a:r>
              <a:rPr lang="en-IN" sz="3200" b="1" dirty="0" smtClean="0"/>
              <a:t>.</a:t>
            </a:r>
            <a:r>
              <a:rPr lang="en-US" sz="3200" b="1" dirty="0"/>
              <a:t> </a:t>
            </a:r>
            <a:endParaRPr lang="en-US" sz="3200" b="1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read ports take 5-bit address inputs, </a:t>
            </a:r>
            <a:r>
              <a:rPr lang="en-US" sz="3200" i="1" dirty="0"/>
              <a:t>A1 </a:t>
            </a:r>
            <a:r>
              <a:rPr lang="en-US" sz="3200" dirty="0"/>
              <a:t>and </a:t>
            </a:r>
            <a:r>
              <a:rPr lang="en-US" sz="3200" i="1" dirty="0"/>
              <a:t>A2</a:t>
            </a:r>
            <a:r>
              <a:rPr lang="en-US" sz="3200" dirty="0"/>
              <a:t>, </a:t>
            </a:r>
            <a:r>
              <a:rPr lang="en-US" sz="3200" dirty="0" smtClean="0"/>
              <a:t>each specifying </a:t>
            </a:r>
            <a:r>
              <a:rPr lang="en-US" sz="3200" dirty="0"/>
              <a:t>one of the 2</a:t>
            </a:r>
            <a:r>
              <a:rPr lang="en-US" sz="3200" baseline="30000" dirty="0"/>
              <a:t>5</a:t>
            </a:r>
            <a:r>
              <a:rPr lang="en-US" sz="3200" dirty="0"/>
              <a:t> = 32 registers as source operands.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397649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9" y="1266092"/>
            <a:ext cx="1157771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IN" sz="3200" dirty="0"/>
              <a:t>The </a:t>
            </a:r>
            <a:r>
              <a:rPr lang="en-IN" sz="3200" dirty="0" smtClean="0"/>
              <a:t>register </a:t>
            </a:r>
            <a:r>
              <a:rPr lang="en-US" sz="3200" dirty="0" smtClean="0"/>
              <a:t>file </a:t>
            </a:r>
            <a:r>
              <a:rPr lang="en-US" sz="3200" dirty="0"/>
              <a:t>places the 32-bit register values onto read data </a:t>
            </a:r>
            <a:r>
              <a:rPr lang="en-US" sz="3200" b="1" dirty="0"/>
              <a:t>outputs </a:t>
            </a:r>
            <a:r>
              <a:rPr lang="en-US" sz="3200" b="1" i="1" dirty="0"/>
              <a:t>RD1 </a:t>
            </a:r>
            <a:r>
              <a:rPr lang="en-US" sz="3200" b="1" dirty="0" smtClean="0"/>
              <a:t>and </a:t>
            </a:r>
            <a:r>
              <a:rPr lang="en-US" sz="3200" b="1" i="1" dirty="0" smtClean="0"/>
              <a:t>RD</a:t>
            </a:r>
            <a:r>
              <a:rPr lang="en-US" sz="3200" b="1" dirty="0" smtClean="0"/>
              <a:t>2</a:t>
            </a:r>
            <a:r>
              <a:rPr lang="en-US" sz="3200" b="1" dirty="0"/>
              <a:t>. </a:t>
            </a:r>
            <a:endParaRPr lang="en-US" sz="3200" b="1" dirty="0" smtClean="0"/>
          </a:p>
          <a:p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b="1" dirty="0"/>
              <a:t>write port, port 3</a:t>
            </a:r>
            <a:r>
              <a:rPr lang="en-US" sz="3200" dirty="0"/>
              <a:t>, takes a 5-bit address input, </a:t>
            </a:r>
            <a:r>
              <a:rPr lang="en-US" sz="3200" i="1" dirty="0"/>
              <a:t>A3</a:t>
            </a:r>
            <a:r>
              <a:rPr lang="en-US" sz="3200" dirty="0"/>
              <a:t>; </a:t>
            </a:r>
            <a:r>
              <a:rPr lang="en-US" sz="3200" b="1" dirty="0"/>
              <a:t>a </a:t>
            </a:r>
            <a:r>
              <a:rPr lang="en-US" sz="3200" b="1" dirty="0" smtClean="0"/>
              <a:t>32-bit write </a:t>
            </a:r>
            <a:r>
              <a:rPr lang="en-US" sz="3200" b="1" dirty="0"/>
              <a:t>data input, </a:t>
            </a:r>
            <a:r>
              <a:rPr lang="en-US" sz="3200" b="1" i="1" dirty="0"/>
              <a:t>WD3</a:t>
            </a:r>
            <a:r>
              <a:rPr lang="en-US" sz="3200" dirty="0"/>
              <a:t>; </a:t>
            </a:r>
            <a:r>
              <a:rPr lang="en-US" sz="3200" b="1" dirty="0"/>
              <a:t>a write enable input, </a:t>
            </a:r>
            <a:r>
              <a:rPr lang="en-US" sz="3200" b="1" i="1" dirty="0"/>
              <a:t>WE3</a:t>
            </a:r>
            <a:r>
              <a:rPr lang="en-US" sz="3200" dirty="0"/>
              <a:t>; and a clock</a:t>
            </a:r>
            <a:r>
              <a:rPr lang="en-US" sz="3200" dirty="0" smtClean="0"/>
              <a:t>.</a:t>
            </a:r>
          </a:p>
          <a:p>
            <a:r>
              <a:rPr lang="en-US" sz="3200" dirty="0" smtClean="0"/>
              <a:t>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If its write </a:t>
            </a:r>
            <a:r>
              <a:rPr lang="en-US" sz="3200" dirty="0"/>
              <a:t>enable (</a:t>
            </a:r>
            <a:r>
              <a:rPr lang="en-US" sz="3200" i="1" dirty="0"/>
              <a:t>WE3</a:t>
            </a:r>
            <a:r>
              <a:rPr lang="en-US" sz="3200" dirty="0"/>
              <a:t>) is asserted, then the register file writes the </a:t>
            </a:r>
            <a:r>
              <a:rPr lang="en-US" sz="3200" dirty="0" smtClean="0"/>
              <a:t>data (</a:t>
            </a:r>
            <a:r>
              <a:rPr lang="en-US" sz="3200" i="1" dirty="0" smtClean="0"/>
              <a:t>WD3</a:t>
            </a:r>
            <a:r>
              <a:rPr lang="en-US" sz="3200" dirty="0"/>
              <a:t>) into the specified register (</a:t>
            </a:r>
            <a:r>
              <a:rPr lang="en-US" sz="3200" i="1" dirty="0"/>
              <a:t>A3</a:t>
            </a:r>
            <a:r>
              <a:rPr lang="en-US" sz="3200" dirty="0"/>
              <a:t>) on the </a:t>
            </a:r>
            <a:r>
              <a:rPr lang="en-US" sz="3200" b="1" dirty="0"/>
              <a:t>rising edge of the clock</a:t>
            </a:r>
            <a:r>
              <a:rPr lang="en-US" sz="3200" b="1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14859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9" y="1266092"/>
            <a:ext cx="1157771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</a:t>
            </a:r>
            <a:r>
              <a:rPr lang="en-US" sz="3200" i="1" dirty="0"/>
              <a:t>data memory </a:t>
            </a:r>
            <a:r>
              <a:rPr lang="en-US" sz="3200" dirty="0"/>
              <a:t>has a </a:t>
            </a:r>
            <a:r>
              <a:rPr lang="en-US" sz="3200" b="1" dirty="0"/>
              <a:t>single read/write port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If </a:t>
            </a:r>
            <a:r>
              <a:rPr lang="en-US" sz="3200" dirty="0"/>
              <a:t>its write </a:t>
            </a:r>
            <a:r>
              <a:rPr lang="en-US" sz="3200" dirty="0" smtClean="0"/>
              <a:t>enable, </a:t>
            </a:r>
            <a:r>
              <a:rPr lang="en-US" sz="3200" b="1" i="1" dirty="0" smtClean="0"/>
              <a:t>WE</a:t>
            </a:r>
            <a:r>
              <a:rPr lang="en-US" sz="3200" b="1" dirty="0"/>
              <a:t>, is asserted</a:t>
            </a:r>
            <a:r>
              <a:rPr lang="en-US" sz="3200" dirty="0"/>
              <a:t>, then it </a:t>
            </a:r>
            <a:r>
              <a:rPr lang="en-US" sz="3200" b="1" dirty="0"/>
              <a:t>writes data </a:t>
            </a:r>
            <a:r>
              <a:rPr lang="en-US" sz="3200" b="1" i="1" dirty="0"/>
              <a:t>WD </a:t>
            </a:r>
            <a:r>
              <a:rPr lang="en-US" sz="3200" b="1" dirty="0"/>
              <a:t>into address </a:t>
            </a:r>
            <a:r>
              <a:rPr lang="en-US" sz="3200" b="1" i="1" dirty="0"/>
              <a:t>A</a:t>
            </a:r>
            <a:r>
              <a:rPr lang="en-US" sz="3200" i="1" dirty="0"/>
              <a:t> </a:t>
            </a:r>
            <a:r>
              <a:rPr lang="en-US" sz="3200" dirty="0"/>
              <a:t>on the </a:t>
            </a:r>
            <a:r>
              <a:rPr lang="en-US" sz="3200" dirty="0" smtClean="0"/>
              <a:t>rising edge </a:t>
            </a:r>
            <a:r>
              <a:rPr lang="en-US" sz="3200" dirty="0"/>
              <a:t>of the clock.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If </a:t>
            </a:r>
            <a:r>
              <a:rPr lang="en-US" sz="3200" b="1" dirty="0"/>
              <a:t>its write enable is 0, </a:t>
            </a:r>
            <a:r>
              <a:rPr lang="en-US" sz="3200" dirty="0"/>
              <a:t>then it </a:t>
            </a:r>
            <a:r>
              <a:rPr lang="en-US" sz="3200" b="1" dirty="0"/>
              <a:t>reads from address </a:t>
            </a:r>
            <a:r>
              <a:rPr lang="en-US" sz="3200" b="1" i="1" dirty="0" smtClean="0"/>
              <a:t>A </a:t>
            </a:r>
            <a:r>
              <a:rPr lang="en-US" sz="3200" dirty="0" smtClean="0"/>
              <a:t>onto </a:t>
            </a:r>
            <a:r>
              <a:rPr lang="en-US" sz="3200" dirty="0"/>
              <a:t>the read data bus, </a:t>
            </a:r>
            <a:r>
              <a:rPr lang="en-US" sz="3200" i="1" dirty="0"/>
              <a:t>RD</a:t>
            </a:r>
            <a:r>
              <a:rPr lang="en-US" sz="3200" dirty="0"/>
              <a:t>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35452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9" y="1266092"/>
            <a:ext cx="1157771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instruction memory, register file, and data memory are all </a:t>
            </a:r>
            <a:r>
              <a:rPr lang="en-US" sz="3200" b="1" dirty="0" smtClean="0"/>
              <a:t>read </a:t>
            </a:r>
            <a:r>
              <a:rPr lang="en-US" sz="3200" b="1" i="1" dirty="0" err="1" smtClean="0"/>
              <a:t>combinationally</a:t>
            </a:r>
            <a:r>
              <a:rPr lang="en-US" sz="3200" b="1" dirty="0"/>
              <a:t>. </a:t>
            </a:r>
            <a:endParaRPr lang="en-US" sz="3200" b="1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In </a:t>
            </a:r>
            <a:r>
              <a:rPr lang="en-US" sz="3200" dirty="0"/>
              <a:t>other words, if the address changes, then the </a:t>
            </a:r>
            <a:r>
              <a:rPr lang="en-US" sz="3200" dirty="0" smtClean="0"/>
              <a:t>new data </a:t>
            </a:r>
            <a:r>
              <a:rPr lang="en-US" sz="3200" dirty="0"/>
              <a:t>appears at </a:t>
            </a:r>
            <a:r>
              <a:rPr lang="en-US" sz="3200" i="1" dirty="0"/>
              <a:t>RD </a:t>
            </a:r>
            <a:r>
              <a:rPr lang="en-US" sz="3200" dirty="0"/>
              <a:t>after some propagation delay; no clock is involved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/>
              <a:t>The clock controls writing only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These </a:t>
            </a:r>
            <a:r>
              <a:rPr lang="en-US" sz="3200" dirty="0"/>
              <a:t>memories are </a:t>
            </a:r>
            <a:r>
              <a:rPr lang="en-US" sz="3200" b="1" dirty="0"/>
              <a:t>written only </a:t>
            </a:r>
            <a:r>
              <a:rPr lang="en-US" sz="3200" b="1" dirty="0" smtClean="0"/>
              <a:t>on the </a:t>
            </a:r>
            <a:r>
              <a:rPr lang="en-US" sz="3200" b="1" dirty="0"/>
              <a:t>rising edge of the clock</a:t>
            </a:r>
            <a:r>
              <a:rPr lang="en-US" sz="3200" dirty="0"/>
              <a:t>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996509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118" y="252757"/>
            <a:ext cx="10364451" cy="577237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Introduction: Microarchitectures: 418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0" y="856357"/>
            <a:ext cx="12192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</a:t>
            </a:r>
            <a:r>
              <a:rPr lang="en-US" sz="3200" dirty="0" smtClean="0"/>
              <a:t>hree </a:t>
            </a:r>
            <a:r>
              <a:rPr lang="en-US" sz="3200" dirty="0"/>
              <a:t>microarchitectures for the </a:t>
            </a:r>
            <a:r>
              <a:rPr lang="en-US" sz="3200" dirty="0" smtClean="0"/>
              <a:t>RISC-V architecture</a:t>
            </a:r>
            <a:r>
              <a:rPr lang="en-US" sz="3200" dirty="0"/>
              <a:t>: </a:t>
            </a:r>
            <a:endParaRPr lang="en-US" sz="3200" dirty="0" smtClean="0"/>
          </a:p>
          <a:p>
            <a:pPr marL="1371600" lvl="2" indent="-457200">
              <a:buFont typeface="Arial" pitchFamily="34" charset="0"/>
              <a:buChar char="•"/>
            </a:pPr>
            <a:r>
              <a:rPr lang="en-US" sz="3200" b="1" dirty="0" smtClean="0"/>
              <a:t>single-cycle</a:t>
            </a:r>
            <a:r>
              <a:rPr lang="en-US" sz="3200" b="1" dirty="0"/>
              <a:t>, </a:t>
            </a:r>
            <a:endParaRPr lang="en-US" sz="3200" b="1" dirty="0" smtClean="0"/>
          </a:p>
          <a:p>
            <a:pPr marL="1371600" lvl="2" indent="-457200">
              <a:buFont typeface="Arial" pitchFamily="34" charset="0"/>
              <a:buChar char="•"/>
            </a:pPr>
            <a:r>
              <a:rPr lang="en-US" sz="3200" b="1" dirty="0" err="1" smtClean="0"/>
              <a:t>multicycle</a:t>
            </a:r>
            <a:r>
              <a:rPr lang="en-US" sz="3200" b="1" dirty="0"/>
              <a:t>, and </a:t>
            </a:r>
            <a:endParaRPr lang="en-US" sz="3200" b="1" dirty="0" smtClean="0"/>
          </a:p>
          <a:p>
            <a:pPr marL="1371600" lvl="2" indent="-457200">
              <a:buFont typeface="Arial" pitchFamily="34" charset="0"/>
              <a:buChar char="•"/>
            </a:pPr>
            <a:r>
              <a:rPr lang="en-US" sz="3200" b="1" dirty="0" smtClean="0"/>
              <a:t>pipelined.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</a:t>
            </a:r>
            <a:r>
              <a:rPr lang="en-US" sz="3200" i="1" dirty="0"/>
              <a:t>single-cycle microarchitecture </a:t>
            </a:r>
            <a:r>
              <a:rPr lang="en-US" sz="3200" b="1" dirty="0"/>
              <a:t>executes an entire instruction </a:t>
            </a:r>
            <a:r>
              <a:rPr lang="en-US" sz="3200" b="1" dirty="0" smtClean="0"/>
              <a:t>in </a:t>
            </a:r>
            <a:r>
              <a:rPr lang="en-IN" sz="3200" b="1" dirty="0" smtClean="0"/>
              <a:t>one </a:t>
            </a:r>
            <a:r>
              <a:rPr lang="en-IN" sz="3200" b="1" dirty="0"/>
              <a:t>cycle</a:t>
            </a:r>
            <a:r>
              <a:rPr lang="en-IN" sz="3200" b="1" dirty="0" smtClean="0"/>
              <a:t>.</a:t>
            </a:r>
            <a:r>
              <a:rPr lang="en-US" sz="3200" b="1" dirty="0"/>
              <a:t> </a:t>
            </a:r>
            <a:endParaRPr lang="en-US" sz="3200" b="1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i="1" dirty="0" err="1"/>
              <a:t>multicycle</a:t>
            </a:r>
            <a:r>
              <a:rPr lang="en-US" sz="3200" i="1" dirty="0"/>
              <a:t> microarchitecture </a:t>
            </a:r>
            <a:r>
              <a:rPr lang="en-US" sz="3200" dirty="0"/>
              <a:t>executes instructions in a </a:t>
            </a:r>
            <a:r>
              <a:rPr lang="en-US" sz="3200" b="1" dirty="0"/>
              <a:t>series </a:t>
            </a:r>
            <a:r>
              <a:rPr lang="en-US" sz="3200" b="1" dirty="0" smtClean="0"/>
              <a:t>of </a:t>
            </a:r>
            <a:r>
              <a:rPr lang="en-IN" sz="3200" b="1" dirty="0" smtClean="0"/>
              <a:t>shorter </a:t>
            </a:r>
            <a:r>
              <a:rPr lang="en-IN" sz="3200" b="1" dirty="0"/>
              <a:t>cycles</a:t>
            </a:r>
            <a:r>
              <a:rPr lang="en-IN" sz="3200" b="1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i="1" dirty="0"/>
              <a:t>pipelined microarchitecture </a:t>
            </a:r>
            <a:r>
              <a:rPr lang="en-US" sz="3200" dirty="0"/>
              <a:t>applies </a:t>
            </a:r>
            <a:r>
              <a:rPr lang="en-US" sz="3200" b="1" dirty="0"/>
              <a:t>pipelining to the </a:t>
            </a:r>
            <a:r>
              <a:rPr lang="en-US" sz="3200" b="1" dirty="0" smtClean="0"/>
              <a:t>single-cycle microarchitecture</a:t>
            </a:r>
            <a:r>
              <a:rPr lang="en-US" sz="3200" b="1" dirty="0"/>
              <a:t>.</a:t>
            </a:r>
            <a:r>
              <a:rPr lang="en-US" sz="3200" dirty="0"/>
              <a:t> It therefore can execute </a:t>
            </a:r>
            <a:r>
              <a:rPr lang="en-US" sz="3200" b="1" dirty="0"/>
              <a:t>several instructions </a:t>
            </a:r>
            <a:r>
              <a:rPr lang="en-US" sz="3200" b="1" dirty="0" smtClean="0"/>
              <a:t>simultaneously, </a:t>
            </a:r>
            <a:r>
              <a:rPr lang="en-IN" sz="3200" b="1" dirty="0" smtClean="0"/>
              <a:t>i</a:t>
            </a:r>
            <a:r>
              <a:rPr lang="en-IN" sz="3200" dirty="0" smtClean="0"/>
              <a:t>mproving </a:t>
            </a:r>
            <a:r>
              <a:rPr lang="en-IN" sz="3200" dirty="0"/>
              <a:t>the </a:t>
            </a:r>
            <a:r>
              <a:rPr lang="en-IN" sz="3200" b="1" dirty="0"/>
              <a:t>throughput</a:t>
            </a:r>
            <a:r>
              <a:rPr lang="en-IN" sz="3200" dirty="0"/>
              <a:t> significantly</a:t>
            </a:r>
            <a:r>
              <a:rPr lang="en-IN" sz="3200" dirty="0" smtClean="0"/>
              <a:t>.</a:t>
            </a:r>
            <a:r>
              <a:rPr lang="en-US" sz="3200" dirty="0" smtClean="0"/>
              <a:t> Simpler instructions execute in fewer cycles than complicated </a:t>
            </a:r>
            <a:r>
              <a:rPr lang="en-IN" sz="3200" dirty="0" smtClean="0"/>
              <a:t>ones.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04872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118" y="252757"/>
            <a:ext cx="10364451" cy="57723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PERFORMANCE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9488" y="856357"/>
            <a:ext cx="11577711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IN" sz="3200" dirty="0" smtClean="0"/>
              <a:t>The </a:t>
            </a:r>
            <a:r>
              <a:rPr lang="en-US" sz="3200" b="1" dirty="0" smtClean="0"/>
              <a:t>cost of a </a:t>
            </a:r>
            <a:r>
              <a:rPr lang="en-IN" sz="3200" b="1" dirty="0"/>
              <a:t>particular </a:t>
            </a:r>
            <a:r>
              <a:rPr lang="en-IN" sz="3200" b="1" dirty="0" smtClean="0"/>
              <a:t>processor </a:t>
            </a:r>
            <a:r>
              <a:rPr lang="en-IN" sz="3200" b="1" dirty="0"/>
              <a:t>architecture</a:t>
            </a:r>
            <a:r>
              <a:rPr lang="en-US" sz="3200" b="1" dirty="0" smtClean="0"/>
              <a:t> </a:t>
            </a:r>
            <a:r>
              <a:rPr lang="en-US" sz="3200" dirty="0"/>
              <a:t>depends on the </a:t>
            </a:r>
            <a:r>
              <a:rPr lang="en-US" sz="3200" dirty="0">
                <a:solidFill>
                  <a:srgbClr val="FF0000"/>
                </a:solidFill>
              </a:rPr>
              <a:t>amount of hardware required and the </a:t>
            </a:r>
            <a:r>
              <a:rPr lang="en-US" sz="3200" dirty="0" smtClean="0">
                <a:solidFill>
                  <a:srgbClr val="FF0000"/>
                </a:solidFill>
              </a:rPr>
              <a:t>implementation </a:t>
            </a:r>
            <a:r>
              <a:rPr lang="en-IN" sz="3200" dirty="0" smtClean="0">
                <a:solidFill>
                  <a:srgbClr val="FF0000"/>
                </a:solidFill>
              </a:rPr>
              <a:t>technology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 smtClean="0"/>
              <a:t>There </a:t>
            </a:r>
            <a:r>
              <a:rPr lang="en-US" sz="3200" dirty="0" smtClean="0"/>
              <a:t>are </a:t>
            </a:r>
            <a:r>
              <a:rPr lang="en-US" sz="3200" dirty="0"/>
              <a:t>many ways to measure the performance of a computer </a:t>
            </a:r>
            <a:r>
              <a:rPr lang="en-US" sz="3200" dirty="0" smtClean="0"/>
              <a:t>system.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/>
              <a:t>The </a:t>
            </a:r>
            <a:r>
              <a:rPr lang="en-IN" sz="3200" dirty="0" smtClean="0"/>
              <a:t>computer </a:t>
            </a:r>
            <a:r>
              <a:rPr lang="en-US" sz="3200" dirty="0" smtClean="0"/>
              <a:t>that </a:t>
            </a:r>
            <a:r>
              <a:rPr lang="en-US" sz="3200" b="1" dirty="0"/>
              <a:t>executes your program fastest </a:t>
            </a:r>
            <a:r>
              <a:rPr lang="en-US" sz="3200" dirty="0"/>
              <a:t>has the </a:t>
            </a:r>
            <a:r>
              <a:rPr lang="en-US" sz="3200" dirty="0">
                <a:solidFill>
                  <a:srgbClr val="FF0000"/>
                </a:solidFill>
              </a:rPr>
              <a:t>highest </a:t>
            </a:r>
            <a:r>
              <a:rPr lang="en-US" sz="3200" dirty="0" smtClean="0">
                <a:solidFill>
                  <a:srgbClr val="FF0000"/>
                </a:solidFill>
              </a:rPr>
              <a:t>performance.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 smtClean="0"/>
              <a:t>The </a:t>
            </a:r>
            <a:r>
              <a:rPr lang="en-US" sz="3200" dirty="0" smtClean="0"/>
              <a:t>next </a:t>
            </a:r>
            <a:r>
              <a:rPr lang="en-US" sz="3200" dirty="0">
                <a:solidFill>
                  <a:srgbClr val="FF0000"/>
                </a:solidFill>
              </a:rPr>
              <a:t>best choice </a:t>
            </a:r>
            <a:r>
              <a:rPr lang="en-US" sz="3200" dirty="0"/>
              <a:t>is to measure the </a:t>
            </a:r>
            <a:r>
              <a:rPr lang="en-US" sz="3200" b="1" dirty="0"/>
              <a:t>total execution time of a collection </a:t>
            </a:r>
            <a:r>
              <a:rPr lang="en-US" sz="3200" b="1" dirty="0" smtClean="0"/>
              <a:t>of programs</a:t>
            </a:r>
            <a:r>
              <a:rPr lang="en-US" sz="3200" dirty="0" smtClean="0"/>
              <a:t> </a:t>
            </a:r>
            <a:r>
              <a:rPr lang="en-US" sz="3200" dirty="0"/>
              <a:t>that are similar to those you plan to </a:t>
            </a:r>
            <a:r>
              <a:rPr lang="en-US" sz="3200" dirty="0" smtClean="0"/>
              <a:t>run.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 smtClean="0"/>
              <a:t>Such collections </a:t>
            </a:r>
            <a:r>
              <a:rPr lang="en-US" sz="3200" dirty="0" smtClean="0"/>
              <a:t>of </a:t>
            </a:r>
            <a:r>
              <a:rPr lang="en-US" sz="3200" dirty="0"/>
              <a:t>programs are called </a:t>
            </a:r>
            <a:r>
              <a:rPr lang="en-US" sz="3200" b="1" i="1" dirty="0">
                <a:solidFill>
                  <a:srgbClr val="FF0000"/>
                </a:solidFill>
              </a:rPr>
              <a:t>benchmarks</a:t>
            </a:r>
            <a:r>
              <a:rPr lang="en-US" sz="3200" dirty="0"/>
              <a:t>, and the </a:t>
            </a:r>
            <a:r>
              <a:rPr lang="en-US" sz="3200" dirty="0">
                <a:solidFill>
                  <a:srgbClr val="FF0000"/>
                </a:solidFill>
              </a:rPr>
              <a:t>execution times of </a:t>
            </a:r>
            <a:r>
              <a:rPr lang="en-US" sz="3200" dirty="0" smtClean="0">
                <a:solidFill>
                  <a:srgbClr val="FF0000"/>
                </a:solidFill>
              </a:rPr>
              <a:t>these programs </a:t>
            </a:r>
            <a:r>
              <a:rPr lang="en-US" sz="3200" dirty="0">
                <a:solidFill>
                  <a:srgbClr val="FF0000"/>
                </a:solidFill>
              </a:rPr>
              <a:t>are commonly published </a:t>
            </a:r>
            <a:r>
              <a:rPr lang="en-US" sz="3200" dirty="0"/>
              <a:t>to give some indication of how </a:t>
            </a:r>
            <a:r>
              <a:rPr lang="en-US" sz="3200" dirty="0" smtClean="0"/>
              <a:t>a </a:t>
            </a:r>
            <a:r>
              <a:rPr lang="en-IN" sz="3200" dirty="0" smtClean="0"/>
              <a:t>processor </a:t>
            </a:r>
            <a:r>
              <a:rPr lang="en-IN" sz="3200" dirty="0"/>
              <a:t>performs.</a:t>
            </a:r>
          </a:p>
        </p:txBody>
      </p:sp>
    </p:spTree>
    <p:extLst>
      <p:ext uri="{BB962C8B-B14F-4D97-AF65-F5344CB8AC3E}">
        <p14:creationId xmlns:p14="http://schemas.microsoft.com/office/powerpoint/2010/main" val="1036123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856357"/>
            <a:ext cx="1157771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b="1" dirty="0" smtClean="0">
                <a:solidFill>
                  <a:srgbClr val="FF0000"/>
                </a:solidFill>
              </a:rPr>
              <a:t>Dhrystone</a:t>
            </a:r>
            <a:r>
              <a:rPr lang="en-US" sz="3200" b="1" dirty="0">
                <a:solidFill>
                  <a:srgbClr val="FF0000"/>
                </a:solidFill>
              </a:rPr>
              <a:t>, </a:t>
            </a:r>
            <a:r>
              <a:rPr lang="en-US" sz="3200" b="1" dirty="0" err="1">
                <a:solidFill>
                  <a:srgbClr val="FF0000"/>
                </a:solidFill>
              </a:rPr>
              <a:t>CoreMark</a:t>
            </a:r>
            <a:r>
              <a:rPr lang="en-US" sz="3200" b="1" dirty="0">
                <a:solidFill>
                  <a:srgbClr val="FF0000"/>
                </a:solidFill>
              </a:rPr>
              <a:t>, and SPEC </a:t>
            </a:r>
            <a:r>
              <a:rPr lang="en-US" sz="3200" dirty="0"/>
              <a:t>are three popular </a:t>
            </a:r>
            <a:r>
              <a:rPr lang="en-US" sz="3200" dirty="0" smtClean="0"/>
              <a:t>benchmarks.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b="1" dirty="0"/>
              <a:t>first two</a:t>
            </a:r>
            <a:r>
              <a:rPr lang="en-US" sz="3200" dirty="0"/>
              <a:t> are </a:t>
            </a:r>
            <a:r>
              <a:rPr lang="en-US" sz="3200" i="1" dirty="0"/>
              <a:t>synthetic benchmarks </a:t>
            </a:r>
            <a:r>
              <a:rPr lang="en-US" sz="3200" dirty="0"/>
              <a:t>composed of </a:t>
            </a:r>
            <a:r>
              <a:rPr lang="en-US" sz="3200" b="1" dirty="0"/>
              <a:t>important </a:t>
            </a:r>
            <a:r>
              <a:rPr lang="en-US" sz="3200" b="1" dirty="0" smtClean="0"/>
              <a:t>common </a:t>
            </a:r>
            <a:r>
              <a:rPr lang="en-IN" sz="3200" b="1" dirty="0" smtClean="0"/>
              <a:t>pieces </a:t>
            </a:r>
            <a:r>
              <a:rPr lang="en-IN" sz="3200" b="1" dirty="0"/>
              <a:t>of </a:t>
            </a:r>
            <a:r>
              <a:rPr lang="en-IN" sz="3200" b="1" dirty="0" smtClean="0"/>
              <a:t>programs.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Both </a:t>
            </a:r>
            <a:r>
              <a:rPr lang="en-US" sz="3200" dirty="0"/>
              <a:t>benchmarks are </a:t>
            </a:r>
            <a:r>
              <a:rPr lang="en-US" sz="3200" b="1" dirty="0"/>
              <a:t>less </a:t>
            </a:r>
            <a:r>
              <a:rPr lang="en-US" sz="3200" b="1" dirty="0" smtClean="0"/>
              <a:t>than 16 </a:t>
            </a:r>
            <a:r>
              <a:rPr lang="en-US" sz="3200" b="1" dirty="0"/>
              <a:t>KB</a:t>
            </a:r>
            <a:r>
              <a:rPr lang="en-US" sz="3200" dirty="0"/>
              <a:t> in size and </a:t>
            </a:r>
            <a:r>
              <a:rPr lang="en-US" sz="3200" b="1" dirty="0"/>
              <a:t>do not stress </a:t>
            </a:r>
            <a:r>
              <a:rPr lang="en-US" sz="3200" dirty="0"/>
              <a:t>the instruction </a:t>
            </a:r>
            <a:r>
              <a:rPr lang="en-US" sz="3200" dirty="0" smtClean="0"/>
              <a:t>cache.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 err="1"/>
              <a:t>SPECspeed</a:t>
            </a:r>
            <a:r>
              <a:rPr lang="en-US" sz="3200" dirty="0"/>
              <a:t> 2017 Integer benchmark from the </a:t>
            </a:r>
            <a:r>
              <a:rPr lang="en-US" sz="3200" b="1" dirty="0" smtClean="0"/>
              <a:t>Standard Performance </a:t>
            </a:r>
            <a:r>
              <a:rPr lang="en-US" sz="3200" b="1" dirty="0"/>
              <a:t>Evaluation Corporation (SPEC</a:t>
            </a:r>
            <a:r>
              <a:rPr lang="en-US" sz="3200" dirty="0"/>
              <a:t>) is composed of </a:t>
            </a:r>
            <a:r>
              <a:rPr lang="en-US" sz="3200" b="1" dirty="0"/>
              <a:t>real </a:t>
            </a:r>
            <a:r>
              <a:rPr lang="en-US" sz="3200" b="1" dirty="0" smtClean="0"/>
              <a:t>programs.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benchmark is widely </a:t>
            </a:r>
            <a:r>
              <a:rPr lang="en-US" sz="3200" b="1" dirty="0"/>
              <a:t>used for high-performance processors </a:t>
            </a:r>
            <a:r>
              <a:rPr lang="en-US" sz="3200" dirty="0" smtClean="0"/>
              <a:t>because </a:t>
            </a:r>
            <a:r>
              <a:rPr lang="en-US" sz="3200" b="1" dirty="0" smtClean="0"/>
              <a:t>it </a:t>
            </a:r>
            <a:r>
              <a:rPr lang="en-US" sz="3200" b="1" dirty="0"/>
              <a:t>stresses the entire system </a:t>
            </a:r>
            <a:r>
              <a:rPr lang="en-US" sz="3200" dirty="0"/>
              <a:t>in a representative way.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87446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118" y="252757"/>
            <a:ext cx="10364451" cy="57723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PERFORMANCE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9488" y="856357"/>
            <a:ext cx="1157771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IN" sz="3200" dirty="0" smtClean="0"/>
              <a:t>The </a:t>
            </a:r>
            <a:r>
              <a:rPr lang="en-US" sz="3200" dirty="0" smtClean="0"/>
              <a:t>cost of a </a:t>
            </a:r>
            <a:r>
              <a:rPr lang="en-IN" sz="3200" dirty="0"/>
              <a:t>particular processor architecture</a:t>
            </a:r>
            <a:r>
              <a:rPr lang="en-US" sz="3200" dirty="0" smtClean="0"/>
              <a:t> </a:t>
            </a:r>
            <a:r>
              <a:rPr lang="en-US" sz="3200" dirty="0"/>
              <a:t>depends on the </a:t>
            </a:r>
            <a:r>
              <a:rPr lang="en-US" sz="3200" b="1" dirty="0"/>
              <a:t>amount of hardware required and the </a:t>
            </a:r>
            <a:r>
              <a:rPr lang="en-US" sz="3200" b="1" dirty="0" smtClean="0"/>
              <a:t>implementation </a:t>
            </a:r>
            <a:r>
              <a:rPr lang="en-IN" sz="3200" b="1" dirty="0" smtClean="0"/>
              <a:t>technology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 smtClean="0"/>
              <a:t>There </a:t>
            </a:r>
            <a:r>
              <a:rPr lang="en-US" sz="3200" dirty="0" smtClean="0"/>
              <a:t>are </a:t>
            </a:r>
            <a:r>
              <a:rPr lang="en-US" sz="3200" dirty="0"/>
              <a:t>many ways to measure the performance of a computer </a:t>
            </a:r>
            <a:r>
              <a:rPr lang="en-US" sz="3200" dirty="0" smtClean="0"/>
              <a:t>system.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/>
              <a:t>The </a:t>
            </a:r>
            <a:r>
              <a:rPr lang="en-IN" sz="3200" dirty="0" smtClean="0"/>
              <a:t>computer </a:t>
            </a:r>
            <a:r>
              <a:rPr lang="en-US" sz="3200" dirty="0" smtClean="0"/>
              <a:t>that </a:t>
            </a:r>
            <a:r>
              <a:rPr lang="en-US" sz="3200" dirty="0"/>
              <a:t>executes your program fastest has the highest performance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87" t="39423" r="18567" b="51786"/>
          <a:stretch/>
        </p:blipFill>
        <p:spPr bwMode="auto">
          <a:xfrm>
            <a:off x="81992" y="4483747"/>
            <a:ext cx="11964868" cy="208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7932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7" y="406191"/>
            <a:ext cx="1157771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</a:t>
            </a:r>
            <a:r>
              <a:rPr lang="en-US" sz="3200" b="1" dirty="0"/>
              <a:t>number of instructions </a:t>
            </a:r>
            <a:r>
              <a:rPr lang="en-US" sz="3200" dirty="0"/>
              <a:t>in a program </a:t>
            </a:r>
            <a:r>
              <a:rPr lang="en-US" sz="3200" dirty="0">
                <a:solidFill>
                  <a:srgbClr val="FF0000"/>
                </a:solidFill>
              </a:rPr>
              <a:t>depends on the </a:t>
            </a:r>
            <a:r>
              <a:rPr lang="en-US" sz="3200" dirty="0" smtClean="0">
                <a:solidFill>
                  <a:srgbClr val="FF0000"/>
                </a:solidFill>
              </a:rPr>
              <a:t>processor </a:t>
            </a:r>
            <a:r>
              <a:rPr lang="en-IN" sz="3200" dirty="0" smtClean="0">
                <a:solidFill>
                  <a:srgbClr val="FF0000"/>
                </a:solidFill>
              </a:rPr>
              <a:t>architecture.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number of instructions also depends </a:t>
            </a:r>
            <a:r>
              <a:rPr lang="en-US" sz="3200" dirty="0" smtClean="0"/>
              <a:t>enormously on the </a:t>
            </a:r>
            <a:r>
              <a:rPr lang="en-US" sz="3200" b="1" dirty="0" smtClean="0"/>
              <a:t>cleverness </a:t>
            </a:r>
            <a:r>
              <a:rPr lang="en-US" sz="3200" b="1" dirty="0"/>
              <a:t>of the programmer</a:t>
            </a:r>
            <a:r>
              <a:rPr lang="en-US" sz="3200" b="1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/>
              <a:t>The </a:t>
            </a:r>
            <a:r>
              <a:rPr lang="en-IN" sz="3200" i="1" dirty="0"/>
              <a:t>cycles per instruction </a:t>
            </a:r>
            <a:r>
              <a:rPr lang="en-IN" sz="3200" dirty="0"/>
              <a:t>(</a:t>
            </a:r>
            <a:r>
              <a:rPr lang="en-IN" sz="3200" i="1" dirty="0" smtClean="0"/>
              <a:t>CPI</a:t>
            </a:r>
            <a:r>
              <a:rPr lang="en-IN" sz="3200" dirty="0" smtClean="0"/>
              <a:t>) </a:t>
            </a:r>
            <a:r>
              <a:rPr lang="en-US" sz="3200" dirty="0" smtClean="0"/>
              <a:t>is </a:t>
            </a:r>
            <a:r>
              <a:rPr lang="en-US" sz="3200" dirty="0"/>
              <a:t>the </a:t>
            </a:r>
            <a:r>
              <a:rPr lang="en-US" sz="3200" b="1" dirty="0"/>
              <a:t>number of clock cycles required to execute an average instruction</a:t>
            </a:r>
            <a:r>
              <a:rPr lang="en-US" sz="3200" dirty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It is the reciprocal of the throughput (</a:t>
            </a:r>
            <a:r>
              <a:rPr lang="en-US" sz="3200" i="1" dirty="0"/>
              <a:t>instructions per cycle</a:t>
            </a:r>
            <a:r>
              <a:rPr lang="en-US" sz="3200" dirty="0"/>
              <a:t>, or </a:t>
            </a:r>
            <a:r>
              <a:rPr lang="en-US" sz="3200" i="1" dirty="0"/>
              <a:t>IPC</a:t>
            </a:r>
            <a:r>
              <a:rPr lang="en-US" sz="3200" dirty="0"/>
              <a:t>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Different microarchitectures have different CPIs</a:t>
            </a:r>
            <a:r>
              <a:rPr lang="en-US" sz="3200" dirty="0" smtClean="0"/>
              <a:t>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 smtClean="0"/>
              <a:t>The </a:t>
            </a:r>
            <a:r>
              <a:rPr lang="en-US" sz="3200" b="1" dirty="0"/>
              <a:t>number of seconds per cycle is the </a:t>
            </a:r>
            <a:r>
              <a:rPr lang="en-US" sz="3200" b="1" dirty="0">
                <a:solidFill>
                  <a:srgbClr val="FF0000"/>
                </a:solidFill>
              </a:rPr>
              <a:t>clock period, </a:t>
            </a:r>
            <a:r>
              <a:rPr lang="en-US" sz="3200" b="1" i="1" dirty="0" err="1">
                <a:solidFill>
                  <a:srgbClr val="FF0000"/>
                </a:solidFill>
              </a:rPr>
              <a:t>T</a:t>
            </a:r>
            <a:r>
              <a:rPr lang="en-US" sz="3200" b="1" dirty="0" err="1">
                <a:solidFill>
                  <a:srgbClr val="FF0000"/>
                </a:solidFill>
              </a:rPr>
              <a:t>c</a:t>
            </a:r>
            <a:r>
              <a:rPr lang="en-US" sz="3200" dirty="0">
                <a:solidFill>
                  <a:srgbClr val="FF0000"/>
                </a:solidFill>
              </a:rPr>
              <a:t>. </a:t>
            </a:r>
            <a:endParaRPr lang="en-US" sz="3200" dirty="0" smtClean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clock period </a:t>
            </a:r>
            <a:r>
              <a:rPr lang="en-US" sz="3200" dirty="0"/>
              <a:t>is determined by the critical path through the logic in the processor.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Different microarchitectures have different clock periods.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086360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32612A0-DAA9-A41E-33E3-4DE85FB5F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AED803C-3696-7B12-D93E-44C16F6AC2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A847D9-DB0D-5C7D-471C-489BB6C90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2" y="609599"/>
            <a:ext cx="4815257" cy="1019175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IN" sz="4000" b="1" dirty="0">
                <a:latin typeface="CIDFont+F3"/>
              </a:rPr>
              <a:t>Single-Cycle Processor - </a:t>
            </a:r>
            <a:endParaRPr lang="en-US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xmlns="" id="{25BF80EF-A74E-AC40-3761-52FA2DD71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IN" sz="2400" dirty="0" smtClean="0"/>
              <a:t>Single </a:t>
            </a:r>
            <a:r>
              <a:rPr lang="en-IN" sz="2400" dirty="0"/>
              <a:t>Cycle </a:t>
            </a:r>
            <a:r>
              <a:rPr lang="en-IN" sz="2400" dirty="0" smtClean="0"/>
              <a:t>Data path</a:t>
            </a:r>
            <a:r>
              <a:rPr lang="en-IN" sz="2400" dirty="0"/>
              <a:t>, </a:t>
            </a:r>
            <a:endParaRPr lang="en-IN" sz="2400" dirty="0" smtClean="0"/>
          </a:p>
          <a:p>
            <a:r>
              <a:rPr lang="en-IN" sz="2400" dirty="0" smtClean="0"/>
              <a:t>Single </a:t>
            </a:r>
            <a:r>
              <a:rPr lang="en-IN" sz="2400" dirty="0"/>
              <a:t>Cycle Control;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62230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118" y="252757"/>
            <a:ext cx="10364451" cy="57723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SINGLE-CYCLE </a:t>
            </a:r>
            <a:r>
              <a:rPr lang="en-IN" b="1" dirty="0" smtClean="0"/>
              <a:t>PROCESSOR: 420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309488" y="814153"/>
            <a:ext cx="1157771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A</a:t>
            </a:r>
            <a:r>
              <a:rPr lang="en-US" sz="3200" dirty="0" smtClean="0"/>
              <a:t> </a:t>
            </a:r>
            <a:r>
              <a:rPr lang="en-US" sz="3200" dirty="0"/>
              <a:t>microarchitecture that </a:t>
            </a:r>
            <a:r>
              <a:rPr lang="en-US" sz="3200" b="1" dirty="0"/>
              <a:t>executes instructions in a </a:t>
            </a:r>
            <a:r>
              <a:rPr lang="en-US" sz="3200" b="1" dirty="0" smtClean="0"/>
              <a:t>single </a:t>
            </a:r>
            <a:r>
              <a:rPr lang="en-IN" sz="3200" b="1" dirty="0" smtClean="0"/>
              <a:t>Cycle </a:t>
            </a:r>
            <a:r>
              <a:rPr lang="en-IN" sz="3200" dirty="0" smtClean="0"/>
              <a:t>is called a </a:t>
            </a:r>
            <a:r>
              <a:rPr lang="en-IN" sz="3200" dirty="0" smtClean="0">
                <a:solidFill>
                  <a:srgbClr val="FF0000"/>
                </a:solidFill>
              </a:rPr>
              <a:t>Single cycle processor. 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3200" dirty="0" smtClean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We </a:t>
            </a:r>
            <a:r>
              <a:rPr lang="en-US" sz="3200" dirty="0"/>
              <a:t>begin </a:t>
            </a:r>
            <a:r>
              <a:rPr lang="en-US" sz="3200" b="1" dirty="0"/>
              <a:t>constructing the </a:t>
            </a:r>
            <a:r>
              <a:rPr lang="en-US" sz="3200" b="1" dirty="0" err="1"/>
              <a:t>datapath</a:t>
            </a:r>
            <a:r>
              <a:rPr lang="en-US" sz="3200" b="1" dirty="0"/>
              <a:t> </a:t>
            </a:r>
            <a:r>
              <a:rPr lang="en-US" sz="3200" dirty="0"/>
              <a:t>by </a:t>
            </a:r>
            <a:r>
              <a:rPr lang="en-US" sz="3200" b="1" dirty="0">
                <a:solidFill>
                  <a:srgbClr val="FF0000"/>
                </a:solidFill>
              </a:rPr>
              <a:t>connecting </a:t>
            </a:r>
            <a:r>
              <a:rPr lang="en-US" sz="3200" b="1" dirty="0" smtClean="0">
                <a:solidFill>
                  <a:srgbClr val="FF0000"/>
                </a:solidFill>
              </a:rPr>
              <a:t>the state elements </a:t>
            </a:r>
            <a:r>
              <a:rPr lang="en-US" sz="3200" dirty="0"/>
              <a:t>from Figure 7.1 </a:t>
            </a:r>
            <a:r>
              <a:rPr lang="en-US" sz="3200" b="1" dirty="0">
                <a:solidFill>
                  <a:srgbClr val="FF0000"/>
                </a:solidFill>
              </a:rPr>
              <a:t>with combinational logic </a:t>
            </a:r>
            <a:r>
              <a:rPr lang="en-US" sz="3200" dirty="0"/>
              <a:t>that can execute </a:t>
            </a:r>
            <a:r>
              <a:rPr lang="en-US" sz="3200" dirty="0" smtClean="0"/>
              <a:t>the various </a:t>
            </a:r>
            <a:r>
              <a:rPr lang="en-US" sz="3200" dirty="0"/>
              <a:t>instructions.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 smtClean="0"/>
              <a:t>Control </a:t>
            </a:r>
            <a:r>
              <a:rPr lang="en-US" sz="3200" b="1" dirty="0"/>
              <a:t>signals </a:t>
            </a:r>
            <a:r>
              <a:rPr lang="en-US" sz="3200" dirty="0"/>
              <a:t>determine </a:t>
            </a:r>
            <a:r>
              <a:rPr lang="en-US" sz="3200" b="1" dirty="0">
                <a:solidFill>
                  <a:srgbClr val="FF0000"/>
                </a:solidFill>
              </a:rPr>
              <a:t>which specific </a:t>
            </a:r>
            <a:r>
              <a:rPr lang="en-US" sz="3200" b="1" dirty="0" smtClean="0">
                <a:solidFill>
                  <a:srgbClr val="FF0000"/>
                </a:solidFill>
              </a:rPr>
              <a:t>instruction is </a:t>
            </a:r>
            <a:r>
              <a:rPr lang="en-US" sz="3200" b="1" dirty="0">
                <a:solidFill>
                  <a:srgbClr val="FF0000"/>
                </a:solidFill>
              </a:rPr>
              <a:t>performed </a:t>
            </a:r>
            <a:r>
              <a:rPr lang="en-US" sz="3200" dirty="0"/>
              <a:t>by the </a:t>
            </a:r>
            <a:r>
              <a:rPr lang="en-US" sz="3200" dirty="0" err="1"/>
              <a:t>datapath</a:t>
            </a:r>
            <a:r>
              <a:rPr lang="en-US" sz="3200" dirty="0"/>
              <a:t> at any given time.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b="1" dirty="0"/>
              <a:t>control </a:t>
            </a:r>
            <a:r>
              <a:rPr lang="en-US" sz="3200" b="1" dirty="0" smtClean="0"/>
              <a:t>unit contains </a:t>
            </a:r>
            <a:r>
              <a:rPr lang="en-US" sz="3200" b="1" dirty="0"/>
              <a:t>combinational logic </a:t>
            </a:r>
            <a:r>
              <a:rPr lang="en-US" sz="3200" dirty="0">
                <a:solidFill>
                  <a:srgbClr val="FF0000"/>
                </a:solidFill>
              </a:rPr>
              <a:t>that generates the appropriate </a:t>
            </a:r>
            <a:r>
              <a:rPr lang="en-US" sz="3200" dirty="0" smtClean="0">
                <a:solidFill>
                  <a:srgbClr val="FF0000"/>
                </a:solidFill>
              </a:rPr>
              <a:t>control signals </a:t>
            </a:r>
            <a:r>
              <a:rPr lang="en-US" sz="3200" dirty="0"/>
              <a:t>based on the current instruction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74479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118" y="252757"/>
            <a:ext cx="10364451" cy="57723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SINGLE-CYCLE </a:t>
            </a:r>
            <a:r>
              <a:rPr lang="en-IN" b="1" dirty="0" smtClean="0"/>
              <a:t>PROCESSOR: </a:t>
            </a:r>
            <a:r>
              <a:rPr lang="en-IN" b="1" dirty="0"/>
              <a:t>Sample Program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61" t="45635" r="18456" b="30357"/>
          <a:stretch/>
        </p:blipFill>
        <p:spPr bwMode="auto">
          <a:xfrm>
            <a:off x="0" y="1705753"/>
            <a:ext cx="12202720" cy="3566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166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814153"/>
            <a:ext cx="1157771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Suppose that the program is </a:t>
            </a:r>
            <a:r>
              <a:rPr lang="en-US" sz="3200" dirty="0" smtClean="0"/>
              <a:t>stored in </a:t>
            </a:r>
            <a:r>
              <a:rPr lang="en-US" sz="3200" dirty="0"/>
              <a:t>memory starting at address 0x1000.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figure indicates the </a:t>
            </a:r>
            <a:r>
              <a:rPr lang="en-US" sz="3200" dirty="0" smtClean="0"/>
              <a:t>address of </a:t>
            </a:r>
            <a:r>
              <a:rPr lang="en-US" sz="3200" dirty="0"/>
              <a:t>each instruction, the instruction type, the instruction fields, and </a:t>
            </a:r>
            <a:r>
              <a:rPr lang="en-US" sz="3200" dirty="0" smtClean="0"/>
              <a:t>the hexadecimal </a:t>
            </a:r>
            <a:r>
              <a:rPr lang="en-US" sz="3200" dirty="0"/>
              <a:t>machine language code for the </a:t>
            </a:r>
            <a:r>
              <a:rPr lang="en-US" sz="3200" dirty="0" smtClean="0"/>
              <a:t>instruction.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Assume </a:t>
            </a:r>
            <a:r>
              <a:rPr lang="en-US" sz="3200" dirty="0"/>
              <a:t>that register </a:t>
            </a:r>
            <a:r>
              <a:rPr lang="en-US" sz="3200" dirty="0">
                <a:solidFill>
                  <a:srgbClr val="FF0000"/>
                </a:solidFill>
              </a:rPr>
              <a:t>x5</a:t>
            </a:r>
            <a:r>
              <a:rPr lang="en-US" sz="3200" dirty="0"/>
              <a:t> initially contains the </a:t>
            </a:r>
            <a:r>
              <a:rPr lang="en-US" sz="3200" dirty="0">
                <a:solidFill>
                  <a:srgbClr val="FF0000"/>
                </a:solidFill>
              </a:rPr>
              <a:t>value 6</a:t>
            </a:r>
            <a:r>
              <a:rPr lang="en-US" sz="3200" dirty="0"/>
              <a:t> and </a:t>
            </a:r>
            <a:r>
              <a:rPr lang="en-US" sz="3200" dirty="0">
                <a:solidFill>
                  <a:srgbClr val="FF0000"/>
                </a:solidFill>
              </a:rPr>
              <a:t>x9 </a:t>
            </a:r>
            <a:r>
              <a:rPr lang="en-US" sz="3200" dirty="0" smtClean="0"/>
              <a:t>contains </a:t>
            </a:r>
            <a:r>
              <a:rPr lang="en-US" sz="3200" dirty="0" smtClean="0">
                <a:solidFill>
                  <a:srgbClr val="FF0000"/>
                </a:solidFill>
              </a:rPr>
              <a:t>0x2004</a:t>
            </a:r>
            <a:r>
              <a:rPr lang="en-US" sz="3200" dirty="0">
                <a:solidFill>
                  <a:srgbClr val="FF0000"/>
                </a:solidFill>
              </a:rPr>
              <a:t>. </a:t>
            </a:r>
            <a:endParaRPr lang="en-US" sz="3200" dirty="0" smtClean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Memory </a:t>
            </a:r>
            <a:r>
              <a:rPr lang="en-US" sz="3200" dirty="0">
                <a:solidFill>
                  <a:srgbClr val="FF0000"/>
                </a:solidFill>
              </a:rPr>
              <a:t>location 0x2000 </a:t>
            </a:r>
            <a:r>
              <a:rPr lang="en-US" sz="3200" dirty="0"/>
              <a:t>contains the value </a:t>
            </a:r>
            <a:r>
              <a:rPr lang="en-US" sz="3200" dirty="0">
                <a:solidFill>
                  <a:srgbClr val="FF0000"/>
                </a:solidFill>
              </a:rPr>
              <a:t>10. </a:t>
            </a:r>
            <a:endParaRPr lang="en-US" sz="3200" dirty="0" smtClean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 smtClean="0">
                <a:solidFill>
                  <a:srgbClr val="FF0000"/>
                </a:solidFill>
              </a:rPr>
              <a:t>program counter </a:t>
            </a:r>
            <a:r>
              <a:rPr lang="en-US" sz="3200" dirty="0">
                <a:solidFill>
                  <a:srgbClr val="FF0000"/>
                </a:solidFill>
              </a:rPr>
              <a:t>begins at 0x1000.</a:t>
            </a:r>
            <a:endParaRPr lang="en-US" sz="3200" dirty="0" smtClean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Sample Program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77981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814153"/>
            <a:ext cx="1157771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 err="1"/>
              <a:t>lw</a:t>
            </a:r>
            <a:r>
              <a:rPr lang="en-US" sz="3200" dirty="0"/>
              <a:t> reads 10 from address (0x2004 – 4</a:t>
            </a:r>
            <a:r>
              <a:rPr lang="en-US" sz="3200" dirty="0" smtClean="0"/>
              <a:t>) = </a:t>
            </a:r>
            <a:r>
              <a:rPr lang="en-US" sz="3200" dirty="0"/>
              <a:t>0x2000 and puts it in x6.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 err="1"/>
              <a:t>sw</a:t>
            </a:r>
            <a:r>
              <a:rPr lang="en-US" sz="3200" dirty="0"/>
              <a:t> writes 10 to address (0x2004 + 8) </a:t>
            </a:r>
            <a:r>
              <a:rPr lang="en-US" sz="3200" dirty="0" smtClean="0"/>
              <a:t>= 0x200C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or computes x4 = 6 | 10 = 0110</a:t>
            </a:r>
            <a:r>
              <a:rPr lang="en-US" sz="3200" baseline="-25000" dirty="0"/>
              <a:t>2</a:t>
            </a:r>
            <a:r>
              <a:rPr lang="en-US" sz="3200" dirty="0"/>
              <a:t> | 1010</a:t>
            </a:r>
            <a:r>
              <a:rPr lang="en-US" sz="3200" baseline="-25000" dirty="0"/>
              <a:t>2</a:t>
            </a:r>
            <a:r>
              <a:rPr lang="en-US" sz="3200" dirty="0"/>
              <a:t> = 1110</a:t>
            </a:r>
            <a:r>
              <a:rPr lang="en-US" sz="3200" baseline="-25000" dirty="0"/>
              <a:t>2</a:t>
            </a:r>
            <a:r>
              <a:rPr lang="en-US" sz="3200" dirty="0"/>
              <a:t> = 14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Then, </a:t>
            </a:r>
            <a:r>
              <a:rPr lang="en-US" sz="3200" dirty="0" err="1"/>
              <a:t>beq</a:t>
            </a:r>
            <a:r>
              <a:rPr lang="en-US" sz="3200" dirty="0"/>
              <a:t> goes back to label L7, so the program repeats forever.</a:t>
            </a:r>
            <a:endParaRPr lang="en-IN" sz="32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Sample Program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83809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814153"/>
            <a:ext cx="1157771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solidFill>
                  <a:srgbClr val="00B0F0"/>
                </a:solidFill>
              </a:rPr>
              <a:t>This section gradually develops the single-cycle </a:t>
            </a:r>
            <a:r>
              <a:rPr lang="en-US" sz="3200" dirty="0" err="1">
                <a:solidFill>
                  <a:srgbClr val="00B0F0"/>
                </a:solidFill>
              </a:rPr>
              <a:t>datapath</a:t>
            </a:r>
            <a:r>
              <a:rPr lang="en-US" sz="3200" dirty="0">
                <a:solidFill>
                  <a:srgbClr val="00B0F0"/>
                </a:solidFill>
              </a:rPr>
              <a:t>, adding one</a:t>
            </a:r>
          </a:p>
          <a:p>
            <a:pPr algn="just"/>
            <a:r>
              <a:rPr lang="en-US" sz="3200" dirty="0">
                <a:solidFill>
                  <a:srgbClr val="00B0F0"/>
                </a:solidFill>
              </a:rPr>
              <a:t>piece at a time to the state elements from Figure 7.1. </a:t>
            </a:r>
            <a:endParaRPr lang="en-US" sz="3200" dirty="0" smtClean="0">
              <a:solidFill>
                <a:srgbClr val="00B0F0"/>
              </a:solidFill>
            </a:endParaRPr>
          </a:p>
          <a:p>
            <a:pPr algn="just"/>
            <a:r>
              <a:rPr lang="en-US" sz="3200" dirty="0" smtClean="0">
                <a:solidFill>
                  <a:srgbClr val="00B0F0"/>
                </a:solidFill>
              </a:rPr>
              <a:t>The </a:t>
            </a:r>
            <a:r>
              <a:rPr lang="en-US" sz="3200" dirty="0">
                <a:solidFill>
                  <a:srgbClr val="00B0F0"/>
                </a:solidFill>
              </a:rPr>
              <a:t>new </a:t>
            </a:r>
            <a:r>
              <a:rPr lang="en-US" sz="3200" dirty="0" smtClean="0">
                <a:solidFill>
                  <a:srgbClr val="00B0F0"/>
                </a:solidFill>
              </a:rPr>
              <a:t>connections are </a:t>
            </a:r>
            <a:r>
              <a:rPr lang="en-US" sz="3200" dirty="0">
                <a:solidFill>
                  <a:srgbClr val="00B0F0"/>
                </a:solidFill>
              </a:rPr>
              <a:t>emphasized in black (or blue, for new control signals), whereas </a:t>
            </a:r>
            <a:r>
              <a:rPr lang="en-US" sz="3200" dirty="0" smtClean="0">
                <a:solidFill>
                  <a:srgbClr val="00B0F0"/>
                </a:solidFill>
              </a:rPr>
              <a:t>the hardware </a:t>
            </a:r>
            <a:r>
              <a:rPr lang="en-US" sz="3200" dirty="0">
                <a:solidFill>
                  <a:srgbClr val="00B0F0"/>
                </a:solidFill>
              </a:rPr>
              <a:t>that has already been studied is shown in gray. </a:t>
            </a:r>
            <a:endParaRPr lang="en-US" sz="3200" dirty="0" smtClean="0">
              <a:solidFill>
                <a:srgbClr val="00B0F0"/>
              </a:solidFill>
            </a:endParaRPr>
          </a:p>
          <a:p>
            <a:pPr algn="just"/>
            <a:r>
              <a:rPr lang="en-US" sz="3200" dirty="0" smtClean="0">
                <a:solidFill>
                  <a:srgbClr val="00B0F0"/>
                </a:solidFill>
              </a:rPr>
              <a:t>The example instruction </a:t>
            </a:r>
            <a:r>
              <a:rPr lang="en-US" sz="3200" dirty="0">
                <a:solidFill>
                  <a:srgbClr val="00B0F0"/>
                </a:solidFill>
              </a:rPr>
              <a:t>being executed is shown at the bottom of each figure.</a:t>
            </a:r>
            <a:endParaRPr lang="en-IN" sz="3200" dirty="0">
              <a:solidFill>
                <a:srgbClr val="00B0F0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r>
              <a:rPr lang="en-IN" b="1" dirty="0" smtClean="0"/>
              <a:t>: 421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935549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814153"/>
            <a:ext cx="1157771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program counter contains the address of the instruction </a:t>
            </a:r>
            <a:r>
              <a:rPr lang="en-US" sz="3200" dirty="0" smtClean="0"/>
              <a:t>to execute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first step is to read this instruction from instruction memory.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Figure 7.3 shows that the PC is simply connected to the address input </a:t>
            </a:r>
            <a:r>
              <a:rPr lang="en-US" sz="3200" dirty="0" smtClean="0"/>
              <a:t>of the </a:t>
            </a:r>
            <a:r>
              <a:rPr lang="en-US" sz="3200" dirty="0"/>
              <a:t>instruction memory.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instruction memory reads out, or </a:t>
            </a:r>
            <a:r>
              <a:rPr lang="en-US" sz="3200" i="1" dirty="0"/>
              <a:t>fetches</a:t>
            </a:r>
            <a:r>
              <a:rPr lang="en-US" sz="3200" dirty="0"/>
              <a:t>, </a:t>
            </a:r>
            <a:r>
              <a:rPr lang="en-US" sz="3200" dirty="0" smtClean="0"/>
              <a:t>the 32-bit </a:t>
            </a:r>
            <a:r>
              <a:rPr lang="en-US" sz="3200" dirty="0"/>
              <a:t>instruction, labeled </a:t>
            </a:r>
            <a:r>
              <a:rPr lang="en-US" sz="3200" i="1" dirty="0"/>
              <a:t>Instr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In </a:t>
            </a:r>
            <a:r>
              <a:rPr lang="en-US" sz="3200" dirty="0"/>
              <a:t>our sample program from Figure </a:t>
            </a:r>
            <a:r>
              <a:rPr lang="en-US" sz="3200" dirty="0" smtClean="0"/>
              <a:t>7.2, </a:t>
            </a:r>
            <a:r>
              <a:rPr lang="en-IN" sz="3200" dirty="0" smtClean="0"/>
              <a:t>PC </a:t>
            </a:r>
            <a:r>
              <a:rPr lang="en-IN" sz="3200" dirty="0"/>
              <a:t>is 0x1000</a:t>
            </a:r>
            <a:r>
              <a:rPr lang="en-IN" sz="3200" dirty="0" smtClean="0"/>
              <a:t>. </a:t>
            </a:r>
            <a:r>
              <a:rPr lang="en-US" sz="3200" dirty="0" smtClean="0"/>
              <a:t>(</a:t>
            </a:r>
            <a:r>
              <a:rPr lang="en-US" sz="2800" i="1" dirty="0"/>
              <a:t>Note that this is a 32-bit processor, so PC is </a:t>
            </a:r>
            <a:r>
              <a:rPr lang="en-US" sz="2800" i="1" dirty="0" smtClean="0"/>
              <a:t>really 0x00001000</a:t>
            </a:r>
            <a:r>
              <a:rPr lang="en-US" sz="2800" i="1" dirty="0"/>
              <a:t>, but we omit leading zeros to avoid cluttering the figure.</a:t>
            </a:r>
            <a:r>
              <a:rPr lang="en-US" sz="3200" dirty="0"/>
              <a:t>)</a:t>
            </a:r>
            <a:endParaRPr lang="en-IN" sz="3200" dirty="0">
              <a:solidFill>
                <a:srgbClr val="00B0F0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r>
              <a:rPr lang="en-IN" b="1" dirty="0" smtClean="0"/>
              <a:t>: 421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24598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r>
              <a:rPr lang="en-IN" b="1" dirty="0" smtClean="0"/>
              <a:t>: 421</a:t>
            </a:r>
            <a:endParaRPr lang="en-IN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92" t="22024" r="16335" b="45238"/>
          <a:stretch/>
        </p:blipFill>
        <p:spPr bwMode="auto">
          <a:xfrm>
            <a:off x="87516" y="2230092"/>
            <a:ext cx="12034338" cy="4044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87516" y="979435"/>
            <a:ext cx="2638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lw</a:t>
            </a:r>
            <a:r>
              <a:rPr lang="en-IN" b="1" dirty="0" smtClean="0"/>
              <a:t> : load word instruction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4973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r>
              <a:rPr lang="en-IN" b="1" dirty="0" smtClean="0"/>
              <a:t>: 421</a:t>
            </a:r>
            <a:endParaRPr lang="en-IN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37" t="42857" r="16671" b="24206"/>
          <a:stretch/>
        </p:blipFill>
        <p:spPr bwMode="auto">
          <a:xfrm>
            <a:off x="53724" y="1540737"/>
            <a:ext cx="12032965" cy="4127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87516" y="979435"/>
            <a:ext cx="2638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lw</a:t>
            </a:r>
            <a:r>
              <a:rPr lang="en-IN" b="1" dirty="0" smtClean="0"/>
              <a:t> : load word instruction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250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1883321"/>
            <a:ext cx="1157771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For the </a:t>
            </a:r>
            <a:r>
              <a:rPr lang="en-US" sz="3200" i="1" dirty="0" err="1"/>
              <a:t>lw</a:t>
            </a:r>
            <a:r>
              <a:rPr lang="en-US" sz="3200" i="1" dirty="0"/>
              <a:t> instruction, </a:t>
            </a:r>
            <a:r>
              <a:rPr lang="en-US" sz="3200" dirty="0"/>
              <a:t>the next step is to read the source register </a:t>
            </a:r>
            <a:r>
              <a:rPr lang="en-US" sz="3200" dirty="0" smtClean="0"/>
              <a:t>containing the </a:t>
            </a:r>
            <a:r>
              <a:rPr lang="en-US" sz="3200" dirty="0"/>
              <a:t>base address.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i="1" dirty="0" err="1" smtClean="0"/>
              <a:t>lw</a:t>
            </a:r>
            <a:r>
              <a:rPr lang="en-US" sz="3200" dirty="0" smtClean="0"/>
              <a:t> </a:t>
            </a:r>
            <a:r>
              <a:rPr lang="en-US" sz="3200" dirty="0"/>
              <a:t>is an I-type instruction, and </a:t>
            </a:r>
            <a:r>
              <a:rPr lang="en-US" sz="3200" dirty="0" smtClean="0"/>
              <a:t>the base </a:t>
            </a:r>
            <a:r>
              <a:rPr lang="en-US" sz="3200" dirty="0"/>
              <a:t>register is specified in the </a:t>
            </a:r>
            <a:r>
              <a:rPr lang="en-US" sz="3200" b="1" dirty="0"/>
              <a:t>rs1 </a:t>
            </a:r>
            <a:r>
              <a:rPr lang="en-US" sz="3200" dirty="0"/>
              <a:t>field of the instruction, </a:t>
            </a:r>
            <a:r>
              <a:rPr lang="en-US" sz="3200" i="1" dirty="0"/>
              <a:t>Instr</a:t>
            </a:r>
            <a:r>
              <a:rPr lang="en-US" sz="3200" baseline="-25000" dirty="0"/>
              <a:t>19:15</a:t>
            </a:r>
            <a:r>
              <a:rPr lang="en-US" sz="3200" dirty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These bits of the instruction connect to the </a:t>
            </a:r>
            <a:r>
              <a:rPr lang="en-US" sz="3200" i="1" dirty="0"/>
              <a:t>A1 </a:t>
            </a:r>
            <a:r>
              <a:rPr lang="en-US" sz="3200" dirty="0"/>
              <a:t>address input of the </a:t>
            </a:r>
            <a:r>
              <a:rPr lang="en-US" sz="3200" dirty="0" smtClean="0"/>
              <a:t>register file</a:t>
            </a:r>
            <a:r>
              <a:rPr lang="en-US" sz="3200" dirty="0"/>
              <a:t>, as shown in Figure 7.4.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register file reads the register </a:t>
            </a:r>
            <a:r>
              <a:rPr lang="en-US" sz="3200" dirty="0" smtClean="0"/>
              <a:t>value onto </a:t>
            </a:r>
            <a:r>
              <a:rPr lang="en-US" sz="3200" i="1" dirty="0"/>
              <a:t>RD1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In </a:t>
            </a:r>
            <a:r>
              <a:rPr lang="en-US" sz="3200" dirty="0"/>
              <a:t>our example, the register file reads 0x2004 from x9.</a:t>
            </a:r>
            <a:endParaRPr lang="en-IN" sz="3200" dirty="0">
              <a:solidFill>
                <a:srgbClr val="00B0F0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7516" y="979435"/>
            <a:ext cx="2638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lw</a:t>
            </a:r>
            <a:r>
              <a:rPr lang="en-IN" b="1" dirty="0" smtClean="0"/>
              <a:t> : load word instruction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7668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856357"/>
            <a:ext cx="1157771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</a:t>
            </a:r>
            <a:r>
              <a:rPr lang="en-US" sz="3200" dirty="0" err="1"/>
              <a:t>lw</a:t>
            </a:r>
            <a:r>
              <a:rPr lang="en-US" sz="3200" dirty="0"/>
              <a:t> instruction also requires an offset.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offset is stored </a:t>
            </a:r>
            <a:r>
              <a:rPr lang="en-US" sz="3200" dirty="0" smtClean="0"/>
              <a:t>in the </a:t>
            </a:r>
            <a:r>
              <a:rPr lang="en-US" sz="3200" dirty="0"/>
              <a:t>12-bit immediate field of the instruction, </a:t>
            </a:r>
            <a:r>
              <a:rPr lang="en-US" sz="3200" i="1" dirty="0"/>
              <a:t>Instr</a:t>
            </a:r>
            <a:r>
              <a:rPr lang="en-US" sz="3200" baseline="-25000" dirty="0"/>
              <a:t>31:20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It </a:t>
            </a:r>
            <a:r>
              <a:rPr lang="en-US" sz="3200" dirty="0"/>
              <a:t>is a </a:t>
            </a:r>
            <a:r>
              <a:rPr lang="en-US" sz="3200" dirty="0" smtClean="0"/>
              <a:t>signed value</a:t>
            </a:r>
            <a:r>
              <a:rPr lang="en-US" sz="3200" dirty="0"/>
              <a:t>, so it must be sign-extended to 32 bits.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Sign </a:t>
            </a:r>
            <a:r>
              <a:rPr lang="en-US" sz="3200" dirty="0"/>
              <a:t>extension </a:t>
            </a:r>
            <a:r>
              <a:rPr lang="en-US" sz="3200" dirty="0" smtClean="0"/>
              <a:t>simply means </a:t>
            </a:r>
            <a:r>
              <a:rPr lang="en-US" sz="3200" dirty="0"/>
              <a:t>copying the sign bit into the most significant bits: </a:t>
            </a:r>
            <a:r>
              <a:rPr lang="en-US" sz="3200" i="1" dirty="0" smtClean="0"/>
              <a:t>ImmExt</a:t>
            </a:r>
            <a:r>
              <a:rPr lang="en-US" sz="3200" baseline="-25000" dirty="0" smtClean="0"/>
              <a:t>31:12 </a:t>
            </a:r>
            <a:r>
              <a:rPr lang="en-US" sz="3200" dirty="0" smtClean="0"/>
              <a:t>= </a:t>
            </a:r>
            <a:r>
              <a:rPr lang="en-US" sz="3200" i="1" dirty="0"/>
              <a:t>Instr</a:t>
            </a:r>
            <a:r>
              <a:rPr lang="en-US" sz="3200" baseline="-25000" dirty="0"/>
              <a:t>31</a:t>
            </a:r>
            <a:r>
              <a:rPr lang="en-US" sz="3200" dirty="0"/>
              <a:t> , and </a:t>
            </a:r>
            <a:r>
              <a:rPr lang="en-US" sz="3200" i="1" dirty="0" smtClean="0"/>
              <a:t>ImmExt</a:t>
            </a:r>
            <a:r>
              <a:rPr lang="en-US" sz="3200" baseline="-25000" dirty="0" smtClean="0"/>
              <a:t>11:0</a:t>
            </a:r>
            <a:r>
              <a:rPr lang="en-US" sz="3200" dirty="0" smtClean="0"/>
              <a:t> </a:t>
            </a:r>
            <a:r>
              <a:rPr lang="en-US" sz="3200" dirty="0"/>
              <a:t>= </a:t>
            </a:r>
            <a:r>
              <a:rPr lang="en-US" sz="3200" i="1" dirty="0"/>
              <a:t>Instr</a:t>
            </a:r>
            <a:r>
              <a:rPr lang="en-US" sz="3200" baseline="-25000" dirty="0"/>
              <a:t>31:20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Sign-extension </a:t>
            </a:r>
            <a:r>
              <a:rPr lang="en-US" sz="3200" dirty="0"/>
              <a:t>is performed </a:t>
            </a:r>
            <a:r>
              <a:rPr lang="en-US" sz="3200" dirty="0" smtClean="0"/>
              <a:t>by </a:t>
            </a:r>
            <a:r>
              <a:rPr lang="en-US" sz="3200" dirty="0"/>
              <a:t>an Extend unit, as shown in Figure 7.5, which receives the 12-bit </a:t>
            </a:r>
            <a:r>
              <a:rPr lang="en-US" sz="3200" dirty="0" smtClean="0"/>
              <a:t>signed immediate </a:t>
            </a:r>
            <a:r>
              <a:rPr lang="en-US" sz="3200" dirty="0"/>
              <a:t>in </a:t>
            </a:r>
            <a:r>
              <a:rPr lang="en-US" sz="3200" i="1" dirty="0"/>
              <a:t>Instr</a:t>
            </a:r>
            <a:r>
              <a:rPr lang="en-US" sz="3200" baseline="-25000" dirty="0"/>
              <a:t>31:20</a:t>
            </a:r>
            <a:r>
              <a:rPr lang="en-US" sz="3200" dirty="0"/>
              <a:t> and produces the 32-bit sign-extended </a:t>
            </a:r>
            <a:r>
              <a:rPr lang="en-US" sz="3200" dirty="0" smtClean="0"/>
              <a:t>immediate, </a:t>
            </a:r>
            <a:r>
              <a:rPr lang="en-US" sz="3200" i="1" dirty="0" err="1" smtClean="0"/>
              <a:t>ImmExt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In </a:t>
            </a:r>
            <a:r>
              <a:rPr lang="en-US" sz="3200" dirty="0"/>
              <a:t>our example, the two’s complement immediate −4 </a:t>
            </a:r>
            <a:r>
              <a:rPr lang="en-US" sz="3200" dirty="0" smtClean="0"/>
              <a:t>is extended </a:t>
            </a:r>
            <a:r>
              <a:rPr lang="en-US" sz="3200" dirty="0"/>
              <a:t>from its 12-bit representation 0xFFC to a 32-bit </a:t>
            </a:r>
            <a:r>
              <a:rPr lang="en-US" sz="3200" dirty="0" smtClean="0"/>
              <a:t>representation </a:t>
            </a:r>
            <a:r>
              <a:rPr lang="en-IN" sz="3200" dirty="0" smtClean="0"/>
              <a:t>0xFFFFFFFC</a:t>
            </a:r>
            <a:r>
              <a:rPr lang="en-IN" sz="3200" dirty="0"/>
              <a:t>.</a:t>
            </a:r>
            <a:endParaRPr lang="en-IN" sz="3200" dirty="0">
              <a:solidFill>
                <a:srgbClr val="00B0F0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7516" y="669939"/>
            <a:ext cx="2638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lw</a:t>
            </a:r>
            <a:r>
              <a:rPr lang="en-IN" b="1" dirty="0" smtClean="0"/>
              <a:t> : load word instruction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5509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32" t="17808" r="12295" b="37550"/>
          <a:stretch/>
        </p:blipFill>
        <p:spPr bwMode="auto">
          <a:xfrm>
            <a:off x="116114" y="1074055"/>
            <a:ext cx="11959772" cy="5204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87516" y="979435"/>
            <a:ext cx="2638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lw</a:t>
            </a:r>
            <a:r>
              <a:rPr lang="en-IN" b="1" dirty="0" smtClean="0"/>
              <a:t> : load word instruction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859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1503485"/>
            <a:ext cx="1157771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processor adds the base address to the offset to find </a:t>
            </a:r>
            <a:r>
              <a:rPr lang="en-US" sz="3200" dirty="0" smtClean="0"/>
              <a:t>the address </a:t>
            </a:r>
            <a:r>
              <a:rPr lang="en-US" sz="3200" dirty="0"/>
              <a:t>to read from memory.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Figure </a:t>
            </a:r>
            <a:r>
              <a:rPr lang="en-US" sz="3200" dirty="0"/>
              <a:t>7.6 introduces an ALU to </a:t>
            </a:r>
            <a:r>
              <a:rPr lang="en-US" sz="3200" dirty="0" smtClean="0"/>
              <a:t>perform this </a:t>
            </a:r>
            <a:r>
              <a:rPr lang="en-US" sz="3200" dirty="0"/>
              <a:t>addition.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ALU receives two operands, </a:t>
            </a:r>
            <a:r>
              <a:rPr lang="en-US" sz="3200" i="1" dirty="0" err="1"/>
              <a:t>SrcA</a:t>
            </a:r>
            <a:r>
              <a:rPr lang="en-US" sz="3200" i="1" dirty="0"/>
              <a:t> </a:t>
            </a:r>
            <a:r>
              <a:rPr lang="en-US" sz="3200" dirty="0"/>
              <a:t>and </a:t>
            </a:r>
            <a:r>
              <a:rPr lang="en-US" sz="3200" i="1" dirty="0" err="1"/>
              <a:t>SrcB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i="1" dirty="0" err="1" smtClean="0"/>
              <a:t>SrcA</a:t>
            </a:r>
            <a:r>
              <a:rPr lang="en-US" sz="3200" i="1" dirty="0" smtClean="0"/>
              <a:t> </a:t>
            </a:r>
            <a:r>
              <a:rPr lang="en-US" sz="3200" dirty="0" smtClean="0"/>
              <a:t>is the </a:t>
            </a:r>
            <a:r>
              <a:rPr lang="en-US" sz="3200" dirty="0"/>
              <a:t>base address from the register file, and </a:t>
            </a:r>
            <a:r>
              <a:rPr lang="en-US" sz="3200" i="1" dirty="0" err="1"/>
              <a:t>SrcB</a:t>
            </a:r>
            <a:r>
              <a:rPr lang="en-US" sz="3200" i="1" dirty="0"/>
              <a:t> </a:t>
            </a:r>
            <a:r>
              <a:rPr lang="en-US" sz="3200" dirty="0"/>
              <a:t>is the offset from </a:t>
            </a:r>
            <a:r>
              <a:rPr lang="en-US" sz="3200" dirty="0" smtClean="0"/>
              <a:t>the </a:t>
            </a:r>
            <a:r>
              <a:rPr lang="en-IN" sz="3200" dirty="0" smtClean="0"/>
              <a:t>sign-extended </a:t>
            </a:r>
            <a:r>
              <a:rPr lang="en-IN" sz="3200" dirty="0"/>
              <a:t>immediate, </a:t>
            </a:r>
            <a:r>
              <a:rPr lang="en-IN" sz="3200" i="1" dirty="0" err="1"/>
              <a:t>ImmExt</a:t>
            </a:r>
            <a:r>
              <a:rPr lang="en-IN" sz="3200" dirty="0" smtClean="0"/>
              <a:t>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 smtClean="0"/>
              <a:t>The </a:t>
            </a:r>
            <a:r>
              <a:rPr lang="en-IN" sz="3200" dirty="0"/>
              <a:t>ALU </a:t>
            </a:r>
            <a:r>
              <a:rPr lang="en-IN" sz="3200" dirty="0" smtClean="0"/>
              <a:t>receives </a:t>
            </a:r>
            <a:r>
              <a:rPr lang="en-US" sz="3200" dirty="0" smtClean="0"/>
              <a:t>32-bit </a:t>
            </a:r>
            <a:r>
              <a:rPr lang="en-US" sz="3200" dirty="0"/>
              <a:t>operands and generates a 32-bit </a:t>
            </a:r>
            <a:r>
              <a:rPr lang="en-US" sz="3200" i="1" dirty="0" err="1"/>
              <a:t>ALUResult</a:t>
            </a:r>
            <a:r>
              <a:rPr lang="en-US" sz="3200" dirty="0"/>
              <a:t>. </a:t>
            </a:r>
            <a:endParaRPr lang="en-US" sz="3200" dirty="0" smtClean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7516" y="979435"/>
            <a:ext cx="2638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lw</a:t>
            </a:r>
            <a:r>
              <a:rPr lang="en-IN" b="1" dirty="0" smtClean="0"/>
              <a:t> : load word instruction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6177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1545689"/>
            <a:ext cx="1157771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For </a:t>
            </a:r>
            <a:r>
              <a:rPr lang="en-US" sz="3200" dirty="0"/>
              <a:t>the </a:t>
            </a:r>
            <a:r>
              <a:rPr lang="en-US" sz="3200" dirty="0" err="1"/>
              <a:t>lw</a:t>
            </a:r>
            <a:r>
              <a:rPr lang="en-US" sz="3200" dirty="0"/>
              <a:t> </a:t>
            </a:r>
            <a:r>
              <a:rPr lang="en-US" sz="3200" dirty="0" smtClean="0"/>
              <a:t>instruction, </a:t>
            </a:r>
            <a:r>
              <a:rPr lang="en-US" sz="3200" b="1" i="1" dirty="0" err="1" smtClean="0">
                <a:solidFill>
                  <a:srgbClr val="FF0000"/>
                </a:solidFill>
              </a:rPr>
              <a:t>ALUControl</a:t>
            </a:r>
            <a:r>
              <a:rPr lang="en-US" sz="3200" i="1" dirty="0" smtClean="0"/>
              <a:t> </a:t>
            </a:r>
            <a:r>
              <a:rPr lang="en-US" sz="3200" dirty="0"/>
              <a:t>should be </a:t>
            </a:r>
            <a:r>
              <a:rPr lang="en-US" sz="3200" b="1" dirty="0">
                <a:solidFill>
                  <a:srgbClr val="FF0000"/>
                </a:solidFill>
              </a:rPr>
              <a:t>set to 000 to perform addition. </a:t>
            </a:r>
            <a:endParaRPr lang="en-US" sz="3200" b="1" dirty="0" smtClean="0">
              <a:solidFill>
                <a:srgbClr val="FF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3200" i="1" dirty="0" err="1" smtClean="0"/>
              <a:t>ALUResult</a:t>
            </a:r>
            <a:r>
              <a:rPr lang="en-US" sz="3200" i="1" dirty="0" smtClean="0"/>
              <a:t> </a:t>
            </a:r>
            <a:r>
              <a:rPr lang="en-US" sz="3200" dirty="0" smtClean="0"/>
              <a:t>is </a:t>
            </a:r>
            <a:r>
              <a:rPr lang="en-US" sz="3200" dirty="0"/>
              <a:t>sent to the data memory as the address to read, as shown in Figure 7.6.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In our example, the ALU computes 0x2004 + 0xFFFFFFFC = 0x2000</a:t>
            </a:r>
            <a:r>
              <a:rPr lang="en-US" sz="3200" dirty="0" smtClean="0"/>
              <a:t>.</a:t>
            </a:r>
            <a:endParaRPr lang="en-US" sz="32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7516" y="979435"/>
            <a:ext cx="2638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lw</a:t>
            </a:r>
            <a:r>
              <a:rPr lang="en-IN" b="1" dirty="0" smtClean="0"/>
              <a:t> : load word instruction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9105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47" t="30577" r="12319" b="21230"/>
          <a:stretch/>
        </p:blipFill>
        <p:spPr bwMode="auto">
          <a:xfrm>
            <a:off x="106732" y="896305"/>
            <a:ext cx="11972723" cy="5748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87516" y="979435"/>
            <a:ext cx="2638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lw</a:t>
            </a:r>
            <a:r>
              <a:rPr lang="en-IN" b="1" dirty="0" smtClean="0"/>
              <a:t> : load word instruction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897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1545689"/>
            <a:ext cx="1157771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This memory address from the ALU is provided to the address (</a:t>
            </a:r>
            <a:r>
              <a:rPr lang="en-US" sz="3200" i="1" dirty="0" smtClean="0"/>
              <a:t>A</a:t>
            </a:r>
            <a:r>
              <a:rPr lang="en-US" sz="3200" dirty="0" smtClean="0"/>
              <a:t>) port </a:t>
            </a:r>
            <a:r>
              <a:rPr lang="en-US" sz="3200" dirty="0"/>
              <a:t>of the data memory.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data is read from the data memory onto </a:t>
            </a:r>
            <a:r>
              <a:rPr lang="en-US" sz="3200" dirty="0" smtClean="0"/>
              <a:t>the </a:t>
            </a:r>
            <a:r>
              <a:rPr lang="en-US" sz="3200" i="1" dirty="0" err="1" smtClean="0"/>
              <a:t>ReadData</a:t>
            </a:r>
            <a:r>
              <a:rPr lang="en-US" sz="3200" i="1" dirty="0" smtClean="0"/>
              <a:t> </a:t>
            </a:r>
            <a:r>
              <a:rPr lang="en-US" sz="3200" dirty="0"/>
              <a:t>bus and then written back to the destination register at the </a:t>
            </a:r>
            <a:r>
              <a:rPr lang="en-US" sz="3200" dirty="0" smtClean="0"/>
              <a:t>end of </a:t>
            </a:r>
            <a:r>
              <a:rPr lang="en-US" sz="3200" dirty="0"/>
              <a:t>the cycle, as shown in Figure 7.7.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Port </a:t>
            </a:r>
            <a:r>
              <a:rPr lang="en-US" sz="3200" dirty="0"/>
              <a:t>3 of the register file is the </a:t>
            </a:r>
            <a:r>
              <a:rPr lang="en-US" sz="3200" dirty="0" smtClean="0"/>
              <a:t>write port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err="1" smtClean="0"/>
              <a:t>lw’s</a:t>
            </a:r>
            <a:r>
              <a:rPr lang="en-US" sz="3200" dirty="0" smtClean="0"/>
              <a:t> </a:t>
            </a:r>
            <a:r>
              <a:rPr lang="en-US" sz="3200" dirty="0"/>
              <a:t>destination register, indicated by the </a:t>
            </a:r>
            <a:r>
              <a:rPr lang="en-US" sz="3200" b="1" dirty="0" err="1"/>
              <a:t>rd</a:t>
            </a:r>
            <a:r>
              <a:rPr lang="en-US" sz="3200" b="1" dirty="0"/>
              <a:t> </a:t>
            </a:r>
            <a:r>
              <a:rPr lang="en-US" sz="3200" dirty="0"/>
              <a:t>field (</a:t>
            </a:r>
            <a:r>
              <a:rPr lang="en-US" sz="3200" i="1" dirty="0"/>
              <a:t>Instr</a:t>
            </a:r>
            <a:r>
              <a:rPr lang="en-US" sz="3200" dirty="0"/>
              <a:t>11:7), is </a:t>
            </a:r>
            <a:r>
              <a:rPr lang="en-US" sz="3200" dirty="0" smtClean="0"/>
              <a:t>connected to </a:t>
            </a:r>
            <a:r>
              <a:rPr lang="en-US" sz="3200" i="1" dirty="0"/>
              <a:t>A3</a:t>
            </a:r>
            <a:r>
              <a:rPr lang="en-US" sz="3200" dirty="0"/>
              <a:t>, port 3’s address input.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7516" y="979435"/>
            <a:ext cx="2638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lw</a:t>
            </a:r>
            <a:r>
              <a:rPr lang="en-IN" b="1" dirty="0" smtClean="0"/>
              <a:t> : load word instruction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3980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47" t="30577" r="12319" b="21230"/>
          <a:stretch/>
        </p:blipFill>
        <p:spPr bwMode="auto">
          <a:xfrm>
            <a:off x="106732" y="896305"/>
            <a:ext cx="11972723" cy="5748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87516" y="979435"/>
            <a:ext cx="2638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lw</a:t>
            </a:r>
            <a:r>
              <a:rPr lang="en-IN" b="1" dirty="0" smtClean="0"/>
              <a:t> : load word instruction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2542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1545689"/>
            <a:ext cx="1157771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</a:t>
            </a:r>
            <a:r>
              <a:rPr lang="en-US" sz="3200" i="1" dirty="0" err="1"/>
              <a:t>ReadData</a:t>
            </a:r>
            <a:r>
              <a:rPr lang="en-US" sz="3200" i="1" dirty="0"/>
              <a:t> </a:t>
            </a:r>
            <a:r>
              <a:rPr lang="en-US" sz="3200" dirty="0"/>
              <a:t>bus is connected </a:t>
            </a:r>
            <a:r>
              <a:rPr lang="en-US" sz="3200" dirty="0" smtClean="0"/>
              <a:t>to </a:t>
            </a:r>
            <a:r>
              <a:rPr lang="en-US" sz="3200" i="1" dirty="0" smtClean="0"/>
              <a:t>WD3</a:t>
            </a:r>
            <a:r>
              <a:rPr lang="en-US" sz="3200" dirty="0"/>
              <a:t>, port 3’s write data input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 </a:t>
            </a:r>
            <a:r>
              <a:rPr lang="en-US" sz="3200" dirty="0"/>
              <a:t>control signal called </a:t>
            </a:r>
            <a:r>
              <a:rPr lang="en-US" sz="3200" i="1" dirty="0" err="1"/>
              <a:t>RegWrite</a:t>
            </a:r>
            <a:r>
              <a:rPr lang="en-US" sz="3200" i="1" dirty="0"/>
              <a:t> </a:t>
            </a:r>
            <a:r>
              <a:rPr lang="en-US" sz="3200" dirty="0"/>
              <a:t>(</a:t>
            </a:r>
            <a:r>
              <a:rPr lang="en-US" sz="3200" dirty="0" smtClean="0"/>
              <a:t>register write</a:t>
            </a:r>
            <a:r>
              <a:rPr lang="en-US" sz="3200" dirty="0"/>
              <a:t>) is connected to </a:t>
            </a:r>
            <a:r>
              <a:rPr lang="en-US" sz="3200" i="1" dirty="0"/>
              <a:t>WE3</a:t>
            </a:r>
            <a:r>
              <a:rPr lang="en-US" sz="3200" dirty="0"/>
              <a:t>, port 3’s write enable input, and is </a:t>
            </a:r>
            <a:r>
              <a:rPr lang="en-US" sz="3200" dirty="0" smtClean="0"/>
              <a:t>asserted during </a:t>
            </a:r>
            <a:r>
              <a:rPr lang="en-US" sz="3200" dirty="0"/>
              <a:t>the </a:t>
            </a:r>
            <a:r>
              <a:rPr lang="en-US" sz="3200" dirty="0" err="1"/>
              <a:t>lw</a:t>
            </a:r>
            <a:r>
              <a:rPr lang="en-US" sz="3200" dirty="0"/>
              <a:t> instruction so that the data value is written into the </a:t>
            </a:r>
            <a:r>
              <a:rPr lang="en-US" sz="3200" dirty="0" smtClean="0"/>
              <a:t>register file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write takes place on the rising edge of the clock at the end of </a:t>
            </a:r>
            <a:r>
              <a:rPr lang="en-US" sz="3200" dirty="0" smtClean="0"/>
              <a:t>the cycle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In </a:t>
            </a:r>
            <a:r>
              <a:rPr lang="en-US" sz="3200" dirty="0"/>
              <a:t>our example, the processor reads 10 from address 0x2000 in </a:t>
            </a:r>
            <a:r>
              <a:rPr lang="en-US" sz="3200" dirty="0" smtClean="0"/>
              <a:t>the data </a:t>
            </a:r>
            <a:r>
              <a:rPr lang="en-US" sz="3200" dirty="0"/>
              <a:t>memory and puts that value (10) into x6 in the register file.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7516" y="979435"/>
            <a:ext cx="2638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lw</a:t>
            </a:r>
            <a:r>
              <a:rPr lang="en-IN" b="1" dirty="0" smtClean="0"/>
              <a:t> : load word instruction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532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16117" y="1187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7516" y="487055"/>
            <a:ext cx="2638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lw</a:t>
            </a:r>
            <a:r>
              <a:rPr lang="en-IN" b="1" dirty="0" smtClean="0"/>
              <a:t> : load word instruction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99" t="34324" r="13302" b="12699"/>
          <a:stretch/>
        </p:blipFill>
        <p:spPr bwMode="auto">
          <a:xfrm>
            <a:off x="314320" y="898590"/>
            <a:ext cx="11671358" cy="5922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2096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1545689"/>
            <a:ext cx="1157771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While the instruction is being executed, the processor must </a:t>
            </a:r>
            <a:r>
              <a:rPr lang="en-US" sz="3200" dirty="0" smtClean="0"/>
              <a:t>also compute </a:t>
            </a:r>
            <a:r>
              <a:rPr lang="en-US" sz="3200" dirty="0"/>
              <a:t>the address of the next instruction, </a:t>
            </a:r>
            <a:r>
              <a:rPr lang="en-US" sz="3200" i="1" dirty="0" err="1"/>
              <a:t>PCNext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Because instructions are </a:t>
            </a:r>
            <a:r>
              <a:rPr lang="en-US" sz="3200" dirty="0"/>
              <a:t>32 bits (4 bytes), the next instruction is at PC+4.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Figure 7.8 uses </a:t>
            </a:r>
            <a:r>
              <a:rPr lang="en-US" sz="3200" dirty="0"/>
              <a:t>an adder to increment the PC by 4.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In </a:t>
            </a:r>
            <a:r>
              <a:rPr lang="en-US" sz="3200" dirty="0"/>
              <a:t>our example, </a:t>
            </a:r>
            <a:r>
              <a:rPr lang="en-US" sz="3200" i="1" dirty="0" err="1"/>
              <a:t>PCNext</a:t>
            </a:r>
            <a:r>
              <a:rPr lang="en-US" sz="3200" i="1" dirty="0"/>
              <a:t> </a:t>
            </a:r>
            <a:r>
              <a:rPr lang="en-US" sz="3200" dirty="0" smtClean="0"/>
              <a:t>= 0x1000 </a:t>
            </a:r>
            <a:r>
              <a:rPr lang="en-US" sz="3200" dirty="0"/>
              <a:t>+ 4 = 0x1004.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new address is written into the </a:t>
            </a:r>
            <a:r>
              <a:rPr lang="en-US" sz="3200" dirty="0" smtClean="0"/>
              <a:t>program counter </a:t>
            </a:r>
            <a:r>
              <a:rPr lang="en-US" sz="3200" dirty="0"/>
              <a:t>on the next rising edge of the clock.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This </a:t>
            </a:r>
            <a:r>
              <a:rPr lang="en-US" sz="3200" dirty="0"/>
              <a:t>completes the </a:t>
            </a:r>
            <a:r>
              <a:rPr lang="en-US" sz="3200" dirty="0" err="1" smtClean="0"/>
              <a:t>datapath</a:t>
            </a:r>
            <a:r>
              <a:rPr lang="en-US" sz="3200" dirty="0" smtClean="0"/>
              <a:t> </a:t>
            </a:r>
            <a:r>
              <a:rPr lang="en-IN" sz="3200" dirty="0" smtClean="0"/>
              <a:t>for </a:t>
            </a:r>
            <a:r>
              <a:rPr lang="en-IN" sz="3200" dirty="0"/>
              <a:t>the </a:t>
            </a:r>
            <a:r>
              <a:rPr lang="en-IN" sz="3200" dirty="0" err="1"/>
              <a:t>lw</a:t>
            </a:r>
            <a:r>
              <a:rPr lang="en-IN" sz="3200" dirty="0"/>
              <a:t> instruction.</a:t>
            </a:r>
            <a:endParaRPr lang="en-US" sz="32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7516" y="979435"/>
            <a:ext cx="2638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lw</a:t>
            </a:r>
            <a:r>
              <a:rPr lang="en-IN" b="1" dirty="0" smtClean="0"/>
              <a:t> : load word instruction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4344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16117" y="1187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7516" y="487055"/>
            <a:ext cx="2638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lw</a:t>
            </a:r>
            <a:r>
              <a:rPr lang="en-IN" b="1" dirty="0" smtClean="0"/>
              <a:t> : load word instruction</a:t>
            </a: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30" t="25397" r="11093" b="20040"/>
          <a:stretch/>
        </p:blipFill>
        <p:spPr bwMode="auto">
          <a:xfrm>
            <a:off x="368876" y="856386"/>
            <a:ext cx="11433924" cy="5977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553840" y="2473560"/>
              <a:ext cx="8046000" cy="38937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44480" y="2464200"/>
                <a:ext cx="8064720" cy="391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318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1545689"/>
            <a:ext cx="1157771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err="1"/>
              <a:t>sw</a:t>
            </a:r>
            <a:r>
              <a:rPr lang="en-US" sz="3200" dirty="0"/>
              <a:t>, which is an </a:t>
            </a:r>
            <a:r>
              <a:rPr lang="en-US" sz="3200" dirty="0" smtClean="0"/>
              <a:t>S-type instruction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Like </a:t>
            </a:r>
            <a:r>
              <a:rPr lang="en-US" sz="3200" dirty="0" err="1"/>
              <a:t>lw</a:t>
            </a:r>
            <a:r>
              <a:rPr lang="en-US" sz="3200" dirty="0"/>
              <a:t>, </a:t>
            </a:r>
            <a:r>
              <a:rPr lang="en-US" sz="3200" dirty="0" err="1"/>
              <a:t>sw</a:t>
            </a:r>
            <a:r>
              <a:rPr lang="en-US" sz="3200" dirty="0"/>
              <a:t> reads a base address from port 1 of the </a:t>
            </a:r>
            <a:r>
              <a:rPr lang="en-US" sz="3200" dirty="0" smtClean="0"/>
              <a:t>register file </a:t>
            </a:r>
            <a:r>
              <a:rPr lang="en-US" sz="3200" dirty="0"/>
              <a:t>and sign-extends the immediate.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ALU adds the base </a:t>
            </a:r>
            <a:r>
              <a:rPr lang="en-US" sz="3200" dirty="0" smtClean="0"/>
              <a:t>address to </a:t>
            </a:r>
            <a:r>
              <a:rPr lang="en-US" sz="3200" dirty="0"/>
              <a:t>the immediate to find the memory address.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All </a:t>
            </a:r>
            <a:r>
              <a:rPr lang="en-US" sz="3200" dirty="0"/>
              <a:t>of these </a:t>
            </a:r>
            <a:r>
              <a:rPr lang="en-US" sz="3200" dirty="0" smtClean="0"/>
              <a:t>functions are </a:t>
            </a:r>
            <a:r>
              <a:rPr lang="en-US" sz="3200" dirty="0"/>
              <a:t>already supported in the </a:t>
            </a:r>
            <a:r>
              <a:rPr lang="en-US" sz="3200" dirty="0" err="1"/>
              <a:t>datapath</a:t>
            </a:r>
            <a:r>
              <a:rPr lang="en-US" sz="3200" dirty="0"/>
              <a:t>, but the 12-bit signed </a:t>
            </a:r>
            <a:r>
              <a:rPr lang="en-US" sz="3200" dirty="0" smtClean="0"/>
              <a:t>immediate is </a:t>
            </a:r>
            <a:r>
              <a:rPr lang="en-US" sz="3200" dirty="0"/>
              <a:t>stored in </a:t>
            </a:r>
            <a:r>
              <a:rPr lang="en-US" sz="3200" i="1" dirty="0"/>
              <a:t>Instr</a:t>
            </a:r>
            <a:r>
              <a:rPr lang="en-US" sz="3200" baseline="-25000" dirty="0"/>
              <a:t>31:25,11:7</a:t>
            </a:r>
            <a:r>
              <a:rPr lang="en-US" sz="3200" dirty="0"/>
              <a:t> (instead of </a:t>
            </a:r>
            <a:r>
              <a:rPr lang="en-US" sz="3200" i="1" dirty="0"/>
              <a:t>Instr</a:t>
            </a:r>
            <a:r>
              <a:rPr lang="en-US" sz="3200" baseline="-25000" dirty="0"/>
              <a:t>31:20</a:t>
            </a:r>
            <a:r>
              <a:rPr lang="en-US" sz="3200" dirty="0"/>
              <a:t>, as it was for </a:t>
            </a:r>
            <a:r>
              <a:rPr lang="en-US" sz="3200" dirty="0" err="1"/>
              <a:t>lw</a:t>
            </a:r>
            <a:r>
              <a:rPr lang="en-US" sz="3200" dirty="0"/>
              <a:t>).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Thus, the </a:t>
            </a:r>
            <a:r>
              <a:rPr lang="en-US" sz="3200" dirty="0"/>
              <a:t>Extend unit must be modified to also receive these additional </a:t>
            </a:r>
            <a:r>
              <a:rPr lang="en-US" sz="3200" dirty="0" smtClean="0"/>
              <a:t>bits, </a:t>
            </a:r>
            <a:r>
              <a:rPr lang="en-US" sz="3200" i="1" dirty="0" smtClean="0"/>
              <a:t>Instr</a:t>
            </a:r>
            <a:r>
              <a:rPr lang="en-US" sz="3200" baseline="-25000" dirty="0" smtClean="0"/>
              <a:t>11:7</a:t>
            </a:r>
            <a:r>
              <a:rPr lang="en-US" sz="3200" dirty="0"/>
              <a:t>. </a:t>
            </a:r>
            <a:endParaRPr lang="en-US" sz="3200" dirty="0" smtClean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7516" y="979435"/>
            <a:ext cx="2713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/>
              <a:t>s</a:t>
            </a:r>
            <a:r>
              <a:rPr lang="en-IN" b="1" dirty="0" err="1" smtClean="0"/>
              <a:t>w</a:t>
            </a:r>
            <a:r>
              <a:rPr lang="en-IN" b="1" dirty="0" smtClean="0"/>
              <a:t> : store word instruction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8852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1545689"/>
            <a:ext cx="1157771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For </a:t>
            </a:r>
            <a:r>
              <a:rPr lang="en-US" sz="3200" dirty="0"/>
              <a:t>simplicity (and for future instructions such as </a:t>
            </a:r>
            <a:r>
              <a:rPr lang="en-US" sz="3200" dirty="0" err="1"/>
              <a:t>jal</a:t>
            </a:r>
            <a:r>
              <a:rPr lang="en-US" sz="3200" dirty="0"/>
              <a:t>), </a:t>
            </a:r>
            <a:r>
              <a:rPr lang="en-US" sz="3200" dirty="0" smtClean="0"/>
              <a:t>the Extend </a:t>
            </a:r>
            <a:r>
              <a:rPr lang="en-US" sz="3200" dirty="0"/>
              <a:t>unit receives all the bits of </a:t>
            </a:r>
            <a:r>
              <a:rPr lang="en-US" sz="3200" i="1" dirty="0"/>
              <a:t>Instr</a:t>
            </a:r>
            <a:r>
              <a:rPr lang="en-US" sz="3200" baseline="-25000" dirty="0"/>
              <a:t>31:7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 </a:t>
            </a:r>
            <a:r>
              <a:rPr lang="en-US" sz="3200" dirty="0"/>
              <a:t>control signal, </a:t>
            </a:r>
            <a:r>
              <a:rPr lang="en-US" sz="3200" b="1" i="1" dirty="0" err="1" smtClean="0"/>
              <a:t>ImmSrc</a:t>
            </a:r>
            <a:r>
              <a:rPr lang="en-US" sz="3200" b="1" dirty="0" smtClean="0"/>
              <a:t>, decides </a:t>
            </a:r>
            <a:r>
              <a:rPr lang="en-US" sz="3200" b="1" dirty="0"/>
              <a:t>which instruction bits to use as the immediate.</a:t>
            </a:r>
            <a:r>
              <a:rPr lang="en-US" sz="3200" dirty="0"/>
              <a:t>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When </a:t>
            </a:r>
            <a:r>
              <a:rPr lang="en-US" sz="3200" i="1" dirty="0" err="1">
                <a:solidFill>
                  <a:srgbClr val="FF0000"/>
                </a:solidFill>
              </a:rPr>
              <a:t>ImmSrc</a:t>
            </a:r>
            <a:r>
              <a:rPr lang="en-US" sz="3200" i="1" dirty="0">
                <a:solidFill>
                  <a:srgbClr val="FF0000"/>
                </a:solidFill>
              </a:rPr>
              <a:t> </a:t>
            </a:r>
            <a:r>
              <a:rPr lang="en-US" sz="3200" dirty="0" smtClean="0">
                <a:solidFill>
                  <a:srgbClr val="FF0000"/>
                </a:solidFill>
              </a:rPr>
              <a:t>= 0 </a:t>
            </a:r>
            <a:r>
              <a:rPr lang="en-US" sz="3200" dirty="0">
                <a:solidFill>
                  <a:srgbClr val="FF0000"/>
                </a:solidFill>
              </a:rPr>
              <a:t>(for </a:t>
            </a:r>
            <a:r>
              <a:rPr lang="en-US" sz="3200" dirty="0" err="1">
                <a:solidFill>
                  <a:srgbClr val="FF0000"/>
                </a:solidFill>
              </a:rPr>
              <a:t>lw</a:t>
            </a:r>
            <a:r>
              <a:rPr lang="en-US" sz="3200" dirty="0">
                <a:solidFill>
                  <a:srgbClr val="FF0000"/>
                </a:solidFill>
              </a:rPr>
              <a:t>), the Extend unit chooses </a:t>
            </a:r>
            <a:r>
              <a:rPr lang="en-US" sz="3200" i="1" dirty="0">
                <a:solidFill>
                  <a:srgbClr val="FF0000"/>
                </a:solidFill>
              </a:rPr>
              <a:t>Instr</a:t>
            </a:r>
            <a:r>
              <a:rPr lang="en-US" sz="3200" baseline="-25000" dirty="0">
                <a:solidFill>
                  <a:srgbClr val="FF0000"/>
                </a:solidFill>
              </a:rPr>
              <a:t>31:20</a:t>
            </a:r>
            <a:r>
              <a:rPr lang="en-US" sz="3200" dirty="0">
                <a:solidFill>
                  <a:srgbClr val="FF0000"/>
                </a:solidFill>
              </a:rPr>
              <a:t> as the 12-bit signed </a:t>
            </a:r>
            <a:r>
              <a:rPr lang="en-US" sz="3200" dirty="0" smtClean="0">
                <a:solidFill>
                  <a:srgbClr val="FF0000"/>
                </a:solidFill>
              </a:rPr>
              <a:t>immediate; when </a:t>
            </a:r>
            <a:r>
              <a:rPr lang="en-US" sz="3200" i="1" dirty="0" err="1">
                <a:solidFill>
                  <a:srgbClr val="FF0000"/>
                </a:solidFill>
              </a:rPr>
              <a:t>ImmSrc</a:t>
            </a:r>
            <a:r>
              <a:rPr lang="en-US" sz="3200" i="1" dirty="0">
                <a:solidFill>
                  <a:srgbClr val="FF0000"/>
                </a:solidFill>
              </a:rPr>
              <a:t> </a:t>
            </a:r>
            <a:r>
              <a:rPr lang="en-US" sz="3200" dirty="0">
                <a:solidFill>
                  <a:srgbClr val="FF0000"/>
                </a:solidFill>
              </a:rPr>
              <a:t>= 1 (for </a:t>
            </a:r>
            <a:r>
              <a:rPr lang="en-US" sz="3200" dirty="0" err="1">
                <a:solidFill>
                  <a:srgbClr val="FF0000"/>
                </a:solidFill>
              </a:rPr>
              <a:t>sw</a:t>
            </a:r>
            <a:r>
              <a:rPr lang="en-US" sz="3200" dirty="0">
                <a:solidFill>
                  <a:srgbClr val="FF0000"/>
                </a:solidFill>
              </a:rPr>
              <a:t>), it chooses </a:t>
            </a:r>
            <a:r>
              <a:rPr lang="en-US" sz="3200" i="1" dirty="0">
                <a:solidFill>
                  <a:srgbClr val="FF0000"/>
                </a:solidFill>
              </a:rPr>
              <a:t>Instr</a:t>
            </a:r>
            <a:r>
              <a:rPr lang="en-US" sz="3200" baseline="-25000" dirty="0">
                <a:solidFill>
                  <a:srgbClr val="FF0000"/>
                </a:solidFill>
              </a:rPr>
              <a:t>31:25,11:7</a:t>
            </a:r>
            <a:r>
              <a:rPr lang="en-US" sz="3200" dirty="0"/>
              <a:t>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7516" y="979435"/>
            <a:ext cx="2713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/>
              <a:t>s</a:t>
            </a:r>
            <a:r>
              <a:rPr lang="en-IN" b="1" dirty="0" err="1" smtClean="0"/>
              <a:t>w</a:t>
            </a:r>
            <a:r>
              <a:rPr lang="en-IN" b="1" dirty="0" smtClean="0"/>
              <a:t> : store word instruction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5239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1545689"/>
            <a:ext cx="1157771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</a:t>
            </a:r>
            <a:r>
              <a:rPr lang="en-US" sz="3200" dirty="0" err="1"/>
              <a:t>sw</a:t>
            </a:r>
            <a:r>
              <a:rPr lang="en-US" sz="3200" dirty="0"/>
              <a:t> instruction also reads a second register from the register </a:t>
            </a:r>
            <a:r>
              <a:rPr lang="en-US" sz="3200" dirty="0" smtClean="0"/>
              <a:t>file and </a:t>
            </a:r>
            <a:r>
              <a:rPr lang="en-US" sz="3200" dirty="0"/>
              <a:t>writes its contents to the data memory.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Figure </a:t>
            </a:r>
            <a:r>
              <a:rPr lang="en-US" sz="3200" dirty="0"/>
              <a:t>7.9 shows the </a:t>
            </a:r>
            <a:r>
              <a:rPr lang="en-US" sz="3200" dirty="0" smtClean="0"/>
              <a:t>new connections </a:t>
            </a:r>
            <a:r>
              <a:rPr lang="en-US" sz="3200" dirty="0"/>
              <a:t>for this added functionality.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register is specified in </a:t>
            </a:r>
            <a:r>
              <a:rPr lang="en-US" sz="3200" dirty="0" smtClean="0"/>
              <a:t>the </a:t>
            </a:r>
            <a:r>
              <a:rPr lang="en-US" sz="3200" b="1" dirty="0" smtClean="0"/>
              <a:t>rs2 </a:t>
            </a:r>
            <a:r>
              <a:rPr lang="en-US" sz="3200" dirty="0"/>
              <a:t>field, </a:t>
            </a:r>
            <a:r>
              <a:rPr lang="en-US" sz="3200" i="1" dirty="0"/>
              <a:t>Instr</a:t>
            </a:r>
            <a:r>
              <a:rPr lang="en-US" sz="3200" dirty="0"/>
              <a:t>24:20, which is connected to the address 2 (</a:t>
            </a:r>
            <a:r>
              <a:rPr lang="en-US" sz="3200" i="1" dirty="0"/>
              <a:t>A2</a:t>
            </a:r>
            <a:r>
              <a:rPr lang="en-US" sz="3200" dirty="0"/>
              <a:t>) input of </a:t>
            </a:r>
            <a:r>
              <a:rPr lang="en-US" sz="3200" dirty="0" smtClean="0"/>
              <a:t>the register </a:t>
            </a:r>
            <a:r>
              <a:rPr lang="en-US" sz="3200" dirty="0"/>
              <a:t>file.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register’s contents are read onto the read data 2 (</a:t>
            </a:r>
            <a:r>
              <a:rPr lang="en-US" sz="3200" i="1" dirty="0" smtClean="0"/>
              <a:t>RD2</a:t>
            </a:r>
            <a:r>
              <a:rPr lang="en-US" sz="3200" dirty="0" smtClean="0"/>
              <a:t>) output</a:t>
            </a:r>
            <a:r>
              <a:rPr lang="en-US" sz="3200" dirty="0"/>
              <a:t>, which, in turn, is connected to the write data (</a:t>
            </a:r>
            <a:r>
              <a:rPr lang="en-US" sz="3200" i="1" dirty="0"/>
              <a:t>WD</a:t>
            </a:r>
            <a:r>
              <a:rPr lang="en-US" sz="3200" dirty="0"/>
              <a:t>) input of </a:t>
            </a:r>
            <a:r>
              <a:rPr lang="en-US" sz="3200" dirty="0" smtClean="0"/>
              <a:t>the data </a:t>
            </a:r>
            <a:r>
              <a:rPr lang="en-US" sz="3200" dirty="0"/>
              <a:t>memory.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write enable port of the data memory, </a:t>
            </a:r>
            <a:r>
              <a:rPr lang="en-US" sz="3200" i="1" dirty="0"/>
              <a:t>WE</a:t>
            </a:r>
            <a:r>
              <a:rPr lang="en-US" sz="3200" dirty="0"/>
              <a:t>, is </a:t>
            </a:r>
            <a:r>
              <a:rPr lang="en-US" sz="3200" dirty="0" smtClean="0"/>
              <a:t>controlled by </a:t>
            </a:r>
            <a:r>
              <a:rPr lang="en-US" sz="3200" i="1" dirty="0" err="1"/>
              <a:t>MemWrite</a:t>
            </a:r>
            <a:r>
              <a:rPr lang="en-US" sz="3200" dirty="0"/>
              <a:t>.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7516" y="979435"/>
            <a:ext cx="2713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/>
              <a:t>s</a:t>
            </a:r>
            <a:r>
              <a:rPr lang="en-IN" b="1" dirty="0" err="1" smtClean="0"/>
              <a:t>w</a:t>
            </a:r>
            <a:r>
              <a:rPr lang="en-IN" b="1" dirty="0" smtClean="0"/>
              <a:t> : store word instruction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4874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1545689"/>
            <a:ext cx="1157771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For </a:t>
            </a:r>
            <a:r>
              <a:rPr lang="en-US" sz="3200" dirty="0"/>
              <a:t>an </a:t>
            </a:r>
            <a:r>
              <a:rPr lang="en-US" sz="3200" dirty="0" err="1"/>
              <a:t>sw</a:t>
            </a:r>
            <a:r>
              <a:rPr lang="en-US" sz="3200" dirty="0"/>
              <a:t> instruction: </a:t>
            </a:r>
            <a:r>
              <a:rPr lang="en-US" sz="3200" i="1" dirty="0" err="1"/>
              <a:t>MemWrite</a:t>
            </a:r>
            <a:r>
              <a:rPr lang="en-US" sz="3200" i="1" dirty="0"/>
              <a:t> </a:t>
            </a:r>
            <a:r>
              <a:rPr lang="en-US" sz="3200" dirty="0"/>
              <a:t>= 1 to write </a:t>
            </a:r>
            <a:r>
              <a:rPr lang="en-US" sz="3200" dirty="0" smtClean="0"/>
              <a:t>the data </a:t>
            </a:r>
            <a:r>
              <a:rPr lang="en-US" sz="3200" dirty="0"/>
              <a:t>to memory; </a:t>
            </a:r>
            <a:r>
              <a:rPr lang="en-US" sz="3200" i="1" dirty="0" err="1"/>
              <a:t>ALUControl</a:t>
            </a:r>
            <a:r>
              <a:rPr lang="en-US" sz="3200" i="1" dirty="0"/>
              <a:t> </a:t>
            </a:r>
            <a:r>
              <a:rPr lang="en-US" sz="3200" dirty="0"/>
              <a:t>= 000 to add the base address and </a:t>
            </a:r>
            <a:r>
              <a:rPr lang="en-US" sz="3200" dirty="0" smtClean="0"/>
              <a:t>offset; and </a:t>
            </a:r>
            <a:r>
              <a:rPr lang="en-US" sz="3200" i="1" dirty="0" err="1"/>
              <a:t>RegWrite</a:t>
            </a:r>
            <a:r>
              <a:rPr lang="en-US" sz="3200" i="1" dirty="0"/>
              <a:t> </a:t>
            </a:r>
            <a:r>
              <a:rPr lang="en-US" sz="3200" dirty="0"/>
              <a:t>= 0, because nothing should be written to the register file</a:t>
            </a:r>
            <a:r>
              <a:rPr lang="en-US" sz="3200" dirty="0" smtClean="0"/>
              <a:t>.</a:t>
            </a:r>
          </a:p>
          <a:p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Note that data is still read from the address given to the data </a:t>
            </a:r>
            <a:r>
              <a:rPr lang="en-US" sz="3200" dirty="0" smtClean="0"/>
              <a:t>memory, but </a:t>
            </a:r>
            <a:r>
              <a:rPr lang="en-US" sz="3200" dirty="0"/>
              <a:t>this </a:t>
            </a:r>
            <a:r>
              <a:rPr lang="en-US" sz="3200" i="1" dirty="0" err="1"/>
              <a:t>ReadData</a:t>
            </a:r>
            <a:r>
              <a:rPr lang="en-US" sz="3200" i="1" dirty="0"/>
              <a:t> </a:t>
            </a:r>
            <a:r>
              <a:rPr lang="en-US" sz="3200" dirty="0"/>
              <a:t>is ignored because </a:t>
            </a:r>
            <a:r>
              <a:rPr lang="en-US" sz="3200" i="1" dirty="0" err="1"/>
              <a:t>RegWrite</a:t>
            </a:r>
            <a:r>
              <a:rPr lang="en-US" sz="3200" i="1" dirty="0"/>
              <a:t> </a:t>
            </a:r>
            <a:r>
              <a:rPr lang="en-US" sz="3200" dirty="0"/>
              <a:t>= 0.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7516" y="979435"/>
            <a:ext cx="2713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/>
              <a:t>s</a:t>
            </a:r>
            <a:r>
              <a:rPr lang="en-IN" b="1" dirty="0" err="1" smtClean="0"/>
              <a:t>w</a:t>
            </a:r>
            <a:r>
              <a:rPr lang="en-IN" b="1" dirty="0" smtClean="0"/>
              <a:t> : store word instruction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037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7516" y="979435"/>
            <a:ext cx="2713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/>
              <a:t>s</a:t>
            </a:r>
            <a:r>
              <a:rPr lang="en-IN" b="1" dirty="0" err="1" smtClean="0"/>
              <a:t>w</a:t>
            </a:r>
            <a:r>
              <a:rPr lang="en-IN" b="1" dirty="0" smtClean="0"/>
              <a:t> : store word instruction</a:t>
            </a: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92" t="20143" r="13301" b="25198"/>
          <a:stretch/>
        </p:blipFill>
        <p:spPr bwMode="auto">
          <a:xfrm>
            <a:off x="684568" y="1441379"/>
            <a:ext cx="10555528" cy="5343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3768480" y="1937880"/>
              <a:ext cx="5831280" cy="43758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59120" y="1928520"/>
                <a:ext cx="5850000" cy="439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2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1545689"/>
            <a:ext cx="1157771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In our example, the PC is 0x1004.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Thus</a:t>
            </a:r>
            <a:r>
              <a:rPr lang="en-US" sz="3200" dirty="0"/>
              <a:t>, the instruction </a:t>
            </a:r>
            <a:r>
              <a:rPr lang="en-US" sz="3200" dirty="0" smtClean="0"/>
              <a:t>memory reads </a:t>
            </a:r>
            <a:r>
              <a:rPr lang="en-US" sz="3200" dirty="0"/>
              <a:t>out the </a:t>
            </a:r>
            <a:r>
              <a:rPr lang="en-US" sz="3200" dirty="0" err="1"/>
              <a:t>sw</a:t>
            </a:r>
            <a:r>
              <a:rPr lang="en-US" sz="3200" dirty="0"/>
              <a:t> instruction, 0x0064A423.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register file </a:t>
            </a:r>
            <a:r>
              <a:rPr lang="en-US" sz="3200" dirty="0" smtClean="0"/>
              <a:t>reads 0x2004 </a:t>
            </a:r>
            <a:r>
              <a:rPr lang="en-US" sz="3200" dirty="0"/>
              <a:t>(the base address) from x9 and 10 from x6 while the </a:t>
            </a:r>
            <a:r>
              <a:rPr lang="en-US" sz="3200" dirty="0" smtClean="0"/>
              <a:t>Extend unit </a:t>
            </a:r>
            <a:r>
              <a:rPr lang="en-US" sz="3200" dirty="0"/>
              <a:t>extends the immediate offset 8 from 12 to 32 bits.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ALU </a:t>
            </a:r>
            <a:r>
              <a:rPr lang="en-US" sz="3200" dirty="0" smtClean="0"/>
              <a:t>computes 0x2004 </a:t>
            </a:r>
            <a:r>
              <a:rPr lang="en-US" sz="3200" dirty="0"/>
              <a:t>+ 8 = 0x200C.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data memory writes 10 to address 0x200C.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Meanwhile, the PC is incremented to 0x1008.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7516" y="979435"/>
            <a:ext cx="2713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/>
              <a:t>s</a:t>
            </a:r>
            <a:r>
              <a:rPr lang="en-IN" b="1" dirty="0" err="1" smtClean="0"/>
              <a:t>w</a:t>
            </a:r>
            <a:r>
              <a:rPr lang="en-IN" b="1" dirty="0" smtClean="0"/>
              <a:t> : store word instruction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3983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1545689"/>
            <a:ext cx="1157771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Next, consider extending the </a:t>
            </a:r>
            <a:r>
              <a:rPr lang="en-US" sz="3200" dirty="0" err="1"/>
              <a:t>datapath</a:t>
            </a:r>
            <a:r>
              <a:rPr lang="en-US" sz="3200" dirty="0"/>
              <a:t> to handle the R-type </a:t>
            </a:r>
            <a:r>
              <a:rPr lang="en-US" sz="3200" dirty="0" smtClean="0"/>
              <a:t>instructions, add</a:t>
            </a:r>
            <a:r>
              <a:rPr lang="en-US" sz="3200" dirty="0"/>
              <a:t>, sub, and, or, and </a:t>
            </a:r>
            <a:r>
              <a:rPr lang="en-US" sz="3200" dirty="0" err="1" smtClean="0"/>
              <a:t>slt</a:t>
            </a:r>
            <a:r>
              <a:rPr lang="en-US" sz="3200" dirty="0" smtClean="0"/>
              <a:t>(set if less than).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All </a:t>
            </a:r>
            <a:r>
              <a:rPr lang="en-US" sz="3200" dirty="0"/>
              <a:t>of these instructions read two source </a:t>
            </a:r>
            <a:r>
              <a:rPr lang="en-US" sz="3200" dirty="0" smtClean="0"/>
              <a:t>registers from </a:t>
            </a:r>
            <a:r>
              <a:rPr lang="en-US" sz="3200" dirty="0"/>
              <a:t>the register file, perform some ALU operation on them, </a:t>
            </a:r>
            <a:r>
              <a:rPr lang="en-US" sz="3200" dirty="0" smtClean="0"/>
              <a:t>and write </a:t>
            </a:r>
            <a:r>
              <a:rPr lang="en-US" sz="3200" dirty="0"/>
              <a:t>the result back to the destination register.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They </a:t>
            </a:r>
            <a:r>
              <a:rPr lang="en-US" sz="3200" dirty="0"/>
              <a:t>differ only in </a:t>
            </a:r>
            <a:r>
              <a:rPr lang="en-US" sz="3200" dirty="0" smtClean="0"/>
              <a:t>the specific </a:t>
            </a:r>
            <a:r>
              <a:rPr lang="en-US" sz="3200" dirty="0"/>
              <a:t>ALU operation.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Hence</a:t>
            </a:r>
            <a:r>
              <a:rPr lang="en-US" sz="3200" dirty="0"/>
              <a:t>, they can all be handled with the </a:t>
            </a:r>
            <a:r>
              <a:rPr lang="en-US" sz="3200" dirty="0" smtClean="0"/>
              <a:t>same hardware </a:t>
            </a:r>
            <a:r>
              <a:rPr lang="en-US" sz="3200" dirty="0"/>
              <a:t>but with different </a:t>
            </a:r>
            <a:r>
              <a:rPr lang="en-US" sz="3200" i="1" dirty="0" err="1"/>
              <a:t>ALUControl</a:t>
            </a:r>
            <a:r>
              <a:rPr lang="en-US" sz="3200" i="1" dirty="0"/>
              <a:t> </a:t>
            </a:r>
            <a:r>
              <a:rPr lang="en-US" sz="3200" dirty="0"/>
              <a:t>signals.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7516" y="979435"/>
            <a:ext cx="19909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R-Type Instructions</a:t>
            </a:r>
          </a:p>
        </p:txBody>
      </p:sp>
    </p:spTree>
    <p:extLst>
      <p:ext uri="{BB962C8B-B14F-4D97-AF65-F5344CB8AC3E}">
        <p14:creationId xmlns:p14="http://schemas.microsoft.com/office/powerpoint/2010/main" val="2668151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1545689"/>
            <a:ext cx="1157771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Figure 7.10 shows the enhanced </a:t>
            </a:r>
            <a:r>
              <a:rPr lang="en-US" sz="3200" dirty="0" err="1"/>
              <a:t>datapath</a:t>
            </a:r>
            <a:r>
              <a:rPr lang="en-US" sz="3200" dirty="0"/>
              <a:t> handling these </a:t>
            </a:r>
            <a:r>
              <a:rPr lang="en-US" sz="3200" dirty="0" smtClean="0"/>
              <a:t>R-type instructions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 err="1"/>
              <a:t>datapath</a:t>
            </a:r>
            <a:r>
              <a:rPr lang="en-US" sz="3200" dirty="0"/>
              <a:t> reads </a:t>
            </a:r>
            <a:r>
              <a:rPr lang="en-US" sz="3200" b="1" dirty="0"/>
              <a:t>rs1 </a:t>
            </a:r>
            <a:r>
              <a:rPr lang="en-US" sz="3200" dirty="0"/>
              <a:t>and </a:t>
            </a:r>
            <a:r>
              <a:rPr lang="en-US" sz="3200" b="1" dirty="0"/>
              <a:t>rs2 </a:t>
            </a:r>
            <a:r>
              <a:rPr lang="en-US" sz="3200" dirty="0"/>
              <a:t>from ports 1 and 2 of </a:t>
            </a:r>
            <a:r>
              <a:rPr lang="en-US" sz="3200" dirty="0" smtClean="0"/>
              <a:t>the register </a:t>
            </a:r>
            <a:r>
              <a:rPr lang="en-US" sz="3200" dirty="0"/>
              <a:t>file and performs an ALU operation on them.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We </a:t>
            </a:r>
            <a:r>
              <a:rPr lang="en-US" sz="3200" dirty="0"/>
              <a:t>introduce </a:t>
            </a:r>
            <a:r>
              <a:rPr lang="en-US" sz="3200" b="1" dirty="0" smtClean="0">
                <a:solidFill>
                  <a:srgbClr val="FF0000"/>
                </a:solidFill>
              </a:rPr>
              <a:t>a multiplexer </a:t>
            </a:r>
            <a:r>
              <a:rPr lang="en-US" sz="3200" b="1" dirty="0">
                <a:solidFill>
                  <a:srgbClr val="FF0000"/>
                </a:solidFill>
              </a:rPr>
              <a:t>and a new select signal</a:t>
            </a:r>
            <a:r>
              <a:rPr lang="en-US" sz="3200" dirty="0"/>
              <a:t>, </a:t>
            </a:r>
            <a:r>
              <a:rPr lang="en-US" sz="3200" b="1" i="1" dirty="0" err="1">
                <a:solidFill>
                  <a:srgbClr val="FF0000"/>
                </a:solidFill>
              </a:rPr>
              <a:t>ALUSrc</a:t>
            </a:r>
            <a:r>
              <a:rPr lang="en-US" sz="3200" b="1" dirty="0">
                <a:solidFill>
                  <a:srgbClr val="FF0000"/>
                </a:solidFill>
              </a:rPr>
              <a:t>, to select between </a:t>
            </a:r>
            <a:r>
              <a:rPr lang="en-US" sz="3200" b="1" i="1" dirty="0" err="1" smtClean="0">
                <a:solidFill>
                  <a:srgbClr val="FF0000"/>
                </a:solidFill>
              </a:rPr>
              <a:t>ImmExt</a:t>
            </a:r>
            <a:r>
              <a:rPr lang="en-US" sz="3200" b="1" i="1" dirty="0" smtClean="0">
                <a:solidFill>
                  <a:srgbClr val="FF0000"/>
                </a:solidFill>
              </a:rPr>
              <a:t> </a:t>
            </a:r>
            <a:r>
              <a:rPr lang="en-US" sz="3200" b="1" dirty="0" smtClean="0">
                <a:solidFill>
                  <a:srgbClr val="FF0000"/>
                </a:solidFill>
              </a:rPr>
              <a:t>and </a:t>
            </a:r>
            <a:r>
              <a:rPr lang="en-US" sz="3200" b="1" i="1" dirty="0">
                <a:solidFill>
                  <a:srgbClr val="FF0000"/>
                </a:solidFill>
              </a:rPr>
              <a:t>RD2 </a:t>
            </a:r>
            <a:r>
              <a:rPr lang="en-US" sz="3200" dirty="0"/>
              <a:t>as the second ALU source, </a:t>
            </a:r>
            <a:r>
              <a:rPr lang="en-US" sz="3200" i="1" dirty="0" err="1"/>
              <a:t>SrcB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For </a:t>
            </a:r>
            <a:r>
              <a:rPr lang="en-US" sz="3200" dirty="0" err="1"/>
              <a:t>lw</a:t>
            </a:r>
            <a:r>
              <a:rPr lang="en-US" sz="3200" dirty="0"/>
              <a:t> and </a:t>
            </a:r>
            <a:r>
              <a:rPr lang="en-US" sz="3200" dirty="0" err="1"/>
              <a:t>sw</a:t>
            </a:r>
            <a:r>
              <a:rPr lang="en-US" sz="3200" dirty="0"/>
              <a:t>, </a:t>
            </a:r>
            <a:r>
              <a:rPr lang="en-US" sz="3200" i="1" dirty="0" err="1"/>
              <a:t>ALUSrc</a:t>
            </a:r>
            <a:r>
              <a:rPr lang="en-US" sz="3200" i="1" dirty="0"/>
              <a:t> </a:t>
            </a:r>
            <a:r>
              <a:rPr lang="en-US" sz="3200" dirty="0" smtClean="0"/>
              <a:t>is 1 </a:t>
            </a:r>
            <a:r>
              <a:rPr lang="en-US" sz="3200" dirty="0"/>
              <a:t>to select </a:t>
            </a:r>
            <a:r>
              <a:rPr lang="en-US" sz="3200" i="1" dirty="0" err="1"/>
              <a:t>ImmExt</a:t>
            </a:r>
            <a:r>
              <a:rPr lang="en-US" sz="3200" dirty="0"/>
              <a:t>;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for </a:t>
            </a:r>
            <a:r>
              <a:rPr lang="en-US" sz="3200" dirty="0"/>
              <a:t>R-type instructions, </a:t>
            </a:r>
            <a:r>
              <a:rPr lang="en-US" sz="3200" b="1" i="1" dirty="0" err="1"/>
              <a:t>ALUSrc</a:t>
            </a:r>
            <a:r>
              <a:rPr lang="en-US" sz="3200" b="1" i="1" dirty="0"/>
              <a:t> </a:t>
            </a:r>
            <a:r>
              <a:rPr lang="en-US" sz="3200" b="1" dirty="0"/>
              <a:t>is 0 </a:t>
            </a:r>
            <a:r>
              <a:rPr lang="en-US" sz="3200" dirty="0"/>
              <a:t>to select </a:t>
            </a:r>
            <a:r>
              <a:rPr lang="en-US" sz="3200" b="1" dirty="0" smtClean="0"/>
              <a:t>the register </a:t>
            </a:r>
            <a:r>
              <a:rPr lang="en-US" sz="3200" b="1" dirty="0"/>
              <a:t>file output </a:t>
            </a:r>
            <a:r>
              <a:rPr lang="en-US" sz="3200" i="1" dirty="0"/>
              <a:t>RD2 </a:t>
            </a:r>
            <a:r>
              <a:rPr lang="en-US" sz="3200" dirty="0"/>
              <a:t>as </a:t>
            </a:r>
            <a:r>
              <a:rPr lang="en-US" sz="3200" i="1" dirty="0" err="1"/>
              <a:t>SrcB</a:t>
            </a:r>
            <a:r>
              <a:rPr lang="en-US" sz="3200" dirty="0"/>
              <a:t>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7516" y="979435"/>
            <a:ext cx="19909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R-Type Instructions</a:t>
            </a:r>
          </a:p>
        </p:txBody>
      </p:sp>
    </p:spTree>
    <p:extLst>
      <p:ext uri="{BB962C8B-B14F-4D97-AF65-F5344CB8AC3E}">
        <p14:creationId xmlns:p14="http://schemas.microsoft.com/office/powerpoint/2010/main" val="3447358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7516" y="979435"/>
            <a:ext cx="19909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R-Type Instructions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00" t="22619" r="9085" b="22620"/>
          <a:stretch/>
        </p:blipFill>
        <p:spPr bwMode="auto">
          <a:xfrm>
            <a:off x="747601" y="1373267"/>
            <a:ext cx="10633170" cy="5454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732400" y="0"/>
              <a:ext cx="9305280" cy="64742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23040" y="-9360"/>
                <a:ext cx="9324000" cy="649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4058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1545689"/>
            <a:ext cx="1157771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Let us name the value to be written back to the register </a:t>
            </a:r>
            <a:r>
              <a:rPr lang="en-US" sz="3200" dirty="0" smtClean="0"/>
              <a:t>file </a:t>
            </a:r>
            <a:r>
              <a:rPr lang="en-US" sz="3200" i="1" dirty="0" smtClean="0"/>
              <a:t>Result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For </a:t>
            </a:r>
            <a:r>
              <a:rPr lang="en-US" sz="3200" dirty="0" err="1"/>
              <a:t>lw</a:t>
            </a:r>
            <a:r>
              <a:rPr lang="en-US" sz="3200" dirty="0"/>
              <a:t>, </a:t>
            </a:r>
            <a:r>
              <a:rPr lang="en-US" sz="3200" i="1" dirty="0"/>
              <a:t>Result </a:t>
            </a:r>
            <a:r>
              <a:rPr lang="en-US" sz="3200" dirty="0"/>
              <a:t>comes from the </a:t>
            </a:r>
            <a:r>
              <a:rPr lang="en-US" sz="3200" i="1" dirty="0" err="1"/>
              <a:t>ReadData</a:t>
            </a:r>
            <a:r>
              <a:rPr lang="en-US" sz="3200" i="1" dirty="0"/>
              <a:t> </a:t>
            </a:r>
            <a:r>
              <a:rPr lang="en-US" sz="3200" dirty="0"/>
              <a:t>output of </a:t>
            </a:r>
            <a:r>
              <a:rPr lang="en-US" sz="3200" dirty="0" smtClean="0"/>
              <a:t>the memory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However</a:t>
            </a:r>
            <a:r>
              <a:rPr lang="en-US" sz="3200" dirty="0"/>
              <a:t>, for R-type instructions, </a:t>
            </a:r>
            <a:r>
              <a:rPr lang="en-US" sz="3200" i="1" dirty="0"/>
              <a:t>Result </a:t>
            </a:r>
            <a:r>
              <a:rPr lang="en-US" sz="3200" dirty="0"/>
              <a:t>comes from </a:t>
            </a:r>
            <a:r>
              <a:rPr lang="en-US" sz="3200" dirty="0" smtClean="0"/>
              <a:t>the </a:t>
            </a:r>
            <a:r>
              <a:rPr lang="en-US" sz="3200" i="1" dirty="0" err="1" smtClean="0"/>
              <a:t>ALUResult</a:t>
            </a:r>
            <a:r>
              <a:rPr lang="en-US" sz="3200" i="1" dirty="0" smtClean="0"/>
              <a:t> </a:t>
            </a:r>
            <a:r>
              <a:rPr lang="en-US" sz="3200" dirty="0"/>
              <a:t>output of the ALU.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We </a:t>
            </a:r>
            <a:r>
              <a:rPr lang="en-US" sz="3200" dirty="0"/>
              <a:t>add the Result multiplexer </a:t>
            </a:r>
            <a:r>
              <a:rPr lang="en-US" sz="3200" dirty="0" smtClean="0"/>
              <a:t>to choose </a:t>
            </a:r>
            <a:r>
              <a:rPr lang="en-US" sz="3200" dirty="0"/>
              <a:t>the proper </a:t>
            </a:r>
            <a:r>
              <a:rPr lang="en-US" sz="3200" i="1" dirty="0"/>
              <a:t>Result </a:t>
            </a:r>
            <a:r>
              <a:rPr lang="en-US" sz="3200" dirty="0"/>
              <a:t>based on the type of instruction.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multiplexer select </a:t>
            </a:r>
            <a:r>
              <a:rPr lang="en-US" sz="3200" dirty="0"/>
              <a:t>signal </a:t>
            </a:r>
            <a:r>
              <a:rPr lang="en-US" sz="3200" i="1" dirty="0" err="1"/>
              <a:t>ResultSrc</a:t>
            </a:r>
            <a:r>
              <a:rPr lang="en-US" sz="3200" i="1" dirty="0"/>
              <a:t> </a:t>
            </a:r>
            <a:r>
              <a:rPr lang="en-US" sz="3200" dirty="0"/>
              <a:t>is 0 for R-type instructions to </a:t>
            </a:r>
            <a:r>
              <a:rPr lang="en-US" sz="3200" dirty="0" smtClean="0"/>
              <a:t>choose </a:t>
            </a:r>
            <a:r>
              <a:rPr lang="en-US" sz="3200" i="1" dirty="0" err="1" smtClean="0"/>
              <a:t>ALUResult</a:t>
            </a:r>
            <a:r>
              <a:rPr lang="en-US" sz="3200" i="1" dirty="0" smtClean="0"/>
              <a:t> </a:t>
            </a:r>
            <a:r>
              <a:rPr lang="en-US" sz="3200" dirty="0"/>
              <a:t>as </a:t>
            </a:r>
            <a:r>
              <a:rPr lang="en-US" sz="3200" i="1" dirty="0"/>
              <a:t>Result</a:t>
            </a:r>
            <a:r>
              <a:rPr lang="en-US" sz="3200" dirty="0"/>
              <a:t>; </a:t>
            </a:r>
            <a:r>
              <a:rPr lang="en-US" sz="3200" i="1" dirty="0" err="1"/>
              <a:t>ResultSrc</a:t>
            </a:r>
            <a:r>
              <a:rPr lang="en-US" sz="3200" i="1" dirty="0"/>
              <a:t> </a:t>
            </a:r>
            <a:r>
              <a:rPr lang="en-US" sz="3200" dirty="0"/>
              <a:t>is 1 for </a:t>
            </a:r>
            <a:r>
              <a:rPr lang="en-US" sz="3200" dirty="0" err="1"/>
              <a:t>lw</a:t>
            </a:r>
            <a:r>
              <a:rPr lang="en-US" sz="3200" dirty="0"/>
              <a:t> to choose </a:t>
            </a:r>
            <a:r>
              <a:rPr lang="en-US" sz="3200" i="1" dirty="0" err="1"/>
              <a:t>ReadData</a:t>
            </a:r>
            <a:r>
              <a:rPr lang="en-US" sz="3200" dirty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We do not care about the value of </a:t>
            </a:r>
            <a:r>
              <a:rPr lang="en-US" sz="3200" i="1" dirty="0" err="1"/>
              <a:t>ResultSrc</a:t>
            </a:r>
            <a:r>
              <a:rPr lang="en-US" sz="3200" i="1" dirty="0"/>
              <a:t> </a:t>
            </a:r>
            <a:r>
              <a:rPr lang="en-US" sz="3200" dirty="0"/>
              <a:t>for </a:t>
            </a:r>
            <a:r>
              <a:rPr lang="en-US" sz="3200" dirty="0" err="1"/>
              <a:t>sw</a:t>
            </a:r>
            <a:r>
              <a:rPr lang="en-US" sz="3200" dirty="0"/>
              <a:t> because </a:t>
            </a:r>
            <a:r>
              <a:rPr lang="en-US" sz="3200"/>
              <a:t>it </a:t>
            </a:r>
            <a:r>
              <a:rPr lang="en-US" sz="3200" smtClean="0"/>
              <a:t>does not </a:t>
            </a:r>
            <a:r>
              <a:rPr lang="en-US" sz="3200" dirty="0"/>
              <a:t>write the register file.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7516" y="979435"/>
            <a:ext cx="19909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R-Type Instructions</a:t>
            </a:r>
          </a:p>
        </p:txBody>
      </p:sp>
    </p:spTree>
    <p:extLst>
      <p:ext uri="{BB962C8B-B14F-4D97-AF65-F5344CB8AC3E}">
        <p14:creationId xmlns:p14="http://schemas.microsoft.com/office/powerpoint/2010/main" val="754471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7516" y="1545689"/>
            <a:ext cx="1210448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In our example, the PC is 0x1008.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Thus</a:t>
            </a:r>
            <a:r>
              <a:rPr lang="en-US" sz="3200" dirty="0"/>
              <a:t>, the instruction </a:t>
            </a:r>
            <a:r>
              <a:rPr lang="en-US" sz="3200" dirty="0" smtClean="0"/>
              <a:t>memory reads </a:t>
            </a:r>
            <a:r>
              <a:rPr lang="en-US" sz="3200" dirty="0"/>
              <a:t>out the or </a:t>
            </a:r>
            <a:r>
              <a:rPr lang="en-US" sz="3200" dirty="0" smtClean="0"/>
              <a:t>instruction 0x0062E233.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register file reads </a:t>
            </a:r>
            <a:r>
              <a:rPr lang="en-US" sz="3200" dirty="0" smtClean="0"/>
              <a:t>source operands </a:t>
            </a:r>
            <a:r>
              <a:rPr lang="en-US" sz="3200" dirty="0"/>
              <a:t>6 from x5 and 10 from x6.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i="1" dirty="0" err="1" smtClean="0"/>
              <a:t>ALUControl</a:t>
            </a:r>
            <a:r>
              <a:rPr lang="en-US" sz="3200" i="1" dirty="0" smtClean="0"/>
              <a:t> </a:t>
            </a:r>
            <a:r>
              <a:rPr lang="en-US" sz="3200" dirty="0"/>
              <a:t>is 011, so the </a:t>
            </a:r>
            <a:r>
              <a:rPr lang="en-US" sz="3200" dirty="0" smtClean="0"/>
              <a:t>ALU computes </a:t>
            </a:r>
            <a:r>
              <a:rPr lang="en-US" sz="3200" dirty="0"/>
              <a:t>6 | 10 = 0110</a:t>
            </a:r>
            <a:r>
              <a:rPr lang="en-US" sz="3200" baseline="-25000" dirty="0"/>
              <a:t>2</a:t>
            </a:r>
            <a:r>
              <a:rPr lang="en-US" sz="3200" dirty="0"/>
              <a:t> | 1010</a:t>
            </a:r>
            <a:r>
              <a:rPr lang="en-US" sz="3200" baseline="-25000" dirty="0"/>
              <a:t>2</a:t>
            </a:r>
            <a:r>
              <a:rPr lang="en-US" sz="3200" dirty="0"/>
              <a:t> = 11102 = 14.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result is </a:t>
            </a:r>
            <a:r>
              <a:rPr lang="en-US" sz="3200" dirty="0" smtClean="0"/>
              <a:t>written back </a:t>
            </a:r>
            <a:r>
              <a:rPr lang="en-US" sz="3200" dirty="0"/>
              <a:t>to x4.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Meanwhile</a:t>
            </a:r>
            <a:r>
              <a:rPr lang="en-US" sz="3200" dirty="0"/>
              <a:t>, the PC is incremented to 0x100C.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7516" y="979435"/>
            <a:ext cx="19909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R-Type Instructions</a:t>
            </a:r>
          </a:p>
        </p:txBody>
      </p:sp>
    </p:spTree>
    <p:extLst>
      <p:ext uri="{BB962C8B-B14F-4D97-AF65-F5344CB8AC3E}">
        <p14:creationId xmlns:p14="http://schemas.microsoft.com/office/powerpoint/2010/main" val="1193883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1545689"/>
            <a:ext cx="1157771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Finally, we extend the </a:t>
            </a:r>
            <a:r>
              <a:rPr lang="en-US" sz="3200" dirty="0" err="1"/>
              <a:t>datapath</a:t>
            </a:r>
            <a:r>
              <a:rPr lang="en-US" sz="3200" dirty="0"/>
              <a:t> to handle the branch if equal (</a:t>
            </a:r>
            <a:r>
              <a:rPr lang="en-US" sz="3200" dirty="0" err="1" smtClean="0"/>
              <a:t>beq</a:t>
            </a:r>
            <a:r>
              <a:rPr lang="en-US" sz="3200" dirty="0" smtClean="0"/>
              <a:t>) instruction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err="1" smtClean="0"/>
              <a:t>beq</a:t>
            </a:r>
            <a:r>
              <a:rPr lang="en-US" sz="3200" dirty="0" smtClean="0"/>
              <a:t> </a:t>
            </a:r>
            <a:r>
              <a:rPr lang="en-US" sz="3200" dirty="0"/>
              <a:t>compares two registers.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If </a:t>
            </a:r>
            <a:r>
              <a:rPr lang="en-US" sz="3200" dirty="0"/>
              <a:t>they are equal, it takes </a:t>
            </a:r>
            <a:r>
              <a:rPr lang="en-US" sz="3200" dirty="0" smtClean="0"/>
              <a:t>the branch </a:t>
            </a:r>
            <a:r>
              <a:rPr lang="en-US" sz="3200" dirty="0"/>
              <a:t>by adding the branch offset to the program counter (PC).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7516" y="979435"/>
            <a:ext cx="538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/>
              <a:t>beq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602522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1545689"/>
            <a:ext cx="1157771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branch offset is a 13-bit signed immediate stored in the </a:t>
            </a:r>
            <a:r>
              <a:rPr lang="en-US" sz="3200" dirty="0" smtClean="0"/>
              <a:t>12-bit immediate </a:t>
            </a:r>
            <a:r>
              <a:rPr lang="en-US" sz="3200" dirty="0"/>
              <a:t>field of the B-type instruction.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Thus</a:t>
            </a:r>
            <a:r>
              <a:rPr lang="en-US" sz="3200" dirty="0"/>
              <a:t>, the Extend logic </a:t>
            </a:r>
            <a:r>
              <a:rPr lang="en-US" sz="3200" dirty="0" smtClean="0"/>
              <a:t>needs yet </a:t>
            </a:r>
            <a:r>
              <a:rPr lang="en-US" sz="3200" dirty="0"/>
              <a:t>another mode to choose the proper immediate.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i="1" dirty="0" err="1" smtClean="0"/>
              <a:t>ImmSrc</a:t>
            </a:r>
            <a:r>
              <a:rPr lang="en-US" sz="3200" i="1" dirty="0" smtClean="0"/>
              <a:t> </a:t>
            </a:r>
            <a:r>
              <a:rPr lang="en-US" sz="3200" dirty="0"/>
              <a:t>is </a:t>
            </a:r>
            <a:r>
              <a:rPr lang="en-US" sz="3200" dirty="0" smtClean="0"/>
              <a:t>increased to </a:t>
            </a:r>
            <a:r>
              <a:rPr lang="en-US" sz="3200" dirty="0"/>
              <a:t>2 bits, using the encoding from Table 7.1.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i="1" dirty="0" err="1" smtClean="0"/>
              <a:t>ImmExt</a:t>
            </a:r>
            <a:r>
              <a:rPr lang="en-US" sz="3200" i="1" dirty="0" smtClean="0"/>
              <a:t> </a:t>
            </a:r>
            <a:r>
              <a:rPr lang="en-US" sz="3200" dirty="0"/>
              <a:t>is now either </a:t>
            </a:r>
            <a:r>
              <a:rPr lang="en-US" sz="3200" dirty="0" smtClean="0"/>
              <a:t>the </a:t>
            </a:r>
            <a:r>
              <a:rPr lang="en-US" sz="3200" dirty="0"/>
              <a:t>sign-extended immediate (when </a:t>
            </a:r>
            <a:r>
              <a:rPr lang="en-US" sz="3200" i="1" dirty="0" err="1"/>
              <a:t>ImmSrc</a:t>
            </a:r>
            <a:r>
              <a:rPr lang="en-US" sz="3200" i="1" dirty="0"/>
              <a:t> </a:t>
            </a:r>
            <a:r>
              <a:rPr lang="en-US" sz="3200" dirty="0"/>
              <a:t>= 00 or 01) or the branch </a:t>
            </a:r>
            <a:r>
              <a:rPr lang="en-US" sz="3200" dirty="0" smtClean="0"/>
              <a:t>offset </a:t>
            </a:r>
            <a:r>
              <a:rPr lang="en-IN" sz="3200" dirty="0" smtClean="0"/>
              <a:t>(when </a:t>
            </a:r>
            <a:r>
              <a:rPr lang="en-IN" sz="3200" i="1" dirty="0" err="1"/>
              <a:t>ImmSrc</a:t>
            </a:r>
            <a:r>
              <a:rPr lang="en-IN" sz="3200" i="1" dirty="0"/>
              <a:t> </a:t>
            </a:r>
            <a:r>
              <a:rPr lang="en-IN" sz="3200" dirty="0"/>
              <a:t>= 10).</a:t>
            </a:r>
            <a:endParaRPr lang="en-US" sz="32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7516" y="979435"/>
            <a:ext cx="538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/>
              <a:t>beq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205035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1545689"/>
            <a:ext cx="1157771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Figure 7.11 shows the modifications to the </a:t>
            </a:r>
            <a:r>
              <a:rPr lang="en-US" sz="3200" dirty="0" err="1"/>
              <a:t>datapath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We need another </a:t>
            </a:r>
            <a:r>
              <a:rPr lang="en-US" sz="3200" dirty="0"/>
              <a:t>adder to compute the branch target address, </a:t>
            </a:r>
            <a:r>
              <a:rPr lang="en-US" sz="3200" b="1" i="1" dirty="0" err="1"/>
              <a:t>PCTarget</a:t>
            </a:r>
            <a:r>
              <a:rPr lang="en-US" sz="3200" b="1" i="1" dirty="0"/>
              <a:t> </a:t>
            </a:r>
            <a:r>
              <a:rPr lang="en-US" sz="3200" b="1" dirty="0"/>
              <a:t>= </a:t>
            </a:r>
            <a:r>
              <a:rPr lang="en-US" sz="3200" b="1" i="1" dirty="0"/>
              <a:t>PC </a:t>
            </a:r>
            <a:r>
              <a:rPr lang="en-US" sz="3200" b="1" dirty="0" smtClean="0"/>
              <a:t>+ </a:t>
            </a:r>
            <a:r>
              <a:rPr lang="en-US" sz="3200" b="1" i="1" dirty="0" err="1" smtClean="0"/>
              <a:t>ImmExt</a:t>
            </a:r>
            <a:r>
              <a:rPr lang="en-US" sz="3200" b="1" dirty="0"/>
              <a:t>. </a:t>
            </a:r>
            <a:endParaRPr lang="en-US" sz="3200" b="1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two source registers are compared by computing </a:t>
            </a:r>
            <a:r>
              <a:rPr lang="en-US" sz="3200" b="1" dirty="0">
                <a:solidFill>
                  <a:srgbClr val="FF0000"/>
                </a:solidFill>
              </a:rPr>
              <a:t>(</a:t>
            </a:r>
            <a:r>
              <a:rPr lang="en-US" sz="3200" b="1" i="1" dirty="0" err="1">
                <a:solidFill>
                  <a:srgbClr val="FF0000"/>
                </a:solidFill>
              </a:rPr>
              <a:t>SrcA</a:t>
            </a:r>
            <a:r>
              <a:rPr lang="en-US" sz="3200" b="1" i="1" dirty="0">
                <a:solidFill>
                  <a:srgbClr val="FF0000"/>
                </a:solidFill>
              </a:rPr>
              <a:t> </a:t>
            </a:r>
            <a:r>
              <a:rPr lang="en-US" sz="3200" b="1" dirty="0" smtClean="0">
                <a:solidFill>
                  <a:srgbClr val="FF0000"/>
                </a:solidFill>
              </a:rPr>
              <a:t>– </a:t>
            </a:r>
            <a:r>
              <a:rPr lang="en-US" sz="3200" b="1" i="1" dirty="0" err="1" smtClean="0">
                <a:solidFill>
                  <a:srgbClr val="FF0000"/>
                </a:solidFill>
              </a:rPr>
              <a:t>SrcB</a:t>
            </a:r>
            <a:r>
              <a:rPr lang="en-US" sz="3200" b="1" dirty="0">
                <a:solidFill>
                  <a:srgbClr val="FF0000"/>
                </a:solidFill>
              </a:rPr>
              <a:t>) </a:t>
            </a:r>
            <a:r>
              <a:rPr lang="en-US" sz="3200" dirty="0"/>
              <a:t>using the ALU.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If </a:t>
            </a:r>
            <a:r>
              <a:rPr lang="en-US" sz="3200" i="1" dirty="0" err="1"/>
              <a:t>ALUResult</a:t>
            </a:r>
            <a:r>
              <a:rPr lang="en-US" sz="3200" i="1" dirty="0"/>
              <a:t> </a:t>
            </a:r>
            <a:r>
              <a:rPr lang="en-US" sz="3200" dirty="0"/>
              <a:t>is 0, as indicated by the ALU’s </a:t>
            </a:r>
            <a:r>
              <a:rPr lang="en-US" sz="3200" i="1" dirty="0" smtClean="0"/>
              <a:t>Zero </a:t>
            </a:r>
            <a:r>
              <a:rPr lang="en-US" sz="3200" dirty="0" smtClean="0"/>
              <a:t>flag</a:t>
            </a:r>
            <a:r>
              <a:rPr lang="en-US" sz="3200" dirty="0"/>
              <a:t>, the registers are equal.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We </a:t>
            </a:r>
            <a:r>
              <a:rPr lang="en-US" sz="3200" dirty="0"/>
              <a:t>add a multiplexer to choose </a:t>
            </a:r>
            <a:r>
              <a:rPr lang="en-US" sz="3200" i="1" dirty="0" err="1" smtClean="0"/>
              <a:t>PCNext</a:t>
            </a:r>
            <a:r>
              <a:rPr lang="en-US" sz="3200" i="1" dirty="0" smtClean="0"/>
              <a:t> </a:t>
            </a:r>
            <a:r>
              <a:rPr lang="en-US" sz="3200" dirty="0" smtClean="0"/>
              <a:t>from </a:t>
            </a:r>
            <a:r>
              <a:rPr lang="en-US" sz="3200" dirty="0"/>
              <a:t>either </a:t>
            </a:r>
            <a:r>
              <a:rPr lang="en-US" sz="3200" i="1" dirty="0"/>
              <a:t>PCPlus4 </a:t>
            </a:r>
            <a:r>
              <a:rPr lang="en-US" sz="3200" dirty="0"/>
              <a:t>or </a:t>
            </a:r>
            <a:r>
              <a:rPr lang="en-US" sz="3200" i="1" dirty="0" err="1"/>
              <a:t>PCTarget</a:t>
            </a:r>
            <a:r>
              <a:rPr lang="en-US" sz="3200" dirty="0"/>
              <a:t>. </a:t>
            </a:r>
            <a:endParaRPr lang="en-US" sz="3200" dirty="0" smtClean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7516" y="979435"/>
            <a:ext cx="538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/>
              <a:t>beq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908111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1545689"/>
            <a:ext cx="1157771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i="1" dirty="0" err="1" smtClean="0"/>
              <a:t>PCTarget</a:t>
            </a:r>
            <a:r>
              <a:rPr lang="en-US" sz="3200" i="1" dirty="0" smtClean="0"/>
              <a:t> </a:t>
            </a:r>
            <a:r>
              <a:rPr lang="en-US" sz="3200" dirty="0"/>
              <a:t>is selected if the </a:t>
            </a:r>
            <a:r>
              <a:rPr lang="en-US" sz="3200" dirty="0" smtClean="0"/>
              <a:t>instruction is </a:t>
            </a:r>
            <a:r>
              <a:rPr lang="en-US" sz="3200" dirty="0"/>
              <a:t>a branch and the </a:t>
            </a:r>
            <a:r>
              <a:rPr lang="en-US" sz="3200" i="1" dirty="0"/>
              <a:t>Zero </a:t>
            </a:r>
            <a:r>
              <a:rPr lang="en-US" sz="3200" dirty="0"/>
              <a:t>flag is asserted.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For </a:t>
            </a:r>
            <a:r>
              <a:rPr lang="en-US" sz="3200" dirty="0" err="1"/>
              <a:t>beq</a:t>
            </a:r>
            <a:r>
              <a:rPr lang="en-US" sz="3200" dirty="0"/>
              <a:t>, </a:t>
            </a:r>
            <a:r>
              <a:rPr lang="en-US" sz="3200" i="1" dirty="0" err="1"/>
              <a:t>ALUControl</a:t>
            </a:r>
            <a:r>
              <a:rPr lang="en-US" sz="3200" i="1" dirty="0"/>
              <a:t> </a:t>
            </a:r>
            <a:r>
              <a:rPr lang="en-US" sz="3200" dirty="0"/>
              <a:t>= </a:t>
            </a:r>
            <a:r>
              <a:rPr lang="en-US" sz="3200" dirty="0" smtClean="0"/>
              <a:t>001, so </a:t>
            </a:r>
            <a:r>
              <a:rPr lang="en-US" sz="3200" dirty="0"/>
              <a:t>that the ALU performs a subtraction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i="1" dirty="0" err="1" smtClean="0"/>
              <a:t>ALUSrc</a:t>
            </a:r>
            <a:r>
              <a:rPr lang="en-US" sz="3200" i="1" dirty="0" smtClean="0"/>
              <a:t> </a:t>
            </a:r>
            <a:r>
              <a:rPr lang="en-US" sz="3200" dirty="0"/>
              <a:t>= 0 to choose </a:t>
            </a:r>
            <a:r>
              <a:rPr lang="en-US" sz="3200" i="1" dirty="0" err="1" smtClean="0"/>
              <a:t>SrcB</a:t>
            </a:r>
            <a:r>
              <a:rPr lang="en-US" sz="3200" i="1" dirty="0" smtClean="0"/>
              <a:t> </a:t>
            </a:r>
            <a:r>
              <a:rPr lang="en-US" sz="3200" dirty="0" smtClean="0"/>
              <a:t>from </a:t>
            </a:r>
            <a:r>
              <a:rPr lang="en-US" sz="3200" dirty="0"/>
              <a:t>the register file.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i="1" dirty="0" err="1" smtClean="0"/>
              <a:t>RegWrite</a:t>
            </a:r>
            <a:r>
              <a:rPr lang="en-US" sz="3200" i="1" dirty="0" smtClean="0"/>
              <a:t> </a:t>
            </a:r>
            <a:r>
              <a:rPr lang="en-US" sz="3200" dirty="0"/>
              <a:t>and </a:t>
            </a:r>
            <a:r>
              <a:rPr lang="en-US" sz="3200" i="1" dirty="0" err="1"/>
              <a:t>MemWrite</a:t>
            </a:r>
            <a:r>
              <a:rPr lang="en-US" sz="3200" i="1" dirty="0"/>
              <a:t> </a:t>
            </a:r>
            <a:r>
              <a:rPr lang="en-US" sz="3200" dirty="0"/>
              <a:t>are 0, because a </a:t>
            </a:r>
            <a:r>
              <a:rPr lang="en-US" sz="3200" dirty="0" smtClean="0"/>
              <a:t>branch does </a:t>
            </a:r>
            <a:r>
              <a:rPr lang="en-US" sz="3200" dirty="0"/>
              <a:t>not write to the register file or memory.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We </a:t>
            </a:r>
            <a:r>
              <a:rPr lang="en-US" sz="3200" dirty="0"/>
              <a:t>don’t care about </a:t>
            </a:r>
            <a:r>
              <a:rPr lang="en-US" sz="3200" dirty="0" smtClean="0"/>
              <a:t>the value </a:t>
            </a:r>
            <a:r>
              <a:rPr lang="en-US" sz="3200" dirty="0"/>
              <a:t>of </a:t>
            </a:r>
            <a:r>
              <a:rPr lang="en-US" sz="3200" i="1" dirty="0" err="1"/>
              <a:t>ResultSrc</a:t>
            </a:r>
            <a:r>
              <a:rPr lang="en-US" sz="3200" dirty="0"/>
              <a:t>, because the register file is not written.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7516" y="979435"/>
            <a:ext cx="538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/>
              <a:t>beq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862905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7516" y="979435"/>
            <a:ext cx="538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/>
              <a:t>beq</a:t>
            </a:r>
            <a:endParaRPr lang="en-IN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93" t="20962" r="9977" b="53968"/>
          <a:stretch/>
        </p:blipFill>
        <p:spPr bwMode="auto">
          <a:xfrm>
            <a:off x="117675" y="1664007"/>
            <a:ext cx="11887210" cy="258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85188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7516" y="979435"/>
            <a:ext cx="538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/>
              <a:t>beq</a:t>
            </a:r>
            <a:endParaRPr lang="en-IN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07" t="24207" r="11985" b="17659"/>
          <a:stretch/>
        </p:blipFill>
        <p:spPr bwMode="auto">
          <a:xfrm>
            <a:off x="626446" y="1327493"/>
            <a:ext cx="9896188" cy="5310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01253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8" y="834503"/>
            <a:ext cx="1157771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In our example, the PC is 0x100C, so the instruction memory reads </a:t>
            </a:r>
            <a:r>
              <a:rPr lang="en-US" sz="3200" dirty="0" smtClean="0"/>
              <a:t>out the </a:t>
            </a:r>
            <a:r>
              <a:rPr lang="en-US" sz="3200" dirty="0" err="1"/>
              <a:t>beq</a:t>
            </a:r>
            <a:r>
              <a:rPr lang="en-US" sz="3200" dirty="0"/>
              <a:t> instruction 0xFE420AE3.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Both </a:t>
            </a:r>
            <a:r>
              <a:rPr lang="en-US" sz="3200" dirty="0"/>
              <a:t>source registers are x4, so </a:t>
            </a:r>
            <a:r>
              <a:rPr lang="en-US" sz="3200" dirty="0" smtClean="0"/>
              <a:t>the </a:t>
            </a:r>
            <a:r>
              <a:rPr lang="en-US" sz="3200" dirty="0"/>
              <a:t>register file reads 14 on both ports.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ALU computes 14 – 14 = 0, and </a:t>
            </a:r>
            <a:r>
              <a:rPr lang="en-US" sz="3200" dirty="0" smtClean="0"/>
              <a:t>the </a:t>
            </a:r>
            <a:r>
              <a:rPr lang="en-US" sz="3200" b="1" i="1" dirty="0" smtClean="0"/>
              <a:t>Zero </a:t>
            </a:r>
            <a:r>
              <a:rPr lang="en-US" sz="3200" b="1" dirty="0"/>
              <a:t>flag is asserted.</a:t>
            </a:r>
            <a:r>
              <a:rPr lang="en-US" sz="3200" dirty="0"/>
              <a:t> Meanwhile, the Extend unit produces </a:t>
            </a:r>
            <a:r>
              <a:rPr lang="en-US" sz="3200" dirty="0" smtClean="0"/>
              <a:t>0xFFFFFFF4 (i.e</a:t>
            </a:r>
            <a:r>
              <a:rPr lang="en-US" sz="3200" dirty="0"/>
              <a:t>., −12), which is added to </a:t>
            </a:r>
            <a:r>
              <a:rPr lang="en-US" sz="3200" i="1" dirty="0"/>
              <a:t>PC </a:t>
            </a:r>
            <a:r>
              <a:rPr lang="en-US" sz="3200" dirty="0"/>
              <a:t>to obtain </a:t>
            </a:r>
            <a:r>
              <a:rPr lang="en-US" sz="3200" i="1" dirty="0" err="1"/>
              <a:t>PCTarget</a:t>
            </a:r>
            <a:r>
              <a:rPr lang="en-US" sz="3200" i="1" dirty="0"/>
              <a:t> </a:t>
            </a:r>
            <a:r>
              <a:rPr lang="en-US" sz="3200" dirty="0"/>
              <a:t>= 0x1000.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Note that we </a:t>
            </a:r>
            <a:r>
              <a:rPr lang="en-US" sz="3200" dirty="0"/>
              <a:t>show the </a:t>
            </a:r>
            <a:r>
              <a:rPr lang="en-US" sz="3200" dirty="0" err="1"/>
              <a:t>unswizzled</a:t>
            </a:r>
            <a:r>
              <a:rPr lang="en-US" sz="3200" dirty="0"/>
              <a:t> upper 12 bits of the 13-bit immediate on the </a:t>
            </a:r>
            <a:r>
              <a:rPr lang="en-US" sz="3200" dirty="0" smtClean="0"/>
              <a:t>input of </a:t>
            </a:r>
            <a:r>
              <a:rPr lang="en-US" sz="3200" dirty="0"/>
              <a:t>the Extend unit (0xFFA).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 err="1"/>
              <a:t>PCNext</a:t>
            </a:r>
            <a:r>
              <a:rPr lang="en-US" sz="3200" dirty="0"/>
              <a:t> mux chooses </a:t>
            </a:r>
            <a:r>
              <a:rPr lang="en-US" sz="3200" i="1" dirty="0" err="1"/>
              <a:t>PCTarget</a:t>
            </a:r>
            <a:r>
              <a:rPr lang="en-US" sz="3200" i="1" dirty="0"/>
              <a:t> </a:t>
            </a:r>
            <a:r>
              <a:rPr lang="en-US" sz="3200" dirty="0"/>
              <a:t>as the </a:t>
            </a:r>
            <a:r>
              <a:rPr lang="en-US" sz="3200" dirty="0" smtClean="0"/>
              <a:t>next PC </a:t>
            </a:r>
            <a:r>
              <a:rPr lang="en-US" sz="3200" dirty="0"/>
              <a:t>and branches back to the start of the code at the next clock edge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This completes the design of the single-cycle processor </a:t>
            </a:r>
            <a:r>
              <a:rPr lang="en-US" sz="3200" dirty="0" err="1"/>
              <a:t>datapath</a:t>
            </a:r>
            <a:endParaRPr lang="en-US" sz="32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187800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err="1" smtClean="0"/>
              <a:t>Datapath</a:t>
            </a:r>
            <a:endParaRPr lang="en-IN" b="1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65" t="15914" r="7411" b="13889"/>
          <a:stretch/>
        </p:blipFill>
        <p:spPr bwMode="auto">
          <a:xfrm>
            <a:off x="1104758" y="979434"/>
            <a:ext cx="9544496" cy="5802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37489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6" y="982982"/>
            <a:ext cx="1157771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single-cycle processor’s control unit computes the control </a:t>
            </a:r>
            <a:r>
              <a:rPr lang="en-US" sz="3200" dirty="0" smtClean="0"/>
              <a:t>signals based </a:t>
            </a:r>
            <a:r>
              <a:rPr lang="en-US" sz="3200" dirty="0"/>
              <a:t>on </a:t>
            </a:r>
            <a:r>
              <a:rPr lang="en-US" sz="3200" b="1" dirty="0"/>
              <a:t>op</a:t>
            </a:r>
            <a:r>
              <a:rPr lang="en-US" sz="3200" dirty="0"/>
              <a:t>, </a:t>
            </a:r>
            <a:r>
              <a:rPr lang="en-US" sz="3200" b="1" dirty="0"/>
              <a:t>funct3</a:t>
            </a:r>
            <a:r>
              <a:rPr lang="en-US" sz="3200" dirty="0"/>
              <a:t>, and </a:t>
            </a:r>
            <a:r>
              <a:rPr lang="en-US" sz="3200" b="1" dirty="0"/>
              <a:t>funct7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Figure 7.12 shows the entire </a:t>
            </a:r>
            <a:r>
              <a:rPr lang="en-US" sz="3200" dirty="0" smtClean="0"/>
              <a:t>single-cycle processor </a:t>
            </a:r>
            <a:r>
              <a:rPr lang="en-US" sz="3200" dirty="0"/>
              <a:t>with the control unit attached to the </a:t>
            </a:r>
            <a:r>
              <a:rPr lang="en-US" sz="3200" dirty="0" err="1"/>
              <a:t>datapath</a:t>
            </a:r>
            <a:r>
              <a:rPr lang="en-US" sz="3200" dirty="0"/>
              <a:t>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smtClean="0"/>
              <a:t>Control: 429</a:t>
            </a:r>
            <a:endParaRPr lang="en-IN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08" t="23017" r="21690" b="40475"/>
          <a:stretch/>
        </p:blipFill>
        <p:spPr bwMode="auto">
          <a:xfrm>
            <a:off x="1736572" y="3002881"/>
            <a:ext cx="8448431" cy="3819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369426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6" y="982982"/>
            <a:ext cx="1157771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Figure 7.13 hierarchically decomposes the control unit, which is </a:t>
            </a:r>
            <a:r>
              <a:rPr lang="en-US" sz="3200" dirty="0" smtClean="0"/>
              <a:t>also referred </a:t>
            </a:r>
            <a:r>
              <a:rPr lang="en-US" sz="3200" dirty="0"/>
              <a:t>to as the </a:t>
            </a:r>
            <a:r>
              <a:rPr lang="en-US" sz="3200" i="1" dirty="0"/>
              <a:t>controller </a:t>
            </a:r>
            <a:r>
              <a:rPr lang="en-US" sz="3200" dirty="0"/>
              <a:t>or the </a:t>
            </a:r>
            <a:r>
              <a:rPr lang="en-US" sz="3200" i="1" dirty="0"/>
              <a:t>decoder</a:t>
            </a:r>
            <a:r>
              <a:rPr lang="en-US" sz="3200" dirty="0"/>
              <a:t>, because it decodes what </a:t>
            </a:r>
            <a:r>
              <a:rPr lang="en-US" sz="3200" dirty="0" smtClean="0"/>
              <a:t>the instruction </a:t>
            </a:r>
            <a:r>
              <a:rPr lang="en-US" sz="3200" dirty="0"/>
              <a:t>should do.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We </a:t>
            </a:r>
            <a:r>
              <a:rPr lang="en-US" sz="3200" dirty="0"/>
              <a:t>partition it into two major parts: </a:t>
            </a:r>
            <a:endParaRPr lang="en-US" sz="3200" dirty="0" smtClean="0"/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b="1" dirty="0" smtClean="0">
                <a:solidFill>
                  <a:srgbClr val="FF0000"/>
                </a:solidFill>
              </a:rPr>
              <a:t>Main Decoder</a:t>
            </a:r>
            <a:r>
              <a:rPr lang="en-US" sz="3200" dirty="0"/>
              <a:t>, which produces most of the control signals, &amp;</a:t>
            </a:r>
            <a:endParaRPr lang="en-US" sz="3200" dirty="0" smtClean="0"/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b="1" dirty="0" smtClean="0">
                <a:solidFill>
                  <a:srgbClr val="FF0000"/>
                </a:solidFill>
              </a:rPr>
              <a:t>ALU Decoder</a:t>
            </a:r>
            <a:r>
              <a:rPr lang="en-US" sz="3200" dirty="0"/>
              <a:t>, which determines what operation the ALU performs.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SINGLE-CYCLE PROCESSOR: </a:t>
            </a:r>
            <a:r>
              <a:rPr lang="en-IN" b="1" dirty="0"/>
              <a:t>Single-Cycle </a:t>
            </a:r>
            <a:r>
              <a:rPr lang="en-IN" b="1" dirty="0" smtClean="0"/>
              <a:t>Control: 429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192863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86" t="19204" r="14506" b="55736"/>
          <a:stretch/>
        </p:blipFill>
        <p:spPr bwMode="auto">
          <a:xfrm>
            <a:off x="464233" y="126602"/>
            <a:ext cx="11310425" cy="3093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309486" y="3218219"/>
            <a:ext cx="1157771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Table 7.2 shows the control signals that the Main Decoder </a:t>
            </a:r>
            <a:r>
              <a:rPr lang="en-US" sz="3200" dirty="0" smtClean="0"/>
              <a:t>produces.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 smtClean="0"/>
              <a:t>The Main </a:t>
            </a:r>
            <a:r>
              <a:rPr lang="en-US" sz="3200" dirty="0" smtClean="0"/>
              <a:t>Decoder </a:t>
            </a:r>
            <a:r>
              <a:rPr lang="en-US" sz="3200" dirty="0"/>
              <a:t>determines the instruction type from the </a:t>
            </a:r>
            <a:r>
              <a:rPr lang="en-US" sz="3200" dirty="0" err="1"/>
              <a:t>opcode</a:t>
            </a:r>
            <a:r>
              <a:rPr lang="en-US" sz="3200" dirty="0"/>
              <a:t> and </a:t>
            </a:r>
            <a:r>
              <a:rPr lang="en-US" sz="3200" dirty="0" smtClean="0"/>
              <a:t>then produces </a:t>
            </a:r>
            <a:r>
              <a:rPr lang="en-US" sz="3200" dirty="0"/>
              <a:t>the appropriate control signals for the </a:t>
            </a:r>
            <a:r>
              <a:rPr lang="en-US" sz="3200" dirty="0" err="1"/>
              <a:t>datapath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Main Decoder </a:t>
            </a:r>
            <a:r>
              <a:rPr lang="en-US" sz="3200" dirty="0"/>
              <a:t>generates most of the control signals for the </a:t>
            </a:r>
            <a:r>
              <a:rPr lang="en-US" sz="3200" dirty="0" err="1"/>
              <a:t>datapath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It also produces </a:t>
            </a:r>
            <a:r>
              <a:rPr lang="en-US" sz="3200" dirty="0"/>
              <a:t>internal signals </a:t>
            </a:r>
            <a:r>
              <a:rPr lang="en-US" sz="3200" i="1" dirty="0"/>
              <a:t>Branch </a:t>
            </a:r>
            <a:r>
              <a:rPr lang="en-US" sz="3200" dirty="0"/>
              <a:t>and </a:t>
            </a:r>
            <a:r>
              <a:rPr lang="en-US" sz="3200" i="1" dirty="0" err="1"/>
              <a:t>ALUOp</a:t>
            </a:r>
            <a:r>
              <a:rPr lang="en-US" sz="3200" dirty="0"/>
              <a:t>, signals used within </a:t>
            </a:r>
            <a:r>
              <a:rPr lang="en-US" sz="3200" dirty="0" smtClean="0"/>
              <a:t>the </a:t>
            </a:r>
            <a:r>
              <a:rPr lang="en-IN" sz="3200" dirty="0" smtClean="0"/>
              <a:t>controller</a:t>
            </a:r>
            <a:r>
              <a:rPr lang="en-IN" sz="3200" dirty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601463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09486" y="217551"/>
            <a:ext cx="1157771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ALU Decoder produces </a:t>
            </a:r>
            <a:r>
              <a:rPr lang="en-US" sz="3200" i="1" dirty="0" err="1"/>
              <a:t>ALUControl</a:t>
            </a:r>
            <a:r>
              <a:rPr lang="en-US" sz="3200" i="1" dirty="0"/>
              <a:t> </a:t>
            </a:r>
            <a:r>
              <a:rPr lang="en-US" sz="3200" dirty="0"/>
              <a:t>based on </a:t>
            </a:r>
            <a:r>
              <a:rPr lang="en-US" sz="3200" i="1" dirty="0" err="1"/>
              <a:t>ALUOp</a:t>
            </a:r>
            <a:r>
              <a:rPr lang="en-US" sz="3200" i="1" dirty="0"/>
              <a:t> </a:t>
            </a:r>
            <a:r>
              <a:rPr lang="en-US" sz="3200" dirty="0" smtClean="0"/>
              <a:t>and </a:t>
            </a:r>
            <a:r>
              <a:rPr lang="en-US" sz="3200" b="1" dirty="0" smtClean="0"/>
              <a:t>funct3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In </a:t>
            </a:r>
            <a:r>
              <a:rPr lang="en-US" sz="3200" dirty="0"/>
              <a:t>the case of the sub and add instructions, the ALU Decoder </a:t>
            </a:r>
            <a:r>
              <a:rPr lang="en-US" sz="3200" dirty="0" smtClean="0"/>
              <a:t>also uses </a:t>
            </a:r>
            <a:r>
              <a:rPr lang="en-US" sz="3200" b="1" dirty="0"/>
              <a:t>funct75 </a:t>
            </a:r>
            <a:r>
              <a:rPr lang="en-US" sz="3200" dirty="0"/>
              <a:t>and </a:t>
            </a:r>
            <a:r>
              <a:rPr lang="en-US" sz="3200" b="1" dirty="0"/>
              <a:t>op5 </a:t>
            </a:r>
            <a:r>
              <a:rPr lang="en-US" sz="3200" dirty="0"/>
              <a:t>to determine </a:t>
            </a:r>
            <a:r>
              <a:rPr lang="en-US" sz="3200" i="1" dirty="0" err="1" smtClean="0"/>
              <a:t>ALUControl</a:t>
            </a:r>
            <a:r>
              <a:rPr lang="en-US" sz="3200" i="1" dirty="0"/>
              <a:t> </a:t>
            </a:r>
            <a:r>
              <a:rPr lang="en-US" sz="3200" dirty="0"/>
              <a:t>as given in in Table 7.3.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88" t="25192" r="27825" b="40873"/>
          <a:stretch/>
        </p:blipFill>
        <p:spPr bwMode="auto">
          <a:xfrm>
            <a:off x="2162624" y="2365828"/>
            <a:ext cx="9471358" cy="4459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77905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09486" y="217551"/>
            <a:ext cx="1157771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i="1" dirty="0" err="1"/>
              <a:t>ALUOp</a:t>
            </a:r>
            <a:r>
              <a:rPr lang="en-US" sz="3200" i="1" dirty="0"/>
              <a:t> </a:t>
            </a:r>
            <a:r>
              <a:rPr lang="en-US" sz="3200" dirty="0"/>
              <a:t>of 00 indicates add (e.g., to find the address for loads </a:t>
            </a:r>
            <a:r>
              <a:rPr lang="en-US" sz="3200" dirty="0" smtClean="0"/>
              <a:t>or stores</a:t>
            </a:r>
            <a:r>
              <a:rPr lang="en-US" sz="3200" dirty="0"/>
              <a:t>).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i="1" dirty="0" err="1" smtClean="0"/>
              <a:t>ALUOp</a:t>
            </a:r>
            <a:r>
              <a:rPr lang="en-US" sz="3200" i="1" dirty="0" smtClean="0"/>
              <a:t> </a:t>
            </a:r>
            <a:r>
              <a:rPr lang="en-US" sz="3200" dirty="0"/>
              <a:t>of 01 indicates subtract (e.g., to compare two </a:t>
            </a:r>
            <a:r>
              <a:rPr lang="en-US" sz="3200" dirty="0" smtClean="0"/>
              <a:t>numbers for </a:t>
            </a:r>
            <a:r>
              <a:rPr lang="en-US" sz="3200" dirty="0"/>
              <a:t>branches).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i="1" dirty="0" err="1" smtClean="0"/>
              <a:t>ALUOp</a:t>
            </a:r>
            <a:r>
              <a:rPr lang="en-US" sz="3200" i="1" dirty="0" smtClean="0"/>
              <a:t> </a:t>
            </a:r>
            <a:r>
              <a:rPr lang="en-US" sz="3200" dirty="0"/>
              <a:t>of 10 indicates an R-type ALU instruction </a:t>
            </a:r>
            <a:r>
              <a:rPr lang="en-US" sz="3200" dirty="0" smtClean="0"/>
              <a:t>where the </a:t>
            </a:r>
            <a:r>
              <a:rPr lang="en-US" sz="3200" dirty="0"/>
              <a:t>ALU Decoder must look at the </a:t>
            </a:r>
            <a:r>
              <a:rPr lang="en-US" sz="3200" b="1" dirty="0"/>
              <a:t>funct3 </a:t>
            </a:r>
            <a:r>
              <a:rPr lang="en-US" sz="3200" dirty="0"/>
              <a:t>field (and sometimes also </a:t>
            </a:r>
            <a:r>
              <a:rPr lang="en-US" sz="3200" dirty="0" smtClean="0"/>
              <a:t>the </a:t>
            </a:r>
            <a:r>
              <a:rPr lang="en-US" sz="3200" b="1" dirty="0" smtClean="0"/>
              <a:t>op5 </a:t>
            </a:r>
            <a:r>
              <a:rPr lang="en-US" sz="3200" dirty="0"/>
              <a:t>and </a:t>
            </a:r>
            <a:r>
              <a:rPr lang="en-US" sz="3200" b="1" dirty="0"/>
              <a:t>funct75 </a:t>
            </a:r>
            <a:r>
              <a:rPr lang="en-US" sz="3200" dirty="0"/>
              <a:t>bits) to determine which ALU operation to </a:t>
            </a:r>
            <a:r>
              <a:rPr lang="en-US" sz="3200" dirty="0" smtClean="0"/>
              <a:t>perform (e.g</a:t>
            </a:r>
            <a:r>
              <a:rPr lang="en-US" sz="3200" dirty="0"/>
              <a:t>., add, sub, and, or, </a:t>
            </a:r>
            <a:r>
              <a:rPr lang="en-US" sz="3200" dirty="0" err="1"/>
              <a:t>slt</a:t>
            </a:r>
            <a:r>
              <a:rPr lang="en-US" sz="32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874861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09486" y="217551"/>
            <a:ext cx="1157771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solidFill>
                  <a:srgbClr val="FF0000"/>
                </a:solidFill>
              </a:rPr>
              <a:t>Q. Determine </a:t>
            </a:r>
            <a:r>
              <a:rPr lang="en-US" sz="3200" dirty="0">
                <a:solidFill>
                  <a:srgbClr val="FF0000"/>
                </a:solidFill>
              </a:rPr>
              <a:t>the values of the control signals and the portions of the </a:t>
            </a:r>
            <a:r>
              <a:rPr lang="en-US" sz="3200" dirty="0" smtClean="0">
                <a:solidFill>
                  <a:srgbClr val="FF0000"/>
                </a:solidFill>
              </a:rPr>
              <a:t>	</a:t>
            </a:r>
            <a:r>
              <a:rPr lang="en-US" sz="3200" dirty="0" err="1" smtClean="0">
                <a:solidFill>
                  <a:srgbClr val="FF0000"/>
                </a:solidFill>
              </a:rPr>
              <a:t>datapath</a:t>
            </a:r>
            <a:r>
              <a:rPr lang="en-US" sz="3200" dirty="0" smtClean="0">
                <a:solidFill>
                  <a:srgbClr val="FF0000"/>
                </a:solidFill>
              </a:rPr>
              <a:t> that are </a:t>
            </a:r>
            <a:r>
              <a:rPr lang="en-US" sz="3200" dirty="0">
                <a:solidFill>
                  <a:srgbClr val="FF0000"/>
                </a:solidFill>
              </a:rPr>
              <a:t>used when executing an </a:t>
            </a:r>
            <a:r>
              <a:rPr lang="en-US" sz="3200" b="1" dirty="0"/>
              <a:t>and</a:t>
            </a:r>
            <a:r>
              <a:rPr lang="en-US" sz="3200" dirty="0">
                <a:solidFill>
                  <a:srgbClr val="FF0000"/>
                </a:solidFill>
              </a:rPr>
              <a:t> instruction.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461886" y="1495391"/>
            <a:ext cx="11577711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Solution Figure 7.14 illustrates the control signals and flow of data during </a:t>
            </a:r>
            <a:r>
              <a:rPr lang="en-US" sz="3200" dirty="0" smtClean="0"/>
              <a:t>execution of </a:t>
            </a:r>
            <a:r>
              <a:rPr lang="en-US" sz="3200" dirty="0"/>
              <a:t>an and instruction.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PC points to the memory location </a:t>
            </a:r>
            <a:r>
              <a:rPr lang="en-US" sz="3200" dirty="0" smtClean="0"/>
              <a:t>holding the </a:t>
            </a:r>
            <a:r>
              <a:rPr lang="en-US" sz="3200" dirty="0"/>
              <a:t>instruction; the instruction memory outputs this instruction.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main </a:t>
            </a:r>
            <a:r>
              <a:rPr lang="en-US" sz="3200" dirty="0" smtClean="0"/>
              <a:t>flow of </a:t>
            </a:r>
            <a:r>
              <a:rPr lang="en-US" sz="3200" dirty="0"/>
              <a:t>data through the register file and ALU is represented with a heavy blue </a:t>
            </a:r>
            <a:r>
              <a:rPr lang="en-US" sz="3200" dirty="0" smtClean="0"/>
              <a:t>line.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register file reads the two source operands specified by </a:t>
            </a:r>
            <a:r>
              <a:rPr lang="en-US" sz="3200" i="1" dirty="0" smtClean="0"/>
              <a:t>Instr</a:t>
            </a:r>
            <a:r>
              <a:rPr lang="en-US" sz="3200" dirty="0" smtClean="0"/>
              <a:t>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i="1" dirty="0" err="1" smtClean="0"/>
              <a:t>SrcB</a:t>
            </a:r>
            <a:r>
              <a:rPr lang="en-US" sz="3200" i="1" dirty="0" smtClean="0"/>
              <a:t> </a:t>
            </a:r>
            <a:r>
              <a:rPr lang="en-US" sz="3200" dirty="0"/>
              <a:t>should come from the second port of the register file (not </a:t>
            </a:r>
            <a:r>
              <a:rPr lang="en-US" sz="3200" i="1" dirty="0" err="1"/>
              <a:t>ImmExt</a:t>
            </a:r>
            <a:r>
              <a:rPr lang="en-US" sz="3200" dirty="0"/>
              <a:t>), so </a:t>
            </a:r>
            <a:r>
              <a:rPr lang="en-US" sz="3200" i="1" dirty="0" err="1"/>
              <a:t>ALUSrc</a:t>
            </a:r>
            <a:r>
              <a:rPr lang="en-US" sz="3200" i="1" dirty="0"/>
              <a:t> </a:t>
            </a:r>
            <a:r>
              <a:rPr lang="en-US" sz="3200" dirty="0"/>
              <a:t>must be 0.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ALU performs a bitwise AND operation, so </a:t>
            </a:r>
            <a:r>
              <a:rPr lang="en-US" sz="3200" i="1" dirty="0" err="1"/>
              <a:t>ALUControl</a:t>
            </a:r>
            <a:r>
              <a:rPr lang="en-US" sz="3200" i="1" dirty="0"/>
              <a:t> </a:t>
            </a:r>
            <a:r>
              <a:rPr lang="en-US" sz="3200" dirty="0"/>
              <a:t>must </a:t>
            </a:r>
            <a:r>
              <a:rPr lang="en-US" sz="3200" dirty="0" smtClean="0"/>
              <a:t>be 010</a:t>
            </a:r>
            <a:r>
              <a:rPr lang="en-US" sz="32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669908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31258" y="189106"/>
            <a:ext cx="11577711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result comes from the ALU, so </a:t>
            </a:r>
            <a:r>
              <a:rPr lang="en-US" sz="3200" i="1" dirty="0" err="1"/>
              <a:t>ResultSrc</a:t>
            </a:r>
            <a:r>
              <a:rPr lang="en-US" sz="3200" i="1" dirty="0"/>
              <a:t> </a:t>
            </a:r>
            <a:r>
              <a:rPr lang="en-US" sz="3200" dirty="0"/>
              <a:t>is 0, and the result is </a:t>
            </a:r>
            <a:r>
              <a:rPr lang="en-US" sz="3200" dirty="0" smtClean="0"/>
              <a:t>written to </a:t>
            </a:r>
            <a:r>
              <a:rPr lang="en-US" sz="3200" dirty="0"/>
              <a:t>the register file, so </a:t>
            </a:r>
            <a:r>
              <a:rPr lang="en-US" sz="3200" i="1" dirty="0" err="1"/>
              <a:t>RegWrite</a:t>
            </a:r>
            <a:r>
              <a:rPr lang="en-US" sz="3200" i="1" dirty="0"/>
              <a:t> </a:t>
            </a:r>
            <a:r>
              <a:rPr lang="en-US" sz="3200" dirty="0"/>
              <a:t>is 1.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instruction does not write memory, </a:t>
            </a:r>
            <a:r>
              <a:rPr lang="en-US" sz="3200" dirty="0" smtClean="0"/>
              <a:t>so </a:t>
            </a:r>
            <a:r>
              <a:rPr lang="en-IN" sz="3200" i="1" dirty="0" err="1" smtClean="0"/>
              <a:t>MemWrite</a:t>
            </a:r>
            <a:r>
              <a:rPr lang="en-IN" sz="3200" i="1" dirty="0" smtClean="0"/>
              <a:t> </a:t>
            </a:r>
            <a:r>
              <a:rPr lang="en-IN" sz="3200" dirty="0"/>
              <a:t>is 0</a:t>
            </a:r>
            <a:r>
              <a:rPr lang="en-IN" sz="3200" dirty="0" smtClean="0"/>
              <a:t>.</a:t>
            </a:r>
            <a:r>
              <a:rPr lang="en-US" sz="3200" dirty="0"/>
              <a:t>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updating of </a:t>
            </a:r>
            <a:r>
              <a:rPr lang="en-US" sz="3200" i="1" dirty="0"/>
              <a:t>PC </a:t>
            </a:r>
            <a:r>
              <a:rPr lang="en-US" sz="3200" dirty="0"/>
              <a:t>with </a:t>
            </a:r>
            <a:r>
              <a:rPr lang="en-US" sz="3200" i="1" dirty="0"/>
              <a:t>PCPlus4 </a:t>
            </a:r>
            <a:r>
              <a:rPr lang="en-US" sz="3200" dirty="0"/>
              <a:t>is shown by a heavy gray line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i="1" dirty="0" err="1" smtClean="0"/>
              <a:t>PCSrc</a:t>
            </a:r>
            <a:r>
              <a:rPr lang="en-US" sz="3200" i="1" dirty="0" smtClean="0"/>
              <a:t> </a:t>
            </a:r>
            <a:r>
              <a:rPr lang="en-US" sz="3200" dirty="0"/>
              <a:t>is 0 </a:t>
            </a:r>
            <a:r>
              <a:rPr lang="en-US" sz="3200" dirty="0" smtClean="0"/>
              <a:t>to select </a:t>
            </a:r>
            <a:r>
              <a:rPr lang="en-US" sz="3200" dirty="0"/>
              <a:t>the incremented PC.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Note </a:t>
            </a:r>
            <a:r>
              <a:rPr lang="en-US" sz="3200" dirty="0"/>
              <a:t>that data does flow through the </a:t>
            </a:r>
            <a:r>
              <a:rPr lang="en-US" sz="3200" dirty="0" err="1" smtClean="0"/>
              <a:t>nonhighlighted</a:t>
            </a:r>
            <a:r>
              <a:rPr lang="en-US" sz="3200" dirty="0" smtClean="0"/>
              <a:t> paths</a:t>
            </a:r>
            <a:r>
              <a:rPr lang="en-US" sz="3200" dirty="0"/>
              <a:t>, but the value of that data is disregarded.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For </a:t>
            </a:r>
            <a:r>
              <a:rPr lang="en-US" sz="3200" dirty="0"/>
              <a:t>example, the immediate </a:t>
            </a:r>
            <a:r>
              <a:rPr lang="en-US" sz="3200" dirty="0" smtClean="0"/>
              <a:t>is extended </a:t>
            </a:r>
            <a:r>
              <a:rPr lang="en-US" sz="3200" dirty="0"/>
              <a:t>and a value is read from memory, but these values do not influence </a:t>
            </a:r>
            <a:r>
              <a:rPr lang="en-US" sz="3200" dirty="0" smtClean="0"/>
              <a:t>the next </a:t>
            </a:r>
            <a:r>
              <a:rPr lang="en-US" sz="3200" dirty="0"/>
              <a:t>state of the system.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7718827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51" t="19642" r="16670" b="29960"/>
          <a:stretch/>
        </p:blipFill>
        <p:spPr bwMode="auto">
          <a:xfrm>
            <a:off x="0" y="0"/>
            <a:ext cx="12192000" cy="7185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63015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01287BC-E095-6371-89C6-F8754C92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0B08ADB-CB14-F8CD-91BE-0C79230364A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03D57D-D18C-BB8E-BB0F-704E05CA6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2" y="609599"/>
            <a:ext cx="4972640" cy="1019175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IN" sz="4000" b="1" dirty="0"/>
              <a:t>Pipelined </a:t>
            </a:r>
            <a:r>
              <a:rPr lang="en-US" sz="4000" b="1" dirty="0"/>
              <a:t>Processor -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xmlns="" id="{5733DD74-E373-7CE4-E807-34940BF64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US" sz="2400" dirty="0" smtClean="0"/>
              <a:t>Pipelined </a:t>
            </a:r>
            <a:r>
              <a:rPr lang="en-US" sz="2400" dirty="0"/>
              <a:t>Data Path,</a:t>
            </a:r>
          </a:p>
        </p:txBody>
      </p:sp>
    </p:spTree>
    <p:extLst>
      <p:ext uri="{BB962C8B-B14F-4D97-AF65-F5344CB8AC3E}">
        <p14:creationId xmlns:p14="http://schemas.microsoft.com/office/powerpoint/2010/main" val="195152935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6" y="982982"/>
            <a:ext cx="11577711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Pipelining </a:t>
            </a:r>
            <a:r>
              <a:rPr lang="en-US" sz="3200" dirty="0"/>
              <a:t>is a powerful way to </a:t>
            </a:r>
            <a:r>
              <a:rPr lang="en-US" sz="3200" b="1" dirty="0"/>
              <a:t>improve </a:t>
            </a:r>
            <a:r>
              <a:rPr lang="en-US" sz="3200" b="1" dirty="0" smtClean="0"/>
              <a:t>the throughput </a:t>
            </a:r>
            <a:r>
              <a:rPr lang="en-US" sz="3200" dirty="0"/>
              <a:t>of a digital system.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We </a:t>
            </a:r>
            <a:r>
              <a:rPr lang="en-US" sz="3200" dirty="0"/>
              <a:t>design a pipelined processor by </a:t>
            </a:r>
            <a:r>
              <a:rPr lang="en-US" sz="3200" dirty="0" smtClean="0"/>
              <a:t>subdividing the </a:t>
            </a:r>
            <a:r>
              <a:rPr lang="en-US" sz="3200" b="1" dirty="0"/>
              <a:t>single-cycle processor into five pipeline stages. </a:t>
            </a:r>
            <a:endParaRPr lang="en-US" sz="3200" b="1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Thus</a:t>
            </a:r>
            <a:r>
              <a:rPr lang="en-US" sz="3200" dirty="0"/>
              <a:t>, </a:t>
            </a:r>
            <a:r>
              <a:rPr lang="en-US" sz="3200" dirty="0" smtClean="0"/>
              <a:t>five instructions </a:t>
            </a:r>
            <a:r>
              <a:rPr lang="en-US" sz="3200" dirty="0"/>
              <a:t>can execute simultaneously, one in each stage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Because </a:t>
            </a:r>
            <a:r>
              <a:rPr lang="en-US" sz="3200" b="1" dirty="0" smtClean="0"/>
              <a:t>each stage </a:t>
            </a:r>
            <a:r>
              <a:rPr lang="en-US" sz="3200" b="1" dirty="0"/>
              <a:t>has only one-fifth </a:t>
            </a:r>
            <a:r>
              <a:rPr lang="en-US" sz="3200" dirty="0"/>
              <a:t>of the entire logic, the clock frequency is </a:t>
            </a:r>
            <a:r>
              <a:rPr lang="en-US" sz="3200" dirty="0" smtClean="0"/>
              <a:t>approximately five </a:t>
            </a:r>
            <a:r>
              <a:rPr lang="en-US" sz="3200" dirty="0"/>
              <a:t>times faster.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So</a:t>
            </a:r>
            <a:r>
              <a:rPr lang="en-US" sz="3200" dirty="0"/>
              <a:t>, ideally, </a:t>
            </a:r>
            <a:r>
              <a:rPr lang="en-US" sz="3200" b="1" dirty="0"/>
              <a:t>the latency of each instruction </a:t>
            </a:r>
            <a:r>
              <a:rPr lang="en-US" sz="3200" b="1" dirty="0" smtClean="0"/>
              <a:t>is unchanged</a:t>
            </a:r>
            <a:r>
              <a:rPr lang="en-US" sz="3200" dirty="0"/>
              <a:t>, but the </a:t>
            </a:r>
            <a:r>
              <a:rPr lang="en-US" sz="3200" dirty="0">
                <a:solidFill>
                  <a:srgbClr val="C00000"/>
                </a:solidFill>
              </a:rPr>
              <a:t>throughput is five times better</a:t>
            </a:r>
            <a:r>
              <a:rPr lang="en-US" sz="3200" dirty="0" smtClean="0"/>
              <a:t>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 smtClean="0"/>
              <a:t>Microprocessors execute </a:t>
            </a:r>
            <a:r>
              <a:rPr lang="en-US" sz="3200" dirty="0" smtClean="0"/>
              <a:t>millions </a:t>
            </a:r>
            <a:r>
              <a:rPr lang="en-US" sz="3200" dirty="0"/>
              <a:t>or billions of instructions per second, so throughput is </a:t>
            </a:r>
            <a:r>
              <a:rPr lang="en-US" sz="3200" dirty="0" smtClean="0"/>
              <a:t>more </a:t>
            </a:r>
            <a:r>
              <a:rPr lang="en-IN" sz="3200" dirty="0" smtClean="0"/>
              <a:t>important </a:t>
            </a:r>
            <a:r>
              <a:rPr lang="en-IN" sz="3200" dirty="0"/>
              <a:t>than latency.</a:t>
            </a:r>
            <a:endParaRPr lang="en-US" sz="32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/>
              <a:t>PIPELINED PROCESSOR</a:t>
            </a:r>
            <a:r>
              <a:rPr lang="en-IN" b="1" dirty="0" smtClean="0"/>
              <a:t>: 461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516052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5" y="226237"/>
            <a:ext cx="1157771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b="1" dirty="0"/>
              <a:t>Reading and writing the memory and register file and using the </a:t>
            </a:r>
            <a:r>
              <a:rPr lang="en-US" sz="3200" b="1" dirty="0" smtClean="0"/>
              <a:t>ALU</a:t>
            </a:r>
            <a:r>
              <a:rPr lang="en-US" sz="3200" dirty="0" smtClean="0"/>
              <a:t> typically </a:t>
            </a:r>
            <a:r>
              <a:rPr lang="en-US" sz="3200" dirty="0"/>
              <a:t>constitute the </a:t>
            </a:r>
            <a:r>
              <a:rPr lang="en-US" sz="3200" b="1" dirty="0"/>
              <a:t>biggest delays </a:t>
            </a:r>
            <a:r>
              <a:rPr lang="en-US" sz="3200" dirty="0"/>
              <a:t>in the processor.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We </a:t>
            </a:r>
            <a:r>
              <a:rPr lang="en-US" sz="3200" dirty="0"/>
              <a:t>choose </a:t>
            </a:r>
            <a:r>
              <a:rPr lang="en-US" sz="3200" dirty="0" smtClean="0"/>
              <a:t>five pipeline </a:t>
            </a:r>
            <a:r>
              <a:rPr lang="en-US" sz="3200" dirty="0"/>
              <a:t>stages so that each stage involves exactly one of these slow steps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Specifically, we call the </a:t>
            </a:r>
            <a:r>
              <a:rPr lang="en-US" sz="3200" b="1" dirty="0"/>
              <a:t>five stages </a:t>
            </a:r>
            <a:r>
              <a:rPr lang="en-US" sz="3200" b="1" i="1" dirty="0">
                <a:solidFill>
                  <a:srgbClr val="C00000"/>
                </a:solidFill>
              </a:rPr>
              <a:t>Fetch</a:t>
            </a:r>
            <a:r>
              <a:rPr lang="en-US" sz="3200" b="1" dirty="0">
                <a:solidFill>
                  <a:srgbClr val="C00000"/>
                </a:solidFill>
              </a:rPr>
              <a:t>, </a:t>
            </a:r>
            <a:r>
              <a:rPr lang="en-US" sz="3200" b="1" i="1" dirty="0">
                <a:solidFill>
                  <a:srgbClr val="C00000"/>
                </a:solidFill>
              </a:rPr>
              <a:t>Decode</a:t>
            </a:r>
            <a:r>
              <a:rPr lang="en-US" sz="3200" b="1" dirty="0">
                <a:solidFill>
                  <a:srgbClr val="C00000"/>
                </a:solidFill>
              </a:rPr>
              <a:t>, </a:t>
            </a:r>
            <a:r>
              <a:rPr lang="en-US" sz="3200" b="1" i="1" dirty="0">
                <a:solidFill>
                  <a:srgbClr val="C00000"/>
                </a:solidFill>
              </a:rPr>
              <a:t>Execute</a:t>
            </a:r>
            <a:r>
              <a:rPr lang="en-US" sz="3200" b="1" dirty="0">
                <a:solidFill>
                  <a:srgbClr val="C00000"/>
                </a:solidFill>
              </a:rPr>
              <a:t>, </a:t>
            </a:r>
            <a:r>
              <a:rPr lang="en-US" sz="3200" b="1" i="1" dirty="0">
                <a:solidFill>
                  <a:srgbClr val="C00000"/>
                </a:solidFill>
              </a:rPr>
              <a:t>Memory</a:t>
            </a:r>
            <a:r>
              <a:rPr lang="en-US" sz="3200" b="1" dirty="0">
                <a:solidFill>
                  <a:srgbClr val="C00000"/>
                </a:solidFill>
              </a:rPr>
              <a:t>, </a:t>
            </a:r>
            <a:r>
              <a:rPr lang="en-US" sz="3200" b="1" dirty="0" smtClean="0">
                <a:solidFill>
                  <a:srgbClr val="C00000"/>
                </a:solidFill>
              </a:rPr>
              <a:t>and </a:t>
            </a:r>
            <a:r>
              <a:rPr lang="en-US" sz="3200" b="1" i="1" dirty="0" err="1" smtClean="0">
                <a:solidFill>
                  <a:srgbClr val="C00000"/>
                </a:solidFill>
              </a:rPr>
              <a:t>Writeback</a:t>
            </a:r>
            <a:r>
              <a:rPr lang="en-US" sz="3200" b="1" dirty="0">
                <a:solidFill>
                  <a:srgbClr val="C00000"/>
                </a:solidFill>
              </a:rPr>
              <a:t>.</a:t>
            </a:r>
            <a:r>
              <a:rPr lang="en-US" sz="3200" dirty="0"/>
              <a:t>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They </a:t>
            </a:r>
            <a:r>
              <a:rPr lang="en-US" sz="3200" dirty="0"/>
              <a:t>are similar to the five steps that the </a:t>
            </a:r>
            <a:r>
              <a:rPr lang="en-US" sz="3200" dirty="0" err="1"/>
              <a:t>multicycle</a:t>
            </a:r>
            <a:r>
              <a:rPr lang="en-US" sz="3200" dirty="0"/>
              <a:t> </a:t>
            </a:r>
            <a:r>
              <a:rPr lang="en-US" sz="3200" dirty="0" smtClean="0"/>
              <a:t>processor used </a:t>
            </a:r>
            <a:r>
              <a:rPr lang="en-US" sz="3200" dirty="0"/>
              <a:t>to perform </a:t>
            </a:r>
            <a:r>
              <a:rPr lang="en-US" sz="3200" dirty="0" err="1"/>
              <a:t>lw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345160524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5" y="226237"/>
            <a:ext cx="11577711" cy="6224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In the </a:t>
            </a:r>
            <a:r>
              <a:rPr lang="en-US" sz="3200" b="1" i="1" dirty="0">
                <a:solidFill>
                  <a:srgbClr val="C00000"/>
                </a:solidFill>
              </a:rPr>
              <a:t>Fetch </a:t>
            </a:r>
            <a:r>
              <a:rPr lang="en-US" sz="3200" b="1" dirty="0">
                <a:solidFill>
                  <a:srgbClr val="C00000"/>
                </a:solidFill>
              </a:rPr>
              <a:t>stage</a:t>
            </a:r>
            <a:r>
              <a:rPr lang="en-US" sz="3200" b="1" dirty="0"/>
              <a:t>, </a:t>
            </a:r>
            <a:r>
              <a:rPr lang="en-US" sz="3200" dirty="0"/>
              <a:t>the processor reads the instruction from instruction memory.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1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In </a:t>
            </a:r>
            <a:r>
              <a:rPr lang="en-US" sz="3200" dirty="0"/>
              <a:t>the </a:t>
            </a:r>
            <a:r>
              <a:rPr lang="en-US" sz="3200" b="1" i="1" dirty="0">
                <a:solidFill>
                  <a:srgbClr val="C00000"/>
                </a:solidFill>
              </a:rPr>
              <a:t>Decode </a:t>
            </a:r>
            <a:r>
              <a:rPr lang="en-US" sz="3200" b="1" dirty="0">
                <a:solidFill>
                  <a:srgbClr val="C00000"/>
                </a:solidFill>
              </a:rPr>
              <a:t>stage</a:t>
            </a:r>
            <a:r>
              <a:rPr lang="en-US" sz="3200" dirty="0"/>
              <a:t>, the </a:t>
            </a:r>
            <a:r>
              <a:rPr lang="en-US" sz="3200" b="1" dirty="0"/>
              <a:t>processor </a:t>
            </a:r>
            <a:r>
              <a:rPr lang="en-US" sz="3200" b="1" dirty="0" smtClean="0"/>
              <a:t>reads the </a:t>
            </a:r>
            <a:r>
              <a:rPr lang="en-US" sz="3200" b="1" dirty="0"/>
              <a:t>source operands</a:t>
            </a:r>
            <a:r>
              <a:rPr lang="en-US" sz="3200" dirty="0"/>
              <a:t> from the register file and decodes the instruction </a:t>
            </a:r>
            <a:r>
              <a:rPr lang="en-US" sz="3200" dirty="0" smtClean="0"/>
              <a:t>to </a:t>
            </a:r>
            <a:r>
              <a:rPr lang="en-US" sz="3200" b="1" dirty="0" smtClean="0"/>
              <a:t>produce </a:t>
            </a:r>
            <a:r>
              <a:rPr lang="en-US" sz="3200" b="1" dirty="0"/>
              <a:t>the control </a:t>
            </a:r>
            <a:r>
              <a:rPr lang="en-US" sz="3200" dirty="0"/>
              <a:t>signals.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105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In </a:t>
            </a:r>
            <a:r>
              <a:rPr lang="en-US" sz="3200" dirty="0"/>
              <a:t>the </a:t>
            </a:r>
            <a:r>
              <a:rPr lang="en-US" sz="3200" b="1" i="1" dirty="0">
                <a:solidFill>
                  <a:srgbClr val="C00000"/>
                </a:solidFill>
              </a:rPr>
              <a:t>Execute </a:t>
            </a:r>
            <a:r>
              <a:rPr lang="en-US" sz="3200" b="1" dirty="0">
                <a:solidFill>
                  <a:srgbClr val="C00000"/>
                </a:solidFill>
              </a:rPr>
              <a:t>stage</a:t>
            </a:r>
            <a:r>
              <a:rPr lang="en-US" sz="3200" dirty="0"/>
              <a:t>, the processor </a:t>
            </a:r>
            <a:r>
              <a:rPr lang="en-US" sz="3200" dirty="0" smtClean="0"/>
              <a:t>performs a </a:t>
            </a:r>
            <a:r>
              <a:rPr lang="en-US" sz="3200" dirty="0"/>
              <a:t>computation with the ALU.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1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In </a:t>
            </a:r>
            <a:r>
              <a:rPr lang="en-US" sz="3200" dirty="0"/>
              <a:t>the </a:t>
            </a:r>
            <a:r>
              <a:rPr lang="en-US" sz="3200" b="1" i="1" dirty="0">
                <a:solidFill>
                  <a:srgbClr val="C00000"/>
                </a:solidFill>
              </a:rPr>
              <a:t>Memory </a:t>
            </a:r>
            <a:r>
              <a:rPr lang="en-US" sz="3200" b="1" dirty="0">
                <a:solidFill>
                  <a:srgbClr val="C00000"/>
                </a:solidFill>
              </a:rPr>
              <a:t>stage</a:t>
            </a:r>
            <a:r>
              <a:rPr lang="en-US" sz="3200" dirty="0"/>
              <a:t>, the processor </a:t>
            </a:r>
            <a:r>
              <a:rPr lang="en-US" sz="3200" dirty="0" smtClean="0"/>
              <a:t>reads or </a:t>
            </a:r>
            <a:r>
              <a:rPr lang="en-US" sz="3200" dirty="0"/>
              <a:t>writes data memory, </a:t>
            </a:r>
            <a:r>
              <a:rPr lang="en-US" sz="3200" b="1" dirty="0"/>
              <a:t>if applicable. </a:t>
            </a:r>
            <a:endParaRPr lang="en-US" sz="3200" b="1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1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Finally</a:t>
            </a:r>
            <a:r>
              <a:rPr lang="en-US" sz="3200" dirty="0"/>
              <a:t>, in the </a:t>
            </a:r>
            <a:r>
              <a:rPr lang="en-US" sz="3200" b="1" i="1" dirty="0" err="1">
                <a:solidFill>
                  <a:srgbClr val="C00000"/>
                </a:solidFill>
              </a:rPr>
              <a:t>Writeback</a:t>
            </a:r>
            <a:r>
              <a:rPr lang="en-US" sz="3200" b="1" i="1" dirty="0">
                <a:solidFill>
                  <a:srgbClr val="C00000"/>
                </a:solidFill>
              </a:rPr>
              <a:t> </a:t>
            </a:r>
            <a:r>
              <a:rPr lang="en-US" sz="3200" b="1" dirty="0">
                <a:solidFill>
                  <a:srgbClr val="C00000"/>
                </a:solidFill>
              </a:rPr>
              <a:t>stage</a:t>
            </a:r>
            <a:r>
              <a:rPr lang="en-US" sz="3200" dirty="0"/>
              <a:t>, </a:t>
            </a:r>
            <a:r>
              <a:rPr lang="en-US" sz="3200" dirty="0" smtClean="0"/>
              <a:t>the processor </a:t>
            </a:r>
            <a:r>
              <a:rPr lang="en-US" sz="3200" dirty="0"/>
              <a:t>writes the result to the register file, </a:t>
            </a:r>
            <a:r>
              <a:rPr lang="en-US" sz="3200" b="1" dirty="0"/>
              <a:t>if applicable.</a:t>
            </a:r>
          </a:p>
        </p:txBody>
      </p:sp>
    </p:spTree>
    <p:extLst>
      <p:ext uri="{BB962C8B-B14F-4D97-AF65-F5344CB8AC3E}">
        <p14:creationId xmlns:p14="http://schemas.microsoft.com/office/powerpoint/2010/main" val="12082220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5" y="37045"/>
            <a:ext cx="1157771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Figure 7.47 shows a timing diagram comparing the single-cycle </a:t>
            </a:r>
            <a:r>
              <a:rPr lang="en-US" sz="2400" dirty="0" smtClean="0"/>
              <a:t>and pipelined </a:t>
            </a:r>
            <a:r>
              <a:rPr lang="en-US" sz="2400" dirty="0"/>
              <a:t>processors. Time is on the horizontal axis and instructions </a:t>
            </a:r>
            <a:r>
              <a:rPr lang="en-US" sz="2400" dirty="0" smtClean="0"/>
              <a:t>are </a:t>
            </a:r>
            <a:r>
              <a:rPr lang="en-IN" sz="2400" dirty="0" smtClean="0"/>
              <a:t>on </a:t>
            </a:r>
            <a:r>
              <a:rPr lang="en-IN" sz="2400" dirty="0"/>
              <a:t>the vertical axis.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51" t="19181" r="20149" b="30388"/>
          <a:stretch/>
        </p:blipFill>
        <p:spPr bwMode="auto">
          <a:xfrm>
            <a:off x="1379498" y="802671"/>
            <a:ext cx="9230718" cy="6016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786724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5" y="226237"/>
            <a:ext cx="11577711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IN" sz="3200" dirty="0"/>
              <a:t>In </a:t>
            </a:r>
            <a:r>
              <a:rPr lang="en-IN" sz="3200" dirty="0" smtClean="0"/>
              <a:t>the </a:t>
            </a:r>
            <a:r>
              <a:rPr lang="en-US" sz="3200" dirty="0" smtClean="0"/>
              <a:t>single-cycle </a:t>
            </a:r>
            <a:r>
              <a:rPr lang="en-US" sz="3200" dirty="0"/>
              <a:t>processor in Figure 7.47(a), the first instruction is read </a:t>
            </a:r>
            <a:r>
              <a:rPr lang="en-US" sz="3200" dirty="0" smtClean="0"/>
              <a:t>from memory </a:t>
            </a:r>
            <a:r>
              <a:rPr lang="en-US" sz="3200" dirty="0"/>
              <a:t>at time 0.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Next</a:t>
            </a:r>
            <a:r>
              <a:rPr lang="en-US" sz="3200" dirty="0"/>
              <a:t>, the operands are read from the register file.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Then, the </a:t>
            </a:r>
            <a:r>
              <a:rPr lang="en-US" sz="3200" dirty="0"/>
              <a:t>ALU executes the necessary computation.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Finally</a:t>
            </a:r>
            <a:r>
              <a:rPr lang="en-US" sz="3200" dirty="0"/>
              <a:t>, the data </a:t>
            </a:r>
            <a:r>
              <a:rPr lang="en-US" sz="3200" dirty="0" smtClean="0"/>
              <a:t>memory may </a:t>
            </a:r>
            <a:r>
              <a:rPr lang="en-US" sz="3200" dirty="0"/>
              <a:t>be accessed, and the result is written back to the register file at 680 ps</a:t>
            </a:r>
            <a:r>
              <a:rPr lang="en-US" sz="3200" dirty="0" smtClean="0"/>
              <a:t>.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pico</a:t>
            </a:r>
            <a:r>
              <a:rPr lang="en-US" sz="2000" b="1" dirty="0" smtClean="0"/>
              <a:t> second)</a:t>
            </a:r>
            <a:endParaRPr lang="en-US" sz="3200" b="1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second instruction begins when the first completes.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Hence</a:t>
            </a:r>
            <a:r>
              <a:rPr lang="en-US" sz="3200" dirty="0"/>
              <a:t>, in </a:t>
            </a:r>
            <a:r>
              <a:rPr lang="en-US" sz="3200" dirty="0" smtClean="0"/>
              <a:t>this diagram</a:t>
            </a:r>
            <a:r>
              <a:rPr lang="en-US" sz="3200" dirty="0"/>
              <a:t>, the single-cycle processor has an instruction latency of 200 + 100 </a:t>
            </a:r>
            <a:r>
              <a:rPr lang="en-US" sz="3200" dirty="0" smtClean="0"/>
              <a:t>+ 120 </a:t>
            </a:r>
            <a:r>
              <a:rPr lang="en-US" sz="3200" dirty="0"/>
              <a:t>+ 200 + 60 = 680 </a:t>
            </a:r>
            <a:r>
              <a:rPr lang="en-US" sz="3200" dirty="0" err="1"/>
              <a:t>ps</a:t>
            </a:r>
            <a:r>
              <a:rPr lang="en-US" sz="3200" dirty="0"/>
              <a:t> (see Table 7.7 on page 415) and a throughput </a:t>
            </a:r>
            <a:r>
              <a:rPr lang="en-US" sz="3200" dirty="0" smtClean="0"/>
              <a:t>of </a:t>
            </a:r>
            <a:r>
              <a:rPr lang="en-IN" sz="3200" dirty="0" smtClean="0"/>
              <a:t>1 </a:t>
            </a:r>
            <a:r>
              <a:rPr lang="en-IN" sz="3200" dirty="0"/>
              <a:t>instruction per 680 </a:t>
            </a:r>
            <a:r>
              <a:rPr lang="en-IN" sz="3200" dirty="0" err="1"/>
              <a:t>ps</a:t>
            </a:r>
            <a:r>
              <a:rPr lang="en-IN" sz="3200" dirty="0"/>
              <a:t> (1.47 billion instructions per second).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667553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5" y="226237"/>
            <a:ext cx="11577711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In the pipelined processor in Figure 7.47(b), </a:t>
            </a:r>
            <a:r>
              <a:rPr lang="en-US" sz="3200" dirty="0">
                <a:solidFill>
                  <a:srgbClr val="FF0000"/>
                </a:solidFill>
              </a:rPr>
              <a:t>the length of a </a:t>
            </a:r>
            <a:r>
              <a:rPr lang="en-US" sz="3200" dirty="0" smtClean="0">
                <a:solidFill>
                  <a:srgbClr val="FF0000"/>
                </a:solidFill>
              </a:rPr>
              <a:t>pipeline stage </a:t>
            </a:r>
            <a:r>
              <a:rPr lang="en-US" sz="3200" dirty="0"/>
              <a:t>is </a:t>
            </a:r>
            <a:r>
              <a:rPr lang="en-US" sz="3200" b="1" dirty="0"/>
              <a:t>set at 200 </a:t>
            </a:r>
            <a:r>
              <a:rPr lang="en-US" sz="3200" b="1" dirty="0" err="1"/>
              <a:t>ps</a:t>
            </a:r>
            <a:r>
              <a:rPr lang="en-US" sz="3200" b="1" dirty="0"/>
              <a:t> by the slowest stage</a:t>
            </a:r>
            <a:r>
              <a:rPr lang="en-US" sz="3200" dirty="0"/>
              <a:t>, the memory access in </a:t>
            </a:r>
            <a:r>
              <a:rPr lang="en-US" sz="3200" dirty="0" smtClean="0"/>
              <a:t>the Fetch </a:t>
            </a:r>
            <a:r>
              <a:rPr lang="en-US" sz="3200" dirty="0"/>
              <a:t>or Memory stage.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Each </a:t>
            </a:r>
            <a:r>
              <a:rPr lang="en-US" sz="3200" dirty="0"/>
              <a:t>pipeline stage is indicated by solid or </a:t>
            </a:r>
            <a:r>
              <a:rPr lang="en-US" sz="3200" dirty="0" smtClean="0"/>
              <a:t>dashed vertical </a:t>
            </a:r>
            <a:r>
              <a:rPr lang="en-US" sz="3200" dirty="0"/>
              <a:t>blue lines.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At </a:t>
            </a:r>
            <a:r>
              <a:rPr lang="en-US" sz="3200" dirty="0"/>
              <a:t>time 0, the first instruction is fetched from </a:t>
            </a:r>
            <a:r>
              <a:rPr lang="en-US" sz="3200" dirty="0" smtClean="0"/>
              <a:t>memory.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At </a:t>
            </a:r>
            <a:r>
              <a:rPr lang="en-US" sz="3200" dirty="0"/>
              <a:t>200 </a:t>
            </a:r>
            <a:r>
              <a:rPr lang="en-US" sz="3200" dirty="0" err="1"/>
              <a:t>ps</a:t>
            </a:r>
            <a:r>
              <a:rPr lang="en-US" sz="3200" dirty="0"/>
              <a:t>, the first instruction enters the Decode stage, and a </a:t>
            </a:r>
            <a:r>
              <a:rPr lang="en-US" sz="3200" dirty="0" smtClean="0"/>
              <a:t>second instruction </a:t>
            </a:r>
            <a:r>
              <a:rPr lang="en-US" sz="3200" dirty="0"/>
              <a:t>is fetched.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At </a:t>
            </a:r>
            <a:r>
              <a:rPr lang="en-US" sz="3200" dirty="0"/>
              <a:t>400 </a:t>
            </a:r>
            <a:r>
              <a:rPr lang="en-US" sz="3200" dirty="0" err="1"/>
              <a:t>ps</a:t>
            </a:r>
            <a:r>
              <a:rPr lang="en-US" sz="3200" dirty="0"/>
              <a:t>, the first instruction executes, the </a:t>
            </a:r>
            <a:r>
              <a:rPr lang="en-US" sz="3200" dirty="0" smtClean="0"/>
              <a:t>second instruction enters the Decode stage, and a third instruction is fetched.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And so forth, until all the instructions complete. </a:t>
            </a:r>
          </a:p>
        </p:txBody>
      </p:sp>
    </p:spTree>
    <p:extLst>
      <p:ext uri="{BB962C8B-B14F-4D97-AF65-F5344CB8AC3E}">
        <p14:creationId xmlns:p14="http://schemas.microsoft.com/office/powerpoint/2010/main" val="30238362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5" y="226237"/>
            <a:ext cx="1157771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b="1" dirty="0" smtClean="0">
                <a:solidFill>
                  <a:srgbClr val="FF0000"/>
                </a:solidFill>
              </a:rPr>
              <a:t>The </a:t>
            </a:r>
            <a:r>
              <a:rPr lang="en-US" sz="3200" b="1" dirty="0">
                <a:solidFill>
                  <a:srgbClr val="FF0000"/>
                </a:solidFill>
              </a:rPr>
              <a:t>instruction latency </a:t>
            </a:r>
            <a:r>
              <a:rPr lang="en-US" sz="3200" b="1" dirty="0" smtClean="0">
                <a:solidFill>
                  <a:srgbClr val="FF0000"/>
                </a:solidFill>
              </a:rPr>
              <a:t>is 5 </a:t>
            </a:r>
            <a:r>
              <a:rPr lang="en-US" sz="3200" b="1" dirty="0">
                <a:solidFill>
                  <a:srgbClr val="FF0000"/>
                </a:solidFill>
              </a:rPr>
              <a:t>× 200 = 1000 ps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Because </a:t>
            </a:r>
            <a:r>
              <a:rPr lang="en-US" sz="3200" dirty="0"/>
              <a:t>the stages are not perfectly balanced with </a:t>
            </a:r>
            <a:r>
              <a:rPr lang="en-US" sz="3200" dirty="0" smtClean="0"/>
              <a:t>equal amounts </a:t>
            </a:r>
            <a:r>
              <a:rPr lang="en-US" sz="3200" dirty="0"/>
              <a:t>of logic, the latency is longer for the pipelined processor </a:t>
            </a:r>
            <a:r>
              <a:rPr lang="en-US" sz="3200" dirty="0" smtClean="0"/>
              <a:t>than for </a:t>
            </a:r>
            <a:r>
              <a:rPr lang="en-US" sz="3200" dirty="0"/>
              <a:t>the single-cycle processor.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throughput is 1 instruction per 200 </a:t>
            </a:r>
            <a:r>
              <a:rPr lang="en-US" sz="3200" dirty="0" err="1" smtClean="0"/>
              <a:t>ps</a:t>
            </a:r>
            <a:r>
              <a:rPr lang="en-US" sz="3200" dirty="0" smtClean="0"/>
              <a:t> (5 </a:t>
            </a:r>
            <a:r>
              <a:rPr lang="en-US" sz="3200" dirty="0"/>
              <a:t>billion instructions per second)—that is, one instruction </a:t>
            </a:r>
            <a:r>
              <a:rPr lang="en-US" sz="3200" dirty="0" smtClean="0"/>
              <a:t>completes every </a:t>
            </a:r>
            <a:r>
              <a:rPr lang="en-US" sz="3200" dirty="0"/>
              <a:t>clock cycle.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This </a:t>
            </a:r>
            <a:r>
              <a:rPr lang="en-US" sz="3200" dirty="0"/>
              <a:t>throughput is 3.4 times as much as the </a:t>
            </a:r>
            <a:r>
              <a:rPr lang="en-US" sz="3200" dirty="0" smtClean="0"/>
              <a:t>single-cycle </a:t>
            </a:r>
            <a:r>
              <a:rPr lang="en-IN" sz="3200" dirty="0" smtClean="0"/>
              <a:t>processor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7143894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09" t="27586" r="12758" b="28017"/>
          <a:stretch/>
        </p:blipFill>
        <p:spPr bwMode="auto">
          <a:xfrm>
            <a:off x="0" y="898658"/>
            <a:ext cx="12192000" cy="5951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157686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5" y="226237"/>
            <a:ext cx="1157771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Figure 7.48 shows an abstracted view of the pipeline in </a:t>
            </a:r>
            <a:r>
              <a:rPr lang="en-US" sz="3200" dirty="0" smtClean="0"/>
              <a:t>operation in </a:t>
            </a:r>
            <a:r>
              <a:rPr lang="en-US" sz="3200" dirty="0"/>
              <a:t>which each stage is represented pictorially.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Each </a:t>
            </a:r>
            <a:r>
              <a:rPr lang="en-US" sz="3200" dirty="0"/>
              <a:t>pipeline stage </a:t>
            </a:r>
            <a:r>
              <a:rPr lang="en-US" sz="3200" dirty="0" smtClean="0"/>
              <a:t>is represented </a:t>
            </a:r>
            <a:r>
              <a:rPr lang="en-US" sz="3200" dirty="0"/>
              <a:t>with its major component—instruction </a:t>
            </a:r>
            <a:r>
              <a:rPr lang="en-US" sz="3200" b="1" dirty="0"/>
              <a:t>memory (IM), </a:t>
            </a:r>
            <a:r>
              <a:rPr lang="en-US" sz="3200" b="1" dirty="0" smtClean="0"/>
              <a:t>register file </a:t>
            </a:r>
            <a:r>
              <a:rPr lang="en-US" sz="3200" b="1" dirty="0"/>
              <a:t>(RF) read, ALU execution, data memory (DM), and </a:t>
            </a:r>
            <a:r>
              <a:rPr lang="en-US" sz="3200" b="1" dirty="0" smtClean="0"/>
              <a:t>register file </a:t>
            </a:r>
            <a:r>
              <a:rPr lang="en-US" sz="3200" b="1" dirty="0" err="1"/>
              <a:t>writeback</a:t>
            </a:r>
            <a:r>
              <a:rPr lang="en-US" sz="3200" dirty="0"/>
              <a:t>—to illustrate the flow of instructions through the pipeline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Reading across a row shows the clock cycle in which a </a:t>
            </a:r>
            <a:r>
              <a:rPr lang="en-US" sz="3200" dirty="0" smtClean="0"/>
              <a:t>particular instruction </a:t>
            </a:r>
            <a:r>
              <a:rPr lang="en-US" sz="3200" dirty="0"/>
              <a:t>is in each stage.</a:t>
            </a:r>
          </a:p>
        </p:txBody>
      </p:sp>
    </p:spTree>
    <p:extLst>
      <p:ext uri="{BB962C8B-B14F-4D97-AF65-F5344CB8AC3E}">
        <p14:creationId xmlns:p14="http://schemas.microsoft.com/office/powerpoint/2010/main" val="265157686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5" y="226237"/>
            <a:ext cx="1157771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For example, the sub instruction is </a:t>
            </a:r>
            <a:r>
              <a:rPr lang="en-US" sz="3200" dirty="0" smtClean="0"/>
              <a:t>fetched in </a:t>
            </a:r>
            <a:r>
              <a:rPr lang="en-US" sz="3200" dirty="0"/>
              <a:t>cycle 3 and executed in cycle 5.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Reading </a:t>
            </a:r>
            <a:r>
              <a:rPr lang="en-US" sz="3200" dirty="0"/>
              <a:t>down a column shows </a:t>
            </a:r>
            <a:r>
              <a:rPr lang="en-US" sz="3200" dirty="0" smtClean="0"/>
              <a:t>what the </a:t>
            </a:r>
            <a:r>
              <a:rPr lang="en-US" sz="3200" dirty="0"/>
              <a:t>various pipeline stages are doing on a particular cycle.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For example, in </a:t>
            </a:r>
            <a:r>
              <a:rPr lang="en-US" sz="3200" dirty="0"/>
              <a:t>cycle 6, the register file is writing a sum to s3, the data memory </a:t>
            </a:r>
            <a:r>
              <a:rPr lang="en-US" sz="3200" dirty="0" smtClean="0"/>
              <a:t>is idle</a:t>
            </a:r>
            <a:r>
              <a:rPr lang="en-US" sz="3200" dirty="0"/>
              <a:t>, the ALU is computing (s11 &amp; t0), t4 is being read from the </a:t>
            </a:r>
            <a:r>
              <a:rPr lang="en-US" sz="3200" dirty="0" smtClean="0"/>
              <a:t>register file</a:t>
            </a:r>
            <a:r>
              <a:rPr lang="en-US" sz="3200" dirty="0"/>
              <a:t>, and the or instruction is being fetched from instruction memory.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Stages are shaded to indicate when they are used.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For </a:t>
            </a:r>
            <a:r>
              <a:rPr lang="en-US" sz="3200" dirty="0"/>
              <a:t>example, the </a:t>
            </a:r>
            <a:r>
              <a:rPr lang="en-US" sz="3200" dirty="0" smtClean="0"/>
              <a:t>data memory </a:t>
            </a:r>
            <a:r>
              <a:rPr lang="en-US" sz="3200" dirty="0"/>
              <a:t>is used by </a:t>
            </a:r>
            <a:r>
              <a:rPr lang="en-US" sz="3200" dirty="0" err="1"/>
              <a:t>lw</a:t>
            </a:r>
            <a:r>
              <a:rPr lang="en-US" sz="3200" dirty="0"/>
              <a:t> in cycle 4 and by </a:t>
            </a:r>
            <a:r>
              <a:rPr lang="en-US" sz="3200" dirty="0" err="1"/>
              <a:t>sw</a:t>
            </a:r>
            <a:r>
              <a:rPr lang="en-US" sz="3200" dirty="0"/>
              <a:t> in cycle 8.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instruction memory </a:t>
            </a:r>
            <a:r>
              <a:rPr lang="en-US" sz="3200" dirty="0"/>
              <a:t>and ALU are used in every cycle.</a:t>
            </a:r>
          </a:p>
        </p:txBody>
      </p:sp>
    </p:spTree>
    <p:extLst>
      <p:ext uri="{BB962C8B-B14F-4D97-AF65-F5344CB8AC3E}">
        <p14:creationId xmlns:p14="http://schemas.microsoft.com/office/powerpoint/2010/main" val="265157686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5" y="226237"/>
            <a:ext cx="1157771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register file is written </a:t>
            </a:r>
            <a:r>
              <a:rPr lang="en-US" sz="3200" dirty="0" smtClean="0"/>
              <a:t>by every </a:t>
            </a:r>
            <a:r>
              <a:rPr lang="en-US" sz="3200" dirty="0"/>
              <a:t>instruction except sw.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 smtClean="0"/>
              <a:t>In </a:t>
            </a:r>
            <a:r>
              <a:rPr lang="en-US" sz="3200" b="1" dirty="0"/>
              <a:t>the pipelined processor, the </a:t>
            </a:r>
            <a:r>
              <a:rPr lang="en-US" sz="3200" b="1" dirty="0">
                <a:solidFill>
                  <a:srgbClr val="FF0000"/>
                </a:solidFill>
              </a:rPr>
              <a:t>register file </a:t>
            </a:r>
            <a:r>
              <a:rPr lang="en-US" sz="3200" b="1" dirty="0" smtClean="0">
                <a:solidFill>
                  <a:srgbClr val="FF0000"/>
                </a:solidFill>
              </a:rPr>
              <a:t>is </a:t>
            </a:r>
            <a:r>
              <a:rPr lang="en-US" sz="3200" b="1" dirty="0">
                <a:solidFill>
                  <a:srgbClr val="FF0000"/>
                </a:solidFill>
              </a:rPr>
              <a:t>used twice</a:t>
            </a:r>
            <a:r>
              <a:rPr lang="en-US" sz="3200" b="1" dirty="0"/>
              <a:t> in every cycle: </a:t>
            </a:r>
            <a:r>
              <a:rPr lang="en-US" sz="3200" dirty="0"/>
              <a:t>it is written in the first part of a cycle and </a:t>
            </a:r>
            <a:r>
              <a:rPr lang="en-US" sz="3200" dirty="0" smtClean="0"/>
              <a:t>read in </a:t>
            </a:r>
            <a:r>
              <a:rPr lang="en-US" sz="3200" dirty="0"/>
              <a:t>the second part, as suggested by the shading.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This </a:t>
            </a:r>
            <a:r>
              <a:rPr lang="en-US" sz="3200" dirty="0"/>
              <a:t>way, data can </a:t>
            </a:r>
            <a:r>
              <a:rPr lang="en-US" sz="3200" dirty="0" smtClean="0"/>
              <a:t>be written </a:t>
            </a:r>
            <a:r>
              <a:rPr lang="en-US" sz="3200" dirty="0"/>
              <a:t>by one instruction and read by another within a single cycle.</a:t>
            </a:r>
          </a:p>
        </p:txBody>
      </p:sp>
    </p:spTree>
    <p:extLst>
      <p:ext uri="{BB962C8B-B14F-4D97-AF65-F5344CB8AC3E}">
        <p14:creationId xmlns:p14="http://schemas.microsoft.com/office/powerpoint/2010/main" val="258529691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5" y="226237"/>
            <a:ext cx="1157771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A central </a:t>
            </a:r>
            <a:r>
              <a:rPr lang="en-US" sz="3200" b="1" dirty="0"/>
              <a:t>challenge</a:t>
            </a:r>
            <a:r>
              <a:rPr lang="en-US" sz="3200" dirty="0"/>
              <a:t> in pipelined systems is </a:t>
            </a:r>
            <a:r>
              <a:rPr lang="en-US" sz="3200" b="1" dirty="0"/>
              <a:t>handling hazards </a:t>
            </a:r>
            <a:r>
              <a:rPr lang="en-US" sz="3200" dirty="0" smtClean="0"/>
              <a:t>that occur </a:t>
            </a:r>
            <a:r>
              <a:rPr lang="en-US" sz="3200" dirty="0">
                <a:solidFill>
                  <a:srgbClr val="C00000"/>
                </a:solidFill>
              </a:rPr>
              <a:t>when one instruction’s result is needed by a subsequent </a:t>
            </a:r>
            <a:r>
              <a:rPr lang="en-US" sz="3200" dirty="0" smtClean="0">
                <a:solidFill>
                  <a:srgbClr val="C00000"/>
                </a:solidFill>
              </a:rPr>
              <a:t>instruction before </a:t>
            </a:r>
            <a:r>
              <a:rPr lang="en-US" sz="3200" dirty="0">
                <a:solidFill>
                  <a:srgbClr val="C00000"/>
                </a:solidFill>
              </a:rPr>
              <a:t>the former instruction has completed. </a:t>
            </a:r>
            <a:endParaRPr lang="en-US" sz="3200" dirty="0" smtClean="0">
              <a:solidFill>
                <a:srgbClr val="C0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>
              <a:solidFill>
                <a:srgbClr val="C00000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For </a:t>
            </a:r>
            <a:r>
              <a:rPr lang="en-US" sz="3200" dirty="0"/>
              <a:t>example, if the add </a:t>
            </a:r>
            <a:r>
              <a:rPr lang="en-US" sz="3200" dirty="0" smtClean="0"/>
              <a:t>in Figure </a:t>
            </a:r>
            <a:r>
              <a:rPr lang="en-US" sz="3200" dirty="0"/>
              <a:t>7.48 used s2 as a source instead of s10, a hazard would </a:t>
            </a:r>
            <a:r>
              <a:rPr lang="en-US" sz="3200" dirty="0" smtClean="0"/>
              <a:t>occur because </a:t>
            </a:r>
            <a:r>
              <a:rPr lang="en-US" sz="3200" dirty="0"/>
              <a:t>the s2 register has not yet been written by the </a:t>
            </a:r>
            <a:r>
              <a:rPr lang="en-US" sz="3200" dirty="0" err="1"/>
              <a:t>lw</a:t>
            </a:r>
            <a:r>
              <a:rPr lang="en-US" sz="3200" dirty="0"/>
              <a:t> </a:t>
            </a:r>
            <a:r>
              <a:rPr lang="en-US" sz="3200" dirty="0" smtClean="0"/>
              <a:t>instruction when </a:t>
            </a:r>
            <a:r>
              <a:rPr lang="en-US" sz="3200" dirty="0"/>
              <a:t>it is read by add in cycle 3. 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302458135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6" y="982982"/>
            <a:ext cx="1157771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pipelined </a:t>
            </a:r>
            <a:r>
              <a:rPr lang="en-US" sz="3200" dirty="0" err="1"/>
              <a:t>datapath</a:t>
            </a:r>
            <a:r>
              <a:rPr lang="en-US" sz="3200" dirty="0"/>
              <a:t> is formed by chopping the single-cycle </a:t>
            </a:r>
            <a:r>
              <a:rPr lang="en-US" sz="3200" dirty="0" err="1" smtClean="0"/>
              <a:t>datapath</a:t>
            </a:r>
            <a:r>
              <a:rPr lang="en-US" sz="3200" dirty="0" smtClean="0"/>
              <a:t> into </a:t>
            </a:r>
            <a:r>
              <a:rPr lang="en-US" sz="3200" dirty="0"/>
              <a:t>five stages </a:t>
            </a:r>
            <a:r>
              <a:rPr lang="en-US" sz="3200" b="1" dirty="0"/>
              <a:t>separated by pipeline registers.</a:t>
            </a:r>
            <a:r>
              <a:rPr lang="en-US" sz="3200" dirty="0"/>
              <a:t>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Figure </a:t>
            </a:r>
            <a:r>
              <a:rPr lang="en-US" sz="3200" dirty="0"/>
              <a:t>7.49(a) shows </a:t>
            </a:r>
            <a:r>
              <a:rPr lang="en-US" sz="3200" dirty="0" smtClean="0"/>
              <a:t>the single-cycle </a:t>
            </a:r>
            <a:r>
              <a:rPr lang="en-US" sz="3200" dirty="0" err="1"/>
              <a:t>datapath</a:t>
            </a:r>
            <a:r>
              <a:rPr lang="en-US" sz="3200" dirty="0"/>
              <a:t> stretched out to leave room for the pipeline registers.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Figure 7.49(b) shows the pipelined </a:t>
            </a:r>
            <a:r>
              <a:rPr lang="en-US" sz="3200" dirty="0" err="1"/>
              <a:t>datapath</a:t>
            </a:r>
            <a:r>
              <a:rPr lang="en-US" sz="3200" dirty="0"/>
              <a:t> formed by inserting </a:t>
            </a:r>
            <a:r>
              <a:rPr lang="en-US" sz="3200" b="1" dirty="0" smtClean="0"/>
              <a:t>four pipeline </a:t>
            </a:r>
            <a:r>
              <a:rPr lang="en-US" sz="3200" b="1" dirty="0"/>
              <a:t>registers to separate the </a:t>
            </a:r>
            <a:r>
              <a:rPr lang="en-US" sz="3200" b="1" dirty="0" err="1"/>
              <a:t>datapath</a:t>
            </a:r>
            <a:r>
              <a:rPr lang="en-US" sz="3200" b="1" dirty="0"/>
              <a:t> into five stages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stages and </a:t>
            </a:r>
            <a:r>
              <a:rPr lang="en-US" sz="3200" dirty="0"/>
              <a:t>their boundaries are indicated in blue.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Signals </a:t>
            </a:r>
            <a:r>
              <a:rPr lang="en-US" sz="3200" dirty="0"/>
              <a:t>are given a </a:t>
            </a:r>
            <a:r>
              <a:rPr lang="en-US" sz="3200" dirty="0" smtClean="0"/>
              <a:t>suffix (F</a:t>
            </a:r>
            <a:r>
              <a:rPr lang="en-US" sz="3200" dirty="0"/>
              <a:t>, D, E, M, or W) to indicate the stage in which they reside.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/>
              <a:t>Pipelined </a:t>
            </a:r>
            <a:r>
              <a:rPr lang="en-IN" b="1" dirty="0" err="1"/>
              <a:t>Datapath</a:t>
            </a:r>
            <a:r>
              <a:rPr lang="en-IN" b="1" dirty="0" smtClean="0"/>
              <a:t>: 463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2260869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50" t="12500" r="14374" b="52571"/>
          <a:stretch/>
        </p:blipFill>
        <p:spPr bwMode="auto">
          <a:xfrm>
            <a:off x="-1" y="595082"/>
            <a:ext cx="12167407" cy="4484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837020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50" t="45650" r="13101" b="11111"/>
          <a:stretch/>
        </p:blipFill>
        <p:spPr bwMode="auto">
          <a:xfrm>
            <a:off x="0" y="943428"/>
            <a:ext cx="12192000" cy="5433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333611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5" y="228234"/>
            <a:ext cx="11577711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register file is </a:t>
            </a:r>
            <a:r>
              <a:rPr lang="en-US" sz="3200" dirty="0" smtClean="0"/>
              <a:t>read </a:t>
            </a:r>
            <a:r>
              <a:rPr lang="en-US" sz="3200" dirty="0"/>
              <a:t>in the Decode stage </a:t>
            </a:r>
            <a:r>
              <a:rPr lang="en-US" sz="3200" dirty="0" smtClean="0"/>
              <a:t>and written </a:t>
            </a:r>
            <a:r>
              <a:rPr lang="en-US" sz="3200" dirty="0"/>
              <a:t>in the </a:t>
            </a:r>
            <a:r>
              <a:rPr lang="en-US" sz="3200" dirty="0" err="1"/>
              <a:t>Writeback</a:t>
            </a:r>
            <a:r>
              <a:rPr lang="en-US" sz="3200" dirty="0"/>
              <a:t> stage.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So</a:t>
            </a:r>
            <a:r>
              <a:rPr lang="en-US" sz="3200" dirty="0"/>
              <a:t>, although the </a:t>
            </a:r>
            <a:r>
              <a:rPr lang="en-US" sz="3200" b="1" dirty="0"/>
              <a:t>register file is drawn in </a:t>
            </a:r>
            <a:r>
              <a:rPr lang="en-US" sz="3200" b="1" dirty="0" smtClean="0"/>
              <a:t>the Decode </a:t>
            </a:r>
            <a:r>
              <a:rPr lang="en-US" sz="3200" b="1" dirty="0"/>
              <a:t>stage, its write address and write data come from the </a:t>
            </a:r>
            <a:r>
              <a:rPr lang="en-US" sz="3200" b="1" dirty="0" err="1" smtClean="0"/>
              <a:t>Writeback</a:t>
            </a:r>
            <a:r>
              <a:rPr lang="en-US" sz="3200" b="1" dirty="0" smtClean="0"/>
              <a:t> stage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 smtClean="0"/>
              <a:t>This </a:t>
            </a:r>
            <a:r>
              <a:rPr lang="en-US" sz="3200" b="1" dirty="0"/>
              <a:t>feedback will lead to pipeline </a:t>
            </a:r>
            <a:r>
              <a:rPr lang="en-US" sz="3200" b="1" dirty="0" smtClean="0"/>
              <a:t>hazards. 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b="1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register file in the pipelined processor </a:t>
            </a:r>
            <a:r>
              <a:rPr lang="en-US" sz="3200" b="1" dirty="0"/>
              <a:t>writes on the </a:t>
            </a:r>
            <a:r>
              <a:rPr lang="en-US" sz="3200" b="1" dirty="0" smtClean="0"/>
              <a:t>falling edge </a:t>
            </a:r>
            <a:r>
              <a:rPr lang="en-US" sz="3200" b="1" dirty="0"/>
              <a:t>of </a:t>
            </a:r>
            <a:r>
              <a:rPr lang="en-US" sz="3200" b="1" i="1" dirty="0"/>
              <a:t>CLK</a:t>
            </a:r>
            <a:r>
              <a:rPr lang="en-US" sz="3200" i="1" dirty="0"/>
              <a:t> </a:t>
            </a:r>
            <a:r>
              <a:rPr lang="en-US" sz="3200" dirty="0"/>
              <a:t>so that it can write a result in the first half of a cycle and </a:t>
            </a:r>
            <a:r>
              <a:rPr lang="en-US" sz="3200" dirty="0" smtClean="0"/>
              <a:t>read that </a:t>
            </a:r>
            <a:r>
              <a:rPr lang="en-US" sz="3200" dirty="0"/>
              <a:t>result in the second half of the cycle for use in a subsequent instruction.</a:t>
            </a:r>
          </a:p>
        </p:txBody>
      </p:sp>
    </p:spTree>
    <p:extLst>
      <p:ext uri="{BB962C8B-B14F-4D97-AF65-F5344CB8AC3E}">
        <p14:creationId xmlns:p14="http://schemas.microsoft.com/office/powerpoint/2010/main" val="364283471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-18504"/>
            <a:ext cx="12192000" cy="6924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One of the subtle but </a:t>
            </a:r>
            <a:r>
              <a:rPr lang="en-US" sz="3200" b="1" dirty="0"/>
              <a:t>critical issues </a:t>
            </a:r>
            <a:r>
              <a:rPr lang="en-US" sz="3200" dirty="0"/>
              <a:t>in pipelining is that </a:t>
            </a:r>
            <a:r>
              <a:rPr lang="en-US" sz="3200" b="1" dirty="0"/>
              <a:t>all </a:t>
            </a:r>
            <a:r>
              <a:rPr lang="en-US" sz="3200" b="1" dirty="0" smtClean="0"/>
              <a:t>signals associated </a:t>
            </a:r>
            <a:r>
              <a:rPr lang="en-US" sz="3200" b="1" dirty="0"/>
              <a:t>with a particular instruction must advance through the </a:t>
            </a:r>
            <a:r>
              <a:rPr lang="en-US" sz="3200" b="1" dirty="0" smtClean="0"/>
              <a:t>pipeline </a:t>
            </a:r>
            <a:r>
              <a:rPr lang="en-IN" sz="3200" b="1" dirty="0" smtClean="0"/>
              <a:t>in unison.</a:t>
            </a:r>
          </a:p>
          <a:p>
            <a:endParaRPr lang="en-IN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>
                <a:solidFill>
                  <a:srgbClr val="FF0000"/>
                </a:solidFill>
              </a:rPr>
              <a:t>error is in the register file write logic, which should operate </a:t>
            </a:r>
            <a:r>
              <a:rPr lang="en-US" sz="3200" dirty="0" smtClean="0">
                <a:solidFill>
                  <a:srgbClr val="FF0000"/>
                </a:solidFill>
              </a:rPr>
              <a:t>in the </a:t>
            </a:r>
            <a:r>
              <a:rPr lang="en-US" sz="3200" dirty="0" err="1">
                <a:solidFill>
                  <a:srgbClr val="FF0000"/>
                </a:solidFill>
              </a:rPr>
              <a:t>Writeback</a:t>
            </a:r>
            <a:r>
              <a:rPr lang="en-US" sz="3200" dirty="0">
                <a:solidFill>
                  <a:srgbClr val="FF0000"/>
                </a:solidFill>
              </a:rPr>
              <a:t> stage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data value comes from </a:t>
            </a:r>
            <a:r>
              <a:rPr lang="en-US" sz="3200" i="1" dirty="0" err="1"/>
              <a:t>ResultW</a:t>
            </a:r>
            <a:r>
              <a:rPr lang="en-US" sz="3200" dirty="0"/>
              <a:t>, a </a:t>
            </a:r>
            <a:r>
              <a:rPr lang="en-US" sz="3200" dirty="0" err="1" smtClean="0"/>
              <a:t>Writeback</a:t>
            </a:r>
            <a:r>
              <a:rPr lang="en-US" sz="3200" dirty="0" smtClean="0"/>
              <a:t> stage </a:t>
            </a:r>
            <a:r>
              <a:rPr lang="en-US" sz="3200" dirty="0"/>
              <a:t>signal.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But </a:t>
            </a:r>
            <a:r>
              <a:rPr lang="en-US" sz="3200" dirty="0"/>
              <a:t>the destination register comes from </a:t>
            </a:r>
            <a:r>
              <a:rPr lang="en-US" sz="3200" i="1" dirty="0" err="1"/>
              <a:t>RdD</a:t>
            </a:r>
            <a:r>
              <a:rPr lang="en-US" sz="3200" i="1" dirty="0"/>
              <a:t> </a:t>
            </a:r>
            <a:r>
              <a:rPr lang="en-US" sz="3200" dirty="0"/>
              <a:t>(</a:t>
            </a:r>
            <a:r>
              <a:rPr lang="en-US" sz="3200" i="1" dirty="0"/>
              <a:t>InstrD</a:t>
            </a:r>
            <a:r>
              <a:rPr lang="en-US" sz="3200" dirty="0"/>
              <a:t>11:7</a:t>
            </a:r>
            <a:r>
              <a:rPr lang="en-US" sz="3200" dirty="0" smtClean="0"/>
              <a:t>), which </a:t>
            </a:r>
            <a:r>
              <a:rPr lang="en-US" sz="3200" dirty="0"/>
              <a:t>is a Decode stage signal.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In </a:t>
            </a:r>
            <a:r>
              <a:rPr lang="en-US" sz="3200" dirty="0"/>
              <a:t>the pipeline diagram of Figure </a:t>
            </a:r>
            <a:r>
              <a:rPr lang="en-US" sz="3200" dirty="0" smtClean="0"/>
              <a:t>7.48, </a:t>
            </a:r>
            <a:r>
              <a:rPr lang="en-US" sz="3200" b="1" dirty="0" smtClean="0"/>
              <a:t>during </a:t>
            </a:r>
            <a:r>
              <a:rPr lang="en-US" sz="3200" b="1" dirty="0"/>
              <a:t>cycle 5, the result of the </a:t>
            </a:r>
            <a:r>
              <a:rPr lang="en-US" sz="3200" b="1" dirty="0" err="1"/>
              <a:t>lw</a:t>
            </a:r>
            <a:r>
              <a:rPr lang="en-US" sz="3200" b="1" dirty="0"/>
              <a:t> instruction would be incorrectly </a:t>
            </a:r>
            <a:r>
              <a:rPr lang="en-US" sz="3200" b="1" dirty="0" smtClean="0"/>
              <a:t>written to </a:t>
            </a:r>
            <a:r>
              <a:rPr lang="en-US" sz="3200" b="1" dirty="0"/>
              <a:t>s5 rather than s2.</a:t>
            </a:r>
          </a:p>
        </p:txBody>
      </p:sp>
    </p:spTree>
    <p:extLst>
      <p:ext uri="{BB962C8B-B14F-4D97-AF65-F5344CB8AC3E}">
        <p14:creationId xmlns:p14="http://schemas.microsoft.com/office/powerpoint/2010/main" val="426507052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5" y="228234"/>
            <a:ext cx="1157771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Figure 7.50 shows a corrected </a:t>
            </a:r>
            <a:r>
              <a:rPr lang="en-US" sz="3200" dirty="0" err="1"/>
              <a:t>datapath</a:t>
            </a:r>
            <a:r>
              <a:rPr lang="en-US" sz="3200" dirty="0"/>
              <a:t>, with the </a:t>
            </a:r>
            <a:r>
              <a:rPr lang="en-US" sz="3200" dirty="0" smtClean="0"/>
              <a:t>modification in </a:t>
            </a:r>
            <a:r>
              <a:rPr lang="en-US" sz="3200" dirty="0"/>
              <a:t>blue.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b="1" i="1" dirty="0"/>
              <a:t>Rd </a:t>
            </a:r>
            <a:r>
              <a:rPr lang="en-US" sz="3200" b="1" dirty="0"/>
              <a:t>signal is now pipelined </a:t>
            </a:r>
            <a:r>
              <a:rPr lang="en-US" sz="3200" dirty="0"/>
              <a:t>along through the </a:t>
            </a:r>
            <a:r>
              <a:rPr lang="en-US" sz="3200" dirty="0" smtClean="0"/>
              <a:t>Execution, Memory</a:t>
            </a:r>
            <a:r>
              <a:rPr lang="en-US" sz="3200" dirty="0"/>
              <a:t>, and </a:t>
            </a:r>
            <a:r>
              <a:rPr lang="en-US" sz="3200" dirty="0" err="1"/>
              <a:t>Writeback</a:t>
            </a:r>
            <a:r>
              <a:rPr lang="en-US" sz="3200" dirty="0"/>
              <a:t> stages, so it remains in sync with the rest of </a:t>
            </a:r>
            <a:r>
              <a:rPr lang="en-US" sz="3200" dirty="0" smtClean="0"/>
              <a:t>the instruction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i="1" dirty="0" err="1" smtClean="0"/>
              <a:t>RdW</a:t>
            </a:r>
            <a:r>
              <a:rPr lang="en-US" sz="3200" i="1" dirty="0" smtClean="0"/>
              <a:t> </a:t>
            </a:r>
            <a:r>
              <a:rPr lang="en-US" sz="3200" dirty="0"/>
              <a:t>and </a:t>
            </a:r>
            <a:r>
              <a:rPr lang="en-US" sz="3200" i="1" dirty="0" err="1"/>
              <a:t>ResultW</a:t>
            </a:r>
            <a:r>
              <a:rPr lang="en-US" sz="3200" i="1" dirty="0"/>
              <a:t> </a:t>
            </a:r>
            <a:r>
              <a:rPr lang="en-US" sz="3200" dirty="0"/>
              <a:t>are fed back together to the register </a:t>
            </a:r>
            <a:r>
              <a:rPr lang="en-US" sz="3200" dirty="0" smtClean="0"/>
              <a:t>file </a:t>
            </a:r>
            <a:r>
              <a:rPr lang="en-IN" sz="3200" dirty="0" smtClean="0"/>
              <a:t>in </a:t>
            </a:r>
            <a:r>
              <a:rPr lang="en-IN" sz="3200" dirty="0"/>
              <a:t>the </a:t>
            </a:r>
            <a:r>
              <a:rPr lang="en-IN" sz="3200" dirty="0" err="1"/>
              <a:t>Writeback</a:t>
            </a:r>
            <a:r>
              <a:rPr lang="en-IN" sz="3200" dirty="0"/>
              <a:t> stage</a:t>
            </a:r>
            <a:r>
              <a:rPr lang="en-IN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3200" dirty="0"/>
          </a:p>
          <a:p>
            <a:pPr marL="457200" indent="-457200">
              <a:buFont typeface="Arial" pitchFamily="34" charset="0"/>
              <a:buChar char="•"/>
            </a:pPr>
            <a:endParaRPr lang="en-IN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</a:t>
            </a:r>
            <a:r>
              <a:rPr lang="en-US" sz="3200" dirty="0" smtClean="0"/>
              <a:t>he </a:t>
            </a:r>
            <a:r>
              <a:rPr lang="en-US" sz="3200" dirty="0"/>
              <a:t>logic to produce </a:t>
            </a:r>
            <a:r>
              <a:rPr lang="en-US" sz="3200" i="1" dirty="0"/>
              <a:t>PCF’ </a:t>
            </a:r>
            <a:r>
              <a:rPr lang="en-US" sz="3200" dirty="0"/>
              <a:t>(the </a:t>
            </a:r>
            <a:r>
              <a:rPr lang="en-US" sz="3200" dirty="0" smtClean="0"/>
              <a:t>next PC</a:t>
            </a:r>
            <a:r>
              <a:rPr lang="en-US" sz="3200" dirty="0"/>
              <a:t>) is also problematic because it could be updated with either a </a:t>
            </a:r>
            <a:r>
              <a:rPr lang="en-US" sz="3200" dirty="0" smtClean="0"/>
              <a:t>Fetch or </a:t>
            </a:r>
            <a:r>
              <a:rPr lang="en-US" sz="3200" dirty="0"/>
              <a:t>an Execute stage signal (</a:t>
            </a:r>
            <a:r>
              <a:rPr lang="en-US" sz="3200" i="1" dirty="0"/>
              <a:t>PCPlus4F </a:t>
            </a:r>
            <a:r>
              <a:rPr lang="en-US" sz="3200" dirty="0"/>
              <a:t>or </a:t>
            </a:r>
            <a:r>
              <a:rPr lang="en-US" sz="3200" i="1" dirty="0" err="1"/>
              <a:t>PCTargetE</a:t>
            </a:r>
            <a:r>
              <a:rPr lang="en-US" sz="32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53860658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62" t="20238" r="11985" b="41667"/>
          <a:stretch/>
        </p:blipFill>
        <p:spPr bwMode="auto">
          <a:xfrm>
            <a:off x="203205" y="798286"/>
            <a:ext cx="11988795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422896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2B63E0D-5DEB-5C0A-F10F-759F864C8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4E3979A-EF04-3B2C-6A77-9B5999CECA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817748-A436-EBAA-9CD8-1E69FF685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2" y="609599"/>
            <a:ext cx="4815257" cy="1019175"/>
          </a:xfrm>
        </p:spPr>
        <p:txBody>
          <a:bodyPr anchor="b">
            <a:normAutofit/>
          </a:bodyPr>
          <a:lstStyle/>
          <a:p>
            <a:pPr algn="l"/>
            <a:r>
              <a:rPr lang="en-US" sz="4000" b="1" dirty="0"/>
              <a:t>Pipelined Control: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xmlns="" id="{BD7EB6CB-FA55-FD6E-6FBB-5BD668FC2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US" sz="2400" dirty="0" smtClean="0"/>
              <a:t>Hazards</a:t>
            </a:r>
            <a:r>
              <a:rPr lang="en-US" sz="2400" dirty="0"/>
              <a:t>, </a:t>
            </a:r>
            <a:endParaRPr lang="en-US" sz="2400" dirty="0" smtClean="0"/>
          </a:p>
          <a:p>
            <a:r>
              <a:rPr lang="en-US" sz="2400" dirty="0" smtClean="0"/>
              <a:t>Solving </a:t>
            </a:r>
            <a:r>
              <a:rPr lang="en-IN" sz="2400" dirty="0"/>
              <a:t>Data/Control Hazards, </a:t>
            </a:r>
            <a:endParaRPr lang="en-IN" sz="2400" dirty="0" smtClean="0"/>
          </a:p>
          <a:p>
            <a:r>
              <a:rPr lang="en-IN" sz="2400" dirty="0" smtClean="0"/>
              <a:t>Performance </a:t>
            </a:r>
            <a:r>
              <a:rPr lang="en-IN" sz="2400" dirty="0"/>
              <a:t>Analysis.</a:t>
            </a:r>
          </a:p>
        </p:txBody>
      </p:sp>
    </p:spTree>
    <p:extLst>
      <p:ext uri="{BB962C8B-B14F-4D97-AF65-F5344CB8AC3E}">
        <p14:creationId xmlns:p14="http://schemas.microsoft.com/office/powerpoint/2010/main" val="68308096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6" y="982982"/>
            <a:ext cx="1157771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pipelined processor uses the </a:t>
            </a:r>
            <a:r>
              <a:rPr lang="en-US" sz="3200" b="1" dirty="0"/>
              <a:t>same control signals as the </a:t>
            </a:r>
            <a:r>
              <a:rPr lang="en-US" sz="3200" b="1" dirty="0" smtClean="0"/>
              <a:t>single-cycle processo</a:t>
            </a:r>
            <a:r>
              <a:rPr lang="en-US" sz="3200" dirty="0" smtClean="0"/>
              <a:t>r </a:t>
            </a:r>
            <a:r>
              <a:rPr lang="en-US" sz="3200" dirty="0"/>
              <a:t>and, therefore, has the same control unit.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control </a:t>
            </a:r>
            <a:r>
              <a:rPr lang="en-US" sz="3200" dirty="0" smtClean="0"/>
              <a:t>unit examines </a:t>
            </a:r>
            <a:r>
              <a:rPr lang="en-US" sz="3200" dirty="0"/>
              <a:t>the </a:t>
            </a:r>
            <a:r>
              <a:rPr lang="en-US" sz="3200" b="1" dirty="0"/>
              <a:t>op</a:t>
            </a:r>
            <a:r>
              <a:rPr lang="en-US" sz="3200" dirty="0"/>
              <a:t>, </a:t>
            </a:r>
            <a:r>
              <a:rPr lang="en-US" sz="3200" b="1" dirty="0"/>
              <a:t>funct3</a:t>
            </a:r>
            <a:r>
              <a:rPr lang="en-US" sz="3200" dirty="0"/>
              <a:t>, and </a:t>
            </a:r>
            <a:r>
              <a:rPr lang="en-US" sz="3200" b="1" dirty="0"/>
              <a:t>funct75 </a:t>
            </a:r>
            <a:r>
              <a:rPr lang="en-US" sz="3200" dirty="0"/>
              <a:t>fields of the instruction in the </a:t>
            </a:r>
            <a:r>
              <a:rPr lang="en-US" sz="3200" dirty="0" smtClean="0"/>
              <a:t>Decode stage </a:t>
            </a:r>
            <a:r>
              <a:rPr lang="en-US" sz="3200" dirty="0"/>
              <a:t>to produce the control </a:t>
            </a:r>
            <a:r>
              <a:rPr lang="en-US" sz="3200" dirty="0" smtClean="0"/>
              <a:t>signals. 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These </a:t>
            </a:r>
            <a:r>
              <a:rPr lang="en-US" sz="3200" dirty="0"/>
              <a:t>control signals must be pipelined </a:t>
            </a:r>
            <a:r>
              <a:rPr lang="en-US" sz="3200" dirty="0" smtClean="0"/>
              <a:t>along with </a:t>
            </a:r>
            <a:r>
              <a:rPr lang="en-US" sz="3200" dirty="0"/>
              <a:t>the data so that they remain synchronized with the instruction.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/>
              <a:t>Pipelined Control</a:t>
            </a:r>
            <a:r>
              <a:rPr lang="en-IN" b="1" dirty="0" smtClean="0"/>
              <a:t>: 465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99943865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6" y="982982"/>
            <a:ext cx="1157771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entire pipelined processor with control is shown in Figure 7.51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i="1" dirty="0" err="1"/>
              <a:t>RegWrite</a:t>
            </a:r>
            <a:r>
              <a:rPr lang="en-US" sz="3200" i="1" dirty="0"/>
              <a:t> </a:t>
            </a:r>
            <a:r>
              <a:rPr lang="en-US" sz="3200" dirty="0"/>
              <a:t>must be pipelined into the </a:t>
            </a:r>
            <a:r>
              <a:rPr lang="en-US" sz="3200" dirty="0" err="1"/>
              <a:t>Writeback</a:t>
            </a:r>
            <a:r>
              <a:rPr lang="en-US" sz="3200" dirty="0"/>
              <a:t> stage before it feeds </a:t>
            </a:r>
            <a:r>
              <a:rPr lang="en-US" sz="3200" dirty="0" smtClean="0"/>
              <a:t>back to </a:t>
            </a:r>
            <a:r>
              <a:rPr lang="en-US" sz="3200" dirty="0"/>
              <a:t>the register file, just as </a:t>
            </a:r>
            <a:r>
              <a:rPr lang="en-US" sz="3200" i="1" dirty="0"/>
              <a:t>Rd </a:t>
            </a:r>
            <a:r>
              <a:rPr lang="en-US" sz="3200" dirty="0"/>
              <a:t>was pipelined in Figure 7.50.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In </a:t>
            </a:r>
            <a:r>
              <a:rPr lang="en-US" sz="3200" dirty="0"/>
              <a:t>addition </a:t>
            </a:r>
            <a:r>
              <a:rPr lang="en-US" sz="3200" dirty="0" smtClean="0"/>
              <a:t>to R-type </a:t>
            </a:r>
            <a:r>
              <a:rPr lang="en-US" sz="3200" dirty="0"/>
              <a:t>ALU instructions, </a:t>
            </a:r>
            <a:r>
              <a:rPr lang="en-US" sz="3200" dirty="0" err="1"/>
              <a:t>lw</a:t>
            </a:r>
            <a:r>
              <a:rPr lang="en-US" sz="3200" dirty="0"/>
              <a:t>, </a:t>
            </a:r>
            <a:r>
              <a:rPr lang="en-US" sz="3200" dirty="0" err="1"/>
              <a:t>sw</a:t>
            </a:r>
            <a:r>
              <a:rPr lang="en-US" sz="3200" dirty="0"/>
              <a:t>, and </a:t>
            </a:r>
            <a:r>
              <a:rPr lang="en-US" sz="3200" dirty="0" err="1"/>
              <a:t>beq</a:t>
            </a:r>
            <a:r>
              <a:rPr lang="en-US" sz="3200" dirty="0"/>
              <a:t>, this pipelined processor </a:t>
            </a:r>
            <a:r>
              <a:rPr lang="en-US" sz="3200" dirty="0" smtClean="0"/>
              <a:t>also supports </a:t>
            </a:r>
            <a:r>
              <a:rPr lang="en-US" sz="3200" dirty="0" err="1"/>
              <a:t>jal</a:t>
            </a:r>
            <a:r>
              <a:rPr lang="en-US" sz="3200" dirty="0"/>
              <a:t> and I-type ALU instructions.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/>
              <a:t>Pipelined Control</a:t>
            </a:r>
            <a:r>
              <a:rPr lang="en-IN" b="1" dirty="0" smtClean="0"/>
              <a:t>: 465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9530386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15" t="17278" r="15573" b="30527"/>
          <a:stretch/>
        </p:blipFill>
        <p:spPr bwMode="auto">
          <a:xfrm>
            <a:off x="232228" y="73019"/>
            <a:ext cx="11654971" cy="6757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156365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6" y="982982"/>
            <a:ext cx="1157771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In a pipelined system, multiple instructions are handled concurrently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/>
              <a:t>When one instruction is </a:t>
            </a:r>
            <a:r>
              <a:rPr lang="en-US" sz="3200" b="1" i="1" dirty="0"/>
              <a:t>dependent </a:t>
            </a:r>
            <a:r>
              <a:rPr lang="en-US" sz="3200" b="1" dirty="0"/>
              <a:t>on the results of another </a:t>
            </a:r>
            <a:r>
              <a:rPr lang="en-US" sz="3200" dirty="0"/>
              <a:t>that </a:t>
            </a:r>
            <a:r>
              <a:rPr lang="en-US" sz="3200" dirty="0" smtClean="0"/>
              <a:t>has </a:t>
            </a:r>
            <a:r>
              <a:rPr lang="en-US" sz="3200" dirty="0"/>
              <a:t>not yet completed, a </a:t>
            </a:r>
            <a:r>
              <a:rPr lang="en-US" sz="3200" i="1" dirty="0"/>
              <a:t>hazard </a:t>
            </a:r>
            <a:r>
              <a:rPr lang="en-US" sz="3200" dirty="0"/>
              <a:t>occurs.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register file is written </a:t>
            </a:r>
            <a:r>
              <a:rPr lang="en-US" sz="3200" dirty="0" smtClean="0"/>
              <a:t>during the </a:t>
            </a:r>
            <a:r>
              <a:rPr lang="en-US" sz="3200" dirty="0"/>
              <a:t>first half of the cycle and read during the second half of the cycle, </a:t>
            </a:r>
            <a:r>
              <a:rPr lang="en-US" sz="3200" dirty="0" smtClean="0"/>
              <a:t>so a </a:t>
            </a:r>
            <a:r>
              <a:rPr lang="en-US" sz="3200" dirty="0"/>
              <a:t>register can be written and read back in the same cycle without </a:t>
            </a:r>
            <a:r>
              <a:rPr lang="en-US" sz="3200" dirty="0" smtClean="0"/>
              <a:t>introducing </a:t>
            </a:r>
            <a:r>
              <a:rPr lang="en-IN" sz="3200" dirty="0" smtClean="0"/>
              <a:t>a </a:t>
            </a:r>
            <a:r>
              <a:rPr lang="en-IN" sz="3200" dirty="0"/>
              <a:t>hazard.</a:t>
            </a:r>
            <a:endParaRPr lang="en-US" sz="32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HAZARDS: 465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28080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83E5D4-E738-481A-AD36-D9EAA1C09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17" t="18616" r="14252" b="47050"/>
          <a:stretch/>
        </p:blipFill>
        <p:spPr bwMode="auto">
          <a:xfrm>
            <a:off x="0" y="493485"/>
            <a:ext cx="12203292" cy="4775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239917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6" y="982982"/>
            <a:ext cx="1157771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Figure 7.52 illustrates hazards that occur when one </a:t>
            </a:r>
            <a:r>
              <a:rPr lang="en-US" sz="3200" dirty="0" smtClean="0"/>
              <a:t>instruction writes </a:t>
            </a:r>
            <a:r>
              <a:rPr lang="en-US" sz="3200" dirty="0"/>
              <a:t>a register (s8) and subsequent instructions read this register.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blue </a:t>
            </a:r>
            <a:r>
              <a:rPr lang="en-US" sz="3200" dirty="0"/>
              <a:t>arrows highlight when s8 is written to the register file (in </a:t>
            </a:r>
            <a:r>
              <a:rPr lang="en-US" sz="3200" dirty="0" smtClean="0"/>
              <a:t>cycle 5</a:t>
            </a:r>
            <a:r>
              <a:rPr lang="en-US" sz="3200" dirty="0"/>
              <a:t>) as compared to when it is needed by subsequent </a:t>
            </a:r>
            <a:r>
              <a:rPr lang="en-US" sz="3200" dirty="0" smtClean="0"/>
              <a:t> Instructions.</a:t>
            </a:r>
          </a:p>
          <a:p>
            <a:r>
              <a:rPr lang="en-US" sz="3200" dirty="0" smtClean="0"/>
              <a:t>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This is </a:t>
            </a:r>
            <a:r>
              <a:rPr lang="en-US" sz="3200" dirty="0"/>
              <a:t>called a </a:t>
            </a:r>
            <a:r>
              <a:rPr lang="en-US" sz="3200" b="1" i="1" dirty="0">
                <a:solidFill>
                  <a:srgbClr val="FF0000"/>
                </a:solidFill>
              </a:rPr>
              <a:t>read after write </a:t>
            </a:r>
            <a:r>
              <a:rPr lang="en-US" sz="3200" b="1" dirty="0">
                <a:solidFill>
                  <a:srgbClr val="FF0000"/>
                </a:solidFill>
              </a:rPr>
              <a:t>(</a:t>
            </a:r>
            <a:r>
              <a:rPr lang="en-US" sz="3200" b="1" i="1" dirty="0">
                <a:solidFill>
                  <a:srgbClr val="FF0000"/>
                </a:solidFill>
              </a:rPr>
              <a:t>RAW</a:t>
            </a:r>
            <a:r>
              <a:rPr lang="en-US" sz="3200" b="1" dirty="0">
                <a:solidFill>
                  <a:srgbClr val="FF0000"/>
                </a:solidFill>
              </a:rPr>
              <a:t>) </a:t>
            </a:r>
            <a:r>
              <a:rPr lang="en-US" sz="3200" b="1" i="1" dirty="0">
                <a:solidFill>
                  <a:srgbClr val="FF0000"/>
                </a:solidFill>
              </a:rPr>
              <a:t>hazard</a:t>
            </a:r>
            <a:r>
              <a:rPr lang="en-US" sz="3200" dirty="0"/>
              <a:t>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HAZARDS: 465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1803159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3371" y="184696"/>
            <a:ext cx="11853486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add instruction writes </a:t>
            </a:r>
            <a:r>
              <a:rPr lang="en-US" sz="3200" dirty="0" smtClean="0"/>
              <a:t>a result </a:t>
            </a:r>
            <a:r>
              <a:rPr lang="en-US" sz="3200" dirty="0"/>
              <a:t>into s8 in the first half of cycle 5.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However</a:t>
            </a:r>
            <a:r>
              <a:rPr lang="en-US" sz="3200" dirty="0"/>
              <a:t>, the sub </a:t>
            </a:r>
            <a:r>
              <a:rPr lang="en-US" sz="3200" dirty="0" smtClean="0"/>
              <a:t>instruction reads </a:t>
            </a:r>
            <a:r>
              <a:rPr lang="en-US" sz="3200" dirty="0"/>
              <a:t>s8 on cycle 3, obtaining the wrong value.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or instruction </a:t>
            </a:r>
            <a:r>
              <a:rPr lang="en-US" sz="3200" dirty="0" smtClean="0"/>
              <a:t>reads s8 </a:t>
            </a:r>
            <a:r>
              <a:rPr lang="en-US" sz="3200" dirty="0"/>
              <a:t>on cycle 4, again obtaining the wrong value.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and </a:t>
            </a:r>
            <a:r>
              <a:rPr lang="en-US" sz="3200" dirty="0" smtClean="0"/>
              <a:t>instruction reads </a:t>
            </a:r>
            <a:r>
              <a:rPr lang="en-US" sz="3200" dirty="0"/>
              <a:t>s8 in the second half of cycle 5, obtaining the correct value, </a:t>
            </a:r>
            <a:r>
              <a:rPr lang="en-US" sz="3200" dirty="0" smtClean="0"/>
              <a:t>which was </a:t>
            </a:r>
            <a:r>
              <a:rPr lang="en-US" sz="3200" dirty="0"/>
              <a:t>written in the first half of cycle 5.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Subsequent </a:t>
            </a:r>
            <a:r>
              <a:rPr lang="en-US" sz="3200" dirty="0"/>
              <a:t>instructions also </a:t>
            </a:r>
            <a:r>
              <a:rPr lang="en-US" sz="3200" dirty="0" smtClean="0"/>
              <a:t>read the </a:t>
            </a:r>
            <a:r>
              <a:rPr lang="en-US" sz="3200" dirty="0"/>
              <a:t>correct value of s8.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diagram shows that </a:t>
            </a:r>
            <a:r>
              <a:rPr lang="en-US" sz="3200" b="1" dirty="0"/>
              <a:t>hazards may occur </a:t>
            </a:r>
            <a:r>
              <a:rPr lang="en-US" sz="3200" b="1" dirty="0" smtClean="0"/>
              <a:t>in this </a:t>
            </a:r>
            <a:r>
              <a:rPr lang="en-US" sz="3200" b="1" dirty="0"/>
              <a:t>pipeline when an instruction writes a register and either of the </a:t>
            </a:r>
            <a:r>
              <a:rPr lang="en-US" sz="3200" b="1" dirty="0" smtClean="0"/>
              <a:t>two subsequent </a:t>
            </a:r>
            <a:r>
              <a:rPr lang="en-US" sz="3200" b="1" dirty="0"/>
              <a:t>instructions reads that register.</a:t>
            </a:r>
          </a:p>
        </p:txBody>
      </p:sp>
    </p:spTree>
    <p:extLst>
      <p:ext uri="{BB962C8B-B14F-4D97-AF65-F5344CB8AC3E}">
        <p14:creationId xmlns:p14="http://schemas.microsoft.com/office/powerpoint/2010/main" val="222312393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3371" y="184696"/>
            <a:ext cx="1185348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A software solution would be to require the programmer or </a:t>
            </a:r>
            <a:r>
              <a:rPr lang="en-US" sz="3200" dirty="0" smtClean="0"/>
              <a:t>compiler to </a:t>
            </a:r>
            <a:r>
              <a:rPr lang="en-US" sz="3200" b="1" dirty="0">
                <a:solidFill>
                  <a:srgbClr val="FF0000"/>
                </a:solidFill>
              </a:rPr>
              <a:t>insert </a:t>
            </a:r>
            <a:r>
              <a:rPr lang="en-US" sz="3200" b="1" dirty="0" err="1">
                <a:solidFill>
                  <a:srgbClr val="FF0000"/>
                </a:solidFill>
              </a:rPr>
              <a:t>nop</a:t>
            </a:r>
            <a:r>
              <a:rPr lang="en-US" sz="3200" b="1" dirty="0">
                <a:solidFill>
                  <a:srgbClr val="FF0000"/>
                </a:solidFill>
              </a:rPr>
              <a:t> instructions</a:t>
            </a:r>
            <a:r>
              <a:rPr lang="en-US" sz="3200" dirty="0"/>
              <a:t> between the add and sub instructions so </a:t>
            </a:r>
            <a:r>
              <a:rPr lang="en-US" sz="3200" dirty="0" smtClean="0"/>
              <a:t>that the </a:t>
            </a:r>
            <a:r>
              <a:rPr lang="en-US" sz="3200" dirty="0"/>
              <a:t>dependent instruction does not read the result (s8) until it is </a:t>
            </a:r>
            <a:r>
              <a:rPr lang="en-US" sz="3200" dirty="0" smtClean="0"/>
              <a:t>available </a:t>
            </a:r>
            <a:r>
              <a:rPr lang="en-IN" sz="3200" dirty="0"/>
              <a:t>in the register file</a:t>
            </a:r>
            <a:r>
              <a:rPr lang="en-IN" sz="3200" dirty="0" smtClean="0"/>
              <a:t>, </a:t>
            </a:r>
            <a:r>
              <a:rPr lang="en-US" sz="3200" dirty="0"/>
              <a:t>as shown in Figure 7.53. </a:t>
            </a:r>
            <a:endParaRPr lang="en-US" sz="3200" dirty="0" smtClean="0"/>
          </a:p>
          <a:p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Such </a:t>
            </a:r>
            <a:r>
              <a:rPr lang="en-US" sz="3200" dirty="0"/>
              <a:t>a </a:t>
            </a:r>
            <a:r>
              <a:rPr lang="en-US" sz="3200" i="1" dirty="0"/>
              <a:t>software </a:t>
            </a:r>
            <a:r>
              <a:rPr lang="en-US" sz="3200" i="1" dirty="0" smtClean="0"/>
              <a:t>interlock </a:t>
            </a:r>
            <a:r>
              <a:rPr lang="en-US" sz="3200" b="1" dirty="0" smtClean="0">
                <a:solidFill>
                  <a:srgbClr val="FF0000"/>
                </a:solidFill>
              </a:rPr>
              <a:t>complicates </a:t>
            </a:r>
            <a:r>
              <a:rPr lang="en-US" sz="3200" b="1" dirty="0">
                <a:solidFill>
                  <a:srgbClr val="FF0000"/>
                </a:solidFill>
              </a:rPr>
              <a:t>programming and degrades performance, </a:t>
            </a:r>
            <a:r>
              <a:rPr lang="en-US" sz="3200" dirty="0"/>
              <a:t>so it is not ideal.</a:t>
            </a:r>
          </a:p>
        </p:txBody>
      </p:sp>
    </p:spTree>
    <p:extLst>
      <p:ext uri="{BB962C8B-B14F-4D97-AF65-F5344CB8AC3E}">
        <p14:creationId xmlns:p14="http://schemas.microsoft.com/office/powerpoint/2010/main" val="280592275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78" t="17770" r="12347" b="37300"/>
          <a:stretch/>
        </p:blipFill>
        <p:spPr bwMode="auto">
          <a:xfrm>
            <a:off x="-20666" y="855460"/>
            <a:ext cx="12218551" cy="599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521193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3371" y="184696"/>
            <a:ext cx="1185348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Hazards are classified as </a:t>
            </a:r>
            <a:r>
              <a:rPr lang="en-US" sz="3200" b="1" dirty="0">
                <a:solidFill>
                  <a:srgbClr val="FF0000"/>
                </a:solidFill>
              </a:rPr>
              <a:t>data hazards or control hazards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 </a:t>
            </a:r>
            <a:r>
              <a:rPr lang="en-US" sz="3200" b="1" i="1" dirty="0" smtClean="0">
                <a:solidFill>
                  <a:srgbClr val="FF0000"/>
                </a:solidFill>
              </a:rPr>
              <a:t>data hazard </a:t>
            </a:r>
            <a:r>
              <a:rPr lang="en-US" sz="3200" dirty="0"/>
              <a:t>occurs </a:t>
            </a:r>
            <a:r>
              <a:rPr lang="en-US" sz="3200" b="1" dirty="0"/>
              <a:t>when an instruction tries to read a register that has </a:t>
            </a:r>
            <a:r>
              <a:rPr lang="en-US" sz="3200" b="1" dirty="0" smtClean="0"/>
              <a:t>not yet </a:t>
            </a:r>
            <a:r>
              <a:rPr lang="en-US" sz="3200" b="1" dirty="0"/>
              <a:t>been written back by a previous instruction. </a:t>
            </a:r>
            <a:endParaRPr lang="en-US" sz="3200" b="1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 </a:t>
            </a:r>
            <a:r>
              <a:rPr lang="en-US" sz="3200" b="1" i="1" dirty="0">
                <a:solidFill>
                  <a:srgbClr val="FF0000"/>
                </a:solidFill>
              </a:rPr>
              <a:t>control hazard </a:t>
            </a:r>
            <a:r>
              <a:rPr lang="en-US" sz="3200" dirty="0" smtClean="0"/>
              <a:t>occurs when </a:t>
            </a:r>
            <a:r>
              <a:rPr lang="en-US" sz="3200" b="1" dirty="0"/>
              <a:t>the decision of what instruction to fetch next has not been </a:t>
            </a:r>
            <a:r>
              <a:rPr lang="en-US" sz="3200" b="1" dirty="0" smtClean="0"/>
              <a:t>made by </a:t>
            </a:r>
            <a:r>
              <a:rPr lang="en-US" sz="3200" b="1" dirty="0"/>
              <a:t>the time the fetch takes place.</a:t>
            </a:r>
          </a:p>
        </p:txBody>
      </p:sp>
    </p:spTree>
    <p:extLst>
      <p:ext uri="{BB962C8B-B14F-4D97-AF65-F5344CB8AC3E}">
        <p14:creationId xmlns:p14="http://schemas.microsoft.com/office/powerpoint/2010/main" val="86013407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6612" y="1278410"/>
            <a:ext cx="11887197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Some data hazards can be solved by </a:t>
            </a:r>
            <a:r>
              <a:rPr lang="en-US" sz="3200" i="1" dirty="0"/>
              <a:t>f</a:t>
            </a:r>
            <a:r>
              <a:rPr lang="en-US" sz="3200" b="1" i="1" dirty="0"/>
              <a:t>orwarding</a:t>
            </a:r>
            <a:r>
              <a:rPr lang="en-US" sz="3200" i="1" dirty="0"/>
              <a:t> </a:t>
            </a:r>
            <a:r>
              <a:rPr lang="en-US" sz="3200" dirty="0"/>
              <a:t>(also called </a:t>
            </a:r>
            <a:r>
              <a:rPr lang="en-US" sz="3200" i="1" dirty="0" smtClean="0"/>
              <a:t>bypassing</a:t>
            </a:r>
            <a:r>
              <a:rPr lang="en-US" sz="3200" dirty="0" smtClean="0"/>
              <a:t>) </a:t>
            </a:r>
            <a:r>
              <a:rPr lang="en-US" sz="3200" b="1" dirty="0" smtClean="0">
                <a:solidFill>
                  <a:srgbClr val="FF0000"/>
                </a:solidFill>
              </a:rPr>
              <a:t>a </a:t>
            </a:r>
            <a:r>
              <a:rPr lang="en-US" sz="3200" b="1" dirty="0">
                <a:solidFill>
                  <a:srgbClr val="FF0000"/>
                </a:solidFill>
              </a:rPr>
              <a:t>result from the Memory or </a:t>
            </a:r>
            <a:r>
              <a:rPr lang="en-US" sz="3200" b="1" dirty="0" err="1">
                <a:solidFill>
                  <a:srgbClr val="FF0000"/>
                </a:solidFill>
              </a:rPr>
              <a:t>Writeback</a:t>
            </a:r>
            <a:r>
              <a:rPr lang="en-US" sz="3200" b="1" dirty="0">
                <a:solidFill>
                  <a:srgbClr val="FF0000"/>
                </a:solidFill>
              </a:rPr>
              <a:t> stage to a dependent </a:t>
            </a:r>
            <a:r>
              <a:rPr lang="en-US" sz="3200" b="1" dirty="0" smtClean="0">
                <a:solidFill>
                  <a:srgbClr val="FF0000"/>
                </a:solidFill>
              </a:rPr>
              <a:t>instruction </a:t>
            </a:r>
            <a:r>
              <a:rPr lang="en-IN" sz="3200" b="1" dirty="0" smtClean="0">
                <a:solidFill>
                  <a:srgbClr val="FF0000"/>
                </a:solidFill>
              </a:rPr>
              <a:t>in </a:t>
            </a:r>
            <a:r>
              <a:rPr lang="en-IN" sz="3200" b="1" dirty="0">
                <a:solidFill>
                  <a:srgbClr val="FF0000"/>
                </a:solidFill>
              </a:rPr>
              <a:t>the Execute stage</a:t>
            </a:r>
            <a:r>
              <a:rPr lang="en-IN" sz="3200" b="1" dirty="0" smtClean="0">
                <a:solidFill>
                  <a:srgbClr val="FF0000"/>
                </a:solidFill>
              </a:rPr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This </a:t>
            </a:r>
            <a:r>
              <a:rPr lang="en-US" sz="3200" b="1" dirty="0"/>
              <a:t>requires adding multiplexers in front </a:t>
            </a:r>
            <a:r>
              <a:rPr lang="en-US" sz="3200" b="1" dirty="0" smtClean="0"/>
              <a:t>of the </a:t>
            </a:r>
            <a:r>
              <a:rPr lang="en-US" sz="3200" b="1" dirty="0"/>
              <a:t>ALU </a:t>
            </a:r>
            <a:r>
              <a:rPr lang="en-US" sz="3200" dirty="0"/>
              <a:t>to select its operands from the register file or the Memory </a:t>
            </a:r>
            <a:r>
              <a:rPr lang="en-US" sz="3200" dirty="0" smtClean="0"/>
              <a:t>or </a:t>
            </a:r>
            <a:r>
              <a:rPr lang="en-US" sz="3200" dirty="0" err="1" smtClean="0"/>
              <a:t>Writeback</a:t>
            </a:r>
            <a:r>
              <a:rPr lang="en-US" sz="3200" dirty="0" smtClean="0"/>
              <a:t> </a:t>
            </a:r>
            <a:r>
              <a:rPr lang="en-US" sz="3200" dirty="0"/>
              <a:t>stage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 </a:t>
            </a:r>
            <a:r>
              <a:rPr lang="en-US" sz="3200" dirty="0"/>
              <a:t>Figure 7.54 illustrates this principle.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Solving Data Hazards with Forwarding</a:t>
            </a:r>
            <a:r>
              <a:rPr lang="en-IN" b="1" dirty="0" smtClean="0"/>
              <a:t>: 468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5205998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15" t="41930" r="17591" b="22041"/>
          <a:stretch/>
        </p:blipFill>
        <p:spPr bwMode="auto">
          <a:xfrm>
            <a:off x="0" y="1494951"/>
            <a:ext cx="12192000" cy="5369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31387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5" y="418429"/>
            <a:ext cx="1157771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IN" sz="3200" dirty="0"/>
              <a:t>This </a:t>
            </a:r>
            <a:r>
              <a:rPr lang="en-IN" sz="3200" dirty="0" smtClean="0"/>
              <a:t>program </a:t>
            </a:r>
            <a:r>
              <a:rPr lang="en-US" sz="3200" dirty="0" smtClean="0"/>
              <a:t>computes </a:t>
            </a:r>
            <a:r>
              <a:rPr lang="en-US" sz="3200" dirty="0"/>
              <a:t>s8 with the add instruction and then uses s8 in the three </a:t>
            </a:r>
            <a:r>
              <a:rPr lang="en-US" sz="3200" dirty="0" smtClean="0"/>
              <a:t>subsequent instructions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In </a:t>
            </a:r>
            <a:r>
              <a:rPr lang="en-US" sz="3200" dirty="0"/>
              <a:t>cycle 4, </a:t>
            </a:r>
            <a:r>
              <a:rPr lang="en-US" sz="3200" b="1" dirty="0"/>
              <a:t>s8 is forwarded from the Memory </a:t>
            </a:r>
            <a:r>
              <a:rPr lang="en-US" sz="3200" b="1" dirty="0" smtClean="0"/>
              <a:t>stage </a:t>
            </a:r>
            <a:r>
              <a:rPr lang="en-US" sz="3200" dirty="0" smtClean="0"/>
              <a:t>of </a:t>
            </a:r>
            <a:r>
              <a:rPr lang="en-US" sz="3200" dirty="0"/>
              <a:t>the add instruction to the Execute stage of the dependent sub instruction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In cycle 5, </a:t>
            </a:r>
            <a:r>
              <a:rPr lang="en-US" sz="3200" b="1" dirty="0"/>
              <a:t>s8 is forwarded from the </a:t>
            </a:r>
            <a:r>
              <a:rPr lang="en-US" sz="3200" b="1" dirty="0" err="1"/>
              <a:t>Writeback</a:t>
            </a:r>
            <a:r>
              <a:rPr lang="en-US" sz="3200" b="1" dirty="0"/>
              <a:t> stage </a:t>
            </a:r>
            <a:r>
              <a:rPr lang="en-US" sz="3200" dirty="0"/>
              <a:t>of the </a:t>
            </a:r>
            <a:r>
              <a:rPr lang="en-US" sz="3200" dirty="0" smtClean="0"/>
              <a:t>add instruction </a:t>
            </a:r>
            <a:r>
              <a:rPr lang="en-US" sz="3200" dirty="0"/>
              <a:t>to the Execute stage of the dependent or instruction.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Again, </a:t>
            </a:r>
            <a:r>
              <a:rPr lang="en-US" sz="3200" b="1" dirty="0" smtClean="0"/>
              <a:t>no </a:t>
            </a:r>
            <a:r>
              <a:rPr lang="en-US" sz="3200" b="1" dirty="0"/>
              <a:t>forwarding is needed </a:t>
            </a:r>
            <a:r>
              <a:rPr lang="en-US" sz="3200" dirty="0"/>
              <a:t>for the and instruction because s8 is written </a:t>
            </a:r>
            <a:r>
              <a:rPr lang="en-US" sz="3200" dirty="0" smtClean="0"/>
              <a:t>to the </a:t>
            </a:r>
            <a:r>
              <a:rPr lang="en-US" sz="3200" dirty="0"/>
              <a:t>register file in the first half of cycle 5 and read in the second half.</a:t>
            </a:r>
          </a:p>
        </p:txBody>
      </p:sp>
    </p:spTree>
    <p:extLst>
      <p:ext uri="{BB962C8B-B14F-4D97-AF65-F5344CB8AC3E}">
        <p14:creationId xmlns:p14="http://schemas.microsoft.com/office/powerpoint/2010/main" val="152981470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6" y="335854"/>
            <a:ext cx="1157771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b="1" dirty="0">
                <a:solidFill>
                  <a:srgbClr val="FF0000"/>
                </a:solidFill>
              </a:rPr>
              <a:t>Forwarding is necessary </a:t>
            </a:r>
            <a:r>
              <a:rPr lang="en-US" sz="3200" b="1" dirty="0"/>
              <a:t>when an instruction in the Execute </a:t>
            </a:r>
            <a:r>
              <a:rPr lang="en-US" sz="3200" b="1" dirty="0" smtClean="0"/>
              <a:t>stage has </a:t>
            </a:r>
            <a:r>
              <a:rPr lang="en-US" sz="3200" b="1" dirty="0"/>
              <a:t>a source register matching the destination register of </a:t>
            </a:r>
            <a:r>
              <a:rPr lang="en-US" sz="3200" b="1" dirty="0" smtClean="0"/>
              <a:t>an instruction in </a:t>
            </a:r>
            <a:r>
              <a:rPr lang="en-US" sz="3200" b="1" dirty="0"/>
              <a:t>the Memory or </a:t>
            </a:r>
            <a:r>
              <a:rPr lang="en-US" sz="3200" b="1" dirty="0" err="1"/>
              <a:t>Writeback</a:t>
            </a:r>
            <a:r>
              <a:rPr lang="en-US" sz="3200" b="1" dirty="0"/>
              <a:t> stage. </a:t>
            </a:r>
            <a:endParaRPr lang="en-US" sz="3200" b="1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Figure </a:t>
            </a:r>
            <a:r>
              <a:rPr lang="en-US" sz="3200" dirty="0"/>
              <a:t>7.55 modifies the </a:t>
            </a:r>
            <a:r>
              <a:rPr lang="en-US" sz="3200" dirty="0" smtClean="0"/>
              <a:t>pipelined processor </a:t>
            </a:r>
            <a:r>
              <a:rPr lang="en-US" sz="3200" dirty="0"/>
              <a:t>to support forwarding.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It </a:t>
            </a:r>
            <a:r>
              <a:rPr lang="en-US" sz="3200" dirty="0"/>
              <a:t>adds a </a:t>
            </a:r>
            <a:r>
              <a:rPr lang="en-US" sz="3200" b="1" i="1" dirty="0"/>
              <a:t>Hazard Unit </a:t>
            </a:r>
            <a:r>
              <a:rPr lang="en-US" sz="3200" b="1" dirty="0"/>
              <a:t>and two </a:t>
            </a:r>
            <a:r>
              <a:rPr lang="en-US" sz="3200" b="1" i="1" dirty="0" smtClean="0"/>
              <a:t>forwarding multiplexers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hazard detection unit </a:t>
            </a:r>
            <a:r>
              <a:rPr lang="en-US" sz="3200" b="1" dirty="0"/>
              <a:t>receives the two source </a:t>
            </a:r>
            <a:r>
              <a:rPr lang="en-US" sz="3200" b="1" dirty="0" smtClean="0"/>
              <a:t>registers </a:t>
            </a:r>
            <a:r>
              <a:rPr lang="en-US" sz="3200" dirty="0" smtClean="0"/>
              <a:t>from </a:t>
            </a:r>
            <a:r>
              <a:rPr lang="en-US" sz="3200" dirty="0"/>
              <a:t>the instruction in the Execute stage, </a:t>
            </a:r>
            <a:r>
              <a:rPr lang="en-US" sz="3200" i="1" dirty="0"/>
              <a:t>Rs1E </a:t>
            </a:r>
            <a:r>
              <a:rPr lang="en-US" sz="3200" dirty="0"/>
              <a:t>and </a:t>
            </a:r>
            <a:r>
              <a:rPr lang="en-US" sz="3200" i="1" dirty="0"/>
              <a:t>Rs2E</a:t>
            </a:r>
            <a:r>
              <a:rPr lang="en-US" sz="3200" dirty="0"/>
              <a:t>, and </a:t>
            </a:r>
            <a:r>
              <a:rPr lang="en-US" sz="3200" dirty="0" smtClean="0"/>
              <a:t>the destination </a:t>
            </a:r>
            <a:r>
              <a:rPr lang="en-US" sz="3200" dirty="0"/>
              <a:t>registers from the instructions in the Memory and </a:t>
            </a:r>
            <a:r>
              <a:rPr lang="en-US" sz="3200" dirty="0" err="1" smtClean="0"/>
              <a:t>Writeback</a:t>
            </a:r>
            <a:r>
              <a:rPr lang="en-US" sz="3200" dirty="0" smtClean="0"/>
              <a:t> </a:t>
            </a:r>
            <a:r>
              <a:rPr lang="en-IN" sz="3200" dirty="0"/>
              <a:t>stages, </a:t>
            </a:r>
            <a:r>
              <a:rPr lang="en-IN" sz="3200" i="1" dirty="0" err="1"/>
              <a:t>RdM</a:t>
            </a:r>
            <a:r>
              <a:rPr lang="en-IN" sz="3200" i="1" dirty="0"/>
              <a:t> </a:t>
            </a:r>
            <a:r>
              <a:rPr lang="en-IN" sz="3200" dirty="0"/>
              <a:t>and </a:t>
            </a:r>
            <a:r>
              <a:rPr lang="en-IN" sz="3200" i="1" dirty="0" err="1"/>
              <a:t>RdW</a:t>
            </a:r>
            <a:r>
              <a:rPr lang="en-IN" sz="3200" dirty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8284344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6" y="982982"/>
            <a:ext cx="1157771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It also receives the </a:t>
            </a:r>
            <a:r>
              <a:rPr lang="en-US" sz="3200" i="1" dirty="0" err="1"/>
              <a:t>RegWrite</a:t>
            </a:r>
            <a:r>
              <a:rPr lang="en-US" sz="3200" i="1" dirty="0"/>
              <a:t> </a:t>
            </a:r>
            <a:r>
              <a:rPr lang="en-US" sz="3200" dirty="0"/>
              <a:t>signals from </a:t>
            </a:r>
            <a:r>
              <a:rPr lang="en-US" sz="3200" dirty="0" smtClean="0"/>
              <a:t>the Memory </a:t>
            </a:r>
            <a:r>
              <a:rPr lang="en-US" sz="3200" dirty="0"/>
              <a:t>and </a:t>
            </a:r>
            <a:r>
              <a:rPr lang="en-US" sz="3200" dirty="0" err="1"/>
              <a:t>Writeback</a:t>
            </a:r>
            <a:r>
              <a:rPr lang="en-US" sz="3200" dirty="0"/>
              <a:t> stages (</a:t>
            </a:r>
            <a:r>
              <a:rPr lang="en-US" sz="3200" i="1" dirty="0" err="1"/>
              <a:t>RegWriteM</a:t>
            </a:r>
            <a:r>
              <a:rPr lang="en-US" sz="3200" i="1" dirty="0"/>
              <a:t> </a:t>
            </a:r>
            <a:r>
              <a:rPr lang="en-US" sz="3200" dirty="0"/>
              <a:t>and </a:t>
            </a:r>
            <a:r>
              <a:rPr lang="en-US" sz="3200" i="1" dirty="0" err="1"/>
              <a:t>RegWriteW</a:t>
            </a:r>
            <a:r>
              <a:rPr lang="en-US" sz="3200" dirty="0"/>
              <a:t>) to </a:t>
            </a:r>
            <a:r>
              <a:rPr lang="en-US" sz="3200" dirty="0" smtClean="0"/>
              <a:t>know whether </a:t>
            </a:r>
            <a:r>
              <a:rPr lang="en-US" sz="3200" dirty="0"/>
              <a:t>the destination register will actually be written (e.g., the </a:t>
            </a:r>
            <a:r>
              <a:rPr lang="en-US" sz="3200" dirty="0" err="1"/>
              <a:t>sw</a:t>
            </a:r>
            <a:r>
              <a:rPr lang="en-US" sz="3200" dirty="0"/>
              <a:t> </a:t>
            </a:r>
            <a:r>
              <a:rPr lang="en-US" sz="3200" dirty="0" smtClean="0"/>
              <a:t>and </a:t>
            </a:r>
            <a:r>
              <a:rPr lang="en-US" sz="3200" dirty="0" err="1" smtClean="0"/>
              <a:t>beq</a:t>
            </a:r>
            <a:r>
              <a:rPr lang="en-US" sz="3200" dirty="0" smtClean="0"/>
              <a:t> </a:t>
            </a:r>
            <a:r>
              <a:rPr lang="en-US" sz="3200" dirty="0"/>
              <a:t>instructions do not write results to the register file and, hence, </a:t>
            </a:r>
            <a:r>
              <a:rPr lang="en-US" sz="3200" dirty="0" smtClean="0"/>
              <a:t>do not </a:t>
            </a:r>
            <a:r>
              <a:rPr lang="en-US" sz="3200" dirty="0"/>
              <a:t>have their results forwarded).</a:t>
            </a:r>
          </a:p>
        </p:txBody>
      </p:sp>
    </p:spTree>
    <p:extLst>
      <p:ext uri="{BB962C8B-B14F-4D97-AF65-F5344CB8AC3E}">
        <p14:creationId xmlns:p14="http://schemas.microsoft.com/office/powerpoint/2010/main" val="319987565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17" t="14803" r="13539" b="23737"/>
          <a:stretch/>
        </p:blipFill>
        <p:spPr bwMode="auto">
          <a:xfrm>
            <a:off x="972437" y="14523"/>
            <a:ext cx="9913258" cy="6844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751169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7" t="8596" r="12726" b="7705"/>
          <a:stretch/>
        </p:blipFill>
        <p:spPr bwMode="auto">
          <a:xfrm>
            <a:off x="286603" y="177420"/>
            <a:ext cx="11738731" cy="6680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875286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6" y="300824"/>
            <a:ext cx="11577711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</a:t>
            </a:r>
            <a:r>
              <a:rPr lang="en-US" sz="3200" b="1" dirty="0"/>
              <a:t>Hazard Unit computes control signals </a:t>
            </a:r>
            <a:r>
              <a:rPr lang="en-US" sz="3200" dirty="0"/>
              <a:t>for the forwarding </a:t>
            </a:r>
            <a:r>
              <a:rPr lang="en-US" sz="3200" dirty="0" smtClean="0"/>
              <a:t>multiplexers to </a:t>
            </a:r>
            <a:r>
              <a:rPr lang="en-US" sz="3200" dirty="0"/>
              <a:t>choose operands from the register file or from the </a:t>
            </a:r>
            <a:r>
              <a:rPr lang="en-US" sz="3200" dirty="0" smtClean="0"/>
              <a:t>results in </a:t>
            </a:r>
            <a:r>
              <a:rPr lang="en-US" sz="3200" dirty="0"/>
              <a:t>the Memory or </a:t>
            </a:r>
            <a:r>
              <a:rPr lang="en-US" sz="3200" dirty="0" err="1"/>
              <a:t>Writeback</a:t>
            </a:r>
            <a:r>
              <a:rPr lang="en-US" sz="3200" dirty="0"/>
              <a:t> stage (</a:t>
            </a:r>
            <a:r>
              <a:rPr lang="en-US" sz="3200" i="1" dirty="0" err="1"/>
              <a:t>ALUResultM</a:t>
            </a:r>
            <a:r>
              <a:rPr lang="en-US" sz="3200" i="1" dirty="0"/>
              <a:t> </a:t>
            </a:r>
            <a:r>
              <a:rPr lang="en-US" sz="3200" dirty="0"/>
              <a:t>or </a:t>
            </a:r>
            <a:r>
              <a:rPr lang="en-US" sz="3200" i="1" dirty="0" err="1"/>
              <a:t>ResultW</a:t>
            </a:r>
            <a:r>
              <a:rPr lang="en-US" sz="3200" dirty="0"/>
              <a:t>). </a:t>
            </a:r>
            <a:endParaRPr lang="en-US" sz="3200" dirty="0" smtClean="0"/>
          </a:p>
          <a:p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Hazard </a:t>
            </a:r>
            <a:r>
              <a:rPr lang="en-US" sz="3200" dirty="0"/>
              <a:t>Unit should forward from a stage if that stage will write a </a:t>
            </a:r>
            <a:r>
              <a:rPr lang="en-US" sz="3200" dirty="0" smtClean="0"/>
              <a:t>destination register </a:t>
            </a:r>
            <a:r>
              <a:rPr lang="en-US" sz="3200" i="1" dirty="0"/>
              <a:t>and </a:t>
            </a:r>
            <a:r>
              <a:rPr lang="en-US" sz="3200" dirty="0"/>
              <a:t>the destination register matches the source register</a:t>
            </a:r>
            <a:r>
              <a:rPr lang="en-US" sz="3200" dirty="0" smtClean="0"/>
              <a:t>.</a:t>
            </a:r>
          </a:p>
          <a:p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However, x0 is hardwired to 0 and should never be forwarded. </a:t>
            </a:r>
            <a:endParaRPr lang="en-US" sz="3200" dirty="0" smtClean="0"/>
          </a:p>
          <a:p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If both the </a:t>
            </a:r>
            <a:r>
              <a:rPr lang="en-US" sz="3200" dirty="0"/>
              <a:t>Memory and </a:t>
            </a:r>
            <a:r>
              <a:rPr lang="en-US" sz="3200" dirty="0" err="1"/>
              <a:t>Writeback</a:t>
            </a:r>
            <a:r>
              <a:rPr lang="en-US" sz="3200" dirty="0"/>
              <a:t> stages contain matching destination </a:t>
            </a:r>
            <a:r>
              <a:rPr lang="en-US" sz="3200" dirty="0" smtClean="0"/>
              <a:t>registers, then </a:t>
            </a:r>
            <a:r>
              <a:rPr lang="en-US" sz="3200" dirty="0"/>
              <a:t>the Memory stage should have priority because it </a:t>
            </a:r>
            <a:r>
              <a:rPr lang="en-US" sz="3200" dirty="0" smtClean="0"/>
              <a:t>contains the </a:t>
            </a:r>
            <a:r>
              <a:rPr lang="en-US" sz="3200" dirty="0"/>
              <a:t>more recently executed instruction.</a:t>
            </a:r>
          </a:p>
        </p:txBody>
      </p:sp>
    </p:spTree>
    <p:extLst>
      <p:ext uri="{BB962C8B-B14F-4D97-AF65-F5344CB8AC3E}">
        <p14:creationId xmlns:p14="http://schemas.microsoft.com/office/powerpoint/2010/main" val="411433063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1014" y="300823"/>
            <a:ext cx="1198098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 forwarding logic for </a:t>
            </a:r>
            <a:r>
              <a:rPr lang="en-US" sz="2800" i="1" dirty="0" err="1"/>
              <a:t>SrcBE</a:t>
            </a:r>
            <a:r>
              <a:rPr lang="en-US" sz="2800" i="1" dirty="0"/>
              <a:t> </a:t>
            </a:r>
            <a:r>
              <a:rPr lang="en-US" sz="2800" dirty="0"/>
              <a:t>(</a:t>
            </a:r>
            <a:r>
              <a:rPr lang="en-US" sz="2800" i="1" dirty="0" err="1"/>
              <a:t>ForwardBE</a:t>
            </a:r>
            <a:r>
              <a:rPr lang="en-US" sz="2800" dirty="0"/>
              <a:t>) is identical except that it</a:t>
            </a:r>
          </a:p>
          <a:p>
            <a:r>
              <a:rPr lang="en-US" sz="2800" dirty="0"/>
              <a:t>checks </a:t>
            </a:r>
            <a:r>
              <a:rPr lang="en-US" sz="2800" i="1" dirty="0"/>
              <a:t>Rs2E </a:t>
            </a:r>
            <a:r>
              <a:rPr lang="en-US" sz="2800" dirty="0"/>
              <a:t>instead of </a:t>
            </a:r>
            <a:r>
              <a:rPr lang="en-US" sz="2800" i="1" dirty="0"/>
              <a:t>Rs1E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/>
              <a:t>if ((</a:t>
            </a:r>
            <a:r>
              <a:rPr lang="en-US" sz="2800" i="1" dirty="0"/>
              <a:t>Rs1E </a:t>
            </a:r>
            <a:r>
              <a:rPr lang="en-US" sz="2800" dirty="0"/>
              <a:t>== </a:t>
            </a:r>
            <a:r>
              <a:rPr lang="en-US" sz="2800" i="1" dirty="0" err="1"/>
              <a:t>RdM</a:t>
            </a:r>
            <a:r>
              <a:rPr lang="en-US" sz="2800" dirty="0"/>
              <a:t>) &amp; </a:t>
            </a:r>
            <a:r>
              <a:rPr lang="en-US" sz="2800" i="1" dirty="0" err="1"/>
              <a:t>RegWriteM</a:t>
            </a:r>
            <a:r>
              <a:rPr lang="en-US" sz="2800" dirty="0"/>
              <a:t>) &amp; (</a:t>
            </a:r>
            <a:r>
              <a:rPr lang="en-US" sz="2800" i="1" dirty="0"/>
              <a:t>Rs1E </a:t>
            </a:r>
            <a:r>
              <a:rPr lang="en-US" sz="2800" dirty="0"/>
              <a:t>!= 0) </a:t>
            </a:r>
            <a:r>
              <a:rPr lang="en-US" sz="2800" dirty="0" smtClean="0"/>
              <a:t>then </a:t>
            </a:r>
            <a:r>
              <a:rPr lang="en-IN" sz="2800" i="1" dirty="0" err="1"/>
              <a:t>ForwardAE</a:t>
            </a:r>
            <a:r>
              <a:rPr lang="en-IN" sz="2800" i="1" dirty="0"/>
              <a:t> </a:t>
            </a:r>
            <a:r>
              <a:rPr lang="en-IN" sz="2800" dirty="0"/>
              <a:t>= 10</a:t>
            </a:r>
          </a:p>
          <a:p>
            <a:r>
              <a:rPr lang="en-US" sz="2800" dirty="0" smtClean="0"/>
              <a:t> </a:t>
            </a:r>
            <a:r>
              <a:rPr lang="en-US" sz="2800" b="1" dirty="0"/>
              <a:t>// Forward from Memory stage</a:t>
            </a:r>
          </a:p>
          <a:p>
            <a:r>
              <a:rPr lang="en-US" sz="2800" dirty="0" smtClean="0"/>
              <a:t>else </a:t>
            </a:r>
            <a:r>
              <a:rPr lang="en-US" sz="2800" dirty="0"/>
              <a:t>if ((</a:t>
            </a:r>
            <a:r>
              <a:rPr lang="en-US" sz="2800" i="1" dirty="0"/>
              <a:t>Rs1E </a:t>
            </a:r>
            <a:r>
              <a:rPr lang="en-US" sz="2800" dirty="0"/>
              <a:t>== </a:t>
            </a:r>
            <a:r>
              <a:rPr lang="en-US" sz="2800" i="1" dirty="0" err="1"/>
              <a:t>RdW</a:t>
            </a:r>
            <a:r>
              <a:rPr lang="en-US" sz="2800" dirty="0"/>
              <a:t>) &amp; </a:t>
            </a:r>
            <a:r>
              <a:rPr lang="en-US" sz="2800" i="1" dirty="0" err="1"/>
              <a:t>RegWriteW</a:t>
            </a:r>
            <a:r>
              <a:rPr lang="en-US" sz="2800" dirty="0"/>
              <a:t>) &amp; (</a:t>
            </a:r>
            <a:r>
              <a:rPr lang="en-US" sz="2800" i="1" dirty="0"/>
              <a:t>Rs1E </a:t>
            </a:r>
            <a:r>
              <a:rPr lang="en-US" sz="2800" dirty="0"/>
              <a:t>!= 0) </a:t>
            </a:r>
            <a:r>
              <a:rPr lang="en-US" sz="2800" dirty="0" smtClean="0"/>
              <a:t>then </a:t>
            </a:r>
            <a:r>
              <a:rPr lang="en-IN" sz="2800" i="1" dirty="0" err="1"/>
              <a:t>ForwardAE</a:t>
            </a:r>
            <a:r>
              <a:rPr lang="en-IN" sz="2800" i="1" dirty="0"/>
              <a:t> </a:t>
            </a:r>
            <a:r>
              <a:rPr lang="en-IN" sz="2800" dirty="0"/>
              <a:t>= 01</a:t>
            </a:r>
          </a:p>
          <a:p>
            <a:r>
              <a:rPr lang="en-US" sz="2800" dirty="0" smtClean="0"/>
              <a:t> </a:t>
            </a:r>
            <a:r>
              <a:rPr lang="en-US" sz="2800" b="1" dirty="0"/>
              <a:t>// Forward from </a:t>
            </a:r>
            <a:r>
              <a:rPr lang="en-US" sz="2800" b="1" dirty="0" err="1"/>
              <a:t>Writeback</a:t>
            </a:r>
            <a:r>
              <a:rPr lang="en-US" sz="2800" b="1" dirty="0"/>
              <a:t> stage</a:t>
            </a:r>
          </a:p>
          <a:p>
            <a:r>
              <a:rPr lang="en-US" sz="2800" dirty="0" smtClean="0"/>
              <a:t>else </a:t>
            </a:r>
            <a:r>
              <a:rPr lang="en-US" sz="2800" i="1" dirty="0" err="1"/>
              <a:t>ForwardAE</a:t>
            </a:r>
            <a:r>
              <a:rPr lang="en-US" sz="2800" i="1" dirty="0"/>
              <a:t> </a:t>
            </a:r>
            <a:r>
              <a:rPr lang="en-US" sz="2800" dirty="0"/>
              <a:t>= 00 </a:t>
            </a:r>
            <a:r>
              <a:rPr lang="en-US" sz="2800" b="1" dirty="0"/>
              <a:t>// No forwarding (use RF output)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1442561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6" y="747240"/>
            <a:ext cx="1157771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Forwarding is sufficient to solve RAW data hazards when the </a:t>
            </a:r>
            <a:r>
              <a:rPr lang="en-US" sz="3200" dirty="0" smtClean="0"/>
              <a:t>result is </a:t>
            </a:r>
            <a:r>
              <a:rPr lang="en-US" sz="3200" dirty="0"/>
              <a:t>computed in the Execute stage of an instruction because its </a:t>
            </a:r>
            <a:r>
              <a:rPr lang="en-US" sz="3200" dirty="0" smtClean="0"/>
              <a:t>result can </a:t>
            </a:r>
            <a:r>
              <a:rPr lang="en-US" sz="3200" dirty="0"/>
              <a:t>then be forwarded to the Execute stage of the next instruction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Unfortunately, the </a:t>
            </a:r>
            <a:r>
              <a:rPr lang="en-US" sz="3200" b="1" dirty="0" err="1"/>
              <a:t>lw</a:t>
            </a:r>
            <a:r>
              <a:rPr lang="en-US" sz="3200" b="1" dirty="0"/>
              <a:t> instruction does not finish reading data </a:t>
            </a:r>
            <a:r>
              <a:rPr lang="en-US" sz="3200" b="1" dirty="0" smtClean="0"/>
              <a:t>until the </a:t>
            </a:r>
            <a:r>
              <a:rPr lang="en-US" sz="3200" b="1" dirty="0"/>
              <a:t>end of the Memory sta</a:t>
            </a:r>
            <a:r>
              <a:rPr lang="en-US" sz="3200" dirty="0"/>
              <a:t>ge, so its result cannot be forwarded to </a:t>
            </a:r>
            <a:r>
              <a:rPr lang="en-US" sz="3200" dirty="0" smtClean="0"/>
              <a:t>the Execute </a:t>
            </a:r>
            <a:r>
              <a:rPr lang="en-US" sz="3200" dirty="0"/>
              <a:t>stage of the next instruction.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We </a:t>
            </a:r>
            <a:r>
              <a:rPr lang="en-US" sz="3200" dirty="0"/>
              <a:t>say that the </a:t>
            </a:r>
            <a:r>
              <a:rPr lang="en-US" sz="3200" dirty="0" err="1"/>
              <a:t>lw</a:t>
            </a:r>
            <a:r>
              <a:rPr lang="en-US" sz="3200" dirty="0"/>
              <a:t> </a:t>
            </a:r>
            <a:r>
              <a:rPr lang="en-US" sz="3200" dirty="0" smtClean="0"/>
              <a:t>instruction has </a:t>
            </a:r>
            <a:r>
              <a:rPr lang="en-US" sz="3200" dirty="0"/>
              <a:t>a </a:t>
            </a:r>
            <a:r>
              <a:rPr lang="en-US" sz="3200" i="1" dirty="0"/>
              <a:t>two-cycle latency </a:t>
            </a:r>
            <a:r>
              <a:rPr lang="en-US" sz="3200" dirty="0"/>
              <a:t>because a dependent instruction cannot use </a:t>
            </a:r>
            <a:r>
              <a:rPr lang="en-US" sz="3200" dirty="0" smtClean="0"/>
              <a:t>its result </a:t>
            </a:r>
            <a:r>
              <a:rPr lang="en-US" sz="3200" dirty="0"/>
              <a:t>until two cycles later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Figure </a:t>
            </a:r>
            <a:r>
              <a:rPr lang="en-US" sz="3200" dirty="0"/>
              <a:t>7.56 shows this problem.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Solving Data Hazards with </a:t>
            </a:r>
            <a:r>
              <a:rPr lang="en-US" b="1" dirty="0" smtClean="0"/>
              <a:t>stalls</a:t>
            </a:r>
            <a:r>
              <a:rPr lang="en-IN" b="1" dirty="0" smtClean="0"/>
              <a:t>: 470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0505056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87" t="15291" r="17069" b="50655"/>
          <a:stretch/>
        </p:blipFill>
        <p:spPr bwMode="auto">
          <a:xfrm>
            <a:off x="41630" y="787545"/>
            <a:ext cx="12116014" cy="5101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949347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6" y="300824"/>
            <a:ext cx="11577711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IN" sz="3200" dirty="0"/>
              <a:t>The </a:t>
            </a:r>
            <a:r>
              <a:rPr lang="en-IN" sz="3200" dirty="0" err="1" smtClean="0"/>
              <a:t>lw</a:t>
            </a:r>
            <a:r>
              <a:rPr lang="en-IN" sz="3200" dirty="0" smtClean="0"/>
              <a:t> </a:t>
            </a:r>
            <a:r>
              <a:rPr lang="en-US" sz="3200" dirty="0" smtClean="0"/>
              <a:t>instruction </a:t>
            </a:r>
            <a:r>
              <a:rPr lang="en-US" sz="3200" dirty="0"/>
              <a:t>receives data from memory at the end of cycle 4, but </a:t>
            </a:r>
            <a:r>
              <a:rPr lang="en-US" sz="3200" dirty="0" smtClean="0"/>
              <a:t>the and </a:t>
            </a:r>
            <a:r>
              <a:rPr lang="en-US" sz="3200" dirty="0"/>
              <a:t>instruction needs that data (the value in s7) as a source </a:t>
            </a:r>
            <a:r>
              <a:rPr lang="en-US" sz="3200" dirty="0" smtClean="0"/>
              <a:t>operand at </a:t>
            </a:r>
            <a:r>
              <a:rPr lang="en-US" sz="3200" dirty="0"/>
              <a:t>the beginning of cycle 4.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There </a:t>
            </a:r>
            <a:r>
              <a:rPr lang="en-US" sz="3200" dirty="0"/>
              <a:t>is </a:t>
            </a:r>
            <a:r>
              <a:rPr lang="en-US" sz="3200" b="1" dirty="0"/>
              <a:t>no way to solve this hazard </a:t>
            </a:r>
            <a:r>
              <a:rPr lang="en-US" sz="3200" b="1" dirty="0" smtClean="0"/>
              <a:t>with </a:t>
            </a:r>
            <a:r>
              <a:rPr lang="en-IN" sz="3200" b="1" dirty="0" smtClean="0"/>
              <a:t>forwarding.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>
                <a:solidFill>
                  <a:srgbClr val="FF0000"/>
                </a:solidFill>
              </a:rPr>
              <a:t>A solution is to </a:t>
            </a:r>
            <a:r>
              <a:rPr lang="en-US" sz="3200" b="1" i="1" dirty="0">
                <a:solidFill>
                  <a:srgbClr val="FF0000"/>
                </a:solidFill>
              </a:rPr>
              <a:t>stall </a:t>
            </a:r>
            <a:r>
              <a:rPr lang="en-US" sz="3200" b="1" dirty="0">
                <a:solidFill>
                  <a:srgbClr val="FF0000"/>
                </a:solidFill>
              </a:rPr>
              <a:t>the pipeline</a:t>
            </a:r>
            <a:r>
              <a:rPr lang="en-US" sz="3200" dirty="0"/>
              <a:t>, </a:t>
            </a:r>
            <a:r>
              <a:rPr lang="en-US" sz="3200" b="1" dirty="0"/>
              <a:t>holding up operation until the </a:t>
            </a:r>
            <a:r>
              <a:rPr lang="en-US" sz="3200" b="1" dirty="0" smtClean="0"/>
              <a:t>data is </a:t>
            </a:r>
            <a:r>
              <a:rPr lang="en-US" sz="3200" b="1" dirty="0"/>
              <a:t>available. </a:t>
            </a:r>
            <a:endParaRPr lang="en-US" sz="3200" b="1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Figure </a:t>
            </a:r>
            <a:r>
              <a:rPr lang="en-US" sz="3200" dirty="0"/>
              <a:t>7.57 shows stalling the dependent instruction (</a:t>
            </a:r>
            <a:r>
              <a:rPr lang="en-US" sz="3200" dirty="0" smtClean="0"/>
              <a:t>and) </a:t>
            </a:r>
            <a:r>
              <a:rPr lang="en-IN" sz="3200" dirty="0" smtClean="0"/>
              <a:t>in </a:t>
            </a:r>
            <a:r>
              <a:rPr lang="en-IN" sz="3200" dirty="0"/>
              <a:t>the Decode </a:t>
            </a:r>
            <a:r>
              <a:rPr lang="en-IN" sz="3200" dirty="0" smtClean="0"/>
              <a:t>stage. </a:t>
            </a:r>
            <a:r>
              <a:rPr lang="en-US" sz="3200" dirty="0" smtClean="0"/>
              <a:t>and </a:t>
            </a:r>
            <a:r>
              <a:rPr lang="en-US" sz="3200" dirty="0"/>
              <a:t>enters the Decode stage in cycle 3 and </a:t>
            </a:r>
            <a:r>
              <a:rPr lang="en-US" sz="3200" dirty="0" smtClean="0"/>
              <a:t>stalls there </a:t>
            </a:r>
            <a:r>
              <a:rPr lang="en-US" sz="3200" dirty="0"/>
              <a:t>through cycle 4.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subsequent instruction (or) must remain in </a:t>
            </a:r>
            <a:r>
              <a:rPr lang="en-US" sz="3200" dirty="0" smtClean="0"/>
              <a:t>the Fetch </a:t>
            </a:r>
            <a:r>
              <a:rPr lang="en-US" sz="3200" dirty="0"/>
              <a:t>stage during both cycles as well because the Decode stage is full.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24241142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53" t="48321" r="13062" b="16955"/>
          <a:stretch/>
        </p:blipFill>
        <p:spPr bwMode="auto">
          <a:xfrm>
            <a:off x="-11751" y="654277"/>
            <a:ext cx="12125344" cy="4803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03748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6" y="300824"/>
            <a:ext cx="1157771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In cycle 5, the result can be forwarded from the </a:t>
            </a:r>
            <a:r>
              <a:rPr lang="en-US" sz="3200" dirty="0" err="1"/>
              <a:t>Writeback</a:t>
            </a:r>
            <a:r>
              <a:rPr lang="en-US" sz="3200" dirty="0"/>
              <a:t> </a:t>
            </a:r>
            <a:r>
              <a:rPr lang="en-US" sz="3200" dirty="0" smtClean="0"/>
              <a:t>stage of </a:t>
            </a:r>
            <a:r>
              <a:rPr lang="en-US" sz="3200" dirty="0" err="1"/>
              <a:t>lw</a:t>
            </a:r>
            <a:r>
              <a:rPr lang="en-US" sz="3200" dirty="0"/>
              <a:t> to the Execute stage of and.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Also</a:t>
            </a:r>
            <a:r>
              <a:rPr lang="en-US" sz="3200" dirty="0"/>
              <a:t>, in cycle 5, source s7 of </a:t>
            </a:r>
            <a:r>
              <a:rPr lang="en-US" sz="3200" dirty="0" smtClean="0"/>
              <a:t>the or </a:t>
            </a:r>
            <a:r>
              <a:rPr lang="en-US" sz="3200" dirty="0"/>
              <a:t>instruction is read directly from the register file, with no need </a:t>
            </a:r>
            <a:r>
              <a:rPr lang="en-US" sz="3200" dirty="0" smtClean="0"/>
              <a:t>for </a:t>
            </a:r>
            <a:r>
              <a:rPr lang="en-IN" sz="3200" dirty="0" smtClean="0"/>
              <a:t>forwarding.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3200" dirty="0"/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4341968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6" y="300824"/>
            <a:ext cx="1157771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</a:t>
            </a:r>
            <a:r>
              <a:rPr lang="en-US" sz="3200" dirty="0" smtClean="0"/>
              <a:t>he </a:t>
            </a:r>
            <a:r>
              <a:rPr lang="en-US" sz="3200" dirty="0"/>
              <a:t>Execute stage is unused in cycle 4.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Likewise</a:t>
            </a:r>
            <a:r>
              <a:rPr lang="en-US" sz="3200" dirty="0"/>
              <a:t>, </a:t>
            </a:r>
            <a:r>
              <a:rPr lang="en-US" sz="3200" dirty="0" smtClean="0"/>
              <a:t>Memory is </a:t>
            </a:r>
            <a:r>
              <a:rPr lang="en-US" sz="3200" dirty="0"/>
              <a:t>unused in cycle 5 and </a:t>
            </a:r>
            <a:r>
              <a:rPr lang="en-US" sz="3200" dirty="0" err="1"/>
              <a:t>Writeback</a:t>
            </a:r>
            <a:r>
              <a:rPr lang="en-US" sz="3200" dirty="0"/>
              <a:t> is unused in cycle 6.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This unused stage </a:t>
            </a:r>
            <a:r>
              <a:rPr lang="en-US" sz="3200" dirty="0"/>
              <a:t>propagating through the pipeline is called </a:t>
            </a:r>
            <a:r>
              <a:rPr lang="en-US" sz="3200" b="1" dirty="0">
                <a:solidFill>
                  <a:srgbClr val="FF0000"/>
                </a:solidFill>
              </a:rPr>
              <a:t>a </a:t>
            </a:r>
            <a:r>
              <a:rPr lang="en-US" sz="3200" b="1" i="1" dirty="0">
                <a:solidFill>
                  <a:srgbClr val="FF0000"/>
                </a:solidFill>
              </a:rPr>
              <a:t>bubble</a:t>
            </a:r>
            <a:r>
              <a:rPr lang="en-US" sz="3200" b="1" dirty="0">
                <a:solidFill>
                  <a:srgbClr val="FF0000"/>
                </a:solidFill>
              </a:rPr>
              <a:t>, </a:t>
            </a:r>
            <a:r>
              <a:rPr lang="en-US" sz="3200" dirty="0"/>
              <a:t>which </a:t>
            </a:r>
            <a:r>
              <a:rPr lang="en-US" sz="3200" dirty="0" smtClean="0"/>
              <a:t>behaves like </a:t>
            </a:r>
            <a:r>
              <a:rPr lang="en-US" sz="3200" dirty="0"/>
              <a:t>a </a:t>
            </a:r>
            <a:r>
              <a:rPr lang="en-US" sz="3200" dirty="0" err="1"/>
              <a:t>nop</a:t>
            </a:r>
            <a:r>
              <a:rPr lang="en-US" sz="3200" dirty="0"/>
              <a:t> instruction.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bubble is introduced by zeroing out </a:t>
            </a:r>
            <a:r>
              <a:rPr lang="en-US" sz="3200" dirty="0" smtClean="0"/>
              <a:t>the Execute </a:t>
            </a:r>
            <a:r>
              <a:rPr lang="en-US" sz="3200" dirty="0"/>
              <a:t>stage control signals during a Decode stage stall so that </a:t>
            </a:r>
            <a:r>
              <a:rPr lang="en-US" sz="3200" dirty="0" smtClean="0"/>
              <a:t>the bubble </a:t>
            </a:r>
            <a:r>
              <a:rPr lang="en-US" sz="3200" dirty="0"/>
              <a:t>performs no action and changes no architectural state.</a:t>
            </a:r>
          </a:p>
        </p:txBody>
      </p:sp>
    </p:spTree>
    <p:extLst>
      <p:ext uri="{BB962C8B-B14F-4D97-AF65-F5344CB8AC3E}">
        <p14:creationId xmlns:p14="http://schemas.microsoft.com/office/powerpoint/2010/main" val="2337748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6" y="300824"/>
            <a:ext cx="1157771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b="1" dirty="0">
                <a:solidFill>
                  <a:srgbClr val="FF0000"/>
                </a:solidFill>
              </a:rPr>
              <a:t>stalling a stage is performed by disabling its </a:t>
            </a:r>
            <a:r>
              <a:rPr lang="en-US" sz="3200" b="1" dirty="0" smtClean="0">
                <a:solidFill>
                  <a:srgbClr val="FF0000"/>
                </a:solidFill>
              </a:rPr>
              <a:t>pipeline register</a:t>
            </a:r>
            <a:r>
              <a:rPr lang="en-US" sz="3200" dirty="0" smtClean="0"/>
              <a:t> </a:t>
            </a:r>
            <a:r>
              <a:rPr lang="en-US" sz="3200" dirty="0"/>
              <a:t>(i.e., the register to the left of a stage) so that the stage’s </a:t>
            </a:r>
            <a:r>
              <a:rPr lang="en-US" sz="3200" dirty="0" smtClean="0"/>
              <a:t>inputs do </a:t>
            </a:r>
            <a:r>
              <a:rPr lang="en-US" sz="3200" dirty="0"/>
              <a:t>not change.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When </a:t>
            </a:r>
            <a:r>
              <a:rPr lang="en-US" sz="3200" dirty="0"/>
              <a:t>a stage is stalled, </a:t>
            </a:r>
            <a:r>
              <a:rPr lang="en-US" sz="3200" b="1" dirty="0"/>
              <a:t>all previous stages must also </a:t>
            </a:r>
            <a:r>
              <a:rPr lang="en-US" sz="3200" b="1" dirty="0" smtClean="0"/>
              <a:t>be stalled </a:t>
            </a:r>
            <a:r>
              <a:rPr lang="en-US" sz="3200" dirty="0"/>
              <a:t>so that no subsequent instructions are lost.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pipeline </a:t>
            </a:r>
            <a:r>
              <a:rPr lang="en-US" sz="3200" dirty="0" smtClean="0"/>
              <a:t>register directly </a:t>
            </a:r>
            <a:r>
              <a:rPr lang="en-US" sz="3200" dirty="0"/>
              <a:t>after the stalled stage must be cleared (flushed) to prevent </a:t>
            </a:r>
            <a:r>
              <a:rPr lang="en-US" sz="3200" dirty="0" smtClean="0"/>
              <a:t>bogus </a:t>
            </a:r>
            <a:r>
              <a:rPr lang="en-IN" sz="3200" dirty="0" smtClean="0"/>
              <a:t>information </a:t>
            </a:r>
            <a:r>
              <a:rPr lang="en-IN" sz="3200" dirty="0"/>
              <a:t>from propagating forward. </a:t>
            </a:r>
            <a:endParaRPr lang="en-IN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IN" sz="3200" b="1" dirty="0" smtClean="0"/>
              <a:t>Stalls </a:t>
            </a:r>
            <a:r>
              <a:rPr lang="en-IN" sz="3200" b="1" dirty="0"/>
              <a:t>degrade performance,</a:t>
            </a:r>
            <a:r>
              <a:rPr lang="en-IN" sz="3200" dirty="0"/>
              <a:t> </a:t>
            </a:r>
            <a:r>
              <a:rPr lang="en-IN" sz="3200" dirty="0" smtClean="0"/>
              <a:t>so </a:t>
            </a:r>
            <a:r>
              <a:rPr lang="en-US" sz="3200" dirty="0" smtClean="0"/>
              <a:t>they </a:t>
            </a:r>
            <a:r>
              <a:rPr lang="en-US" sz="3200" dirty="0"/>
              <a:t>should be used only when necessary.</a:t>
            </a:r>
          </a:p>
        </p:txBody>
      </p:sp>
    </p:spTree>
    <p:extLst>
      <p:ext uri="{BB962C8B-B14F-4D97-AF65-F5344CB8AC3E}">
        <p14:creationId xmlns:p14="http://schemas.microsoft.com/office/powerpoint/2010/main" val="38790845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6" y="300824"/>
            <a:ext cx="11882514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Figure 7.58 modifies the pipelined processor to add stalls for </a:t>
            </a:r>
            <a:r>
              <a:rPr lang="en-US" sz="3200" dirty="0" err="1" smtClean="0"/>
              <a:t>lw</a:t>
            </a:r>
            <a:r>
              <a:rPr lang="en-US" sz="3200" dirty="0" smtClean="0"/>
              <a:t> data </a:t>
            </a:r>
            <a:r>
              <a:rPr lang="en-US" sz="3200" dirty="0"/>
              <a:t>dependencies.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In </a:t>
            </a:r>
            <a:r>
              <a:rPr lang="en-US" sz="3200" dirty="0"/>
              <a:t>order for the Hazard Unit to stall the pipeline, </a:t>
            </a:r>
            <a:r>
              <a:rPr lang="en-US" sz="3200" dirty="0" smtClean="0"/>
              <a:t>the following </a:t>
            </a:r>
            <a:r>
              <a:rPr lang="en-US" sz="3200" dirty="0"/>
              <a:t>conditions must be met</a:t>
            </a:r>
            <a:r>
              <a:rPr lang="en-US" sz="3200" dirty="0" smtClean="0"/>
              <a:t>: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1. A load word is in the Execute stage (indicated by </a:t>
            </a:r>
            <a:r>
              <a:rPr lang="en-US" sz="3200" i="1" dirty="0"/>
              <a:t>ResultSrcE</a:t>
            </a:r>
            <a:r>
              <a:rPr lang="en-US" sz="3200" dirty="0"/>
              <a:t>0 = 1)</a:t>
            </a:r>
          </a:p>
          <a:p>
            <a:r>
              <a:rPr lang="en-IN" sz="3200" dirty="0"/>
              <a:t>and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2. The load’s destination register (</a:t>
            </a:r>
            <a:r>
              <a:rPr lang="en-US" sz="3200" i="1" dirty="0" err="1"/>
              <a:t>RdE</a:t>
            </a:r>
            <a:r>
              <a:rPr lang="en-US" sz="3200" dirty="0"/>
              <a:t>) matches </a:t>
            </a:r>
            <a:r>
              <a:rPr lang="en-US" sz="3200" i="1" dirty="0"/>
              <a:t>Rs1D </a:t>
            </a:r>
            <a:r>
              <a:rPr lang="en-US" sz="3200" dirty="0"/>
              <a:t>or </a:t>
            </a:r>
            <a:r>
              <a:rPr lang="en-US" sz="3200" i="1" dirty="0"/>
              <a:t>Rs2D</a:t>
            </a:r>
            <a:r>
              <a:rPr lang="en-US" sz="3200" dirty="0"/>
              <a:t>, </a:t>
            </a:r>
            <a:r>
              <a:rPr lang="en-US" sz="3200" dirty="0" smtClean="0"/>
              <a:t>the source </a:t>
            </a:r>
            <a:r>
              <a:rPr lang="en-US" sz="3200" dirty="0"/>
              <a:t>operands of the instruction in the Decode stage</a:t>
            </a:r>
          </a:p>
        </p:txBody>
      </p:sp>
    </p:spTree>
    <p:extLst>
      <p:ext uri="{BB962C8B-B14F-4D97-AF65-F5344CB8AC3E}">
        <p14:creationId xmlns:p14="http://schemas.microsoft.com/office/powerpoint/2010/main" val="215594695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6" y="300824"/>
            <a:ext cx="1157771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Stalls are supported by adding enable inputs (</a:t>
            </a:r>
            <a:r>
              <a:rPr lang="en-US" sz="3200" i="1" dirty="0"/>
              <a:t>EN</a:t>
            </a:r>
            <a:r>
              <a:rPr lang="en-US" sz="3200" dirty="0"/>
              <a:t>) to the Fetch </a:t>
            </a:r>
            <a:r>
              <a:rPr lang="en-US" sz="3200" dirty="0" smtClean="0"/>
              <a:t>and Decode </a:t>
            </a:r>
            <a:r>
              <a:rPr lang="en-US" sz="3200" dirty="0"/>
              <a:t>pipeline registers and a synchronous reset/clear (</a:t>
            </a:r>
            <a:r>
              <a:rPr lang="en-US" sz="3200" i="1" dirty="0"/>
              <a:t>CLR</a:t>
            </a:r>
            <a:r>
              <a:rPr lang="en-US" sz="3200" dirty="0"/>
              <a:t>) input </a:t>
            </a:r>
            <a:r>
              <a:rPr lang="en-US" sz="3200" dirty="0" smtClean="0"/>
              <a:t>to the </a:t>
            </a:r>
            <a:r>
              <a:rPr lang="en-US" sz="3200" dirty="0"/>
              <a:t>Execute pipeline register.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When </a:t>
            </a:r>
            <a:r>
              <a:rPr lang="en-US" sz="3200" dirty="0"/>
              <a:t>a load word (</a:t>
            </a:r>
            <a:r>
              <a:rPr lang="en-US" sz="3200" dirty="0" err="1"/>
              <a:t>lw</a:t>
            </a:r>
            <a:r>
              <a:rPr lang="en-US" sz="3200" dirty="0"/>
              <a:t>) stall occurs, </a:t>
            </a:r>
            <a:r>
              <a:rPr lang="en-US" sz="3200" i="1" dirty="0" err="1" smtClean="0"/>
              <a:t>StallD</a:t>
            </a:r>
            <a:r>
              <a:rPr lang="en-US" sz="3200" i="1" dirty="0" smtClean="0"/>
              <a:t> </a:t>
            </a:r>
            <a:r>
              <a:rPr lang="en-US" sz="3200" dirty="0" smtClean="0"/>
              <a:t>and </a:t>
            </a:r>
            <a:r>
              <a:rPr lang="en-US" sz="3200" i="1" dirty="0" err="1"/>
              <a:t>StallF</a:t>
            </a:r>
            <a:r>
              <a:rPr lang="en-US" sz="3200" i="1" dirty="0"/>
              <a:t> </a:t>
            </a:r>
            <a:r>
              <a:rPr lang="en-US" sz="3200" dirty="0"/>
              <a:t>are asserted to force the Decode and Fetch stage pipeline </a:t>
            </a:r>
            <a:r>
              <a:rPr lang="en-US" sz="3200" dirty="0" smtClean="0"/>
              <a:t>registers to </a:t>
            </a:r>
            <a:r>
              <a:rPr lang="en-US" sz="3200" dirty="0"/>
              <a:t>retain their existing values.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i="1" dirty="0" err="1" smtClean="0"/>
              <a:t>FlushE</a:t>
            </a:r>
            <a:r>
              <a:rPr lang="en-US" sz="3200" i="1" dirty="0" smtClean="0"/>
              <a:t> </a:t>
            </a:r>
            <a:r>
              <a:rPr lang="en-US" sz="3200" dirty="0"/>
              <a:t>is also asserted to clear </a:t>
            </a:r>
            <a:r>
              <a:rPr lang="en-US" sz="3200" dirty="0" smtClean="0"/>
              <a:t>the contents </a:t>
            </a:r>
            <a:r>
              <a:rPr lang="en-US" sz="3200" dirty="0"/>
              <a:t>of the Execute stage pipeline register, introducing a bubble.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Hazard </a:t>
            </a:r>
            <a:r>
              <a:rPr lang="en-US" sz="3200" dirty="0"/>
              <a:t>Unit </a:t>
            </a:r>
            <a:r>
              <a:rPr lang="en-US" sz="3200" i="1" dirty="0" err="1"/>
              <a:t>lwStall</a:t>
            </a:r>
            <a:r>
              <a:rPr lang="en-US" sz="3200" i="1" dirty="0"/>
              <a:t> </a:t>
            </a:r>
            <a:r>
              <a:rPr lang="en-US" sz="3200" dirty="0"/>
              <a:t>(load word stall) signal indicates when the </a:t>
            </a:r>
            <a:r>
              <a:rPr lang="en-US" sz="3200" dirty="0" smtClean="0"/>
              <a:t>pipeline should </a:t>
            </a:r>
            <a:r>
              <a:rPr lang="en-US" sz="3200" dirty="0"/>
              <a:t>be stalled due to a load word dependency.</a:t>
            </a:r>
          </a:p>
        </p:txBody>
      </p:sp>
    </p:spTree>
    <p:extLst>
      <p:ext uri="{BB962C8B-B14F-4D97-AF65-F5344CB8AC3E}">
        <p14:creationId xmlns:p14="http://schemas.microsoft.com/office/powerpoint/2010/main" val="112761321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6" y="332356"/>
            <a:ext cx="1157771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/>
              <a:t>Whenever </a:t>
            </a:r>
            <a:r>
              <a:rPr lang="en-IN" sz="3200" i="1" dirty="0" err="1"/>
              <a:t>lwStall</a:t>
            </a:r>
            <a:r>
              <a:rPr lang="en-IN" sz="3200" i="1" dirty="0"/>
              <a:t> </a:t>
            </a:r>
            <a:r>
              <a:rPr lang="en-IN" sz="3200" dirty="0"/>
              <a:t>is</a:t>
            </a:r>
          </a:p>
          <a:p>
            <a:r>
              <a:rPr lang="en-US" sz="3200" dirty="0"/>
              <a:t>TRUE, all of the stall and flush signals are asserted. Hence, the logic to</a:t>
            </a:r>
          </a:p>
          <a:p>
            <a:r>
              <a:rPr lang="en-US" sz="3200" dirty="0"/>
              <a:t>compute the stalls and flushes is</a:t>
            </a:r>
            <a:r>
              <a:rPr lang="en-US" sz="3200" dirty="0" smtClean="0"/>
              <a:t>:</a:t>
            </a:r>
          </a:p>
          <a:p>
            <a:endParaRPr lang="en-US" sz="3200" dirty="0"/>
          </a:p>
          <a:p>
            <a:r>
              <a:rPr lang="en-IN" sz="3200" i="1" dirty="0" err="1"/>
              <a:t>lwStall</a:t>
            </a:r>
            <a:r>
              <a:rPr lang="en-IN" sz="3200" i="1" dirty="0"/>
              <a:t> </a:t>
            </a:r>
            <a:r>
              <a:rPr lang="en-IN" sz="3200" dirty="0"/>
              <a:t>= </a:t>
            </a:r>
            <a:r>
              <a:rPr lang="en-IN" sz="3200" i="1" dirty="0"/>
              <a:t>ResultSrcE</a:t>
            </a:r>
            <a:r>
              <a:rPr lang="en-IN" sz="3200" dirty="0"/>
              <a:t>0 &amp; ((</a:t>
            </a:r>
            <a:r>
              <a:rPr lang="en-IN" sz="3200" i="1" dirty="0"/>
              <a:t>Rs1D </a:t>
            </a:r>
            <a:r>
              <a:rPr lang="en-IN" sz="3200" dirty="0"/>
              <a:t>= = </a:t>
            </a:r>
            <a:r>
              <a:rPr lang="en-IN" sz="3200" i="1" dirty="0" err="1"/>
              <a:t>RdE</a:t>
            </a:r>
            <a:r>
              <a:rPr lang="en-IN" sz="3200" dirty="0"/>
              <a:t>) | (</a:t>
            </a:r>
            <a:r>
              <a:rPr lang="en-IN" sz="3200" i="1" dirty="0"/>
              <a:t>Rs2D </a:t>
            </a:r>
            <a:r>
              <a:rPr lang="en-IN" sz="3200" dirty="0"/>
              <a:t>= = </a:t>
            </a:r>
            <a:r>
              <a:rPr lang="en-IN" sz="3200" i="1" dirty="0" err="1"/>
              <a:t>RdE</a:t>
            </a:r>
            <a:r>
              <a:rPr lang="en-IN" sz="3200" dirty="0"/>
              <a:t>))</a:t>
            </a:r>
          </a:p>
          <a:p>
            <a:r>
              <a:rPr lang="en-IN" sz="3200" i="1" dirty="0" err="1"/>
              <a:t>StallF</a:t>
            </a:r>
            <a:r>
              <a:rPr lang="en-IN" sz="3200" i="1" dirty="0"/>
              <a:t> </a:t>
            </a:r>
            <a:r>
              <a:rPr lang="en-IN" sz="3200" dirty="0"/>
              <a:t>= </a:t>
            </a:r>
            <a:r>
              <a:rPr lang="en-IN" sz="3200" i="1" dirty="0" err="1"/>
              <a:t>StallD</a:t>
            </a:r>
            <a:r>
              <a:rPr lang="en-IN" sz="3200" i="1" dirty="0"/>
              <a:t> </a:t>
            </a:r>
            <a:r>
              <a:rPr lang="en-IN" sz="3200" dirty="0"/>
              <a:t>= </a:t>
            </a:r>
            <a:r>
              <a:rPr lang="en-IN" sz="3200" i="1" dirty="0" err="1"/>
              <a:t>FlushE</a:t>
            </a:r>
            <a:r>
              <a:rPr lang="en-IN" sz="3200" i="1" dirty="0"/>
              <a:t> </a:t>
            </a:r>
            <a:r>
              <a:rPr lang="en-IN" sz="3200" dirty="0"/>
              <a:t>= </a:t>
            </a:r>
            <a:r>
              <a:rPr lang="en-IN" sz="3200" i="1" dirty="0" err="1"/>
              <a:t>lwStall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8406387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78" t="10988" r="9964" b="8477"/>
          <a:stretch/>
        </p:blipFill>
        <p:spPr bwMode="auto">
          <a:xfrm>
            <a:off x="1141754" y="38883"/>
            <a:ext cx="9777838" cy="680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105031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6" y="982982"/>
            <a:ext cx="1157771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The </a:t>
            </a:r>
            <a:r>
              <a:rPr lang="en-US" sz="3200" b="1" dirty="0" err="1"/>
              <a:t>beq</a:t>
            </a:r>
            <a:r>
              <a:rPr lang="en-US" sz="3200" b="1" dirty="0"/>
              <a:t> instruction presents a control hazard: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the pipelined </a:t>
            </a:r>
            <a:r>
              <a:rPr lang="en-US" sz="3200" dirty="0" smtClean="0">
                <a:solidFill>
                  <a:srgbClr val="FF0000"/>
                </a:solidFill>
              </a:rPr>
              <a:t>processor does </a:t>
            </a:r>
            <a:r>
              <a:rPr lang="en-US" sz="3200" dirty="0">
                <a:solidFill>
                  <a:srgbClr val="FF0000"/>
                </a:solidFill>
              </a:rPr>
              <a:t>not know what instruction to fetch next </a:t>
            </a:r>
            <a:r>
              <a:rPr lang="en-US" sz="3200" dirty="0"/>
              <a:t>because the branch </a:t>
            </a:r>
            <a:r>
              <a:rPr lang="en-US" sz="3200" dirty="0" smtClean="0"/>
              <a:t>decision has </a:t>
            </a:r>
            <a:r>
              <a:rPr lang="en-US" sz="3200" dirty="0"/>
              <a:t>not been made by the time the next instruction is fetched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One mechanism for dealing with this control hazard is to </a:t>
            </a:r>
            <a:r>
              <a:rPr lang="en-US" sz="3200" b="1" dirty="0"/>
              <a:t>stall </a:t>
            </a:r>
            <a:r>
              <a:rPr lang="en-US" sz="3200" b="1" dirty="0" smtClean="0"/>
              <a:t>the pipeline </a:t>
            </a:r>
            <a:r>
              <a:rPr lang="en-US" sz="3200" b="1" dirty="0"/>
              <a:t>until the branch decision is made </a:t>
            </a:r>
            <a:r>
              <a:rPr lang="en-US" sz="3200" dirty="0"/>
              <a:t>(i.e., </a:t>
            </a:r>
            <a:r>
              <a:rPr lang="en-US" sz="3200" i="1" dirty="0" err="1"/>
              <a:t>PCSrcE</a:t>
            </a:r>
            <a:r>
              <a:rPr lang="en-US" sz="3200" i="1" dirty="0"/>
              <a:t> </a:t>
            </a:r>
            <a:r>
              <a:rPr lang="en-US" sz="3200" dirty="0"/>
              <a:t>is computed</a:t>
            </a:r>
            <a:r>
              <a:rPr lang="en-US" sz="3200" dirty="0" smtClean="0"/>
              <a:t>).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Solving Control Hazards: 472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4609801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0600" y="415423"/>
            <a:ext cx="1157771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Because the decision is made in the Execute stage, the pipeline </a:t>
            </a:r>
            <a:r>
              <a:rPr lang="en-US" sz="3200" dirty="0" smtClean="0"/>
              <a:t>would have </a:t>
            </a:r>
            <a:r>
              <a:rPr lang="en-US" sz="3200" b="1" dirty="0"/>
              <a:t>to be stalled for two cycles at every branch. </a:t>
            </a:r>
            <a:endParaRPr lang="en-US" sz="3200" b="1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b="1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This </a:t>
            </a:r>
            <a:r>
              <a:rPr lang="en-US" sz="3200" dirty="0"/>
              <a:t>would </a:t>
            </a:r>
            <a:r>
              <a:rPr lang="en-US" sz="3200" dirty="0" smtClean="0"/>
              <a:t>severely </a:t>
            </a:r>
            <a:r>
              <a:rPr lang="en-US" sz="3200" b="1" dirty="0" smtClean="0"/>
              <a:t>degrade </a:t>
            </a:r>
            <a:r>
              <a:rPr lang="en-US" sz="3200" b="1" dirty="0"/>
              <a:t>the system performance </a:t>
            </a:r>
            <a:r>
              <a:rPr lang="en-US" sz="3200" dirty="0"/>
              <a:t>if branches occur often, which is </a:t>
            </a:r>
            <a:r>
              <a:rPr lang="en-US" sz="3200" dirty="0" smtClean="0"/>
              <a:t>typically </a:t>
            </a:r>
            <a:r>
              <a:rPr lang="en-IN" sz="3200" dirty="0" smtClean="0"/>
              <a:t>the </a:t>
            </a:r>
            <a:r>
              <a:rPr lang="en-IN" sz="3200" dirty="0"/>
              <a:t>case</a:t>
            </a:r>
            <a:r>
              <a:rPr lang="en-IN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An </a:t>
            </a:r>
            <a:r>
              <a:rPr lang="en-US" sz="3200" dirty="0">
                <a:solidFill>
                  <a:srgbClr val="FF0000"/>
                </a:solidFill>
              </a:rPr>
              <a:t>alternative</a:t>
            </a:r>
            <a:r>
              <a:rPr lang="en-US" sz="3200" dirty="0"/>
              <a:t> to stalling the pipeline is to </a:t>
            </a:r>
            <a:r>
              <a:rPr lang="en-US" sz="3200" b="1" dirty="0"/>
              <a:t>predict</a:t>
            </a:r>
            <a:r>
              <a:rPr lang="en-US" sz="3200" dirty="0"/>
              <a:t> whether the </a:t>
            </a:r>
            <a:r>
              <a:rPr lang="en-US" sz="3200" dirty="0" smtClean="0"/>
              <a:t>branch will </a:t>
            </a:r>
            <a:r>
              <a:rPr lang="en-US" sz="3200" dirty="0"/>
              <a:t>be taken and begin executing instructions based on the prediction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Once the branch decision is available, the </a:t>
            </a:r>
            <a:r>
              <a:rPr lang="en-US" sz="3200" b="1" dirty="0"/>
              <a:t>processor can throw </a:t>
            </a:r>
            <a:r>
              <a:rPr lang="en-US" sz="3200" b="1" dirty="0" smtClean="0"/>
              <a:t>out the </a:t>
            </a:r>
            <a:r>
              <a:rPr lang="en-US" sz="3200" b="1" dirty="0"/>
              <a:t>instructions if the prediction was wrong.</a:t>
            </a:r>
          </a:p>
        </p:txBody>
      </p:sp>
    </p:spTree>
    <p:extLst>
      <p:ext uri="{BB962C8B-B14F-4D97-AF65-F5344CB8AC3E}">
        <p14:creationId xmlns:p14="http://schemas.microsoft.com/office/powerpoint/2010/main" val="97561094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0600" y="415423"/>
            <a:ext cx="11577711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In the pipeline presented </a:t>
            </a:r>
            <a:r>
              <a:rPr lang="en-US" sz="3200" dirty="0" smtClean="0"/>
              <a:t>before(Figure </a:t>
            </a:r>
            <a:r>
              <a:rPr lang="en-US" sz="3200" dirty="0"/>
              <a:t>7.58), the processor predicts that branches are not taken </a:t>
            </a:r>
            <a:r>
              <a:rPr lang="en-US" sz="3200" dirty="0" smtClean="0"/>
              <a:t>and simply </a:t>
            </a:r>
            <a:r>
              <a:rPr lang="en-US" sz="3200" dirty="0"/>
              <a:t>continues executing the program in order until </a:t>
            </a:r>
            <a:r>
              <a:rPr lang="en-US" sz="3200" i="1" dirty="0" err="1"/>
              <a:t>PCSrcE</a:t>
            </a:r>
            <a:r>
              <a:rPr lang="en-US" sz="3200" i="1" dirty="0"/>
              <a:t> </a:t>
            </a:r>
            <a:r>
              <a:rPr lang="en-US" sz="3200" dirty="0"/>
              <a:t>is asserted </a:t>
            </a:r>
            <a:r>
              <a:rPr lang="en-US" sz="3200" dirty="0" smtClean="0"/>
              <a:t>to select </a:t>
            </a:r>
            <a:r>
              <a:rPr lang="en-US" sz="3200" dirty="0"/>
              <a:t>the next PC from </a:t>
            </a:r>
            <a:r>
              <a:rPr lang="en-US" sz="3200" i="1" dirty="0" err="1"/>
              <a:t>PCTargetE</a:t>
            </a:r>
            <a:r>
              <a:rPr lang="en-US" sz="3200" i="1" dirty="0"/>
              <a:t> </a:t>
            </a:r>
            <a:r>
              <a:rPr lang="en-US" sz="3200" dirty="0"/>
              <a:t>instead.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If </a:t>
            </a:r>
            <a:r>
              <a:rPr lang="en-US" sz="3200" dirty="0"/>
              <a:t>the branch should have </a:t>
            </a:r>
            <a:r>
              <a:rPr lang="en-US" sz="3200" dirty="0" smtClean="0"/>
              <a:t>been taken</a:t>
            </a:r>
            <a:r>
              <a:rPr lang="en-US" sz="3200" dirty="0"/>
              <a:t>, then the two instructions following the </a:t>
            </a:r>
            <a:r>
              <a:rPr lang="en-US" sz="3200" b="1" dirty="0"/>
              <a:t>branch must be </a:t>
            </a:r>
            <a:r>
              <a:rPr lang="en-US" sz="3200" b="1" i="1" dirty="0" smtClean="0"/>
              <a:t>flushed </a:t>
            </a:r>
            <a:r>
              <a:rPr lang="en-US" sz="3200" b="1" dirty="0" smtClean="0"/>
              <a:t>(discarded</a:t>
            </a:r>
            <a:r>
              <a:rPr lang="en-US" sz="3200" b="1" dirty="0"/>
              <a:t>) by clearing the pipeline registers for those instructions.</a:t>
            </a:r>
            <a:r>
              <a:rPr lang="en-US" sz="3200" dirty="0"/>
              <a:t>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These wasted </a:t>
            </a:r>
            <a:r>
              <a:rPr lang="en-US" sz="3200" dirty="0"/>
              <a:t>instruction cycles are called the </a:t>
            </a:r>
            <a:r>
              <a:rPr lang="en-US" sz="3200" b="1" i="1" dirty="0">
                <a:solidFill>
                  <a:srgbClr val="FF0000"/>
                </a:solidFill>
              </a:rPr>
              <a:t>branch </a:t>
            </a:r>
            <a:r>
              <a:rPr lang="en-US" sz="3200" b="1" i="1" dirty="0" err="1">
                <a:solidFill>
                  <a:srgbClr val="FF0000"/>
                </a:solidFill>
              </a:rPr>
              <a:t>misprediction</a:t>
            </a:r>
            <a:r>
              <a:rPr lang="en-US" sz="3200" b="1" i="1" dirty="0">
                <a:solidFill>
                  <a:srgbClr val="FF0000"/>
                </a:solidFill>
              </a:rPr>
              <a:t> penalty</a:t>
            </a:r>
            <a:r>
              <a:rPr lang="en-US" sz="3200" b="1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860325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17" t="16051" r="17557" b="33764"/>
          <a:stretch/>
        </p:blipFill>
        <p:spPr bwMode="auto">
          <a:xfrm>
            <a:off x="15283" y="514366"/>
            <a:ext cx="12145916" cy="5151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805372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0600" y="415423"/>
            <a:ext cx="1157771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Figure 7.59 shows such a scheme in which a branch from </a:t>
            </a:r>
            <a:r>
              <a:rPr lang="en-US" sz="3200" dirty="0" smtClean="0"/>
              <a:t>address 0x20 </a:t>
            </a:r>
            <a:r>
              <a:rPr lang="en-US" sz="3200" dirty="0"/>
              <a:t>to address 0x58 is taken.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PC is not written until cycle 3, </a:t>
            </a:r>
            <a:r>
              <a:rPr lang="en-US" sz="3200" dirty="0" smtClean="0"/>
              <a:t>by which </a:t>
            </a:r>
            <a:r>
              <a:rPr lang="en-US" sz="3200" dirty="0"/>
              <a:t>point the sub and or instructions at addresses 0x24 and </a:t>
            </a:r>
            <a:r>
              <a:rPr lang="en-US" sz="3200" dirty="0" smtClean="0"/>
              <a:t>0x28 have </a:t>
            </a:r>
            <a:r>
              <a:rPr lang="en-US" sz="3200" dirty="0"/>
              <a:t>already been fetched.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These </a:t>
            </a:r>
            <a:r>
              <a:rPr lang="en-US" sz="3200" dirty="0"/>
              <a:t>instructions must be flushed, and </a:t>
            </a:r>
            <a:r>
              <a:rPr lang="en-US" sz="3200" dirty="0" smtClean="0"/>
              <a:t>the add </a:t>
            </a:r>
            <a:r>
              <a:rPr lang="en-US" sz="3200" dirty="0"/>
              <a:t>instruction is fetched from address 0x58 in cycle 4.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052211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0600" y="415423"/>
            <a:ext cx="1157771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we add a synchronous clear input (CLR) </a:t>
            </a:r>
            <a:r>
              <a:rPr lang="en-US" sz="3200" dirty="0" smtClean="0"/>
              <a:t>to the </a:t>
            </a:r>
            <a:r>
              <a:rPr lang="en-US" sz="3200" dirty="0"/>
              <a:t>Decode pipeline register and add the </a:t>
            </a:r>
            <a:r>
              <a:rPr lang="en-US" sz="3200" i="1" dirty="0" err="1"/>
              <a:t>FlushD</a:t>
            </a:r>
            <a:r>
              <a:rPr lang="en-US" sz="3200" i="1" dirty="0"/>
              <a:t> </a:t>
            </a:r>
            <a:r>
              <a:rPr lang="en-US" sz="3200" dirty="0"/>
              <a:t>output to the </a:t>
            </a:r>
            <a:r>
              <a:rPr lang="en-US" sz="3200" dirty="0" smtClean="0"/>
              <a:t>Hazard Unit. (</a:t>
            </a:r>
            <a:r>
              <a:rPr lang="en-US" sz="3200" dirty="0"/>
              <a:t>When CLR = 1, the register contents are cleared, that is, </a:t>
            </a:r>
            <a:r>
              <a:rPr lang="en-US" sz="3200" dirty="0" smtClean="0"/>
              <a:t>become 0</a:t>
            </a:r>
            <a:r>
              <a:rPr lang="en-US" sz="3200" dirty="0"/>
              <a:t>.)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When </a:t>
            </a:r>
            <a:r>
              <a:rPr lang="en-US" sz="3200" dirty="0"/>
              <a:t>a branch is taken (indicated by </a:t>
            </a:r>
            <a:r>
              <a:rPr lang="en-US" sz="3200" i="1" dirty="0" err="1"/>
              <a:t>PCSrcE</a:t>
            </a:r>
            <a:r>
              <a:rPr lang="en-US" sz="3200" i="1" dirty="0"/>
              <a:t> </a:t>
            </a:r>
            <a:r>
              <a:rPr lang="en-US" sz="3200" dirty="0"/>
              <a:t>being 1), </a:t>
            </a:r>
            <a:r>
              <a:rPr lang="en-US" sz="3200" i="1" dirty="0" err="1"/>
              <a:t>FlushD</a:t>
            </a:r>
            <a:r>
              <a:rPr lang="en-US" sz="3200" i="1" dirty="0"/>
              <a:t> </a:t>
            </a:r>
            <a:r>
              <a:rPr lang="en-US" sz="3200" dirty="0" smtClean="0"/>
              <a:t>and </a:t>
            </a:r>
            <a:r>
              <a:rPr lang="en-US" sz="3200" i="1" dirty="0" err="1" smtClean="0"/>
              <a:t>FlushE</a:t>
            </a:r>
            <a:r>
              <a:rPr lang="en-US" sz="3200" i="1" dirty="0" smtClean="0"/>
              <a:t> </a:t>
            </a:r>
            <a:r>
              <a:rPr lang="en-US" sz="3200" dirty="0"/>
              <a:t>must be asserted to flush the Decode and Execute pipeline registers.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Figure 7.60 shows the enhanced pipelined processor for </a:t>
            </a:r>
            <a:r>
              <a:rPr lang="en-US" sz="3200" dirty="0" smtClean="0"/>
              <a:t>handling control </a:t>
            </a:r>
            <a:r>
              <a:rPr lang="en-US" sz="3200" dirty="0"/>
              <a:t>hazards. </a:t>
            </a:r>
            <a:endParaRPr lang="en-US" sz="32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flushes are now calculated as</a:t>
            </a:r>
            <a:r>
              <a:rPr lang="en-US" sz="3200" dirty="0" smtClean="0"/>
              <a:t>: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b="1" dirty="0">
              <a:solidFill>
                <a:srgbClr val="FF0000"/>
              </a:solidFill>
            </a:endParaRPr>
          </a:p>
          <a:p>
            <a:pPr lvl="2"/>
            <a:r>
              <a:rPr lang="en-IN" sz="3200" i="1" dirty="0" err="1"/>
              <a:t>FlushD</a:t>
            </a:r>
            <a:r>
              <a:rPr lang="en-IN" sz="3200" i="1" dirty="0"/>
              <a:t> </a:t>
            </a:r>
            <a:r>
              <a:rPr lang="en-IN" sz="3200" dirty="0"/>
              <a:t>= </a:t>
            </a:r>
            <a:r>
              <a:rPr lang="en-IN" sz="3200" i="1" dirty="0" err="1"/>
              <a:t>PCSrcE</a:t>
            </a:r>
            <a:endParaRPr lang="en-IN" sz="3200" i="1" dirty="0"/>
          </a:p>
          <a:p>
            <a:pPr lvl="2"/>
            <a:r>
              <a:rPr lang="en-IN" sz="3200" i="1" dirty="0" err="1"/>
              <a:t>FlushE</a:t>
            </a:r>
            <a:r>
              <a:rPr lang="en-IN" sz="3200" i="1" dirty="0"/>
              <a:t> </a:t>
            </a:r>
            <a:r>
              <a:rPr lang="en-IN" sz="3200" dirty="0"/>
              <a:t>= </a:t>
            </a:r>
            <a:r>
              <a:rPr lang="en-IN" sz="3200" i="1" dirty="0" err="1"/>
              <a:t>lwStall</a:t>
            </a:r>
            <a:r>
              <a:rPr lang="en-IN" sz="3200" i="1" dirty="0"/>
              <a:t> </a:t>
            </a:r>
            <a:r>
              <a:rPr lang="en-IN" sz="3200" dirty="0"/>
              <a:t>| </a:t>
            </a:r>
            <a:r>
              <a:rPr lang="en-IN" sz="3200" i="1" dirty="0" err="1"/>
              <a:t>PCSrcE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35316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64" t="13289" r="20146" b="9362"/>
          <a:stretch/>
        </p:blipFill>
        <p:spPr bwMode="auto">
          <a:xfrm>
            <a:off x="1056307" y="0"/>
            <a:ext cx="10168758" cy="6752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497313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82" t="11908" r="20405" b="15807"/>
          <a:stretch/>
        </p:blipFill>
        <p:spPr bwMode="auto">
          <a:xfrm>
            <a:off x="993249" y="236483"/>
            <a:ext cx="10342179" cy="649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33145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6" y="982982"/>
            <a:ext cx="1188251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The pipelined processor ideally would have a </a:t>
            </a:r>
            <a:r>
              <a:rPr lang="en-US" sz="2800" dirty="0" smtClean="0"/>
              <a:t>CPI(</a:t>
            </a:r>
            <a:r>
              <a:rPr lang="en-US" dirty="0" smtClean="0"/>
              <a:t>clock per instruction</a:t>
            </a:r>
            <a:r>
              <a:rPr lang="en-US" sz="2800" dirty="0" smtClean="0"/>
              <a:t>) </a:t>
            </a:r>
            <a:r>
              <a:rPr lang="en-US" sz="2800" dirty="0"/>
              <a:t>of 1 because a </a:t>
            </a:r>
            <a:r>
              <a:rPr lang="en-US" sz="2800" dirty="0" smtClean="0"/>
              <a:t>new instruction </a:t>
            </a:r>
            <a:r>
              <a:rPr lang="en-US" sz="2800" dirty="0"/>
              <a:t>is </a:t>
            </a:r>
            <a:r>
              <a:rPr lang="en-US" sz="2800" i="1" dirty="0"/>
              <a:t>issued</a:t>
            </a:r>
            <a:r>
              <a:rPr lang="en-US" sz="2800" dirty="0"/>
              <a:t>—that is, fetched—every cycle.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However</a:t>
            </a:r>
            <a:r>
              <a:rPr lang="en-US" sz="2800" dirty="0"/>
              <a:t>, a stall or </a:t>
            </a:r>
            <a:r>
              <a:rPr lang="en-US" sz="2800" dirty="0" smtClean="0"/>
              <a:t>a flush </a:t>
            </a:r>
            <a:r>
              <a:rPr lang="en-US" sz="2800" dirty="0"/>
              <a:t>wastes 1 to 2 cycles, so the CPI is slightly higher and depends </a:t>
            </a:r>
            <a:r>
              <a:rPr lang="en-US" sz="2800" dirty="0" smtClean="0"/>
              <a:t>on the </a:t>
            </a:r>
            <a:r>
              <a:rPr lang="en-US" sz="2800" dirty="0"/>
              <a:t>specific program being </a:t>
            </a:r>
            <a:r>
              <a:rPr lang="en-US" sz="2800" dirty="0" smtClean="0"/>
              <a:t>executed.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We </a:t>
            </a:r>
            <a:r>
              <a:rPr lang="en-US" sz="2800" dirty="0"/>
              <a:t>can determine the cycle time by considering the critical path in </a:t>
            </a:r>
            <a:r>
              <a:rPr lang="en-US" sz="2800" dirty="0" smtClean="0"/>
              <a:t>each of </a:t>
            </a:r>
            <a:r>
              <a:rPr lang="en-US" sz="2800" dirty="0"/>
              <a:t>the five pipeline stages shown in Figure 7.61.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Recall </a:t>
            </a:r>
            <a:r>
              <a:rPr lang="en-US" sz="2800" dirty="0"/>
              <a:t>that the </a:t>
            </a:r>
            <a:r>
              <a:rPr lang="en-US" sz="2800" dirty="0" smtClean="0"/>
              <a:t>register file </a:t>
            </a:r>
            <a:r>
              <a:rPr lang="en-US" sz="2800" dirty="0"/>
              <a:t>is used twice in a single cycle: it is written in the first half of </a:t>
            </a:r>
            <a:r>
              <a:rPr lang="en-US" sz="2800" dirty="0" smtClean="0"/>
              <a:t>the </a:t>
            </a:r>
            <a:r>
              <a:rPr lang="en-US" sz="2800" dirty="0" err="1" smtClean="0"/>
              <a:t>Writeback</a:t>
            </a:r>
            <a:r>
              <a:rPr lang="en-US" sz="2800" dirty="0" smtClean="0"/>
              <a:t> </a:t>
            </a:r>
            <a:r>
              <a:rPr lang="en-US" sz="2800" dirty="0"/>
              <a:t>cycle and read in the second half of the Decode cycle; so </a:t>
            </a:r>
            <a:r>
              <a:rPr lang="en-US" sz="2800" dirty="0" smtClean="0"/>
              <a:t>these stages </a:t>
            </a:r>
            <a:r>
              <a:rPr lang="en-US" sz="2800" dirty="0"/>
              <a:t>can use only half of the cycle time for their critical path.</a:t>
            </a:r>
            <a:endParaRPr lang="en-US" sz="28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6117" y="170003"/>
            <a:ext cx="10364451" cy="57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/>
              <a:t>Performance Analysis</a:t>
            </a:r>
            <a:r>
              <a:rPr lang="en-IN" b="1" dirty="0" smtClean="0"/>
              <a:t>: 475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0333632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6" y="237378"/>
            <a:ext cx="1188251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Figure 7.62 shows the critical path for the </a:t>
            </a:r>
            <a:r>
              <a:rPr lang="en-US" sz="2800" dirty="0" smtClean="0"/>
              <a:t>Execute stage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It </a:t>
            </a:r>
            <a:r>
              <a:rPr lang="en-US" sz="2800" dirty="0"/>
              <a:t>occurs when a branch is in the Execute stage that requires </a:t>
            </a:r>
            <a:r>
              <a:rPr lang="en-US" sz="2800" dirty="0" smtClean="0"/>
              <a:t>forwarding from </a:t>
            </a:r>
            <a:r>
              <a:rPr lang="en-US" sz="2800" dirty="0"/>
              <a:t>the </a:t>
            </a:r>
            <a:r>
              <a:rPr lang="en-US" sz="2800" dirty="0" err="1"/>
              <a:t>Writeback</a:t>
            </a:r>
            <a:r>
              <a:rPr lang="en-US" sz="2800" dirty="0"/>
              <a:t> stage: the path goes from the </a:t>
            </a:r>
            <a:r>
              <a:rPr lang="en-US" sz="2800" dirty="0" err="1" smtClean="0"/>
              <a:t>Writeback</a:t>
            </a:r>
            <a:r>
              <a:rPr lang="en-US" sz="2800" dirty="0" smtClean="0"/>
              <a:t> pipeline </a:t>
            </a:r>
            <a:r>
              <a:rPr lang="en-US" sz="2800" dirty="0"/>
              <a:t>register, through the Result, </a:t>
            </a:r>
            <a:r>
              <a:rPr lang="en-US" sz="2800" dirty="0" err="1"/>
              <a:t>ForwardBE</a:t>
            </a:r>
            <a:r>
              <a:rPr lang="en-US" sz="2800" dirty="0"/>
              <a:t>, and </a:t>
            </a:r>
            <a:r>
              <a:rPr lang="en-US" sz="2800" dirty="0" err="1"/>
              <a:t>SrcB</a:t>
            </a:r>
            <a:r>
              <a:rPr lang="en-US" sz="2800" dirty="0"/>
              <a:t> </a:t>
            </a:r>
            <a:r>
              <a:rPr lang="en-US" sz="2800" dirty="0" smtClean="0"/>
              <a:t>multiplexers, through </a:t>
            </a:r>
            <a:r>
              <a:rPr lang="en-US" sz="2800" dirty="0"/>
              <a:t>the ALU and AND-OR logic to the PC multiplexer and, </a:t>
            </a:r>
            <a:r>
              <a:rPr lang="en-US" sz="2800" dirty="0" smtClean="0"/>
              <a:t>finally, </a:t>
            </a:r>
            <a:r>
              <a:rPr lang="en-IN" sz="2800" dirty="0" smtClean="0"/>
              <a:t>to </a:t>
            </a:r>
            <a:r>
              <a:rPr lang="en-IN" sz="2800" dirty="0"/>
              <a:t>the PC register.</a:t>
            </a:r>
            <a:endParaRPr lang="en-US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60" t="58929" r="14885" b="22387"/>
          <a:stretch/>
        </p:blipFill>
        <p:spPr bwMode="auto">
          <a:xfrm>
            <a:off x="23292" y="2949974"/>
            <a:ext cx="12129453" cy="3514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438015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83" t="23810" r="11872" b="13492"/>
          <a:stretch/>
        </p:blipFill>
        <p:spPr bwMode="auto">
          <a:xfrm>
            <a:off x="1137044" y="84408"/>
            <a:ext cx="10117126" cy="6660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0" y="6375518"/>
            <a:ext cx="11456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Page: 477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4360849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486" y="237378"/>
            <a:ext cx="1188251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The pipelined processor is substantially faster than the others.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However, its advantage over the single-cycle processor is nowhere </a:t>
            </a:r>
            <a:r>
              <a:rPr lang="en-US" sz="2800" dirty="0" smtClean="0"/>
              <a:t>near the </a:t>
            </a:r>
            <a:r>
              <a:rPr lang="en-US" sz="2800" dirty="0"/>
              <a:t>fivefold speedup one might hope to get from a five-stage pipeline</a:t>
            </a:r>
            <a:r>
              <a:rPr lang="en-US" sz="2800" dirty="0" smtClean="0"/>
              <a:t>.</a:t>
            </a:r>
            <a:r>
              <a:rPr lang="en-US" sz="2800" dirty="0"/>
              <a:t>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pipeline hazards introduce a small CPI </a:t>
            </a:r>
            <a:r>
              <a:rPr lang="en-US" sz="2800" dirty="0" smtClean="0"/>
              <a:t>penalty.</a:t>
            </a:r>
            <a:r>
              <a:rPr lang="en-US" sz="2800" dirty="0"/>
              <a:t>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pipelined processor is similar in hardware </a:t>
            </a:r>
            <a:r>
              <a:rPr lang="en-US" sz="2800" dirty="0" smtClean="0"/>
              <a:t>requirements to </a:t>
            </a:r>
            <a:r>
              <a:rPr lang="en-US" sz="2800" dirty="0"/>
              <a:t>the single-cycle processor, but it adds many 32-bit </a:t>
            </a:r>
            <a:r>
              <a:rPr lang="en-US" sz="2800" dirty="0" smtClean="0"/>
              <a:t>pipeline registers</a:t>
            </a:r>
            <a:r>
              <a:rPr lang="en-US" sz="2800" dirty="0"/>
              <a:t>, along with multiplexers, smaller pipeline registers, and </a:t>
            </a:r>
            <a:r>
              <a:rPr lang="en-US" sz="2800" dirty="0" smtClean="0"/>
              <a:t>control </a:t>
            </a:r>
            <a:r>
              <a:rPr lang="en-IN" sz="2800" dirty="0" smtClean="0"/>
              <a:t>logic </a:t>
            </a:r>
            <a:r>
              <a:rPr lang="en-IN" sz="2800" dirty="0"/>
              <a:t>to resolve hazards.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6037015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6606" y="2882094"/>
            <a:ext cx="1188251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latin typeface="Forte" pitchFamily="66" charset="0"/>
              </a:rPr>
              <a:t>END</a:t>
            </a:r>
            <a:endParaRPr lang="en-US" sz="6600" b="1" dirty="0">
              <a:latin typeface="Forte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27991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3772</TotalTime>
  <Words>7773</Words>
  <Application>Microsoft Office PowerPoint</Application>
  <PresentationFormat>Custom</PresentationFormat>
  <Paragraphs>574</Paragraphs>
  <Slides>130</Slides>
  <Notes>4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130</vt:i4>
      </vt:variant>
    </vt:vector>
  </HeadingPairs>
  <TitlesOfParts>
    <vt:vector size="131" baseType="lpstr">
      <vt:lpstr>Droplet</vt:lpstr>
      <vt:lpstr>COMPUTER ORGANIZATION AND ARCHITECTURE</vt:lpstr>
      <vt:lpstr>MODULE 2</vt:lpstr>
      <vt:lpstr>Microarchitecture -</vt:lpstr>
      <vt:lpstr>Introduction: Architectural State and Instruction Set : 415</vt:lpstr>
      <vt:lpstr>PowerPoint Presentation</vt:lpstr>
      <vt:lpstr>Introduction: Design Process: 416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Introduction: Microarchitectures: 418</vt:lpstr>
      <vt:lpstr>PERFORMANCE ANALYSIS</vt:lpstr>
      <vt:lpstr>PowerPoint Presentation</vt:lpstr>
      <vt:lpstr>PERFORMANCE ANALYSIS</vt:lpstr>
      <vt:lpstr>PowerPoint Presentation</vt:lpstr>
      <vt:lpstr>Single-Cycle Processor - </vt:lpstr>
      <vt:lpstr>SINGLE-CYCLE PROCESSOR: 420</vt:lpstr>
      <vt:lpstr>SINGLE-CYCLE PROCESSOR: Sample Program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Pipelined Processor -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Pipelined Control: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AND ARCHITECTURE</dc:title>
  <dc:creator>aiswarya640@hotmail.com</dc:creator>
  <cp:lastModifiedBy>User</cp:lastModifiedBy>
  <cp:revision>143</cp:revision>
  <dcterms:created xsi:type="dcterms:W3CDTF">2025-11-23T01:06:49Z</dcterms:created>
  <dcterms:modified xsi:type="dcterms:W3CDTF">2026-01-27T23:38:15Z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