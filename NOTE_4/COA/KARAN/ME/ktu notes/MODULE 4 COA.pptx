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100"/>
  </p:notesMasterIdLst>
  <p:sldIdLst>
    <p:sldId id="278" r:id="rId5"/>
    <p:sldId id="282" r:id="rId6"/>
    <p:sldId id="279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4" r:id="rId16"/>
    <p:sldId id="293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2" r:id="rId44"/>
    <p:sldId id="323" r:id="rId45"/>
    <p:sldId id="325" r:id="rId46"/>
    <p:sldId id="324" r:id="rId47"/>
    <p:sldId id="321" r:id="rId48"/>
    <p:sldId id="326" r:id="rId49"/>
    <p:sldId id="327" r:id="rId50"/>
    <p:sldId id="328" r:id="rId51"/>
    <p:sldId id="329" r:id="rId52"/>
    <p:sldId id="330" r:id="rId53"/>
    <p:sldId id="331" r:id="rId54"/>
    <p:sldId id="333" r:id="rId55"/>
    <p:sldId id="334" r:id="rId56"/>
    <p:sldId id="335" r:id="rId57"/>
    <p:sldId id="336" r:id="rId58"/>
    <p:sldId id="337" r:id="rId59"/>
    <p:sldId id="338" r:id="rId60"/>
    <p:sldId id="340" r:id="rId61"/>
    <p:sldId id="339" r:id="rId62"/>
    <p:sldId id="341" r:id="rId63"/>
    <p:sldId id="343" r:id="rId64"/>
    <p:sldId id="342" r:id="rId65"/>
    <p:sldId id="284" r:id="rId66"/>
    <p:sldId id="344" r:id="rId67"/>
    <p:sldId id="345" r:id="rId68"/>
    <p:sldId id="346" r:id="rId69"/>
    <p:sldId id="347" r:id="rId70"/>
    <p:sldId id="349" r:id="rId71"/>
    <p:sldId id="350" r:id="rId72"/>
    <p:sldId id="351" r:id="rId73"/>
    <p:sldId id="352" r:id="rId74"/>
    <p:sldId id="353" r:id="rId75"/>
    <p:sldId id="354" r:id="rId76"/>
    <p:sldId id="355" r:id="rId77"/>
    <p:sldId id="356" r:id="rId78"/>
    <p:sldId id="357" r:id="rId79"/>
    <p:sldId id="359" r:id="rId80"/>
    <p:sldId id="360" r:id="rId81"/>
    <p:sldId id="362" r:id="rId82"/>
    <p:sldId id="361" r:id="rId83"/>
    <p:sldId id="363" r:id="rId84"/>
    <p:sldId id="371" r:id="rId85"/>
    <p:sldId id="372" r:id="rId86"/>
    <p:sldId id="373" r:id="rId87"/>
    <p:sldId id="374" r:id="rId88"/>
    <p:sldId id="375" r:id="rId89"/>
    <p:sldId id="376" r:id="rId90"/>
    <p:sldId id="377" r:id="rId91"/>
    <p:sldId id="378" r:id="rId92"/>
    <p:sldId id="364" r:id="rId93"/>
    <p:sldId id="365" r:id="rId94"/>
    <p:sldId id="366" r:id="rId95"/>
    <p:sldId id="367" r:id="rId96"/>
    <p:sldId id="369" r:id="rId97"/>
    <p:sldId id="379" r:id="rId98"/>
    <p:sldId id="370" r:id="rId9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5" d="100"/>
          <a:sy n="65" d="100"/>
        </p:scale>
        <p:origin x="-2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16D7389-B600-1416-BAC3-DA320610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98BDD4A-4F04-5A3D-938F-36C3959D7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1995955-8101-38A3-1B26-D62C918DC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571A6E1-66C9-87EA-68A5-38A057243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668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0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644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7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988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51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56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6967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95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00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2975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68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8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799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4011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1134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96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7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8A1C807-B9AD-4C9B-BF9F-60F0342899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4518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316463"/>
            <a:ext cx="12192001" cy="810886"/>
          </a:xfrm>
        </p:spPr>
        <p:txBody>
          <a:bodyPr>
            <a:normAutofit/>
          </a:bodyPr>
          <a:lstStyle/>
          <a:p>
            <a:pPr algn="l"/>
            <a:r>
              <a:rPr lang="en-IN" sz="4400" b="1" dirty="0"/>
              <a:t>COMPUTER ORGANIZATION AND ARCHITECTURE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4252" y="3730652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MODULE </a:t>
            </a:r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4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EB073B8-C21B-28A1-1224-A93FCC06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DCD4DA-D0DB-52EC-E2C3-EB2DE636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</a:t>
            </a:r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D3EA4F-B754-2AAC-457C-F29B000D3DA6}"/>
              </a:ext>
            </a:extLst>
          </p:cNvPr>
          <p:cNvSpPr txBox="1"/>
          <p:nvPr/>
        </p:nvSpPr>
        <p:spPr>
          <a:xfrm>
            <a:off x="142874" y="1777992"/>
            <a:ext cx="119872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Input / Output - External Devices; I/O Modules; Programmed I/O</a:t>
            </a:r>
            <a:r>
              <a:rPr lang="pt-BR" sz="3200" dirty="0" smtClean="0"/>
              <a:t>, </a:t>
            </a:r>
            <a:r>
              <a:rPr lang="en-US" sz="3200" dirty="0" smtClean="0"/>
              <a:t>Interrupt </a:t>
            </a:r>
            <a:r>
              <a:rPr lang="en-US" sz="3200" dirty="0"/>
              <a:t>Driven I/O; Direct Memory Access; Embedded I/O Systems </a:t>
            </a:r>
            <a:r>
              <a:rPr lang="en-US" sz="3200" dirty="0" smtClean="0"/>
              <a:t>- </a:t>
            </a:r>
            <a:r>
              <a:rPr lang="en-IN" sz="3200" dirty="0" smtClean="0"/>
              <a:t>Embedded </a:t>
            </a:r>
            <a:r>
              <a:rPr lang="en-IN" sz="3200" dirty="0"/>
              <a:t>I/O, General Purpose I/O, Serial I/O, Other Peripherals.</a:t>
            </a:r>
          </a:p>
        </p:txBody>
      </p:sp>
    </p:spTree>
    <p:extLst>
      <p:ext uri="{BB962C8B-B14F-4D97-AF65-F5344CB8AC3E}">
        <p14:creationId xmlns:p14="http://schemas.microsoft.com/office/powerpoint/2010/main" val="302783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2B2D6DE-C9B5-4678-91EF-77E85F2350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/>
          </a:bodyPr>
          <a:lstStyle/>
          <a:p>
            <a:pPr algn="l"/>
            <a:r>
              <a:rPr lang="pt-BR" sz="4000" dirty="0"/>
              <a:t>Input / Output -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=""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pt-BR" sz="2400" dirty="0" smtClean="0"/>
              <a:t>External </a:t>
            </a:r>
            <a:r>
              <a:rPr lang="pt-BR" sz="2400" dirty="0"/>
              <a:t>Devices; </a:t>
            </a:r>
            <a:endParaRPr lang="pt-BR" sz="2400" dirty="0" smtClean="0"/>
          </a:p>
          <a:p>
            <a:r>
              <a:rPr lang="pt-BR" sz="2400" dirty="0" smtClean="0"/>
              <a:t>I/O </a:t>
            </a:r>
            <a:r>
              <a:rPr lang="pt-BR" sz="2400" dirty="0"/>
              <a:t>Modules; </a:t>
            </a:r>
            <a:endParaRPr lang="pt-BR" sz="2400" dirty="0" smtClean="0"/>
          </a:p>
          <a:p>
            <a:r>
              <a:rPr lang="pt-BR" sz="2400" dirty="0" smtClean="0"/>
              <a:t>Programmed </a:t>
            </a:r>
            <a:r>
              <a:rPr lang="pt-BR" sz="2400" dirty="0"/>
              <a:t>I/O,</a:t>
            </a:r>
          </a:p>
          <a:p>
            <a:r>
              <a:rPr lang="en-US" sz="2400" dirty="0"/>
              <a:t>Interrupt Driven I/O; </a:t>
            </a:r>
            <a:endParaRPr lang="en-US" sz="2400" dirty="0" smtClean="0"/>
          </a:p>
          <a:p>
            <a:r>
              <a:rPr lang="en-US" sz="2400" dirty="0" smtClean="0"/>
              <a:t>Direct </a:t>
            </a:r>
            <a:r>
              <a:rPr lang="en-US" sz="2400" dirty="0"/>
              <a:t>Memory Access;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826825"/>
          </a:xfrm>
        </p:spPr>
        <p:txBody>
          <a:bodyPr/>
          <a:lstStyle/>
          <a:p>
            <a:r>
              <a:rPr lang="en-IN" b="1" dirty="0"/>
              <a:t>EXTERNAL </a:t>
            </a:r>
            <a:r>
              <a:rPr lang="en-IN" b="1" dirty="0" smtClean="0"/>
              <a:t>DEVICES: 219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60439" y="1106130"/>
            <a:ext cx="1163156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External devices that provide </a:t>
            </a:r>
            <a:r>
              <a:rPr lang="en-US" sz="2800" dirty="0"/>
              <a:t>a </a:t>
            </a:r>
            <a:r>
              <a:rPr lang="en-US" sz="2800" b="1" dirty="0"/>
              <a:t>means of exchanging data </a:t>
            </a:r>
            <a:r>
              <a:rPr lang="en-US" sz="2800" dirty="0"/>
              <a:t>between the external environment and </a:t>
            </a:r>
            <a:r>
              <a:rPr lang="en-US" sz="2800" dirty="0" smtClean="0"/>
              <a:t>the computer</a:t>
            </a:r>
            <a:r>
              <a:rPr lang="en-US" sz="2800" dirty="0"/>
              <a:t>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28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/>
              <a:t>external device </a:t>
            </a:r>
            <a:r>
              <a:rPr lang="en-US" sz="2800" b="1" dirty="0"/>
              <a:t>attaches</a:t>
            </a:r>
            <a:r>
              <a:rPr lang="en-US" sz="2800" dirty="0"/>
              <a:t> to the computer by a </a:t>
            </a:r>
            <a:r>
              <a:rPr lang="en-US" sz="2800" b="1" dirty="0"/>
              <a:t>link to an I/O </a:t>
            </a:r>
            <a:r>
              <a:rPr lang="en-US" sz="2800" b="1" dirty="0" smtClean="0"/>
              <a:t>module </a:t>
            </a:r>
            <a:r>
              <a:rPr lang="en-US" sz="2800" dirty="0" smtClean="0"/>
              <a:t>(Figure </a:t>
            </a:r>
            <a:r>
              <a:rPr lang="en-US" sz="2800" dirty="0"/>
              <a:t>7.1).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28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link is used to </a:t>
            </a:r>
            <a:r>
              <a:rPr lang="en-US" sz="2800" b="1" dirty="0"/>
              <a:t>exchange control, status, and data </a:t>
            </a:r>
            <a:r>
              <a:rPr lang="en-US" sz="2800" dirty="0"/>
              <a:t>between the </a:t>
            </a:r>
            <a:r>
              <a:rPr lang="en-US" sz="2800" dirty="0" smtClean="0"/>
              <a:t>I/O module </a:t>
            </a:r>
            <a:r>
              <a:rPr lang="en-US" sz="2800" dirty="0"/>
              <a:t>and the external device.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28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/>
              <a:t>external device connected to an I/O module </a:t>
            </a:r>
            <a:r>
              <a:rPr lang="en-US" sz="2800" dirty="0" smtClean="0"/>
              <a:t>is often </a:t>
            </a:r>
            <a:r>
              <a:rPr lang="en-US" sz="2800" dirty="0"/>
              <a:t>referred to as a </a:t>
            </a:r>
            <a:r>
              <a:rPr lang="en-US" sz="2800" b="1" i="1" dirty="0"/>
              <a:t>peripheral device </a:t>
            </a:r>
            <a:r>
              <a:rPr lang="en-US" sz="2800" b="1" dirty="0"/>
              <a:t>or, simply, a </a:t>
            </a:r>
            <a:r>
              <a:rPr lang="en-US" sz="2800" b="1" i="1" dirty="0"/>
              <a:t>peripheral</a:t>
            </a:r>
            <a:r>
              <a:rPr lang="en-US" sz="2800" i="1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4590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45" t="20032" r="19812" b="24407"/>
          <a:stretch/>
        </p:blipFill>
        <p:spPr bwMode="auto">
          <a:xfrm>
            <a:off x="1961535" y="-1"/>
            <a:ext cx="7433187" cy="680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599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353962"/>
            <a:ext cx="11631561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lassify </a:t>
            </a:r>
            <a:r>
              <a:rPr lang="en-US" sz="2800" dirty="0"/>
              <a:t>external devices into three categories: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Human readable: </a:t>
            </a:r>
            <a:r>
              <a:rPr lang="en-US" sz="2800" dirty="0"/>
              <a:t>Suitable for communicating with the computer user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Machine readable: </a:t>
            </a:r>
            <a:r>
              <a:rPr lang="en-US" sz="2800" dirty="0"/>
              <a:t>Suitable for communicating with equipment</a:t>
            </a:r>
          </a:p>
          <a:p>
            <a:r>
              <a:rPr lang="en-IN" sz="2800" dirty="0"/>
              <a:t>• </a:t>
            </a:r>
            <a:r>
              <a:rPr lang="en-IN" sz="2800" b="1" dirty="0"/>
              <a:t>Communication: </a:t>
            </a:r>
            <a:r>
              <a:rPr lang="en-IN" sz="2800" dirty="0"/>
              <a:t>Suitable for communicating with remote </a:t>
            </a:r>
            <a:r>
              <a:rPr lang="en-IN" sz="2800" dirty="0" smtClean="0"/>
              <a:t>devices</a:t>
            </a:r>
          </a:p>
          <a:p>
            <a:endParaRPr lang="en-IN" sz="2800" dirty="0"/>
          </a:p>
          <a:p>
            <a:r>
              <a:rPr lang="en-US" sz="2800" dirty="0"/>
              <a:t>Examples of human-readable devices are </a:t>
            </a:r>
            <a:r>
              <a:rPr lang="en-US" sz="2800" b="1" dirty="0"/>
              <a:t>video display terminals (VDTs) and</a:t>
            </a:r>
          </a:p>
          <a:p>
            <a:r>
              <a:rPr lang="en-US" sz="2800" b="1" dirty="0"/>
              <a:t>printers. </a:t>
            </a:r>
            <a:endParaRPr lang="en-US" sz="2800" b="1" dirty="0" smtClean="0"/>
          </a:p>
          <a:p>
            <a:endParaRPr lang="en-US" sz="2800" dirty="0"/>
          </a:p>
          <a:p>
            <a:r>
              <a:rPr lang="en-US" sz="2800" dirty="0" smtClean="0"/>
              <a:t>Examples </a:t>
            </a:r>
            <a:r>
              <a:rPr lang="en-US" sz="2800" dirty="0"/>
              <a:t>of machine-readable devices are </a:t>
            </a:r>
            <a:r>
              <a:rPr lang="en-US" sz="2800" b="1" dirty="0"/>
              <a:t>magnetic disk and tape systems,</a:t>
            </a:r>
          </a:p>
          <a:p>
            <a:r>
              <a:rPr lang="en-US" sz="2800" b="1" dirty="0"/>
              <a:t>and sensors and actuator</a:t>
            </a:r>
            <a:r>
              <a:rPr lang="en-US" sz="2800" dirty="0"/>
              <a:t>s, such as are used in a robotics </a:t>
            </a:r>
            <a:r>
              <a:rPr lang="en-US" sz="2800" dirty="0" smtClean="0"/>
              <a:t>application</a:t>
            </a:r>
          </a:p>
          <a:p>
            <a:endParaRPr lang="en-US" sz="2800" dirty="0"/>
          </a:p>
          <a:p>
            <a:r>
              <a:rPr lang="en-US" sz="2800" dirty="0"/>
              <a:t>Communication devices allow a computer to exchange data with a remote </a:t>
            </a:r>
            <a:r>
              <a:rPr lang="en-US" sz="2800" dirty="0" smtClean="0"/>
              <a:t>device, which </a:t>
            </a:r>
            <a:r>
              <a:rPr lang="en-US" sz="2800" dirty="0"/>
              <a:t>may be a </a:t>
            </a:r>
            <a:r>
              <a:rPr lang="en-US" sz="2800" b="1" dirty="0"/>
              <a:t>human-readable </a:t>
            </a:r>
            <a:r>
              <a:rPr lang="en-US" sz="2800" b="1" dirty="0" smtClean="0"/>
              <a:t>device or, </a:t>
            </a:r>
            <a:r>
              <a:rPr lang="en-US" sz="2800" b="1" dirty="0"/>
              <a:t>a </a:t>
            </a:r>
            <a:r>
              <a:rPr lang="en-US" sz="2800" b="1" dirty="0" smtClean="0"/>
              <a:t>machine-readable device</a:t>
            </a:r>
            <a:r>
              <a:rPr lang="en-US" sz="2800" b="1" dirty="0"/>
              <a:t>, or even another computer.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03394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</a:t>
            </a:r>
            <a:r>
              <a:rPr lang="en-US" sz="2800" dirty="0" smtClean="0"/>
              <a:t>he </a:t>
            </a:r>
            <a:r>
              <a:rPr lang="en-US" sz="2800" dirty="0"/>
              <a:t>nature of an external device is indicated in Figure 7.2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The interface to the I/O module </a:t>
            </a:r>
            <a:r>
              <a:rPr lang="en-US" sz="2800" dirty="0"/>
              <a:t>is in the form of control, data, and status signals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i="1" dirty="0"/>
              <a:t>Control signals </a:t>
            </a:r>
            <a:r>
              <a:rPr lang="en-US" sz="2800" dirty="0"/>
              <a:t>determine the function that the device will perform, such as </a:t>
            </a:r>
            <a:r>
              <a:rPr lang="en-US" sz="2800" b="1" dirty="0" smtClean="0"/>
              <a:t>send data </a:t>
            </a:r>
            <a:r>
              <a:rPr lang="en-US" sz="2800" b="1" dirty="0"/>
              <a:t>to the I/O module </a:t>
            </a:r>
            <a:r>
              <a:rPr lang="en-US" sz="2800" dirty="0"/>
              <a:t>(INPUT or READ), </a:t>
            </a:r>
            <a:r>
              <a:rPr lang="en-US" sz="2800" b="1" dirty="0"/>
              <a:t>accept data from the I/O </a:t>
            </a:r>
            <a:r>
              <a:rPr lang="en-US" sz="2800" dirty="0" smtClean="0"/>
              <a:t>module (OUTPUT </a:t>
            </a:r>
            <a:r>
              <a:rPr lang="en-US" sz="2800" dirty="0"/>
              <a:t>or </a:t>
            </a:r>
            <a:r>
              <a:rPr lang="en-US" sz="2800" dirty="0" smtClean="0"/>
              <a:t>WRITE, or </a:t>
            </a:r>
            <a:r>
              <a:rPr lang="en-US" sz="2800" dirty="0"/>
              <a:t>perform some control function </a:t>
            </a:r>
            <a:r>
              <a:rPr lang="en-US" sz="2800" dirty="0" smtClean="0"/>
              <a:t>particular to </a:t>
            </a:r>
            <a:r>
              <a:rPr lang="en-US" sz="2800" dirty="0"/>
              <a:t>the device (e.g., position a disk head).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i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i="1" dirty="0" smtClean="0"/>
              <a:t>Data </a:t>
            </a:r>
            <a:r>
              <a:rPr lang="en-US" sz="2800" dirty="0"/>
              <a:t>are in the form of </a:t>
            </a:r>
            <a:r>
              <a:rPr lang="en-US" sz="2800" b="1" dirty="0"/>
              <a:t>a set of bits to </a:t>
            </a:r>
            <a:r>
              <a:rPr lang="en-US" sz="2800" b="1" dirty="0" smtClean="0"/>
              <a:t>be sent </a:t>
            </a:r>
            <a:r>
              <a:rPr lang="en-US" sz="2800" b="1" dirty="0"/>
              <a:t>to or received</a:t>
            </a:r>
            <a:r>
              <a:rPr lang="en-US" sz="2800" dirty="0"/>
              <a:t> from the I/O module.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i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i="1" dirty="0" smtClean="0"/>
              <a:t>Status </a:t>
            </a:r>
            <a:r>
              <a:rPr lang="en-US" sz="2800" i="1" dirty="0"/>
              <a:t>signals </a:t>
            </a:r>
            <a:r>
              <a:rPr lang="en-US" sz="2800" dirty="0"/>
              <a:t>indicate the </a:t>
            </a:r>
            <a:r>
              <a:rPr lang="en-US" sz="2800" b="1" dirty="0"/>
              <a:t>state of the </a:t>
            </a:r>
            <a:r>
              <a:rPr lang="en-US" sz="2800" b="1" dirty="0" smtClean="0"/>
              <a:t>device.</a:t>
            </a:r>
            <a:r>
              <a:rPr lang="en-US" sz="2800" dirty="0" smtClean="0"/>
              <a:t> Examples </a:t>
            </a:r>
            <a:r>
              <a:rPr lang="en-US" sz="2800" dirty="0"/>
              <a:t>are READY/NOT-READY to show whether the device is ready </a:t>
            </a:r>
            <a:r>
              <a:rPr lang="en-US" sz="2800" dirty="0" smtClean="0"/>
              <a:t>for </a:t>
            </a:r>
            <a:r>
              <a:rPr lang="en-IN" sz="2800" dirty="0" smtClean="0"/>
              <a:t>data </a:t>
            </a:r>
            <a:r>
              <a:rPr lang="en-IN" sz="2800" dirty="0"/>
              <a:t>transfer.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57299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23" t="41458" r="23866" b="11459"/>
          <a:stretch/>
        </p:blipFill>
        <p:spPr bwMode="auto">
          <a:xfrm>
            <a:off x="2225040" y="152399"/>
            <a:ext cx="6842760" cy="644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218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i="1" dirty="0"/>
              <a:t>Control logic </a:t>
            </a:r>
            <a:r>
              <a:rPr lang="en-US" sz="2800" dirty="0"/>
              <a:t>associated with the device </a:t>
            </a:r>
            <a:r>
              <a:rPr lang="en-US" sz="2800" b="1" dirty="0"/>
              <a:t>controls the device’s operation </a:t>
            </a:r>
            <a:r>
              <a:rPr lang="en-US" sz="2800" dirty="0" smtClean="0"/>
              <a:t>in response to </a:t>
            </a:r>
            <a:r>
              <a:rPr lang="en-US" sz="2800" dirty="0"/>
              <a:t>direction from the I/O module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i="1" dirty="0"/>
              <a:t>transducer</a:t>
            </a:r>
            <a:r>
              <a:rPr lang="en-US" sz="2800" i="1" dirty="0"/>
              <a:t> </a:t>
            </a:r>
            <a:r>
              <a:rPr lang="en-US" sz="2800" b="1" dirty="0"/>
              <a:t>converts data from </a:t>
            </a:r>
            <a:r>
              <a:rPr lang="en-US" sz="2800" b="1" dirty="0" smtClean="0"/>
              <a:t>electrical to </a:t>
            </a:r>
            <a:r>
              <a:rPr lang="en-US" sz="2800" b="1" dirty="0"/>
              <a:t>other forms </a:t>
            </a:r>
            <a:r>
              <a:rPr lang="en-US" sz="2800" dirty="0"/>
              <a:t>of energy during output and from other forms to electrical </a:t>
            </a:r>
            <a:r>
              <a:rPr lang="en-US" sz="2800" dirty="0" smtClean="0"/>
              <a:t>during input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Typically</a:t>
            </a:r>
            <a:r>
              <a:rPr lang="en-US" sz="2800" dirty="0"/>
              <a:t>, a </a:t>
            </a:r>
            <a:r>
              <a:rPr lang="en-US" sz="2800" b="1" dirty="0"/>
              <a:t>buffer</a:t>
            </a:r>
            <a:r>
              <a:rPr lang="en-US" sz="2800" dirty="0"/>
              <a:t> is associated with the transducer </a:t>
            </a:r>
            <a:r>
              <a:rPr lang="en-US" sz="2800" b="1" dirty="0"/>
              <a:t>to temporarily hold </a:t>
            </a:r>
            <a:r>
              <a:rPr lang="en-US" sz="2800" b="1" dirty="0" smtClean="0"/>
              <a:t>data </a:t>
            </a:r>
            <a:r>
              <a:rPr lang="en-US" sz="2800" dirty="0" smtClean="0"/>
              <a:t>being </a:t>
            </a:r>
            <a:r>
              <a:rPr lang="en-US" sz="2800" dirty="0"/>
              <a:t>transferred between the I/O module and the external environment; a </a:t>
            </a:r>
            <a:r>
              <a:rPr lang="en-US" sz="2800" dirty="0" smtClean="0"/>
              <a:t>buffer size </a:t>
            </a:r>
            <a:r>
              <a:rPr lang="en-US" sz="2800" dirty="0"/>
              <a:t>of 8 to 16 bits is common.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7534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826825"/>
          </a:xfrm>
        </p:spPr>
        <p:txBody>
          <a:bodyPr/>
          <a:lstStyle/>
          <a:p>
            <a:r>
              <a:rPr lang="en-IN" b="1" dirty="0"/>
              <a:t>Keyboard/Monitor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4953" y="1106130"/>
            <a:ext cx="119870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basic unit of exchange is the character.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Associated </a:t>
            </a:r>
            <a:r>
              <a:rPr lang="en-US" sz="2800" dirty="0"/>
              <a:t>with each character is </a:t>
            </a:r>
            <a:r>
              <a:rPr lang="en-US" sz="2800" dirty="0" smtClean="0"/>
              <a:t>a code</a:t>
            </a:r>
            <a:r>
              <a:rPr lang="en-US" sz="2800" dirty="0"/>
              <a:t>, typically 7 or 8 bits in length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most commonly used text code is the </a:t>
            </a:r>
            <a:r>
              <a:rPr lang="en-US" sz="2800" b="1" dirty="0" smtClean="0"/>
              <a:t>International Reference </a:t>
            </a:r>
            <a:r>
              <a:rPr lang="en-US" sz="2800" b="1" dirty="0"/>
              <a:t>Alphabet </a:t>
            </a:r>
            <a:r>
              <a:rPr lang="en-US" sz="2800" dirty="0"/>
              <a:t>(IRA).1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Each </a:t>
            </a:r>
            <a:r>
              <a:rPr lang="en-US" sz="2800" dirty="0"/>
              <a:t>character in this code is represented </a:t>
            </a:r>
            <a:r>
              <a:rPr lang="en-US" sz="2800" dirty="0" smtClean="0"/>
              <a:t>by a </a:t>
            </a:r>
            <a:r>
              <a:rPr lang="en-US" sz="2800" dirty="0"/>
              <a:t>unique 7-bit binary code; thus, 128 different characters can be represented.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Characters are </a:t>
            </a:r>
            <a:r>
              <a:rPr lang="en-US" sz="2800" dirty="0"/>
              <a:t>of two types: </a:t>
            </a:r>
            <a:r>
              <a:rPr lang="en-US" sz="2800" b="1" dirty="0"/>
              <a:t>printable and control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Printable</a:t>
            </a:r>
            <a:r>
              <a:rPr lang="en-US" sz="2800" dirty="0" smtClean="0"/>
              <a:t> </a:t>
            </a:r>
            <a:r>
              <a:rPr lang="en-US" sz="2800" dirty="0"/>
              <a:t>characters are the </a:t>
            </a:r>
            <a:r>
              <a:rPr lang="en-US" sz="2800" b="1" dirty="0" smtClean="0"/>
              <a:t>alphabetic, numeric</a:t>
            </a:r>
            <a:r>
              <a:rPr lang="en-US" sz="2800" b="1" dirty="0"/>
              <a:t>, and special characters </a:t>
            </a:r>
            <a:r>
              <a:rPr lang="en-US" sz="2800" dirty="0"/>
              <a:t>that can be printed on paper or displayed on </a:t>
            </a:r>
            <a:r>
              <a:rPr lang="en-US" sz="2800" dirty="0" smtClean="0"/>
              <a:t>a screen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Some </a:t>
            </a:r>
            <a:r>
              <a:rPr lang="en-US" sz="2800" dirty="0"/>
              <a:t>of the control characters have to do with controlling the printing </a:t>
            </a:r>
            <a:r>
              <a:rPr lang="en-US" sz="2800" dirty="0" smtClean="0"/>
              <a:t>or displaying </a:t>
            </a:r>
            <a:r>
              <a:rPr lang="en-US" sz="2800" dirty="0"/>
              <a:t>of </a:t>
            </a:r>
            <a:r>
              <a:rPr lang="en-US" sz="2800" dirty="0" smtClean="0"/>
              <a:t>characters.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6868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826825"/>
          </a:xfrm>
        </p:spPr>
        <p:txBody>
          <a:bodyPr/>
          <a:lstStyle/>
          <a:p>
            <a:r>
              <a:rPr lang="en-IN" b="1" dirty="0"/>
              <a:t>Disk Drive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4953" y="1106130"/>
            <a:ext cx="119870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 disk drive contains electronics for </a:t>
            </a:r>
            <a:r>
              <a:rPr lang="en-US" sz="2800" b="1" dirty="0"/>
              <a:t>exchanging data, control, and status </a:t>
            </a:r>
            <a:r>
              <a:rPr lang="en-US" sz="2800" b="1" dirty="0" smtClean="0"/>
              <a:t>signals </a:t>
            </a:r>
            <a:r>
              <a:rPr lang="en-US" sz="2800" dirty="0" smtClean="0"/>
              <a:t>with </a:t>
            </a:r>
            <a:r>
              <a:rPr lang="en-US" sz="2800" dirty="0"/>
              <a:t>an I/O module plus the electronics </a:t>
            </a:r>
            <a:r>
              <a:rPr lang="en-US" sz="2800" b="1" dirty="0"/>
              <a:t>for controlling the disk read/write </a:t>
            </a:r>
            <a:r>
              <a:rPr lang="en-US" sz="2800" b="1" dirty="0" smtClean="0"/>
              <a:t>mechanism.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a </a:t>
            </a:r>
            <a:r>
              <a:rPr lang="en-US" sz="2800" b="1" dirty="0"/>
              <a:t>fixed-head disk</a:t>
            </a:r>
            <a:r>
              <a:rPr lang="en-US" sz="2800" dirty="0"/>
              <a:t>, the </a:t>
            </a:r>
            <a:r>
              <a:rPr lang="en-US" sz="2800" b="1" dirty="0"/>
              <a:t>transducer</a:t>
            </a:r>
            <a:r>
              <a:rPr lang="en-US" sz="2800" dirty="0"/>
              <a:t> is capable of converting between the </a:t>
            </a:r>
            <a:r>
              <a:rPr lang="en-US" sz="2800" b="1" dirty="0" smtClean="0"/>
              <a:t>magnetic patterns </a:t>
            </a:r>
            <a:r>
              <a:rPr lang="en-US" sz="2800" dirty="0"/>
              <a:t>on the moving disk surface and </a:t>
            </a:r>
            <a:r>
              <a:rPr lang="en-US" sz="2800" b="1" dirty="0"/>
              <a:t>bits</a:t>
            </a:r>
            <a:r>
              <a:rPr lang="en-US" sz="2800" dirty="0"/>
              <a:t> in the device’s </a:t>
            </a:r>
            <a:r>
              <a:rPr lang="en-US" sz="2800" dirty="0" smtClean="0"/>
              <a:t>buffer.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/>
              <a:t>moving-head disk </a:t>
            </a:r>
            <a:r>
              <a:rPr lang="en-US" sz="2800" dirty="0"/>
              <a:t>must also be able to cause the </a:t>
            </a:r>
            <a:r>
              <a:rPr lang="en-US" sz="2800" b="1" dirty="0"/>
              <a:t>disk arm to move radially in </a:t>
            </a:r>
            <a:r>
              <a:rPr lang="en-US" sz="2800" b="1" dirty="0" smtClean="0"/>
              <a:t>and out </a:t>
            </a:r>
            <a:r>
              <a:rPr lang="en-US" sz="2800" b="1" dirty="0"/>
              <a:t>across the disk’s surface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6188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826825"/>
          </a:xfrm>
        </p:spPr>
        <p:txBody>
          <a:bodyPr/>
          <a:lstStyle/>
          <a:p>
            <a:r>
              <a:rPr lang="en-IN" b="1" dirty="0"/>
              <a:t>I/O </a:t>
            </a:r>
            <a:r>
              <a:rPr lang="en-IN" b="1" dirty="0" smtClean="0"/>
              <a:t>MODULES:222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4953" y="1106130"/>
            <a:ext cx="1198704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major functions or requirements for an I/O </a:t>
            </a:r>
            <a:r>
              <a:rPr lang="en-US" sz="2800" dirty="0" smtClean="0"/>
              <a:t>module are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Control and </a:t>
            </a:r>
            <a:r>
              <a:rPr lang="en-IN" sz="2800" dirty="0" smtClean="0"/>
              <a:t>timing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Processor communication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Device communication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Data buffering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Error </a:t>
            </a:r>
            <a:r>
              <a:rPr lang="en-IN" sz="2800" dirty="0"/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227795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826825"/>
          </a:xfrm>
        </p:spPr>
        <p:txBody>
          <a:bodyPr/>
          <a:lstStyle/>
          <a:p>
            <a:r>
              <a:rPr lang="en-IN" b="1" dirty="0"/>
              <a:t>I/O </a:t>
            </a:r>
            <a:r>
              <a:rPr lang="en-IN" b="1" dirty="0" smtClean="0"/>
              <a:t>MODULES:222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4953" y="1106130"/>
            <a:ext cx="1198704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major functions or requirements for an I/O </a:t>
            </a:r>
            <a:r>
              <a:rPr lang="en-US" sz="2800" dirty="0" smtClean="0"/>
              <a:t>module are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Control and </a:t>
            </a:r>
            <a:r>
              <a:rPr lang="en-IN" sz="2800" dirty="0" smtClean="0"/>
              <a:t>timing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Processor communication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Device communication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Data buffering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Error </a:t>
            </a:r>
            <a:r>
              <a:rPr lang="en-IN" sz="2800" dirty="0"/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184361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Control &amp; Timing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During </a:t>
            </a:r>
            <a:r>
              <a:rPr lang="en-US" sz="2800" dirty="0"/>
              <a:t>any period of time, the </a:t>
            </a:r>
            <a:r>
              <a:rPr lang="en-US" sz="2800" b="1" dirty="0"/>
              <a:t>processor</a:t>
            </a:r>
            <a:r>
              <a:rPr lang="en-US" sz="2800" dirty="0"/>
              <a:t> may </a:t>
            </a:r>
            <a:r>
              <a:rPr lang="en-US" sz="2800" b="1" dirty="0"/>
              <a:t>communicate with one or </a:t>
            </a:r>
            <a:r>
              <a:rPr lang="en-US" sz="2800" b="1" dirty="0" smtClean="0"/>
              <a:t>more external </a:t>
            </a:r>
            <a:r>
              <a:rPr lang="en-US" sz="2800" b="1" dirty="0"/>
              <a:t>devices</a:t>
            </a:r>
            <a:r>
              <a:rPr lang="en-US" sz="2800" dirty="0"/>
              <a:t> in unpredictable patterns, depending on the program’s need for I/O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internal resources, such as </a:t>
            </a:r>
            <a:r>
              <a:rPr lang="en-US" sz="2800" b="1" dirty="0"/>
              <a:t>main memory and the system bus</a:t>
            </a:r>
            <a:r>
              <a:rPr lang="en-US" sz="2800" dirty="0"/>
              <a:t>, must be </a:t>
            </a:r>
            <a:r>
              <a:rPr lang="en-US" sz="2800" b="1" dirty="0" smtClean="0"/>
              <a:t>shared among </a:t>
            </a:r>
            <a:r>
              <a:rPr lang="en-US" sz="2800" b="1" dirty="0"/>
              <a:t>a number of activities</a:t>
            </a:r>
            <a:r>
              <a:rPr lang="en-US" sz="2800" dirty="0"/>
              <a:t>, including data I/O.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Thus</a:t>
            </a:r>
            <a:r>
              <a:rPr lang="en-US" sz="2800" dirty="0"/>
              <a:t>, the I/O function includes </a:t>
            </a:r>
            <a:r>
              <a:rPr lang="en-US" sz="2800" dirty="0" smtClean="0"/>
              <a:t>a </a:t>
            </a:r>
            <a:r>
              <a:rPr lang="en-US" sz="2800" b="1" dirty="0" smtClean="0"/>
              <a:t>control </a:t>
            </a:r>
            <a:r>
              <a:rPr lang="en-US" sz="2800" b="1" dirty="0"/>
              <a:t>and timing </a:t>
            </a:r>
            <a:r>
              <a:rPr lang="en-US" sz="2800" dirty="0"/>
              <a:t>requirement, to coordinate the flow of traffic between internal </a:t>
            </a:r>
            <a:r>
              <a:rPr lang="en-US" sz="2800" dirty="0" smtClean="0"/>
              <a:t>resources </a:t>
            </a:r>
            <a:r>
              <a:rPr lang="en-IN" sz="2800" dirty="0" smtClean="0"/>
              <a:t>and </a:t>
            </a:r>
            <a:r>
              <a:rPr lang="en-IN" sz="2800" dirty="0"/>
              <a:t>external devices.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0644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</a:t>
            </a:r>
            <a:r>
              <a:rPr lang="en-US" sz="2800" dirty="0" smtClean="0"/>
              <a:t>he </a:t>
            </a:r>
            <a:r>
              <a:rPr lang="en-US" sz="2800" dirty="0"/>
              <a:t>control of the </a:t>
            </a:r>
            <a:r>
              <a:rPr lang="en-US" sz="2800" b="1" dirty="0"/>
              <a:t>transfer of data from </a:t>
            </a:r>
            <a:r>
              <a:rPr lang="en-US" sz="2800" b="1" dirty="0" smtClean="0"/>
              <a:t>an external </a:t>
            </a:r>
            <a:r>
              <a:rPr lang="en-US" sz="2800" b="1" dirty="0"/>
              <a:t>device to the processor </a:t>
            </a:r>
            <a:r>
              <a:rPr lang="en-US" sz="2800" dirty="0"/>
              <a:t>might involve the following sequence of steps</a:t>
            </a:r>
            <a:r>
              <a:rPr lang="en-US" sz="2800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/>
          </a:p>
          <a:p>
            <a:r>
              <a:rPr lang="en-US" sz="2800" b="1" dirty="0"/>
              <a:t>1. </a:t>
            </a:r>
            <a:r>
              <a:rPr lang="en-US" sz="2800" dirty="0"/>
              <a:t>The processor interrogates the I/O module to check the status of the attached</a:t>
            </a:r>
          </a:p>
          <a:p>
            <a:r>
              <a:rPr lang="en-IN" sz="2800" dirty="0"/>
              <a:t>device</a:t>
            </a:r>
            <a:r>
              <a:rPr lang="en-IN" sz="2800" dirty="0" smtClean="0"/>
              <a:t>.</a:t>
            </a:r>
          </a:p>
          <a:p>
            <a:endParaRPr lang="en-IN" sz="2800" dirty="0"/>
          </a:p>
          <a:p>
            <a:r>
              <a:rPr lang="en-US" sz="2800" b="1" dirty="0"/>
              <a:t>2. </a:t>
            </a:r>
            <a:r>
              <a:rPr lang="en-US" sz="2800" dirty="0"/>
              <a:t>The I/O module returns the device status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3. </a:t>
            </a:r>
            <a:r>
              <a:rPr lang="en-US" sz="2800" dirty="0"/>
              <a:t>If the device is operational </a:t>
            </a:r>
            <a:r>
              <a:rPr lang="en-US" sz="2800" b="1" dirty="0"/>
              <a:t>and ready to transmit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FF0000"/>
                </a:solidFill>
              </a:rPr>
              <a:t>the processor requests </a:t>
            </a:r>
            <a:r>
              <a:rPr lang="en-US" sz="2800" b="1" dirty="0" smtClean="0">
                <a:solidFill>
                  <a:srgbClr val="FF0000"/>
                </a:solidFill>
              </a:rPr>
              <a:t>the transfer </a:t>
            </a:r>
            <a:r>
              <a:rPr lang="en-US" sz="2800" b="1" dirty="0">
                <a:solidFill>
                  <a:srgbClr val="FF0000"/>
                </a:solidFill>
              </a:rPr>
              <a:t>of data, </a:t>
            </a:r>
            <a:r>
              <a:rPr lang="en-US" sz="2800" dirty="0"/>
              <a:t>by means of a command to the I/O module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4. </a:t>
            </a:r>
            <a:r>
              <a:rPr lang="en-US" sz="2800" dirty="0"/>
              <a:t>The </a:t>
            </a:r>
            <a:r>
              <a:rPr lang="en-US" sz="2800" b="1" dirty="0"/>
              <a:t>I/O module obtains a unit of data </a:t>
            </a:r>
            <a:r>
              <a:rPr lang="en-US" sz="2800" dirty="0"/>
              <a:t>(e.g., 8 or 16 bits) from the external device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5. </a:t>
            </a:r>
            <a:r>
              <a:rPr lang="en-US" sz="2800" dirty="0"/>
              <a:t>The data are transferred from </a:t>
            </a:r>
            <a:r>
              <a:rPr lang="en-US" sz="2800" b="1" dirty="0"/>
              <a:t>the I/O module to the processor</a:t>
            </a:r>
            <a:r>
              <a:rPr lang="en-US" sz="2800" dirty="0"/>
              <a:t>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3474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I/O module </a:t>
            </a:r>
            <a:r>
              <a:rPr lang="en-IN" sz="2800" dirty="0" smtClean="0"/>
              <a:t>must </a:t>
            </a:r>
            <a:r>
              <a:rPr lang="en-US" sz="2800" dirty="0" smtClean="0"/>
              <a:t>communicate </a:t>
            </a:r>
            <a:r>
              <a:rPr lang="en-US" sz="2800" dirty="0"/>
              <a:t>with the processor and with the external device. </a:t>
            </a:r>
            <a:r>
              <a:rPr lang="en-US" sz="2800" b="1" dirty="0">
                <a:solidFill>
                  <a:srgbClr val="FF0000"/>
                </a:solidFill>
              </a:rPr>
              <a:t>Processor </a:t>
            </a:r>
            <a:r>
              <a:rPr lang="en-US" sz="2800" b="1" dirty="0" smtClean="0">
                <a:solidFill>
                  <a:srgbClr val="FF0000"/>
                </a:solidFill>
              </a:rPr>
              <a:t>communication </a:t>
            </a:r>
            <a:r>
              <a:rPr lang="en-IN" sz="2800" dirty="0" smtClean="0"/>
              <a:t>involves </a:t>
            </a:r>
            <a:r>
              <a:rPr lang="en-IN" sz="2800" dirty="0"/>
              <a:t>the following</a:t>
            </a:r>
            <a:r>
              <a:rPr lang="en-IN" sz="2800" dirty="0" smtClean="0"/>
              <a:t>:</a:t>
            </a:r>
          </a:p>
          <a:p>
            <a:endParaRPr lang="en-IN" sz="2800" b="1" dirty="0"/>
          </a:p>
          <a:p>
            <a:r>
              <a:rPr lang="en-US" sz="2800" b="1" u="sng" dirty="0"/>
              <a:t>Command decoding</a:t>
            </a:r>
            <a:r>
              <a:rPr lang="en-US" sz="2800" b="1" dirty="0"/>
              <a:t>: </a:t>
            </a:r>
            <a:r>
              <a:rPr lang="en-US" sz="2800" dirty="0"/>
              <a:t>The I/O module accepts commands from the processor,</a:t>
            </a:r>
          </a:p>
          <a:p>
            <a:r>
              <a:rPr lang="en-US" sz="2800" dirty="0"/>
              <a:t>typically sent as signals on the control </a:t>
            </a:r>
            <a:r>
              <a:rPr lang="en-US" sz="2800" dirty="0" smtClean="0"/>
              <a:t>bus.</a:t>
            </a:r>
          </a:p>
          <a:p>
            <a:endParaRPr lang="en-US" sz="2800" dirty="0" smtClean="0"/>
          </a:p>
          <a:p>
            <a:r>
              <a:rPr lang="en-US" sz="2800" dirty="0"/>
              <a:t>For example, an I/O module for </a:t>
            </a:r>
            <a:r>
              <a:rPr lang="en-US" sz="2800" dirty="0" smtClean="0"/>
              <a:t>a disk </a:t>
            </a:r>
            <a:r>
              <a:rPr lang="en-US" sz="2800" dirty="0"/>
              <a:t>drive might accept the following commands: </a:t>
            </a:r>
            <a:r>
              <a:rPr lang="en-US" sz="2800" b="1" dirty="0"/>
              <a:t>READ SECTOR, </a:t>
            </a:r>
            <a:r>
              <a:rPr lang="en-US" sz="2800" b="1" dirty="0" smtClean="0"/>
              <a:t>WRITE SECTOR</a:t>
            </a:r>
            <a:r>
              <a:rPr lang="en-US" sz="2800" b="1" dirty="0"/>
              <a:t>, SEEK </a:t>
            </a:r>
            <a:r>
              <a:rPr lang="en-US" sz="2800" dirty="0"/>
              <a:t>track number, and </a:t>
            </a:r>
            <a:r>
              <a:rPr lang="en-US" sz="2800" b="1" dirty="0"/>
              <a:t>SCAN record ID</a:t>
            </a:r>
            <a:r>
              <a:rPr lang="en-US" sz="2800" b="1" dirty="0" smtClean="0"/>
              <a:t>.</a:t>
            </a:r>
          </a:p>
          <a:p>
            <a:endParaRPr lang="en-US" sz="2800" b="1" dirty="0"/>
          </a:p>
          <a:p>
            <a:r>
              <a:rPr lang="en-US" sz="2800" b="1" u="sng" dirty="0"/>
              <a:t>Data: </a:t>
            </a:r>
            <a:r>
              <a:rPr lang="en-US" sz="2800" dirty="0"/>
              <a:t>Data are exchanged between the processor and the I/O module over the</a:t>
            </a:r>
          </a:p>
          <a:p>
            <a:r>
              <a:rPr lang="en-IN" sz="2800" dirty="0"/>
              <a:t>data bus</a:t>
            </a:r>
            <a:r>
              <a:rPr lang="en-IN" sz="2800" dirty="0" smtClean="0"/>
              <a:t>.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2246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/>
              <a:t>Status </a:t>
            </a:r>
            <a:r>
              <a:rPr lang="en-US" sz="2800" b="1" u="sng" dirty="0"/>
              <a:t>reporting</a:t>
            </a:r>
            <a:r>
              <a:rPr lang="en-US" sz="2800" b="1" dirty="0"/>
              <a:t>: </a:t>
            </a:r>
            <a:r>
              <a:rPr lang="en-US" sz="2800" dirty="0"/>
              <a:t>Because peripherals are so slow, it is important to know the</a:t>
            </a:r>
          </a:p>
          <a:p>
            <a:r>
              <a:rPr lang="en-IN" sz="2800" b="1" dirty="0" smtClean="0"/>
              <a:t>Status </a:t>
            </a:r>
            <a:r>
              <a:rPr lang="en-IN" sz="2800" b="1" dirty="0"/>
              <a:t>of the I/O module</a:t>
            </a:r>
            <a:r>
              <a:rPr lang="en-IN" sz="2800" dirty="0" smtClean="0"/>
              <a:t>. </a:t>
            </a:r>
            <a:r>
              <a:rPr lang="en-US" sz="2800" dirty="0"/>
              <a:t>For example, if an I/O module is asked to send </a:t>
            </a:r>
            <a:r>
              <a:rPr lang="en-US" sz="2800" dirty="0" smtClean="0"/>
              <a:t>data to </a:t>
            </a:r>
            <a:r>
              <a:rPr lang="en-US" sz="2800" dirty="0"/>
              <a:t>the processor (read), it may not be ready to do so because it is still working</a:t>
            </a:r>
          </a:p>
          <a:p>
            <a:r>
              <a:rPr lang="en-US" sz="2800" dirty="0"/>
              <a:t>on the previous I/O command. This fact can be reported with a status signal</a:t>
            </a:r>
            <a:r>
              <a:rPr lang="en-US" sz="2800" dirty="0" smtClean="0"/>
              <a:t>. </a:t>
            </a:r>
            <a:r>
              <a:rPr lang="en-US" sz="2800" dirty="0"/>
              <a:t>Common status signals are </a:t>
            </a:r>
            <a:r>
              <a:rPr lang="en-US" sz="2800" b="1" dirty="0"/>
              <a:t>BUSY and </a:t>
            </a:r>
            <a:r>
              <a:rPr lang="en-US" sz="2800" b="1" dirty="0" smtClean="0"/>
              <a:t>READY</a:t>
            </a:r>
          </a:p>
          <a:p>
            <a:endParaRPr lang="en-US" sz="2800" b="1" dirty="0"/>
          </a:p>
          <a:p>
            <a:r>
              <a:rPr lang="en-US" sz="2800" b="1" u="sng" dirty="0"/>
              <a:t>Address recognition</a:t>
            </a:r>
            <a:r>
              <a:rPr lang="en-US" sz="2800" b="1" dirty="0"/>
              <a:t>: </a:t>
            </a:r>
            <a:r>
              <a:rPr lang="en-US" sz="2800" dirty="0" smtClean="0"/>
              <a:t>An I/O </a:t>
            </a:r>
            <a:r>
              <a:rPr lang="en-US" sz="2800" dirty="0"/>
              <a:t>module must recognize one unique address for</a:t>
            </a:r>
          </a:p>
          <a:p>
            <a:r>
              <a:rPr lang="en-IN" sz="2800" dirty="0"/>
              <a:t>each peripheral it controls</a:t>
            </a:r>
            <a:r>
              <a:rPr lang="en-IN" sz="2800" dirty="0" smtClean="0"/>
              <a:t>.</a:t>
            </a:r>
          </a:p>
          <a:p>
            <a:endParaRPr lang="en-IN" sz="2800" b="1" dirty="0"/>
          </a:p>
          <a:p>
            <a:r>
              <a:rPr lang="en-US" sz="2800" dirty="0" smtClean="0"/>
              <a:t>The </a:t>
            </a:r>
            <a:r>
              <a:rPr lang="en-US" sz="2800" dirty="0"/>
              <a:t>I/O module must be able to perform </a:t>
            </a:r>
            <a:r>
              <a:rPr lang="en-US" sz="3200" b="1" dirty="0">
                <a:solidFill>
                  <a:srgbClr val="FF0000"/>
                </a:solidFill>
              </a:rPr>
              <a:t>device communication</a:t>
            </a:r>
            <a:r>
              <a:rPr lang="en-US" sz="3200" dirty="0">
                <a:solidFill>
                  <a:srgbClr val="FF0000"/>
                </a:solidFill>
              </a:rPr>
              <a:t>.</a:t>
            </a:r>
          </a:p>
          <a:p>
            <a:r>
              <a:rPr lang="en-US" sz="2800" dirty="0"/>
              <a:t>This communication involves </a:t>
            </a:r>
            <a:r>
              <a:rPr lang="en-US" sz="2800" b="1" dirty="0"/>
              <a:t>commands, status information, and </a:t>
            </a:r>
            <a:r>
              <a:rPr lang="en-US" sz="2800" b="1" dirty="0" smtClean="0"/>
              <a:t>data.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93506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An essential task of an I/O module is </a:t>
            </a:r>
            <a:r>
              <a:rPr lang="en-US" sz="3200" b="1" dirty="0">
                <a:solidFill>
                  <a:srgbClr val="FF0000"/>
                </a:solidFill>
              </a:rPr>
              <a:t>data buffering</a:t>
            </a:r>
            <a:r>
              <a:rPr lang="en-US" sz="3200" dirty="0" smtClean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Data coming from main memory are </a:t>
            </a:r>
            <a:r>
              <a:rPr lang="en-US" sz="2800" dirty="0" smtClean="0"/>
              <a:t>sent to </a:t>
            </a:r>
            <a:r>
              <a:rPr lang="en-US" sz="2800" dirty="0"/>
              <a:t>an I/O module in a rapid burst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data are buffered in the I/O module and </a:t>
            </a:r>
            <a:r>
              <a:rPr lang="en-US" sz="2800" dirty="0" smtClean="0"/>
              <a:t>then sent </a:t>
            </a:r>
            <a:r>
              <a:rPr lang="en-US" sz="2800" dirty="0"/>
              <a:t>to the peripheral device at its data rate. In the opposite direction, data </a:t>
            </a:r>
            <a:r>
              <a:rPr lang="en-US" sz="2800" dirty="0" smtClean="0"/>
              <a:t>are buffered </a:t>
            </a:r>
            <a:r>
              <a:rPr lang="en-US" sz="2800" dirty="0"/>
              <a:t>so as not to tie up the memory in a slow transfer operation.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Thus</a:t>
            </a:r>
            <a:r>
              <a:rPr lang="en-US" sz="2800" dirty="0"/>
              <a:t>, the </a:t>
            </a:r>
            <a:r>
              <a:rPr lang="en-US" sz="2800" dirty="0" smtClean="0"/>
              <a:t>I/O module </a:t>
            </a:r>
            <a:r>
              <a:rPr lang="en-US" sz="2800" dirty="0"/>
              <a:t>must be able to operate at both device and memory speeds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58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7" y="132742"/>
            <a:ext cx="11631561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/>
              <a:t>I/O module is often responsible for </a:t>
            </a:r>
            <a:r>
              <a:rPr lang="en-US" sz="3200" b="1" dirty="0" smtClean="0">
                <a:solidFill>
                  <a:srgbClr val="FF0000"/>
                </a:solidFill>
              </a:rPr>
              <a:t>error detection</a:t>
            </a:r>
            <a:r>
              <a:rPr lang="en-US" sz="2800" b="1" dirty="0" smtClean="0"/>
              <a:t> </a:t>
            </a:r>
            <a:r>
              <a:rPr lang="en-US" sz="2800" dirty="0" smtClean="0"/>
              <a:t>and </a:t>
            </a:r>
            <a:r>
              <a:rPr lang="en-US" sz="2800" dirty="0"/>
              <a:t>for </a:t>
            </a:r>
            <a:r>
              <a:rPr lang="en-US" sz="2800" dirty="0" smtClean="0"/>
              <a:t>subsequently reporting </a:t>
            </a:r>
            <a:r>
              <a:rPr lang="en-US" sz="2800" dirty="0"/>
              <a:t>errors to the processor.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One </a:t>
            </a:r>
            <a:r>
              <a:rPr lang="en-US" sz="2800" b="1" dirty="0"/>
              <a:t>class of errors includes </a:t>
            </a:r>
            <a:r>
              <a:rPr lang="en-US" sz="2800" b="1" dirty="0">
                <a:solidFill>
                  <a:srgbClr val="FF0000"/>
                </a:solidFill>
              </a:rPr>
              <a:t>mechanical </a:t>
            </a:r>
            <a:r>
              <a:rPr lang="en-US" sz="2800" b="1" dirty="0" smtClean="0">
                <a:solidFill>
                  <a:srgbClr val="FF0000"/>
                </a:solidFill>
              </a:rPr>
              <a:t>and electrical </a:t>
            </a:r>
            <a:r>
              <a:rPr lang="en-US" sz="2800" b="1" dirty="0">
                <a:solidFill>
                  <a:srgbClr val="FF0000"/>
                </a:solidFill>
              </a:rPr>
              <a:t>malfunctions</a:t>
            </a:r>
            <a:r>
              <a:rPr lang="en-US" sz="2800" b="1" dirty="0"/>
              <a:t> r</a:t>
            </a:r>
            <a:r>
              <a:rPr lang="en-US" sz="2800" dirty="0"/>
              <a:t>eported by the device (e.g., paper jam, bad disk track</a:t>
            </a:r>
            <a:r>
              <a:rPr lang="en-US" sz="28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Another class </a:t>
            </a:r>
            <a:r>
              <a:rPr lang="en-US" sz="2800" b="1" dirty="0"/>
              <a:t>consists of </a:t>
            </a:r>
            <a:r>
              <a:rPr lang="en-US" sz="2800" b="1" dirty="0">
                <a:solidFill>
                  <a:srgbClr val="FF0000"/>
                </a:solidFill>
              </a:rPr>
              <a:t>unintentional changes to the bit pattern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as it is transmitted from </a:t>
            </a:r>
            <a:r>
              <a:rPr lang="en-US" sz="2800" dirty="0" smtClean="0"/>
              <a:t>device to </a:t>
            </a:r>
            <a:r>
              <a:rPr lang="en-US" sz="2800" dirty="0"/>
              <a:t>I/O module.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Some </a:t>
            </a:r>
            <a:r>
              <a:rPr lang="en-US" sz="2800" dirty="0"/>
              <a:t>form of error-detecting code is often used to detect </a:t>
            </a:r>
            <a:r>
              <a:rPr lang="en-US" sz="2800" dirty="0" smtClean="0"/>
              <a:t>transmission </a:t>
            </a:r>
            <a:r>
              <a:rPr lang="en-IN" sz="2800" dirty="0" smtClean="0"/>
              <a:t>errors.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37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826825"/>
          </a:xfrm>
        </p:spPr>
        <p:txBody>
          <a:bodyPr/>
          <a:lstStyle/>
          <a:p>
            <a:r>
              <a:rPr lang="en-IN" b="1" dirty="0"/>
              <a:t>I/O Module </a:t>
            </a:r>
            <a:r>
              <a:rPr lang="en-IN" b="1" dirty="0" smtClean="0"/>
              <a:t>Structure: 223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4953" y="1106130"/>
            <a:ext cx="119870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Figure 7.3 provides a </a:t>
            </a:r>
            <a:r>
              <a:rPr lang="en-IN" sz="2800" dirty="0" smtClean="0"/>
              <a:t>general </a:t>
            </a:r>
            <a:r>
              <a:rPr lang="en-US" sz="2800" dirty="0" smtClean="0"/>
              <a:t>block </a:t>
            </a:r>
            <a:r>
              <a:rPr lang="en-US" sz="2800" dirty="0"/>
              <a:t>diagram of an I/O module.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module connects to the rest of the </a:t>
            </a:r>
            <a:r>
              <a:rPr lang="en-US" sz="2800" dirty="0" smtClean="0"/>
              <a:t>computer </a:t>
            </a:r>
            <a:r>
              <a:rPr lang="en-US" sz="2800" b="1" dirty="0" smtClean="0"/>
              <a:t>through </a:t>
            </a:r>
            <a:r>
              <a:rPr lang="en-US" sz="2800" b="1" dirty="0"/>
              <a:t>a set of signal lines </a:t>
            </a:r>
            <a:r>
              <a:rPr lang="en-US" sz="2800" dirty="0"/>
              <a:t>(e.g., system bus lines).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Data </a:t>
            </a:r>
            <a:r>
              <a:rPr lang="en-US" sz="2800" dirty="0"/>
              <a:t>transferred </a:t>
            </a:r>
            <a:r>
              <a:rPr lang="en-US" sz="2800" b="1" dirty="0"/>
              <a:t>to and from </a:t>
            </a:r>
            <a:r>
              <a:rPr lang="en-US" sz="2800" b="1" dirty="0" smtClean="0"/>
              <a:t>the module </a:t>
            </a:r>
            <a:r>
              <a:rPr lang="en-US" sz="2800" b="1" dirty="0"/>
              <a:t>are buffered </a:t>
            </a:r>
            <a:r>
              <a:rPr lang="en-US" sz="2800" dirty="0"/>
              <a:t>in one or more data registers.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There </a:t>
            </a:r>
            <a:r>
              <a:rPr lang="en-US" sz="2800" dirty="0"/>
              <a:t>may also be one or </a:t>
            </a:r>
            <a:r>
              <a:rPr lang="en-US" sz="2800" dirty="0" smtClean="0"/>
              <a:t>more status </a:t>
            </a:r>
            <a:r>
              <a:rPr lang="en-US" sz="2800" dirty="0"/>
              <a:t>registers that provide current status information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 status register may </a:t>
            </a:r>
            <a:r>
              <a:rPr lang="en-US" sz="2800" dirty="0" smtClean="0"/>
              <a:t>also function </a:t>
            </a:r>
            <a:r>
              <a:rPr lang="en-US" sz="2800" dirty="0"/>
              <a:t>as a control register, to accept detailed control information from </a:t>
            </a:r>
            <a:r>
              <a:rPr lang="en-US" sz="2800" dirty="0" smtClean="0"/>
              <a:t>the processor.</a:t>
            </a:r>
          </a:p>
        </p:txBody>
      </p:sp>
    </p:spTree>
    <p:extLst>
      <p:ext uri="{BB962C8B-B14F-4D97-AF65-F5344CB8AC3E}">
        <p14:creationId xmlns:p14="http://schemas.microsoft.com/office/powerpoint/2010/main" val="298653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-44760"/>
            <a:ext cx="1198704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logic within the module interacts with the processor via a set of </a:t>
            </a:r>
            <a:r>
              <a:rPr lang="en-US" sz="2800" dirty="0" smtClean="0"/>
              <a:t>control lines.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processor uses the control lines to issue commands to the I/O </a:t>
            </a:r>
            <a:r>
              <a:rPr lang="en-US" sz="2800" dirty="0" smtClean="0"/>
              <a:t>module.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module must also be able to recognize and generate </a:t>
            </a:r>
            <a:r>
              <a:rPr lang="en-US" sz="2800" dirty="0" smtClean="0"/>
              <a:t>addresses associated </a:t>
            </a:r>
            <a:r>
              <a:rPr lang="en-US" sz="2800" dirty="0"/>
              <a:t>with the devices it controls.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Each </a:t>
            </a:r>
            <a:r>
              <a:rPr lang="en-US" sz="2800" dirty="0"/>
              <a:t>I/O module has a unique address or, </a:t>
            </a:r>
            <a:r>
              <a:rPr lang="en-US" sz="2800" dirty="0" smtClean="0"/>
              <a:t>if it </a:t>
            </a:r>
            <a:r>
              <a:rPr lang="en-US" sz="2800" dirty="0"/>
              <a:t>controls more than one external device, a unique set of </a:t>
            </a:r>
            <a:r>
              <a:rPr lang="en-US" sz="2800" dirty="0" smtClean="0"/>
              <a:t>addresses.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/>
              <a:t>I/O module that takes on most of the detailed processing burden, </a:t>
            </a:r>
            <a:r>
              <a:rPr lang="en-US" sz="2800" dirty="0" smtClean="0"/>
              <a:t>presenting a </a:t>
            </a:r>
            <a:r>
              <a:rPr lang="en-US" sz="2800" dirty="0"/>
              <a:t>high-level interface to the processor, is usually referred to as an </a:t>
            </a:r>
            <a:r>
              <a:rPr lang="en-US" sz="2800" i="1" dirty="0"/>
              <a:t>I/O channel </a:t>
            </a:r>
            <a:r>
              <a:rPr lang="en-US" sz="2800" dirty="0" smtClean="0"/>
              <a:t>or </a:t>
            </a:r>
            <a:r>
              <a:rPr lang="en-US" sz="2800" i="1" dirty="0" smtClean="0"/>
              <a:t>I/O </a:t>
            </a:r>
            <a:r>
              <a:rPr lang="en-US" sz="2800" i="1" dirty="0"/>
              <a:t>processor. </a:t>
            </a:r>
            <a:endParaRPr lang="en-US" sz="2800" i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i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/>
              <a:t>I/O module that is quite primitive and requires detailed control </a:t>
            </a:r>
            <a:r>
              <a:rPr lang="en-US" sz="2800" dirty="0" smtClean="0"/>
              <a:t>is usually </a:t>
            </a:r>
            <a:r>
              <a:rPr lang="en-US" sz="2800" dirty="0"/>
              <a:t>referred to as an </a:t>
            </a:r>
            <a:r>
              <a:rPr lang="en-US" sz="2800" i="1" dirty="0"/>
              <a:t>I/O controller </a:t>
            </a:r>
            <a:r>
              <a:rPr lang="en-US" sz="2800" dirty="0"/>
              <a:t>or </a:t>
            </a:r>
            <a:r>
              <a:rPr lang="en-US" sz="2800" i="1" dirty="0"/>
              <a:t>device </a:t>
            </a:r>
            <a:r>
              <a:rPr lang="en-US" sz="2800" i="1" dirty="0" smtClean="0"/>
              <a:t>controller.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6736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01" t="9145" r="10309" b="19030"/>
          <a:stretch/>
        </p:blipFill>
        <p:spPr bwMode="auto">
          <a:xfrm>
            <a:off x="1150901" y="362607"/>
            <a:ext cx="9680029" cy="639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885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826825"/>
          </a:xfrm>
        </p:spPr>
        <p:txBody>
          <a:bodyPr/>
          <a:lstStyle/>
          <a:p>
            <a:r>
              <a:rPr lang="en-IN" b="1" dirty="0"/>
              <a:t>PROGRAMMED I/O</a:t>
            </a:r>
            <a:r>
              <a:rPr lang="en-IN" b="1" dirty="0" smtClean="0"/>
              <a:t>: 224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4953" y="822342"/>
            <a:ext cx="119870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Three techniques </a:t>
            </a:r>
            <a:r>
              <a:rPr lang="en-US" sz="2800" dirty="0"/>
              <a:t>are possible for </a:t>
            </a:r>
            <a:r>
              <a:rPr lang="en-US" sz="2800" b="1" dirty="0"/>
              <a:t>I/O operations</a:t>
            </a:r>
            <a:r>
              <a:rPr lang="en-US" sz="28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With </a:t>
            </a:r>
            <a:r>
              <a:rPr lang="en-US" sz="2800" i="1" dirty="0"/>
              <a:t>programmed I/O, </a:t>
            </a:r>
            <a:r>
              <a:rPr lang="en-US" sz="2800" b="1" dirty="0"/>
              <a:t>data </a:t>
            </a:r>
            <a:r>
              <a:rPr lang="en-US" sz="2800" b="1" dirty="0" smtClean="0"/>
              <a:t>are exchanged </a:t>
            </a:r>
            <a:r>
              <a:rPr lang="en-US" sz="2800" dirty="0"/>
              <a:t>between </a:t>
            </a:r>
            <a:r>
              <a:rPr lang="en-US" sz="2800" b="1" dirty="0"/>
              <a:t>the processor and the I/O module.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processor executes </a:t>
            </a:r>
            <a:r>
              <a:rPr lang="en-US" sz="2800" dirty="0" smtClean="0"/>
              <a:t>a program </a:t>
            </a:r>
            <a:r>
              <a:rPr lang="en-US" sz="2800" dirty="0"/>
              <a:t>that gives it d</a:t>
            </a:r>
            <a:r>
              <a:rPr lang="en-US" sz="2800" b="1" dirty="0"/>
              <a:t>irect control of the I/O operation,</a:t>
            </a:r>
            <a:r>
              <a:rPr lang="en-US" sz="2800" dirty="0"/>
              <a:t> including </a:t>
            </a:r>
            <a:r>
              <a:rPr lang="en-US" sz="2800" b="1" dirty="0"/>
              <a:t>sensing </a:t>
            </a:r>
            <a:r>
              <a:rPr lang="en-US" sz="2800" dirty="0" smtClean="0"/>
              <a:t>device status</a:t>
            </a:r>
            <a:r>
              <a:rPr lang="en-US" sz="2800" dirty="0"/>
              <a:t>, </a:t>
            </a:r>
            <a:r>
              <a:rPr lang="en-US" sz="2800" b="1" dirty="0"/>
              <a:t>sending</a:t>
            </a:r>
            <a:r>
              <a:rPr lang="en-US" sz="2800" dirty="0"/>
              <a:t> a read or write </a:t>
            </a:r>
            <a:r>
              <a:rPr lang="en-US" sz="2800" b="1" dirty="0"/>
              <a:t>command</a:t>
            </a:r>
            <a:r>
              <a:rPr lang="en-US" sz="2800" dirty="0"/>
              <a:t>, and </a:t>
            </a:r>
            <a:r>
              <a:rPr lang="en-US" sz="2800" b="1" dirty="0"/>
              <a:t>transferring</a:t>
            </a:r>
            <a:r>
              <a:rPr lang="en-US" sz="2800" dirty="0"/>
              <a:t> the data.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When the processor </a:t>
            </a:r>
            <a:r>
              <a:rPr lang="en-US" sz="2800" dirty="0"/>
              <a:t>issues a command to the I/O module, it must </a:t>
            </a:r>
            <a:r>
              <a:rPr lang="en-US" sz="2800" b="1" dirty="0"/>
              <a:t>wait</a:t>
            </a:r>
            <a:r>
              <a:rPr lang="en-US" sz="2800" dirty="0"/>
              <a:t> until the I/O </a:t>
            </a:r>
            <a:r>
              <a:rPr lang="en-US" sz="2800" dirty="0" smtClean="0"/>
              <a:t>operation is </a:t>
            </a:r>
            <a:r>
              <a:rPr lang="en-US" sz="2800" dirty="0"/>
              <a:t>complete.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If </a:t>
            </a:r>
            <a:r>
              <a:rPr lang="en-US" sz="2800" dirty="0"/>
              <a:t>the processor is faster than the I/O module, this is </a:t>
            </a:r>
            <a:r>
              <a:rPr lang="en-US" sz="2800" b="1" dirty="0"/>
              <a:t>wasteful of </a:t>
            </a:r>
            <a:r>
              <a:rPr lang="en-US" sz="2800" b="1" dirty="0" smtClean="0"/>
              <a:t>processor time.</a:t>
            </a:r>
          </a:p>
        </p:txBody>
      </p:sp>
    </p:spTree>
    <p:extLst>
      <p:ext uri="{BB962C8B-B14F-4D97-AF65-F5344CB8AC3E}">
        <p14:creationId xmlns:p14="http://schemas.microsoft.com/office/powerpoint/2010/main" val="389324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-29003"/>
            <a:ext cx="119870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With </a:t>
            </a:r>
            <a:r>
              <a:rPr lang="en-US" sz="2800" b="1" i="1" dirty="0"/>
              <a:t>interrupt-driven I/O, </a:t>
            </a:r>
            <a:r>
              <a:rPr lang="en-US" sz="2800" dirty="0"/>
              <a:t>the processor issues an I/O command, </a:t>
            </a:r>
            <a:r>
              <a:rPr lang="en-US" sz="2800" dirty="0" smtClean="0"/>
              <a:t>continues to </a:t>
            </a:r>
            <a:r>
              <a:rPr lang="en-US" sz="2800" dirty="0"/>
              <a:t>execute other instructions, and is interrupted by the I/O module when the </a:t>
            </a:r>
            <a:r>
              <a:rPr lang="en-US" sz="2800" dirty="0" smtClean="0"/>
              <a:t>latter has </a:t>
            </a:r>
            <a:r>
              <a:rPr lang="en-US" sz="2800" dirty="0"/>
              <a:t>completed its work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With </a:t>
            </a:r>
            <a:r>
              <a:rPr lang="en-US" sz="2800" dirty="0"/>
              <a:t>both programmed and interrupt I/O, the processor </a:t>
            </a:r>
            <a:r>
              <a:rPr lang="en-US" sz="2800" dirty="0" smtClean="0"/>
              <a:t>is </a:t>
            </a:r>
            <a:r>
              <a:rPr lang="en-US" sz="2800" dirty="0"/>
              <a:t>responsible for extracting data from main memory for output and storing data </a:t>
            </a:r>
            <a:r>
              <a:rPr lang="en-US" sz="2800" dirty="0" smtClean="0"/>
              <a:t>in main </a:t>
            </a:r>
            <a:r>
              <a:rPr lang="en-US" sz="2800" dirty="0"/>
              <a:t>memory for input.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alternative is known as </a:t>
            </a:r>
            <a:r>
              <a:rPr lang="en-US" sz="2800" b="1" i="1" dirty="0"/>
              <a:t>direct memory access </a:t>
            </a:r>
            <a:r>
              <a:rPr lang="en-US" sz="2800" b="1" dirty="0"/>
              <a:t>(DMA</a:t>
            </a:r>
            <a:r>
              <a:rPr lang="en-US" sz="2800" b="1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In this mode, the I/O module and main memory exchange data directly, </a:t>
            </a:r>
            <a:r>
              <a:rPr lang="en-US" sz="2800" dirty="0" smtClean="0"/>
              <a:t>without </a:t>
            </a:r>
            <a:r>
              <a:rPr lang="en-IN" sz="2800" dirty="0" smtClean="0"/>
              <a:t>processor </a:t>
            </a:r>
            <a:r>
              <a:rPr lang="en-IN" sz="2800" dirty="0"/>
              <a:t>involvement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67" t="18965" r="16878" b="68750"/>
          <a:stretch/>
        </p:blipFill>
        <p:spPr bwMode="auto">
          <a:xfrm>
            <a:off x="888819" y="5225431"/>
            <a:ext cx="9560432" cy="161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141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585871"/>
            <a:ext cx="119870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When the processor is executing a program and </a:t>
            </a:r>
            <a:r>
              <a:rPr lang="en-US" sz="2800" b="1" dirty="0"/>
              <a:t>encounters an instruction </a:t>
            </a:r>
            <a:r>
              <a:rPr lang="en-US" sz="2800" b="1" dirty="0" smtClean="0"/>
              <a:t>relating to </a:t>
            </a:r>
            <a:r>
              <a:rPr lang="en-US" sz="2800" b="1" dirty="0"/>
              <a:t>I/O,</a:t>
            </a:r>
            <a:r>
              <a:rPr lang="en-US" sz="2800" dirty="0"/>
              <a:t> it executes that instruction by </a:t>
            </a:r>
            <a:r>
              <a:rPr lang="en-US" sz="2800" b="1" dirty="0"/>
              <a:t>issuing a command</a:t>
            </a:r>
            <a:r>
              <a:rPr lang="en-US" sz="2800" dirty="0"/>
              <a:t> to the appropriate </a:t>
            </a:r>
            <a:r>
              <a:rPr lang="en-US" sz="2800" dirty="0" smtClean="0"/>
              <a:t>I/O module.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With </a:t>
            </a:r>
            <a:r>
              <a:rPr lang="en-US" sz="2800" dirty="0"/>
              <a:t>programmed I/O, the </a:t>
            </a:r>
            <a:r>
              <a:rPr lang="en-US" sz="2800" b="1" dirty="0"/>
              <a:t>I/O module will perform the requested </a:t>
            </a:r>
            <a:r>
              <a:rPr lang="en-US" sz="2800" b="1" dirty="0" smtClean="0"/>
              <a:t>action </a:t>
            </a:r>
            <a:r>
              <a:rPr lang="en-US" sz="2800" dirty="0" smtClean="0"/>
              <a:t>and </a:t>
            </a:r>
            <a:r>
              <a:rPr lang="en-US" sz="2800" dirty="0"/>
              <a:t>then </a:t>
            </a:r>
            <a:r>
              <a:rPr lang="en-US" sz="2800" b="1" dirty="0"/>
              <a:t>set the appropriate bits in the I/O status register </a:t>
            </a:r>
            <a:r>
              <a:rPr lang="en-US" sz="2800" dirty="0"/>
              <a:t>(Figure 7.3</a:t>
            </a:r>
            <a:r>
              <a:rPr lang="en-US" sz="28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I/O </a:t>
            </a:r>
            <a:r>
              <a:rPr lang="en-US" sz="2800" dirty="0" smtClean="0"/>
              <a:t>module takes </a:t>
            </a:r>
            <a:r>
              <a:rPr lang="en-US" sz="2800" dirty="0"/>
              <a:t>no further action to alert the processor.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particular, it does not </a:t>
            </a:r>
            <a:r>
              <a:rPr lang="en-US" sz="2800" dirty="0" smtClean="0"/>
              <a:t>interrupt the </a:t>
            </a:r>
            <a:r>
              <a:rPr lang="en-US" sz="2800" dirty="0"/>
              <a:t>processor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Thus</a:t>
            </a:r>
            <a:r>
              <a:rPr lang="en-US" sz="2800" dirty="0"/>
              <a:t>, it is the responsibility of the processor periodically to check </a:t>
            </a:r>
            <a:r>
              <a:rPr lang="en-US" sz="2800" dirty="0" smtClean="0"/>
              <a:t>the status </a:t>
            </a:r>
            <a:r>
              <a:rPr lang="en-US" sz="2800" dirty="0"/>
              <a:t>of the I/O module until it finds that the operation is complete.</a:t>
            </a:r>
            <a:endParaRPr lang="en-US" sz="28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PROGRAMMED I/O</a:t>
            </a:r>
            <a:r>
              <a:rPr lang="en-IN" b="1" dirty="0" smtClean="0"/>
              <a:t>: 224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4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357" y="81359"/>
            <a:ext cx="119870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explain the programmed I/O technique, we </a:t>
            </a:r>
            <a:r>
              <a:rPr lang="en-US" sz="2800" dirty="0" smtClean="0"/>
              <a:t>have to consider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</a:t>
            </a:r>
            <a:r>
              <a:rPr lang="en-US" sz="2800" dirty="0" smtClean="0"/>
              <a:t>he </a:t>
            </a:r>
            <a:r>
              <a:rPr lang="en-US" sz="2800" dirty="0"/>
              <a:t>I/O commands issued by the processor to the I/O module,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I/O instructions executed by the processor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r>
              <a:rPr lang="en-IN" sz="2800" b="1" u="sng" dirty="0"/>
              <a:t>I/O </a:t>
            </a:r>
            <a:r>
              <a:rPr lang="en-IN" sz="2800" b="1" u="sng" dirty="0" smtClean="0"/>
              <a:t>Commands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To execute an I/O-related instruction, the </a:t>
            </a:r>
            <a:r>
              <a:rPr lang="en-US" sz="2800" b="1" dirty="0"/>
              <a:t>processor issues an address, </a:t>
            </a:r>
            <a:r>
              <a:rPr lang="en-US" sz="2800" dirty="0" smtClean="0"/>
              <a:t>specifying the </a:t>
            </a:r>
            <a:r>
              <a:rPr lang="en-US" sz="2800" dirty="0"/>
              <a:t>particular I/O module and </a:t>
            </a:r>
            <a:r>
              <a:rPr lang="en-US" sz="2800" b="1" dirty="0"/>
              <a:t>external device, </a:t>
            </a:r>
            <a:r>
              <a:rPr lang="en-US" sz="2800" dirty="0"/>
              <a:t>and an </a:t>
            </a:r>
            <a:r>
              <a:rPr lang="en-US" sz="2800" b="1" dirty="0"/>
              <a:t>I/O command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There are </a:t>
            </a:r>
            <a:r>
              <a:rPr lang="en-US" sz="2800" b="1" dirty="0" smtClean="0"/>
              <a:t>four </a:t>
            </a:r>
            <a:r>
              <a:rPr lang="en-US" sz="2800" b="1" dirty="0"/>
              <a:t>types of I/O</a:t>
            </a:r>
            <a:r>
              <a:rPr lang="en-US" sz="2800" dirty="0"/>
              <a:t> </a:t>
            </a:r>
            <a:r>
              <a:rPr lang="en-US" sz="2800" b="1" dirty="0"/>
              <a:t>commands</a:t>
            </a:r>
            <a:r>
              <a:rPr lang="en-US" sz="2800" dirty="0"/>
              <a:t> that an I/O module may receive when it is </a:t>
            </a:r>
            <a:r>
              <a:rPr lang="en-US" sz="2800" dirty="0" smtClean="0"/>
              <a:t>addressed </a:t>
            </a:r>
            <a:r>
              <a:rPr lang="en-IN" sz="2800" dirty="0" smtClean="0"/>
              <a:t>by </a:t>
            </a:r>
            <a:r>
              <a:rPr lang="en-IN" sz="2800" dirty="0"/>
              <a:t>a processor: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41915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357" y="81359"/>
            <a:ext cx="119870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Control: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Used </a:t>
            </a:r>
            <a:r>
              <a:rPr lang="en-US" sz="2800" dirty="0"/>
              <a:t>to </a:t>
            </a:r>
            <a:r>
              <a:rPr lang="en-US" sz="2800" b="1" dirty="0"/>
              <a:t>activate a peripheral </a:t>
            </a:r>
            <a:r>
              <a:rPr lang="en-US" sz="2800" dirty="0"/>
              <a:t>and tell it </a:t>
            </a:r>
            <a:r>
              <a:rPr lang="en-US" sz="2800" b="1" dirty="0"/>
              <a:t>what to do.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For </a:t>
            </a:r>
            <a:r>
              <a:rPr lang="en-US" sz="2800" dirty="0"/>
              <a:t>example, </a:t>
            </a:r>
            <a:r>
              <a:rPr lang="en-US" sz="2800" dirty="0" smtClean="0"/>
              <a:t>a </a:t>
            </a:r>
            <a:r>
              <a:rPr lang="en-US" sz="2800" b="1" dirty="0" smtClean="0"/>
              <a:t>magnetic-tap</a:t>
            </a:r>
            <a:r>
              <a:rPr lang="en-US" sz="2800" dirty="0" smtClean="0"/>
              <a:t>e </a:t>
            </a:r>
            <a:r>
              <a:rPr lang="en-US" sz="2800" dirty="0"/>
              <a:t>unit may be </a:t>
            </a:r>
            <a:r>
              <a:rPr lang="en-US" sz="2800" b="1" dirty="0"/>
              <a:t>instructed to rewind or to move forward</a:t>
            </a:r>
            <a:r>
              <a:rPr lang="en-US" sz="2800" dirty="0"/>
              <a:t> one </a:t>
            </a:r>
            <a:r>
              <a:rPr lang="en-US" sz="2800" dirty="0" smtClean="0"/>
              <a:t>record.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These </a:t>
            </a:r>
            <a:r>
              <a:rPr lang="en-US" sz="2800" dirty="0"/>
              <a:t>commands are tailored to the particular type of peripheral device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 smtClean="0">
                <a:solidFill>
                  <a:srgbClr val="FF0000"/>
                </a:solidFill>
              </a:rPr>
              <a:t>Test</a:t>
            </a:r>
            <a:r>
              <a:rPr lang="en-US" sz="2800" b="1" dirty="0">
                <a:solidFill>
                  <a:srgbClr val="FF0000"/>
                </a:solidFill>
              </a:rPr>
              <a:t>: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Used </a:t>
            </a:r>
            <a:r>
              <a:rPr lang="en-US" sz="2800" dirty="0"/>
              <a:t>to </a:t>
            </a:r>
            <a:r>
              <a:rPr lang="en-US" sz="2800" b="1" dirty="0"/>
              <a:t>test various status condition</a:t>
            </a:r>
            <a:r>
              <a:rPr lang="en-US" sz="2800" dirty="0"/>
              <a:t>s associated with an I/O module </a:t>
            </a:r>
            <a:r>
              <a:rPr lang="en-US" sz="2800" dirty="0" smtClean="0"/>
              <a:t>and its </a:t>
            </a:r>
            <a:r>
              <a:rPr lang="en-US" sz="2800" dirty="0"/>
              <a:t>peripherals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processor will want to know that the </a:t>
            </a:r>
            <a:r>
              <a:rPr lang="en-US" sz="2800" b="1" dirty="0"/>
              <a:t>peripheral of </a:t>
            </a:r>
            <a:r>
              <a:rPr lang="en-US" sz="2800" b="1" dirty="0" smtClean="0"/>
              <a:t>interest is </a:t>
            </a:r>
            <a:r>
              <a:rPr lang="en-US" sz="2800" b="1" dirty="0"/>
              <a:t>powered on </a:t>
            </a:r>
            <a:r>
              <a:rPr lang="en-US" sz="2800" dirty="0"/>
              <a:t>and </a:t>
            </a:r>
            <a:r>
              <a:rPr lang="en-US" sz="2800" b="1" dirty="0"/>
              <a:t>available for use.</a:t>
            </a:r>
            <a:r>
              <a:rPr lang="en-US" sz="2800" dirty="0"/>
              <a:t>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will also want to know if the </a:t>
            </a:r>
            <a:r>
              <a:rPr lang="en-US" sz="2800" b="1" dirty="0"/>
              <a:t>most </a:t>
            </a:r>
            <a:r>
              <a:rPr lang="en-US" sz="2800" b="1" dirty="0" smtClean="0"/>
              <a:t>recent I/O </a:t>
            </a:r>
            <a:r>
              <a:rPr lang="en-US" sz="2800" b="1" dirty="0"/>
              <a:t>operation is completed </a:t>
            </a:r>
            <a:r>
              <a:rPr lang="en-US" sz="2800" dirty="0"/>
              <a:t>and if any </a:t>
            </a:r>
            <a:r>
              <a:rPr lang="en-US" sz="2800" b="1" dirty="0"/>
              <a:t>errors occurred</a:t>
            </a:r>
            <a:r>
              <a:rPr lang="en-US" sz="2800" b="1" dirty="0" smtClean="0"/>
              <a:t>.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6972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357" y="81359"/>
            <a:ext cx="119870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• </a:t>
            </a:r>
            <a:r>
              <a:rPr lang="en-US" sz="2800" b="1" dirty="0">
                <a:solidFill>
                  <a:srgbClr val="FF0000"/>
                </a:solidFill>
              </a:rPr>
              <a:t>Read: </a:t>
            </a:r>
            <a:r>
              <a:rPr lang="en-US" sz="2800" dirty="0"/>
              <a:t>Causes the I/O module to </a:t>
            </a:r>
            <a:r>
              <a:rPr lang="en-US" sz="2800" b="1" dirty="0"/>
              <a:t>obtain an item of data from the peripheral</a:t>
            </a:r>
          </a:p>
          <a:p>
            <a:r>
              <a:rPr lang="en-US" sz="2800" dirty="0"/>
              <a:t>and place it in an </a:t>
            </a:r>
            <a:r>
              <a:rPr lang="en-US" sz="2800" b="1" dirty="0"/>
              <a:t>internal buffer </a:t>
            </a:r>
            <a:r>
              <a:rPr lang="en-US" sz="2800" dirty="0"/>
              <a:t>(depicted as a </a:t>
            </a:r>
            <a:r>
              <a:rPr lang="en-US" sz="2800" b="1" dirty="0"/>
              <a:t>data register </a:t>
            </a:r>
            <a:r>
              <a:rPr lang="en-US" sz="2800" dirty="0"/>
              <a:t>in Figure 7.3</a:t>
            </a:r>
            <a:r>
              <a:rPr lang="en-US" sz="2800" dirty="0" smtClean="0"/>
              <a:t>).</a:t>
            </a:r>
          </a:p>
          <a:p>
            <a:endParaRPr lang="en-US" sz="2800" dirty="0" smtClean="0"/>
          </a:p>
          <a:p>
            <a:r>
              <a:rPr lang="en-US" sz="2800" dirty="0" smtClean="0"/>
              <a:t>The processor </a:t>
            </a:r>
            <a:r>
              <a:rPr lang="en-US" sz="2800" dirty="0"/>
              <a:t>can then obtain the data item by requesting that the I/O module</a:t>
            </a:r>
          </a:p>
          <a:p>
            <a:r>
              <a:rPr lang="en-US" sz="2800" dirty="0"/>
              <a:t>place it on the data bus</a:t>
            </a:r>
            <a:r>
              <a:rPr lang="en-US" sz="2800" dirty="0" smtClean="0"/>
              <a:t>.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• </a:t>
            </a:r>
            <a:r>
              <a:rPr lang="en-US" sz="2800" b="1" dirty="0">
                <a:solidFill>
                  <a:srgbClr val="FF0000"/>
                </a:solidFill>
              </a:rPr>
              <a:t>Write: </a:t>
            </a:r>
            <a:r>
              <a:rPr lang="en-US" sz="2800" dirty="0"/>
              <a:t>Causes the I/O module to take an item of data (byte or word) from the</a:t>
            </a:r>
          </a:p>
          <a:p>
            <a:r>
              <a:rPr lang="en-US" sz="2800" dirty="0"/>
              <a:t>data bus and subsequently transmit that data item to the peripheral.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62752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2" t="13571" r="16906" b="27421"/>
          <a:stretch/>
        </p:blipFill>
        <p:spPr bwMode="auto">
          <a:xfrm>
            <a:off x="1165122" y="0"/>
            <a:ext cx="8834284" cy="6472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66684" y="6488668"/>
            <a:ext cx="5537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Figure 7.4 Three Techniques for Input of a Block of Data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753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357" y="81359"/>
            <a:ext cx="1198704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Figure 7.4a gives an example of the use of programmed I/O to read in a block </a:t>
            </a:r>
            <a:r>
              <a:rPr lang="en-US" sz="2800" dirty="0" smtClean="0"/>
              <a:t>of data </a:t>
            </a:r>
            <a:r>
              <a:rPr lang="en-US" sz="2800" dirty="0"/>
              <a:t>from a peripheral device (e.g., a record from tape) into memory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Data </a:t>
            </a:r>
            <a:r>
              <a:rPr lang="en-US" sz="2800" dirty="0"/>
              <a:t>are read </a:t>
            </a:r>
            <a:r>
              <a:rPr lang="en-US" sz="2800" dirty="0" smtClean="0"/>
              <a:t>in one </a:t>
            </a:r>
            <a:r>
              <a:rPr lang="en-US" sz="2800" dirty="0"/>
              <a:t>word (e.g., 16 bits) at a time.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For </a:t>
            </a:r>
            <a:r>
              <a:rPr lang="en-US" sz="2800" dirty="0"/>
              <a:t>each word that is read in, the processor must </a:t>
            </a:r>
            <a:r>
              <a:rPr lang="en-US" sz="2800" dirty="0" smtClean="0"/>
              <a:t>remain in </a:t>
            </a:r>
            <a:r>
              <a:rPr lang="en-US" sz="2800" dirty="0"/>
              <a:t>a status-checking cycle until it determines that the word is available in the </a:t>
            </a:r>
            <a:r>
              <a:rPr lang="en-US" sz="2800" dirty="0" smtClean="0"/>
              <a:t>I/O module’s </a:t>
            </a:r>
            <a:r>
              <a:rPr lang="en-US" sz="2800" dirty="0"/>
              <a:t>data register.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flowchart highlights the main </a:t>
            </a:r>
            <a:r>
              <a:rPr lang="en-US" sz="2800" b="1" dirty="0"/>
              <a:t>disadvantage</a:t>
            </a:r>
            <a:r>
              <a:rPr lang="en-US" sz="2800" dirty="0"/>
              <a:t> of this </a:t>
            </a:r>
            <a:r>
              <a:rPr lang="en-US" sz="2800" dirty="0" smtClean="0"/>
              <a:t>technique: it </a:t>
            </a:r>
            <a:r>
              <a:rPr lang="en-US" sz="2800" dirty="0"/>
              <a:t>is </a:t>
            </a:r>
            <a:r>
              <a:rPr lang="en-US" sz="2800" b="1" dirty="0"/>
              <a:t>a time-consuming process </a:t>
            </a:r>
            <a:r>
              <a:rPr lang="en-US" sz="2800" dirty="0"/>
              <a:t>that keeps the processor busy needlessly.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93771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585871"/>
            <a:ext cx="119870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/>
              <a:t>I/O </a:t>
            </a:r>
            <a:r>
              <a:rPr lang="en-IN" sz="2800" b="1" u="sng" dirty="0" smtClean="0"/>
              <a:t>Instructions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With programmed I/O, there is a </a:t>
            </a:r>
            <a:r>
              <a:rPr lang="en-US" sz="2800" b="1" dirty="0"/>
              <a:t>close correspondence between </a:t>
            </a:r>
            <a:r>
              <a:rPr lang="en-US" sz="2800" dirty="0"/>
              <a:t>the I/O-related </a:t>
            </a:r>
            <a:r>
              <a:rPr lang="en-US" sz="2800" b="1" dirty="0" smtClean="0"/>
              <a:t>instructions</a:t>
            </a:r>
            <a:r>
              <a:rPr lang="en-US" sz="2800" dirty="0" smtClean="0"/>
              <a:t> that </a:t>
            </a:r>
            <a:r>
              <a:rPr lang="en-US" sz="2800" dirty="0"/>
              <a:t>the processor fetches from memory and the I/O </a:t>
            </a:r>
            <a:r>
              <a:rPr lang="en-US" sz="2800" b="1" dirty="0"/>
              <a:t>commands</a:t>
            </a:r>
            <a:r>
              <a:rPr lang="en-US" sz="2800" dirty="0"/>
              <a:t> that </a:t>
            </a:r>
            <a:r>
              <a:rPr lang="en-US" sz="2800" dirty="0" smtClean="0"/>
              <a:t>the processor </a:t>
            </a:r>
            <a:r>
              <a:rPr lang="en-US" sz="2800" dirty="0"/>
              <a:t>issues to an I/O module </a:t>
            </a:r>
            <a:r>
              <a:rPr lang="en-US" sz="2800" b="1" dirty="0"/>
              <a:t>to execute the instructions.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That </a:t>
            </a:r>
            <a:r>
              <a:rPr lang="en-US" sz="2800" dirty="0"/>
              <a:t>is, the </a:t>
            </a:r>
            <a:r>
              <a:rPr lang="en-US" sz="2800" dirty="0" smtClean="0"/>
              <a:t>instructions are </a:t>
            </a:r>
            <a:r>
              <a:rPr lang="en-US" sz="2800" dirty="0"/>
              <a:t>easily mapped into I/O </a:t>
            </a:r>
            <a:r>
              <a:rPr lang="en-US" sz="2800" dirty="0" smtClean="0"/>
              <a:t>commands.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There </a:t>
            </a:r>
            <a:r>
              <a:rPr lang="en-US" sz="2800" dirty="0"/>
              <a:t>will be </a:t>
            </a:r>
            <a:r>
              <a:rPr lang="en-US" sz="2800" b="1" dirty="0"/>
              <a:t>many I/O devices </a:t>
            </a:r>
            <a:r>
              <a:rPr lang="en-US" sz="2800" dirty="0"/>
              <a:t>connected through I/O modules </a:t>
            </a:r>
            <a:r>
              <a:rPr lang="en-US" sz="2800" dirty="0" smtClean="0"/>
              <a:t>to the </a:t>
            </a:r>
            <a:r>
              <a:rPr lang="en-US" sz="2800" dirty="0"/>
              <a:t>system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Each </a:t>
            </a:r>
            <a:r>
              <a:rPr lang="en-US" sz="2800" dirty="0"/>
              <a:t>device is given </a:t>
            </a:r>
            <a:r>
              <a:rPr lang="en-US" sz="2800" b="1" dirty="0"/>
              <a:t>a unique </a:t>
            </a:r>
            <a:r>
              <a:rPr lang="en-US" sz="2800" b="1" dirty="0" smtClean="0"/>
              <a:t>address.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When </a:t>
            </a:r>
            <a:r>
              <a:rPr lang="en-US" sz="2800" b="1" dirty="0"/>
              <a:t>the </a:t>
            </a:r>
            <a:r>
              <a:rPr lang="en-US" sz="2800" b="1" dirty="0" smtClean="0"/>
              <a:t>processor issues </a:t>
            </a:r>
            <a:r>
              <a:rPr lang="en-US" sz="2800" b="1" dirty="0"/>
              <a:t>an I/O command</a:t>
            </a:r>
            <a:r>
              <a:rPr lang="en-US" sz="2800" dirty="0"/>
              <a:t>, the command </a:t>
            </a:r>
            <a:r>
              <a:rPr lang="en-US" sz="2800" b="1" dirty="0"/>
              <a:t>contains the address </a:t>
            </a:r>
            <a:r>
              <a:rPr lang="en-US" sz="2800" dirty="0"/>
              <a:t>of the desired </a:t>
            </a:r>
            <a:r>
              <a:rPr lang="en-US" sz="2800" dirty="0" smtClean="0"/>
              <a:t>device.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Thus</a:t>
            </a:r>
            <a:r>
              <a:rPr lang="en-US" sz="2800" dirty="0"/>
              <a:t>, each I/O module must interpret the address lines to determine if the </a:t>
            </a:r>
            <a:r>
              <a:rPr lang="en-US" sz="2800" dirty="0" smtClean="0"/>
              <a:t>command </a:t>
            </a:r>
            <a:r>
              <a:rPr lang="en-IN" sz="2800" dirty="0" smtClean="0"/>
              <a:t>is </a:t>
            </a:r>
            <a:r>
              <a:rPr lang="en-IN" sz="2800" dirty="0"/>
              <a:t>for itself.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1133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585871"/>
            <a:ext cx="11987048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Two </a:t>
            </a:r>
            <a:r>
              <a:rPr lang="en-US" sz="2800" b="1" dirty="0" smtClean="0"/>
              <a:t>modes of </a:t>
            </a:r>
            <a:r>
              <a:rPr lang="en-US" sz="2800" b="1" dirty="0"/>
              <a:t>addressing</a:t>
            </a:r>
            <a:r>
              <a:rPr lang="en-US" sz="2800" dirty="0"/>
              <a:t> are possible: </a:t>
            </a:r>
            <a:r>
              <a:rPr lang="en-US" sz="2800" dirty="0">
                <a:solidFill>
                  <a:srgbClr val="FF0000"/>
                </a:solidFill>
              </a:rPr>
              <a:t>memory mapped and isolated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With </a:t>
            </a:r>
            <a:r>
              <a:rPr lang="en-IN" sz="3200" b="1" dirty="0" smtClean="0"/>
              <a:t>memory-mapped </a:t>
            </a:r>
            <a:r>
              <a:rPr lang="en-US" sz="3200" b="1" dirty="0" smtClean="0"/>
              <a:t>I/O</a:t>
            </a:r>
            <a:r>
              <a:rPr lang="en-US" sz="2800" dirty="0"/>
              <a:t>, there is a </a:t>
            </a:r>
            <a:r>
              <a:rPr lang="en-US" sz="2800" b="1" dirty="0"/>
              <a:t>single address space </a:t>
            </a:r>
            <a:r>
              <a:rPr lang="en-US" sz="2800" dirty="0"/>
              <a:t>for memory locations and I/O devices.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processor </a:t>
            </a:r>
            <a:r>
              <a:rPr lang="en-US" sz="2800" dirty="0"/>
              <a:t>treats the </a:t>
            </a:r>
            <a:r>
              <a:rPr lang="en-US" sz="2800" b="1" dirty="0"/>
              <a:t>status and data registers </a:t>
            </a:r>
            <a:r>
              <a:rPr lang="en-US" sz="2800" dirty="0"/>
              <a:t>of I/O modules </a:t>
            </a:r>
            <a:r>
              <a:rPr lang="en-US" sz="2800" b="1" dirty="0"/>
              <a:t>as memory </a:t>
            </a:r>
            <a:r>
              <a:rPr lang="en-US" sz="2800" b="1" dirty="0" smtClean="0"/>
              <a:t>locations</a:t>
            </a:r>
            <a:r>
              <a:rPr lang="en-US" sz="2800" dirty="0" smtClean="0"/>
              <a:t> and </a:t>
            </a:r>
            <a:r>
              <a:rPr lang="en-US" sz="2800" dirty="0">
                <a:solidFill>
                  <a:srgbClr val="FF0000"/>
                </a:solidFill>
              </a:rPr>
              <a:t>uses the same machine instructions to access both memory and I/O </a:t>
            </a:r>
            <a:r>
              <a:rPr lang="en-US" sz="2800" dirty="0" smtClean="0">
                <a:solidFill>
                  <a:srgbClr val="FF0000"/>
                </a:solidFill>
              </a:rPr>
              <a:t>devices.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T</a:t>
            </a:r>
            <a:r>
              <a:rPr lang="en-US" sz="2800" dirty="0" smtClean="0"/>
              <a:t>he </a:t>
            </a:r>
            <a:r>
              <a:rPr lang="en-US" sz="2800" dirty="0"/>
              <a:t>address space for I/O </a:t>
            </a:r>
            <a:r>
              <a:rPr lang="en-US" sz="2800" dirty="0" smtClean="0"/>
              <a:t>is isolated </a:t>
            </a:r>
            <a:r>
              <a:rPr lang="en-US" sz="2800" dirty="0"/>
              <a:t>from that for memory, this is referred to as </a:t>
            </a:r>
            <a:r>
              <a:rPr lang="en-US" sz="3200" b="1" dirty="0"/>
              <a:t>isolated I/O</a:t>
            </a:r>
            <a:r>
              <a:rPr lang="en-US" sz="3200" dirty="0"/>
              <a:t>.</a:t>
            </a:r>
            <a:endParaRPr lang="en-US" sz="3200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84388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910327"/>
            <a:ext cx="119870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problem with programmed I/O is that the processor has to wait a long time for </a:t>
            </a:r>
            <a:r>
              <a:rPr lang="en-US" sz="2800" dirty="0" smtClean="0"/>
              <a:t>the I/O </a:t>
            </a:r>
            <a:r>
              <a:rPr lang="en-US" sz="2800" dirty="0"/>
              <a:t>module of concern to be ready for either reception or transmission of data.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processor</a:t>
            </a:r>
            <a:r>
              <a:rPr lang="en-US" sz="2800" dirty="0"/>
              <a:t>, while waiting, must repeatedly interrogate the status of the I/O </a:t>
            </a:r>
            <a:r>
              <a:rPr lang="en-US" sz="2800" dirty="0" smtClean="0"/>
              <a:t>module.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As a </a:t>
            </a:r>
            <a:r>
              <a:rPr lang="en-US" sz="2800" dirty="0"/>
              <a:t>result, the </a:t>
            </a:r>
            <a:r>
              <a:rPr lang="en-US" sz="2800" b="1" dirty="0"/>
              <a:t>level of the performance </a:t>
            </a:r>
            <a:r>
              <a:rPr lang="en-US" sz="2800" dirty="0"/>
              <a:t>of the entire system is severely </a:t>
            </a:r>
            <a:r>
              <a:rPr lang="en-US" sz="2800" b="1" dirty="0"/>
              <a:t>degraded</a:t>
            </a:r>
            <a:r>
              <a:rPr lang="en-US" sz="2800" dirty="0" smtClean="0"/>
              <a:t>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INTERRUPT-DRIVEN</a:t>
            </a:r>
            <a:r>
              <a:rPr lang="en-IN" b="1" dirty="0" smtClean="0"/>
              <a:t> </a:t>
            </a:r>
            <a:r>
              <a:rPr lang="en-IN" b="1" dirty="0"/>
              <a:t>I/O</a:t>
            </a:r>
            <a:r>
              <a:rPr lang="en-IN" b="1" dirty="0" smtClean="0"/>
              <a:t>: 228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049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585871"/>
            <a:ext cx="119870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/>
              <a:t>alternative is for the processor </a:t>
            </a:r>
            <a:r>
              <a:rPr lang="en-US" sz="2800" b="1" dirty="0"/>
              <a:t>to issue an I/O command </a:t>
            </a:r>
            <a:r>
              <a:rPr lang="en-US" sz="2800" dirty="0"/>
              <a:t>to a module and </a:t>
            </a:r>
            <a:r>
              <a:rPr lang="en-US" sz="2800" b="1" dirty="0" smtClean="0"/>
              <a:t>then go </a:t>
            </a:r>
            <a:r>
              <a:rPr lang="en-US" sz="2800" b="1" dirty="0"/>
              <a:t>on to do some other useful work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/>
              <a:t>I/O module will then interrupt the </a:t>
            </a:r>
            <a:r>
              <a:rPr lang="en-US" sz="2800" b="1" dirty="0" smtClean="0"/>
              <a:t>processor </a:t>
            </a:r>
            <a:r>
              <a:rPr lang="en-US" sz="2800" dirty="0" smtClean="0"/>
              <a:t>to </a:t>
            </a:r>
            <a:r>
              <a:rPr lang="en-US" sz="2800" dirty="0"/>
              <a:t>request service when it is ready to exchange data with the processor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processor then </a:t>
            </a:r>
            <a:r>
              <a:rPr lang="en-US" sz="2800" dirty="0"/>
              <a:t>executes the data transfer, as before, and then resumes its former processing.</a:t>
            </a:r>
            <a:endParaRPr lang="en-US" sz="28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INTERRUPT-DRIVEN</a:t>
            </a:r>
            <a:r>
              <a:rPr lang="en-IN" b="1" dirty="0" smtClean="0"/>
              <a:t> </a:t>
            </a:r>
            <a:r>
              <a:rPr lang="en-IN" b="1" dirty="0"/>
              <a:t>I/O</a:t>
            </a:r>
            <a:r>
              <a:rPr lang="en-IN" b="1" dirty="0" smtClean="0"/>
              <a:t>: 228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97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349903"/>
            <a:ext cx="119870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Let us consider how this works, </a:t>
            </a:r>
            <a:r>
              <a:rPr lang="en-US" sz="2800" b="1" dirty="0"/>
              <a:t>first from the point of view of the I/O module</a:t>
            </a:r>
            <a:r>
              <a:rPr lang="en-US" sz="2800" dirty="0" smtClean="0"/>
              <a:t>.</a:t>
            </a:r>
            <a:r>
              <a:rPr lang="en-US" sz="2800" dirty="0"/>
              <a:t>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For </a:t>
            </a:r>
            <a:r>
              <a:rPr lang="en-US" sz="2800" dirty="0"/>
              <a:t>input, the </a:t>
            </a:r>
            <a:r>
              <a:rPr lang="en-US" sz="2800" b="1" dirty="0">
                <a:solidFill>
                  <a:srgbClr val="FF0000"/>
                </a:solidFill>
              </a:rPr>
              <a:t>I/O module receives a READ command </a:t>
            </a:r>
            <a:r>
              <a:rPr lang="en-US" sz="2800" dirty="0"/>
              <a:t>from the processor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I/O module </a:t>
            </a:r>
            <a:r>
              <a:rPr lang="en-US" sz="2800" dirty="0"/>
              <a:t>then proceeds to </a:t>
            </a:r>
            <a:r>
              <a:rPr lang="en-US" sz="2800" b="1" dirty="0">
                <a:solidFill>
                  <a:srgbClr val="FF0000"/>
                </a:solidFill>
              </a:rPr>
              <a:t>read data in from an associated peripheral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Once </a:t>
            </a:r>
            <a:r>
              <a:rPr lang="en-US" sz="2800" dirty="0"/>
              <a:t>the </a:t>
            </a:r>
            <a:r>
              <a:rPr lang="en-US" sz="2800" dirty="0" smtClean="0"/>
              <a:t>data are </a:t>
            </a:r>
            <a:r>
              <a:rPr lang="en-US" sz="2800" dirty="0"/>
              <a:t>in the </a:t>
            </a:r>
            <a:r>
              <a:rPr lang="en-US" sz="2800" b="1" dirty="0"/>
              <a:t>module’s data register, </a:t>
            </a:r>
            <a:r>
              <a:rPr lang="en-US" sz="2800" dirty="0"/>
              <a:t>the module signals an </a:t>
            </a:r>
            <a:r>
              <a:rPr lang="en-US" sz="2800" b="1" dirty="0">
                <a:solidFill>
                  <a:srgbClr val="FF0000"/>
                </a:solidFill>
              </a:rPr>
              <a:t>interrupt to the </a:t>
            </a:r>
            <a:r>
              <a:rPr lang="en-US" sz="2800" b="1" dirty="0" smtClean="0">
                <a:solidFill>
                  <a:srgbClr val="FF0000"/>
                </a:solidFill>
              </a:rPr>
              <a:t>processor over </a:t>
            </a:r>
            <a:r>
              <a:rPr lang="en-US" sz="2800" b="1" dirty="0">
                <a:solidFill>
                  <a:srgbClr val="FF0000"/>
                </a:solidFill>
              </a:rPr>
              <a:t>a control line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module then </a:t>
            </a:r>
            <a:r>
              <a:rPr lang="en-US" sz="2800" b="1" dirty="0"/>
              <a:t>waits</a:t>
            </a:r>
            <a:r>
              <a:rPr lang="en-US" sz="2800" dirty="0"/>
              <a:t> until its data are requested by the processor.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When </a:t>
            </a:r>
            <a:r>
              <a:rPr lang="en-US" sz="2800" dirty="0"/>
              <a:t>the request is made, the </a:t>
            </a:r>
            <a:r>
              <a:rPr lang="en-US" sz="2800" b="1" dirty="0">
                <a:solidFill>
                  <a:srgbClr val="FF0000"/>
                </a:solidFill>
              </a:rPr>
              <a:t>module places its data on the data bus</a:t>
            </a:r>
            <a:r>
              <a:rPr lang="en-US" sz="2800" dirty="0"/>
              <a:t> and is </a:t>
            </a:r>
            <a:r>
              <a:rPr lang="en-US" sz="2800" dirty="0" smtClean="0"/>
              <a:t>then ready </a:t>
            </a:r>
            <a:r>
              <a:rPr lang="en-US" sz="2800" dirty="0"/>
              <a:t>for another I/O operation.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47564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From the processor’s point of view, </a:t>
            </a:r>
            <a:r>
              <a:rPr lang="en-US" sz="2800" dirty="0"/>
              <a:t>the action for input is as </a:t>
            </a:r>
            <a:r>
              <a:rPr lang="en-US" sz="2800" dirty="0" smtClean="0"/>
              <a:t>follows. </a:t>
            </a:r>
          </a:p>
          <a:p>
            <a:r>
              <a:rPr lang="en-IN" dirty="0" smtClean="0"/>
              <a:t>     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The </a:t>
            </a:r>
            <a:r>
              <a:rPr lang="en-US" sz="2800" dirty="0" smtClean="0"/>
              <a:t>processor </a:t>
            </a:r>
            <a:r>
              <a:rPr lang="en-US" sz="2800" b="1" dirty="0">
                <a:solidFill>
                  <a:srgbClr val="FF0000"/>
                </a:solidFill>
              </a:rPr>
              <a:t>issues a READ command.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then goes off and </a:t>
            </a:r>
            <a:r>
              <a:rPr lang="en-US" sz="2800" b="1" dirty="0">
                <a:solidFill>
                  <a:srgbClr val="FF0000"/>
                </a:solidFill>
              </a:rPr>
              <a:t>does something </a:t>
            </a:r>
            <a:r>
              <a:rPr lang="en-US" sz="2800" b="1" dirty="0" smtClean="0">
                <a:solidFill>
                  <a:srgbClr val="FF0000"/>
                </a:solidFill>
              </a:rPr>
              <a:t>else</a:t>
            </a:r>
            <a:r>
              <a:rPr lang="en-US" sz="2800" dirty="0" smtClean="0"/>
              <a:t>. </a:t>
            </a:r>
            <a:r>
              <a:rPr lang="en-US" sz="2800" dirty="0"/>
              <a:t>(e.g</a:t>
            </a:r>
            <a:r>
              <a:rPr lang="en-US" sz="2800" dirty="0" smtClean="0"/>
              <a:t>., the </a:t>
            </a:r>
            <a:r>
              <a:rPr lang="en-US" sz="2800" dirty="0"/>
              <a:t>processor may be working on several different programs at the same time).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At the </a:t>
            </a:r>
            <a:r>
              <a:rPr lang="en-US" sz="2800" b="1" dirty="0"/>
              <a:t>end of each instruction cycle</a:t>
            </a:r>
            <a:r>
              <a:rPr lang="en-US" sz="2800" dirty="0"/>
              <a:t>, the processor </a:t>
            </a:r>
            <a:r>
              <a:rPr lang="en-US" sz="2800" b="1" dirty="0">
                <a:solidFill>
                  <a:srgbClr val="FF0000"/>
                </a:solidFill>
              </a:rPr>
              <a:t>checks for </a:t>
            </a:r>
            <a:r>
              <a:rPr lang="en-US" sz="2800" b="1" dirty="0" smtClean="0">
                <a:solidFill>
                  <a:srgbClr val="FF0000"/>
                </a:solidFill>
              </a:rPr>
              <a:t>interrupts.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b="1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When the </a:t>
            </a:r>
            <a:r>
              <a:rPr lang="en-US" sz="2800" b="1" dirty="0">
                <a:solidFill>
                  <a:srgbClr val="FF0000"/>
                </a:solidFill>
              </a:rPr>
              <a:t>interrupt from the I/O module occurs</a:t>
            </a:r>
            <a:r>
              <a:rPr lang="en-US" sz="2800" dirty="0"/>
              <a:t>, the processor </a:t>
            </a:r>
            <a:r>
              <a:rPr lang="en-US" sz="2800" b="1" dirty="0">
                <a:solidFill>
                  <a:srgbClr val="FF0000"/>
                </a:solidFill>
              </a:rPr>
              <a:t>saves the </a:t>
            </a:r>
            <a:r>
              <a:rPr lang="en-US" sz="2800" b="1" dirty="0" smtClean="0">
                <a:solidFill>
                  <a:srgbClr val="FF0000"/>
                </a:solidFill>
              </a:rPr>
              <a:t>context </a:t>
            </a:r>
            <a:r>
              <a:rPr lang="en-US" sz="2800" dirty="0" smtClean="0"/>
              <a:t>(e.g</a:t>
            </a:r>
            <a:r>
              <a:rPr lang="en-US" sz="2800" dirty="0"/>
              <a:t>., program counter and processor registers) of the current program </a:t>
            </a:r>
            <a:r>
              <a:rPr lang="en-US" sz="2800" dirty="0" smtClean="0"/>
              <a:t>and </a:t>
            </a:r>
            <a:r>
              <a:rPr lang="en-US" sz="2800" b="1" dirty="0" smtClean="0"/>
              <a:t>processes </a:t>
            </a:r>
            <a:r>
              <a:rPr lang="en-US" sz="2800" b="1" dirty="0"/>
              <a:t>the interrupt.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this case, the processor </a:t>
            </a:r>
            <a:r>
              <a:rPr lang="en-US" sz="2800" b="1" dirty="0">
                <a:solidFill>
                  <a:srgbClr val="FF0000"/>
                </a:solidFill>
              </a:rPr>
              <a:t>reads the word of data from </a:t>
            </a:r>
            <a:r>
              <a:rPr lang="en-US" sz="2800" b="1" dirty="0" smtClean="0">
                <a:solidFill>
                  <a:srgbClr val="FF0000"/>
                </a:solidFill>
              </a:rPr>
              <a:t>the I/O </a:t>
            </a:r>
            <a:r>
              <a:rPr lang="en-US" sz="2800" b="1" dirty="0">
                <a:solidFill>
                  <a:srgbClr val="FF0000"/>
                </a:solidFill>
              </a:rPr>
              <a:t>module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FF0000"/>
                </a:solidFill>
              </a:rPr>
              <a:t>stores it in memory.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then </a:t>
            </a:r>
            <a:r>
              <a:rPr lang="en-US" sz="2800" b="1" dirty="0">
                <a:solidFill>
                  <a:srgbClr val="FF0000"/>
                </a:solidFill>
              </a:rPr>
              <a:t>restores</a:t>
            </a:r>
            <a:r>
              <a:rPr lang="en-US" sz="2800" dirty="0"/>
              <a:t> the context of </a:t>
            </a:r>
            <a:r>
              <a:rPr lang="en-US" sz="2800" b="1" dirty="0">
                <a:solidFill>
                  <a:srgbClr val="FF0000"/>
                </a:solidFill>
              </a:rPr>
              <a:t>the program </a:t>
            </a:r>
            <a:r>
              <a:rPr lang="en-US" sz="2800" b="1" dirty="0" smtClean="0">
                <a:solidFill>
                  <a:srgbClr val="FF0000"/>
                </a:solidFill>
              </a:rPr>
              <a:t>it was </a:t>
            </a:r>
            <a:r>
              <a:rPr lang="en-US" sz="2800" b="1" dirty="0">
                <a:solidFill>
                  <a:srgbClr val="FF0000"/>
                </a:solidFill>
              </a:rPr>
              <a:t>working on </a:t>
            </a:r>
            <a:r>
              <a:rPr lang="en-US" sz="2800" dirty="0"/>
              <a:t>(or some other program) and </a:t>
            </a:r>
            <a:r>
              <a:rPr lang="en-US" sz="2800" b="1" dirty="0">
                <a:solidFill>
                  <a:srgbClr val="FF0000"/>
                </a:solidFill>
              </a:rPr>
              <a:t>resumes execution.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59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Figure 7.4b shows the use of interrupt I/O for reading in a block of data.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Compare this </a:t>
            </a:r>
            <a:r>
              <a:rPr lang="en-US" sz="2800" dirty="0"/>
              <a:t>with Figure 7.4a. Interrupt I/O is more efficient than programmed I/O </a:t>
            </a:r>
            <a:r>
              <a:rPr lang="en-US" sz="2800" dirty="0" smtClean="0"/>
              <a:t>because </a:t>
            </a:r>
            <a:r>
              <a:rPr lang="en-US" sz="2800" b="1" dirty="0" smtClean="0">
                <a:solidFill>
                  <a:srgbClr val="FF0000"/>
                </a:solidFill>
              </a:rPr>
              <a:t>it </a:t>
            </a:r>
            <a:r>
              <a:rPr lang="en-US" sz="2800" b="1" dirty="0">
                <a:solidFill>
                  <a:srgbClr val="FF0000"/>
                </a:solidFill>
              </a:rPr>
              <a:t>eliminates needless waiting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However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FF0000"/>
                </a:solidFill>
              </a:rPr>
              <a:t>interrupt I/O still </a:t>
            </a:r>
            <a:r>
              <a:rPr lang="en-US" sz="2800" b="1" dirty="0">
                <a:solidFill>
                  <a:schemeClr val="tx2"/>
                </a:solidFill>
              </a:rPr>
              <a:t>consumes a lot </a:t>
            </a:r>
            <a:r>
              <a:rPr lang="en-US" sz="2800" b="1" dirty="0" smtClean="0">
                <a:solidFill>
                  <a:schemeClr val="tx2"/>
                </a:solidFill>
              </a:rPr>
              <a:t>of processor </a:t>
            </a:r>
            <a:r>
              <a:rPr lang="en-US" sz="2800" b="1" dirty="0">
                <a:solidFill>
                  <a:schemeClr val="tx2"/>
                </a:solidFill>
              </a:rPr>
              <a:t>time</a:t>
            </a:r>
            <a:r>
              <a:rPr lang="en-US" sz="2800" b="1" dirty="0">
                <a:solidFill>
                  <a:srgbClr val="FF0000"/>
                </a:solidFill>
              </a:rPr>
              <a:t>, because every word of data that goes from memory to I/O </a:t>
            </a:r>
            <a:r>
              <a:rPr lang="en-US" sz="2800" b="1" dirty="0" smtClean="0">
                <a:solidFill>
                  <a:srgbClr val="FF0000"/>
                </a:solidFill>
              </a:rPr>
              <a:t>module or </a:t>
            </a:r>
            <a:r>
              <a:rPr lang="en-US" sz="2800" b="1" dirty="0">
                <a:solidFill>
                  <a:srgbClr val="FF0000"/>
                </a:solidFill>
              </a:rPr>
              <a:t>from I/O module to memory </a:t>
            </a:r>
            <a:r>
              <a:rPr lang="en-US" sz="2800" b="1" dirty="0">
                <a:solidFill>
                  <a:schemeClr val="tx2"/>
                </a:solidFill>
              </a:rPr>
              <a:t>must pass through the processor</a:t>
            </a:r>
            <a:r>
              <a:rPr lang="en-US" sz="2800" b="1" dirty="0">
                <a:solidFill>
                  <a:srgbClr val="FF0000"/>
                </a:solidFill>
              </a:rPr>
              <a:t>.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80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07285"/>
            <a:ext cx="12133009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/>
              <a:t>Interrupt </a:t>
            </a:r>
            <a:r>
              <a:rPr lang="en-IN" sz="2800" b="1" u="sng" dirty="0" smtClean="0"/>
              <a:t>Processing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The </a:t>
            </a:r>
            <a:r>
              <a:rPr lang="en-US" sz="2800" dirty="0" smtClean="0"/>
              <a:t>occurrence </a:t>
            </a:r>
            <a:r>
              <a:rPr lang="en-US" sz="2800" dirty="0"/>
              <a:t>of an </a:t>
            </a:r>
            <a:r>
              <a:rPr lang="en-US" sz="2800" b="1" dirty="0"/>
              <a:t>interrupt </a:t>
            </a:r>
            <a:r>
              <a:rPr lang="en-US" sz="2800" b="1" dirty="0">
                <a:solidFill>
                  <a:srgbClr val="C00000"/>
                </a:solidFill>
              </a:rPr>
              <a:t>triggers a number of events</a:t>
            </a:r>
            <a:r>
              <a:rPr lang="en-US" sz="2800" dirty="0"/>
              <a:t>, both in the </a:t>
            </a:r>
            <a:r>
              <a:rPr lang="en-US" sz="2800" b="1" dirty="0"/>
              <a:t>processor </a:t>
            </a:r>
            <a:r>
              <a:rPr lang="en-US" sz="2800" b="1" dirty="0" smtClean="0"/>
              <a:t>hardware </a:t>
            </a:r>
            <a:r>
              <a:rPr lang="en-US" sz="2800" b="1" dirty="0"/>
              <a:t>and in software.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When </a:t>
            </a:r>
            <a:r>
              <a:rPr lang="en-US" sz="2800" dirty="0"/>
              <a:t>an </a:t>
            </a:r>
            <a:r>
              <a:rPr lang="en-US" sz="2800" b="1" dirty="0"/>
              <a:t>I/O device </a:t>
            </a:r>
            <a:r>
              <a:rPr lang="en-US" sz="2800" b="1" dirty="0" smtClean="0"/>
              <a:t>completes an </a:t>
            </a:r>
            <a:r>
              <a:rPr lang="en-US" sz="2800" b="1" dirty="0"/>
              <a:t>I/O operation</a:t>
            </a:r>
            <a:r>
              <a:rPr lang="en-US" sz="2800" dirty="0"/>
              <a:t>, the following sequence of hardware events occurs</a:t>
            </a:r>
            <a:r>
              <a:rPr lang="en-US" sz="2800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r>
              <a:rPr lang="en-US" sz="2800" dirty="0" smtClean="0"/>
              <a:t>The </a:t>
            </a:r>
            <a:r>
              <a:rPr lang="en-US" sz="2800" dirty="0"/>
              <a:t>device </a:t>
            </a:r>
            <a:r>
              <a:rPr lang="en-US" sz="2800" b="1" dirty="0">
                <a:solidFill>
                  <a:srgbClr val="FF0000"/>
                </a:solidFill>
              </a:rPr>
              <a:t>issues an interrupt signal </a:t>
            </a:r>
            <a:r>
              <a:rPr lang="en-US" sz="2800" dirty="0"/>
              <a:t>to the processor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2. </a:t>
            </a:r>
            <a:r>
              <a:rPr lang="en-US" sz="2800" dirty="0"/>
              <a:t>The processor </a:t>
            </a:r>
            <a:r>
              <a:rPr lang="en-US" sz="2800" b="1" dirty="0">
                <a:solidFill>
                  <a:srgbClr val="FF0000"/>
                </a:solidFill>
              </a:rPr>
              <a:t>finishes execution of the current instruction </a:t>
            </a:r>
            <a:r>
              <a:rPr lang="en-US" sz="2800" dirty="0"/>
              <a:t>before responding</a:t>
            </a:r>
          </a:p>
          <a:p>
            <a:r>
              <a:rPr lang="en-US" sz="2800" dirty="0"/>
              <a:t>to the </a:t>
            </a:r>
            <a:r>
              <a:rPr lang="en-US" sz="2800" dirty="0" smtClean="0"/>
              <a:t>interrupt.</a:t>
            </a:r>
          </a:p>
          <a:p>
            <a:endParaRPr lang="en-US" sz="2800" dirty="0"/>
          </a:p>
          <a:p>
            <a:r>
              <a:rPr lang="en-US" sz="2800" b="1" dirty="0"/>
              <a:t>3. </a:t>
            </a:r>
            <a:r>
              <a:rPr lang="en-US" sz="2800" dirty="0"/>
              <a:t>The processor </a:t>
            </a:r>
            <a:r>
              <a:rPr lang="en-US" sz="2800" b="1" dirty="0">
                <a:solidFill>
                  <a:srgbClr val="FF0000"/>
                </a:solidFill>
              </a:rPr>
              <a:t>tests for an interrupt</a:t>
            </a:r>
            <a:r>
              <a:rPr lang="en-US" sz="2800" dirty="0"/>
              <a:t>, determines that there is one, and </a:t>
            </a:r>
            <a:r>
              <a:rPr lang="en-US" sz="2800" b="1" dirty="0">
                <a:solidFill>
                  <a:srgbClr val="FF0000"/>
                </a:solidFill>
              </a:rPr>
              <a:t>sends an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acknowledgment </a:t>
            </a:r>
            <a:r>
              <a:rPr lang="en-US" sz="2800" dirty="0"/>
              <a:t>signal to the device that issued the interrupt. The acknowledgment</a:t>
            </a:r>
          </a:p>
          <a:p>
            <a:r>
              <a:rPr lang="en-US" sz="2800" dirty="0"/>
              <a:t>allows the device to </a:t>
            </a:r>
            <a:r>
              <a:rPr lang="en-US" sz="2800" b="1" dirty="0">
                <a:solidFill>
                  <a:srgbClr val="FF0000"/>
                </a:solidFill>
              </a:rPr>
              <a:t>remove its interrupt signal</a:t>
            </a:r>
            <a:r>
              <a:rPr lang="en-US" sz="2800" dirty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 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28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r>
              <a:rPr lang="en-US" sz="2800" b="1" dirty="0" smtClean="0"/>
              <a:t>4. </a:t>
            </a:r>
            <a:r>
              <a:rPr lang="en-US" sz="2800" dirty="0" smtClean="0"/>
              <a:t>The </a:t>
            </a:r>
            <a:r>
              <a:rPr lang="en-US" sz="2800" dirty="0" smtClean="0">
                <a:solidFill>
                  <a:srgbClr val="FF0000"/>
                </a:solidFill>
              </a:rPr>
              <a:t>processor</a:t>
            </a:r>
            <a:r>
              <a:rPr lang="en-US" sz="2800" dirty="0" smtClean="0"/>
              <a:t> now needs to prepare to </a:t>
            </a:r>
            <a:r>
              <a:rPr lang="en-US" sz="2800" dirty="0" smtClean="0">
                <a:solidFill>
                  <a:srgbClr val="FF0000"/>
                </a:solidFill>
              </a:rPr>
              <a:t>transfer control to the interrupt routine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To begin, it needs to </a:t>
            </a:r>
            <a:r>
              <a:rPr lang="en-US" sz="2800" b="1" dirty="0" smtClean="0">
                <a:solidFill>
                  <a:srgbClr val="FF0000"/>
                </a:solidFill>
              </a:rPr>
              <a:t>save information needed to resume the current program</a:t>
            </a:r>
            <a:r>
              <a:rPr lang="en-US" sz="2800" dirty="0" smtClean="0"/>
              <a:t> at</a:t>
            </a:r>
          </a:p>
          <a:p>
            <a:r>
              <a:rPr lang="en-US" sz="2800" dirty="0" smtClean="0"/>
              <a:t>the point of interrupt. </a:t>
            </a:r>
          </a:p>
          <a:p>
            <a:r>
              <a:rPr lang="en-US" sz="2800" dirty="0" smtClean="0"/>
              <a:t>The minimum information required is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(a) the </a:t>
            </a:r>
            <a:r>
              <a:rPr lang="en-US" sz="2800" b="1" dirty="0" smtClean="0">
                <a:solidFill>
                  <a:srgbClr val="FF0000"/>
                </a:solidFill>
              </a:rPr>
              <a:t>status of the processor</a:t>
            </a:r>
            <a:r>
              <a:rPr lang="en-US" sz="2800" dirty="0" smtClean="0">
                <a:solidFill>
                  <a:srgbClr val="FF0000"/>
                </a:solidFill>
              </a:rPr>
              <a:t>, </a:t>
            </a:r>
            <a:r>
              <a:rPr lang="en-US" sz="2800" dirty="0" smtClean="0"/>
              <a:t>which is contained in a register called the </a:t>
            </a:r>
            <a:r>
              <a:rPr lang="en-US" sz="2800" b="1" dirty="0" smtClean="0"/>
              <a:t>program status word (PSW)</a:t>
            </a:r>
            <a:r>
              <a:rPr lang="en-US" sz="2800" dirty="0" smtClean="0"/>
              <a:t>, and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(b) the </a:t>
            </a:r>
            <a:r>
              <a:rPr lang="en-US" sz="2800" b="1" dirty="0" smtClean="0">
                <a:solidFill>
                  <a:srgbClr val="FF0000"/>
                </a:solidFill>
              </a:rPr>
              <a:t>location of the next instruction </a:t>
            </a:r>
            <a:r>
              <a:rPr lang="en-US" sz="2800" dirty="0" smtClean="0"/>
              <a:t>to be executed, which is contained in</a:t>
            </a:r>
          </a:p>
          <a:p>
            <a:r>
              <a:rPr lang="en-US" sz="2800" dirty="0" smtClean="0"/>
              <a:t>the </a:t>
            </a:r>
            <a:r>
              <a:rPr lang="en-US" sz="2800" b="1" dirty="0" smtClean="0"/>
              <a:t>program counter</a:t>
            </a:r>
            <a:r>
              <a:rPr lang="en-US" sz="2800" dirty="0" smtClean="0"/>
              <a:t>. </a:t>
            </a:r>
          </a:p>
          <a:p>
            <a:endParaRPr lang="en-US" sz="2800" dirty="0"/>
          </a:p>
          <a:p>
            <a:r>
              <a:rPr lang="en-US" sz="2800" dirty="0" smtClean="0"/>
              <a:t>These can be </a:t>
            </a:r>
            <a:r>
              <a:rPr lang="en-US" sz="2800" b="1" dirty="0" smtClean="0"/>
              <a:t>pushed onto the </a:t>
            </a:r>
            <a:r>
              <a:rPr lang="en-US" sz="2800" b="1" dirty="0" smtClean="0">
                <a:solidFill>
                  <a:srgbClr val="FF0000"/>
                </a:solidFill>
              </a:rPr>
              <a:t>system control stack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50018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5. </a:t>
            </a:r>
            <a:r>
              <a:rPr lang="en-US" sz="2800" dirty="0" smtClean="0"/>
              <a:t>The processor now </a:t>
            </a:r>
            <a:r>
              <a:rPr lang="en-US" sz="2800" b="1" dirty="0" smtClean="0">
                <a:solidFill>
                  <a:srgbClr val="FF0000"/>
                </a:solidFill>
              </a:rPr>
              <a:t>loads the program counter </a:t>
            </a:r>
            <a:r>
              <a:rPr lang="en-US" sz="2800" b="1" dirty="0" smtClean="0"/>
              <a:t>with the entry location of the</a:t>
            </a:r>
          </a:p>
          <a:p>
            <a:r>
              <a:rPr lang="en-US" sz="2800" b="1" dirty="0" smtClean="0"/>
              <a:t>interrupt-handling program </a:t>
            </a:r>
            <a:r>
              <a:rPr lang="en-US" sz="2800" dirty="0" smtClean="0"/>
              <a:t>that will respond to this interrupt.</a:t>
            </a:r>
          </a:p>
          <a:p>
            <a:endParaRPr lang="en-US" sz="2800" dirty="0" smtClean="0"/>
          </a:p>
          <a:p>
            <a:r>
              <a:rPr lang="en-US" sz="2800" dirty="0" smtClean="0"/>
              <a:t>If </a:t>
            </a:r>
            <a:r>
              <a:rPr lang="en-US" sz="2800" dirty="0"/>
              <a:t>there is </a:t>
            </a:r>
            <a:r>
              <a:rPr lang="en-US" sz="2800" b="1" dirty="0"/>
              <a:t>more than one </a:t>
            </a:r>
            <a:r>
              <a:rPr lang="en-US" sz="2800" b="1" dirty="0" smtClean="0"/>
              <a:t>interrupt-handling routine</a:t>
            </a:r>
            <a:r>
              <a:rPr lang="en-US" sz="2800" dirty="0"/>
              <a:t>, the processor must determine which one to invoke. </a:t>
            </a:r>
            <a:endParaRPr lang="en-US" sz="2800" dirty="0" smtClean="0"/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dirty="0"/>
              <a:t>Once the </a:t>
            </a:r>
            <a:r>
              <a:rPr lang="en-US" sz="2800" b="1" dirty="0"/>
              <a:t>program counter has been loaded</a:t>
            </a:r>
            <a:r>
              <a:rPr lang="en-US" sz="2800" dirty="0"/>
              <a:t>, the </a:t>
            </a:r>
            <a:r>
              <a:rPr lang="en-US" sz="2800" b="1" dirty="0">
                <a:solidFill>
                  <a:srgbClr val="FF0000"/>
                </a:solidFill>
              </a:rPr>
              <a:t>processor proceeds to the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next instruction cycle</a:t>
            </a:r>
            <a:r>
              <a:rPr lang="en-US" sz="2800" dirty="0"/>
              <a:t>, which begins with an </a:t>
            </a:r>
            <a:r>
              <a:rPr lang="en-US" sz="2800" dirty="0">
                <a:solidFill>
                  <a:srgbClr val="FF0000"/>
                </a:solidFill>
              </a:rPr>
              <a:t>instruction fetch. </a:t>
            </a:r>
            <a:endParaRPr lang="en-US" sz="2800" dirty="0" smtClean="0">
              <a:solidFill>
                <a:srgbClr val="FF0000"/>
              </a:solidFill>
            </a:endParaRPr>
          </a:p>
          <a:p>
            <a:endParaRPr lang="en-US" sz="2800" dirty="0" smtClean="0"/>
          </a:p>
          <a:p>
            <a:r>
              <a:rPr lang="en-US" sz="2800" dirty="0" smtClean="0"/>
              <a:t>Thus the control </a:t>
            </a:r>
            <a:r>
              <a:rPr lang="en-US" sz="2800" dirty="0"/>
              <a:t>is transferred to </a:t>
            </a:r>
            <a:r>
              <a:rPr lang="en-US" sz="2800" b="1" dirty="0">
                <a:solidFill>
                  <a:srgbClr val="FF0000"/>
                </a:solidFill>
              </a:rPr>
              <a:t>the interrupt-handler program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execution of this </a:t>
            </a:r>
            <a:r>
              <a:rPr lang="en-US" sz="2800" dirty="0" smtClean="0"/>
              <a:t>program results </a:t>
            </a:r>
            <a:r>
              <a:rPr lang="en-US" sz="2800" dirty="0"/>
              <a:t>in the following operations: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53071"/>
            <a:ext cx="1198704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6. </a:t>
            </a:r>
            <a:r>
              <a:rPr lang="en-US" sz="2800" dirty="0"/>
              <a:t>At this point, the </a:t>
            </a:r>
            <a:r>
              <a:rPr lang="en-US" sz="2800" dirty="0">
                <a:solidFill>
                  <a:srgbClr val="FF0000"/>
                </a:solidFill>
              </a:rPr>
              <a:t>program counter and PSW </a:t>
            </a:r>
            <a:r>
              <a:rPr lang="en-US" sz="2800" dirty="0"/>
              <a:t>relating to the interrupted program</a:t>
            </a:r>
          </a:p>
          <a:p>
            <a:r>
              <a:rPr lang="en-US" sz="2800" dirty="0"/>
              <a:t>have been saved on the </a:t>
            </a:r>
            <a:r>
              <a:rPr lang="en-US" sz="2800" b="1" dirty="0">
                <a:solidFill>
                  <a:srgbClr val="C00000"/>
                </a:solidFill>
              </a:rPr>
              <a:t>system stack. 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interrupt handler will begin by </a:t>
            </a:r>
            <a:r>
              <a:rPr lang="en-US" sz="2800" b="1" dirty="0">
                <a:solidFill>
                  <a:srgbClr val="C00000"/>
                </a:solidFill>
              </a:rPr>
              <a:t>saving the </a:t>
            </a:r>
            <a:r>
              <a:rPr lang="en-US" sz="2800" b="1" dirty="0" smtClean="0">
                <a:solidFill>
                  <a:srgbClr val="C00000"/>
                </a:solidFill>
              </a:rPr>
              <a:t>contents of </a:t>
            </a:r>
            <a:r>
              <a:rPr lang="en-US" sz="2800" b="1" dirty="0">
                <a:solidFill>
                  <a:srgbClr val="C00000"/>
                </a:solidFill>
              </a:rPr>
              <a:t>all registers on the stack</a:t>
            </a:r>
            <a:r>
              <a:rPr lang="en-US" sz="2800" dirty="0" smtClean="0"/>
              <a:t>. </a:t>
            </a:r>
          </a:p>
          <a:p>
            <a:endParaRPr lang="en-US" sz="2800" dirty="0"/>
          </a:p>
          <a:p>
            <a:r>
              <a:rPr lang="en-US" sz="2800" dirty="0" smtClean="0"/>
              <a:t>Figure </a:t>
            </a:r>
            <a:r>
              <a:rPr lang="en-US" sz="2800" dirty="0"/>
              <a:t>7.7a shows a simple example.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In </a:t>
            </a:r>
            <a:r>
              <a:rPr lang="en-US" sz="2800" dirty="0"/>
              <a:t>this case</a:t>
            </a:r>
            <a:r>
              <a:rPr lang="en-US" sz="2800" dirty="0" smtClean="0"/>
              <a:t>, a </a:t>
            </a:r>
            <a:r>
              <a:rPr lang="en-US" sz="2800" b="1" dirty="0" smtClean="0"/>
              <a:t>user program </a:t>
            </a:r>
            <a:r>
              <a:rPr lang="en-US" sz="2800" b="1" dirty="0"/>
              <a:t>is interrupted after the instruction at location N</a:t>
            </a:r>
            <a:r>
              <a:rPr lang="en-US" sz="2800" i="1" dirty="0"/>
              <a:t>. </a:t>
            </a:r>
            <a:endParaRPr lang="en-US" sz="2800" i="1" dirty="0" smtClean="0"/>
          </a:p>
          <a:p>
            <a:endParaRPr lang="en-US" sz="2800" i="1" dirty="0"/>
          </a:p>
          <a:p>
            <a:r>
              <a:rPr lang="en-US" sz="2800" dirty="0" smtClean="0"/>
              <a:t>The </a:t>
            </a:r>
            <a:r>
              <a:rPr lang="en-US" sz="2800" dirty="0"/>
              <a:t>contents of all </a:t>
            </a:r>
            <a:r>
              <a:rPr lang="en-US" sz="2800" dirty="0" smtClean="0"/>
              <a:t>of the </a:t>
            </a:r>
            <a:r>
              <a:rPr lang="en-US" sz="2800" dirty="0"/>
              <a:t>registers plus the address of the next instruction (</a:t>
            </a:r>
            <a:r>
              <a:rPr lang="en-US" sz="2800" dirty="0" smtClean="0"/>
              <a:t>N+1) </a:t>
            </a:r>
            <a:r>
              <a:rPr lang="en-US" sz="2800" dirty="0"/>
              <a:t>are pushed onto </a:t>
            </a:r>
            <a:r>
              <a:rPr lang="en-US" sz="2800" dirty="0" smtClean="0"/>
              <a:t>the stack.</a:t>
            </a:r>
          </a:p>
          <a:p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b="1" dirty="0"/>
              <a:t>stack pointer is updated to point to the new top of stack</a:t>
            </a:r>
            <a:r>
              <a:rPr lang="en-US" sz="2800" dirty="0"/>
              <a:t>, and the program</a:t>
            </a:r>
          </a:p>
          <a:p>
            <a:r>
              <a:rPr lang="en-US" sz="2800" dirty="0"/>
              <a:t>counter is updated to point to the beginning of the interrupt service routine.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89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328837"/>
            <a:ext cx="119870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7. </a:t>
            </a:r>
            <a:r>
              <a:rPr lang="en-US" sz="2800" dirty="0"/>
              <a:t>The </a:t>
            </a:r>
            <a:r>
              <a:rPr lang="en-US" sz="2800" b="1" dirty="0">
                <a:solidFill>
                  <a:srgbClr val="C00000"/>
                </a:solidFill>
              </a:rPr>
              <a:t>interrupt handler next processes the interrupt. 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r>
              <a:rPr lang="en-US" sz="2800" dirty="0" smtClean="0"/>
              <a:t>This </a:t>
            </a:r>
            <a:r>
              <a:rPr lang="en-US" sz="2800" dirty="0"/>
              <a:t>includes an </a:t>
            </a:r>
            <a:r>
              <a:rPr lang="en-US" sz="2800" b="1" dirty="0" smtClean="0"/>
              <a:t>examination of </a:t>
            </a:r>
            <a:r>
              <a:rPr lang="en-US" sz="2800" b="1" dirty="0"/>
              <a:t>status </a:t>
            </a:r>
            <a:r>
              <a:rPr lang="en-US" sz="2800" dirty="0"/>
              <a:t>information relating to the I/O operation or other </a:t>
            </a:r>
            <a:r>
              <a:rPr lang="en-US" sz="2800" b="1" dirty="0"/>
              <a:t>event </a:t>
            </a:r>
            <a:r>
              <a:rPr lang="en-US" sz="2800" b="1" dirty="0" smtClean="0"/>
              <a:t>that caused </a:t>
            </a:r>
            <a:r>
              <a:rPr lang="en-US" sz="2800" b="1" dirty="0"/>
              <a:t>an interrupt</a:t>
            </a:r>
            <a:r>
              <a:rPr lang="en-US" sz="2800" dirty="0"/>
              <a:t>. It may also involve sending additional commands or </a:t>
            </a:r>
            <a:r>
              <a:rPr lang="en-US" sz="2800" dirty="0" smtClean="0"/>
              <a:t>acknowledgments </a:t>
            </a:r>
            <a:r>
              <a:rPr lang="en-IN" sz="2800" dirty="0" smtClean="0"/>
              <a:t>to </a:t>
            </a:r>
            <a:r>
              <a:rPr lang="en-IN" sz="2800" dirty="0"/>
              <a:t>the I/O device</a:t>
            </a:r>
            <a:r>
              <a:rPr lang="en-IN" sz="2800" dirty="0" smtClean="0"/>
              <a:t>.</a:t>
            </a:r>
          </a:p>
          <a:p>
            <a:endParaRPr lang="en-IN" sz="2800" dirty="0" smtClean="0"/>
          </a:p>
          <a:p>
            <a:endParaRPr lang="en-IN" sz="2800" dirty="0"/>
          </a:p>
          <a:p>
            <a:r>
              <a:rPr lang="en-US" sz="2800" b="1" dirty="0"/>
              <a:t>8. </a:t>
            </a:r>
            <a:r>
              <a:rPr lang="en-US" sz="2800" dirty="0"/>
              <a:t>When </a:t>
            </a:r>
            <a:r>
              <a:rPr lang="en-US" sz="2800" b="1" dirty="0"/>
              <a:t>interrupt processing is complete, </a:t>
            </a:r>
            <a:r>
              <a:rPr lang="en-US" sz="2800" b="1" dirty="0">
                <a:solidFill>
                  <a:srgbClr val="C00000"/>
                </a:solidFill>
              </a:rPr>
              <a:t>the saved register values are </a:t>
            </a:r>
            <a:r>
              <a:rPr lang="en-US" sz="2800" b="1" dirty="0" smtClean="0">
                <a:solidFill>
                  <a:srgbClr val="C00000"/>
                </a:solidFill>
              </a:rPr>
              <a:t>retrieved from </a:t>
            </a:r>
            <a:r>
              <a:rPr lang="en-US" sz="2800" b="1" dirty="0">
                <a:solidFill>
                  <a:srgbClr val="C00000"/>
                </a:solidFill>
              </a:rPr>
              <a:t>the stack </a:t>
            </a:r>
            <a:r>
              <a:rPr lang="en-US" sz="2800" dirty="0"/>
              <a:t>and restored to the registers (e.g., see Figure 7.7b</a:t>
            </a:r>
            <a:r>
              <a:rPr lang="en-US" sz="2800" dirty="0" smtClean="0"/>
              <a:t>).</a:t>
            </a:r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b="1" dirty="0"/>
              <a:t>9. </a:t>
            </a:r>
            <a:r>
              <a:rPr lang="en-US" sz="2800" dirty="0"/>
              <a:t>The final act is to </a:t>
            </a:r>
            <a:r>
              <a:rPr lang="en-US" sz="2800" b="1" dirty="0">
                <a:solidFill>
                  <a:srgbClr val="C00000"/>
                </a:solidFill>
              </a:rPr>
              <a:t>restore the PSW and program counter values </a:t>
            </a:r>
            <a:r>
              <a:rPr lang="en-US" sz="2800" dirty="0"/>
              <a:t>from the stack.</a:t>
            </a:r>
          </a:p>
          <a:p>
            <a:r>
              <a:rPr lang="en-US" sz="2800" dirty="0"/>
              <a:t>As a result, the next instruction to be executed will be from the previously interrupted</a:t>
            </a:r>
          </a:p>
          <a:p>
            <a:r>
              <a:rPr lang="en-IN" sz="2800" dirty="0"/>
              <a:t>program.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11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54" t="10127" r="15695" b="6747"/>
          <a:stretch/>
        </p:blipFill>
        <p:spPr bwMode="auto">
          <a:xfrm>
            <a:off x="2226963" y="73740"/>
            <a:ext cx="6533537" cy="660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227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2" t="14433" r="17390" b="7178"/>
          <a:stretch/>
        </p:blipFill>
        <p:spPr bwMode="auto">
          <a:xfrm>
            <a:off x="2618846" y="37051"/>
            <a:ext cx="5830426" cy="675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63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Design </a:t>
            </a:r>
            <a:r>
              <a:rPr lang="en-IN" sz="2800" b="1" dirty="0" smtClean="0"/>
              <a:t>Issues</a:t>
            </a:r>
          </a:p>
          <a:p>
            <a:endParaRPr lang="en-IN" sz="2800" b="1" dirty="0">
              <a:solidFill>
                <a:srgbClr val="FF0000"/>
              </a:solidFill>
            </a:endParaRPr>
          </a:p>
          <a:p>
            <a:r>
              <a:rPr lang="en-US" sz="2800" dirty="0"/>
              <a:t>Two design issues arise in implementing interrupt I/O. </a:t>
            </a:r>
            <a:endParaRPr lang="en-US" sz="2800" dirty="0" smtClean="0"/>
          </a:p>
          <a:p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</a:t>
            </a:r>
            <a:r>
              <a:rPr lang="en-US" sz="2800" dirty="0" smtClean="0"/>
              <a:t>ecause </a:t>
            </a:r>
            <a:r>
              <a:rPr lang="en-US" sz="2800" dirty="0"/>
              <a:t>there will </a:t>
            </a:r>
            <a:r>
              <a:rPr lang="en-US" sz="2800" dirty="0" smtClean="0"/>
              <a:t>be </a:t>
            </a:r>
            <a:r>
              <a:rPr lang="en-US" sz="2800" b="1" dirty="0"/>
              <a:t>multiple I/O modules, </a:t>
            </a:r>
            <a:r>
              <a:rPr lang="en-US" sz="2800" dirty="0"/>
              <a:t>how does the </a:t>
            </a:r>
            <a:r>
              <a:rPr lang="en-US" sz="2800" dirty="0" smtClean="0"/>
              <a:t>processor determine </a:t>
            </a:r>
            <a:r>
              <a:rPr lang="en-US" sz="2800" b="1" dirty="0" smtClean="0">
                <a:solidFill>
                  <a:srgbClr val="C00000"/>
                </a:solidFill>
              </a:rPr>
              <a:t>which device </a:t>
            </a:r>
            <a:r>
              <a:rPr lang="en-US" sz="2800" b="1" dirty="0">
                <a:solidFill>
                  <a:srgbClr val="C00000"/>
                </a:solidFill>
              </a:rPr>
              <a:t>issued the interrupt</a:t>
            </a:r>
            <a:r>
              <a:rPr lang="en-US" sz="2800" dirty="0"/>
              <a:t>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If </a:t>
            </a:r>
            <a:r>
              <a:rPr lang="en-US" sz="2800" dirty="0"/>
              <a:t>multiple interrupts have occurred, </a:t>
            </a:r>
            <a:r>
              <a:rPr lang="en-US" sz="2800" dirty="0" smtClean="0"/>
              <a:t>how does </a:t>
            </a:r>
            <a:r>
              <a:rPr lang="en-US" sz="2800" dirty="0"/>
              <a:t>the processor decide </a:t>
            </a:r>
            <a:r>
              <a:rPr lang="en-US" sz="2800" b="1" dirty="0"/>
              <a:t>which one to process?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31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Four </a:t>
            </a:r>
            <a:r>
              <a:rPr lang="en-US" sz="2800" dirty="0"/>
              <a:t>general categories of </a:t>
            </a:r>
            <a:r>
              <a:rPr lang="en-US" sz="2800" dirty="0" smtClean="0"/>
              <a:t>techniques </a:t>
            </a:r>
            <a:r>
              <a:rPr lang="en-IN" sz="2800" dirty="0" smtClean="0"/>
              <a:t>are </a:t>
            </a:r>
            <a:r>
              <a:rPr lang="en-IN" sz="2800" b="1" dirty="0" smtClean="0"/>
              <a:t>for device identification</a:t>
            </a:r>
            <a:r>
              <a:rPr lang="en-IN" sz="2800" dirty="0" smtClean="0"/>
              <a:t>:</a:t>
            </a:r>
          </a:p>
          <a:p>
            <a:endParaRPr lang="en-IN" sz="2800" b="1" dirty="0">
              <a:solidFill>
                <a:srgbClr val="FF0000"/>
              </a:solidFill>
            </a:endParaRPr>
          </a:p>
          <a:p>
            <a:pPr lvl="2"/>
            <a:r>
              <a:rPr lang="en-IN" sz="2800" dirty="0"/>
              <a:t>• Multiple interrupt lines</a:t>
            </a:r>
          </a:p>
          <a:p>
            <a:pPr lvl="2"/>
            <a:r>
              <a:rPr lang="en-IN" sz="2800" dirty="0"/>
              <a:t>• Software poll</a:t>
            </a:r>
          </a:p>
          <a:p>
            <a:pPr lvl="2"/>
            <a:r>
              <a:rPr lang="en-US" sz="2800" dirty="0"/>
              <a:t>• Daisy chain (hardware poll, vectored)</a:t>
            </a:r>
          </a:p>
          <a:p>
            <a:pPr lvl="2"/>
            <a:r>
              <a:rPr lang="en-IN" sz="2800" dirty="0"/>
              <a:t>• Bus arbitration (vectored</a:t>
            </a:r>
            <a:r>
              <a:rPr lang="en-IN" sz="2800" dirty="0" smtClean="0"/>
              <a:t>)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pPr lvl="2"/>
            <a:endParaRPr lang="en-IN" sz="2800" b="1" dirty="0">
              <a:solidFill>
                <a:srgbClr val="FF0000"/>
              </a:solidFill>
            </a:endParaRPr>
          </a:p>
          <a:p>
            <a:r>
              <a:rPr lang="en-US" sz="2800" dirty="0"/>
              <a:t>The most straightforward approach to the problem is to provide </a:t>
            </a:r>
            <a:r>
              <a:rPr lang="en-US" sz="2800" b="1" dirty="0">
                <a:solidFill>
                  <a:srgbClr val="FF0000"/>
                </a:solidFill>
              </a:rPr>
              <a:t>multiple interrupt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lines </a:t>
            </a:r>
            <a:r>
              <a:rPr lang="en-US" sz="2800" dirty="0">
                <a:solidFill>
                  <a:srgbClr val="FF0000"/>
                </a:solidFill>
              </a:rPr>
              <a:t>between the processor and the I/O modules. </a:t>
            </a:r>
            <a:r>
              <a:rPr lang="en-US" sz="2800" dirty="0"/>
              <a:t>However, it is </a:t>
            </a:r>
            <a:r>
              <a:rPr lang="en-US" sz="2800" dirty="0" smtClean="0"/>
              <a:t>impractical.</a:t>
            </a:r>
          </a:p>
          <a:p>
            <a:endParaRPr lang="en-US" sz="2800" dirty="0"/>
          </a:p>
          <a:p>
            <a:r>
              <a:rPr lang="en-US" sz="2800" dirty="0"/>
              <a:t>One alternative is the </a:t>
            </a:r>
            <a:r>
              <a:rPr lang="en-US" sz="2800" b="1" dirty="0">
                <a:solidFill>
                  <a:srgbClr val="FF0000"/>
                </a:solidFill>
              </a:rPr>
              <a:t>software poll</a:t>
            </a:r>
            <a:r>
              <a:rPr lang="en-US" sz="2800" dirty="0" smtClean="0">
                <a:solidFill>
                  <a:srgbClr val="FF0000"/>
                </a:solidFill>
              </a:rPr>
              <a:t>. </a:t>
            </a:r>
          </a:p>
          <a:p>
            <a:r>
              <a:rPr lang="en-US" sz="2800" dirty="0" smtClean="0"/>
              <a:t>When </a:t>
            </a:r>
            <a:r>
              <a:rPr lang="en-US" sz="2800" dirty="0"/>
              <a:t>the processor detects an </a:t>
            </a:r>
            <a:r>
              <a:rPr lang="en-US" sz="2800" dirty="0" smtClean="0"/>
              <a:t>interrupt</a:t>
            </a:r>
            <a:r>
              <a:rPr lang="en-US" sz="2800" b="1" dirty="0" smtClean="0"/>
              <a:t>, it </a:t>
            </a:r>
            <a:r>
              <a:rPr lang="en-US" sz="2800" b="1" dirty="0"/>
              <a:t>branches to an interrupt-service routine </a:t>
            </a:r>
            <a:r>
              <a:rPr lang="en-US" sz="2800" dirty="0"/>
              <a:t>whose job it is to </a:t>
            </a:r>
            <a:r>
              <a:rPr lang="en-US" sz="2800" b="1" dirty="0"/>
              <a:t>poll each I/O module </a:t>
            </a:r>
            <a:r>
              <a:rPr lang="en-US" sz="2800" dirty="0" smtClean="0"/>
              <a:t>to determine </a:t>
            </a:r>
            <a:r>
              <a:rPr lang="en-US" sz="2800" dirty="0"/>
              <a:t>which module caused the </a:t>
            </a:r>
            <a:r>
              <a:rPr lang="en-US" sz="2800" dirty="0" smtClean="0"/>
              <a:t>interrupt.</a:t>
            </a:r>
            <a:endParaRPr lang="en-IN" sz="2800" dirty="0" smtClean="0"/>
          </a:p>
        </p:txBody>
      </p:sp>
    </p:spTree>
    <p:extLst>
      <p:ext uri="{BB962C8B-B14F-4D97-AF65-F5344CB8AC3E}">
        <p14:creationId xmlns:p14="http://schemas.microsoft.com/office/powerpoint/2010/main" val="913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372379"/>
            <a:ext cx="1198704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poll could be in the form of </a:t>
            </a:r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FF0000"/>
                </a:solidFill>
              </a:rPr>
              <a:t>separate </a:t>
            </a:r>
            <a:r>
              <a:rPr lang="en-US" sz="2800" b="1" dirty="0">
                <a:solidFill>
                  <a:srgbClr val="FF0000"/>
                </a:solidFill>
              </a:rPr>
              <a:t>command line</a:t>
            </a:r>
            <a:r>
              <a:rPr lang="en-US" sz="2800" dirty="0"/>
              <a:t> (e.g., TESTI/O).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this case, </a:t>
            </a:r>
            <a:r>
              <a:rPr lang="en-US" sz="2800" b="1" dirty="0"/>
              <a:t>the processor raises </a:t>
            </a:r>
            <a:r>
              <a:rPr lang="en-US" sz="2800" b="1" dirty="0" smtClean="0"/>
              <a:t>TESTI/O </a:t>
            </a:r>
            <a:r>
              <a:rPr lang="en-US" sz="2800" dirty="0" smtClean="0"/>
              <a:t>and </a:t>
            </a:r>
            <a:r>
              <a:rPr lang="en-US" sz="2800" dirty="0"/>
              <a:t>places the address of a particular I/O module on the address lines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I/O </a:t>
            </a:r>
            <a:r>
              <a:rPr lang="en-US" sz="2800" dirty="0" smtClean="0"/>
              <a:t>module responds </a:t>
            </a:r>
            <a:r>
              <a:rPr lang="en-US" sz="2800" dirty="0"/>
              <a:t>positively if it set the </a:t>
            </a:r>
            <a:r>
              <a:rPr lang="en-US" sz="2800" dirty="0" smtClean="0"/>
              <a:t>interrupt.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>
                <a:solidFill>
                  <a:srgbClr val="FF0000"/>
                </a:solidFill>
              </a:rPr>
              <a:t>disadvantage of the software poll </a:t>
            </a:r>
            <a:r>
              <a:rPr lang="en-US" sz="2800" dirty="0"/>
              <a:t>is that it is time consuming.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more </a:t>
            </a:r>
            <a:r>
              <a:rPr lang="en-US" sz="2800" dirty="0" smtClean="0"/>
              <a:t>efficient technique </a:t>
            </a:r>
            <a:r>
              <a:rPr lang="en-US" sz="2800" dirty="0"/>
              <a:t>is to use a </a:t>
            </a:r>
            <a:r>
              <a:rPr lang="en-IN" sz="2800" b="1" dirty="0" smtClean="0">
                <a:solidFill>
                  <a:srgbClr val="FF0000"/>
                </a:solidFill>
              </a:rPr>
              <a:t>daisy </a:t>
            </a:r>
            <a:r>
              <a:rPr lang="en-US" sz="2800" b="1" dirty="0" smtClean="0">
                <a:solidFill>
                  <a:srgbClr val="FF0000"/>
                </a:solidFill>
              </a:rPr>
              <a:t>chain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dirty="0"/>
              <a:t>which provides, in effect, a </a:t>
            </a:r>
            <a:r>
              <a:rPr lang="en-US" sz="2800" b="1" dirty="0"/>
              <a:t>hardware poll.</a:t>
            </a:r>
            <a:endParaRPr lang="en-IN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58604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For interrupts, </a:t>
            </a:r>
            <a:r>
              <a:rPr lang="en-IN" sz="2800" b="1" dirty="0" smtClean="0">
                <a:solidFill>
                  <a:srgbClr val="FF0000"/>
                </a:solidFill>
              </a:rPr>
              <a:t>all </a:t>
            </a:r>
            <a:r>
              <a:rPr lang="en-US" sz="2800" b="1" dirty="0" smtClean="0">
                <a:solidFill>
                  <a:srgbClr val="FF0000"/>
                </a:solidFill>
              </a:rPr>
              <a:t>I/O </a:t>
            </a:r>
            <a:r>
              <a:rPr lang="en-US" sz="2800" b="1" dirty="0">
                <a:solidFill>
                  <a:srgbClr val="FF0000"/>
                </a:solidFill>
              </a:rPr>
              <a:t>modules share </a:t>
            </a:r>
            <a:r>
              <a:rPr lang="en-US" sz="2800" dirty="0">
                <a:solidFill>
                  <a:srgbClr val="FF0000"/>
                </a:solidFill>
              </a:rPr>
              <a:t>a </a:t>
            </a:r>
            <a:r>
              <a:rPr lang="en-US" sz="2800" b="1" dirty="0">
                <a:solidFill>
                  <a:srgbClr val="FF0000"/>
                </a:solidFill>
              </a:rPr>
              <a:t>common interrupt request line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interrupt </a:t>
            </a:r>
            <a:r>
              <a:rPr lang="en-US" sz="2800" b="1" dirty="0"/>
              <a:t>acknowledge </a:t>
            </a:r>
            <a:r>
              <a:rPr lang="en-US" sz="2800" b="1" dirty="0" smtClean="0"/>
              <a:t>line</a:t>
            </a:r>
            <a:r>
              <a:rPr lang="en-US" sz="2800" dirty="0" smtClean="0"/>
              <a:t> is </a:t>
            </a:r>
            <a:r>
              <a:rPr lang="en-US" sz="2800" b="1" dirty="0"/>
              <a:t>daisy chained through the modules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When </a:t>
            </a:r>
            <a:r>
              <a:rPr lang="en-US" sz="2800" dirty="0"/>
              <a:t>the processor </a:t>
            </a:r>
            <a:r>
              <a:rPr lang="en-US" sz="2800" b="1" dirty="0"/>
              <a:t>senses an interrupt, </a:t>
            </a:r>
            <a:r>
              <a:rPr lang="en-US" sz="2800" b="1" dirty="0" smtClean="0"/>
              <a:t>it sends </a:t>
            </a:r>
            <a:r>
              <a:rPr lang="en-US" sz="2800" b="1" dirty="0"/>
              <a:t>out an interrupt acknowledge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signal propagates through a series of </a:t>
            </a:r>
            <a:r>
              <a:rPr lang="en-US" sz="2800" dirty="0" smtClean="0"/>
              <a:t>I/O modules </a:t>
            </a:r>
            <a:r>
              <a:rPr lang="en-US" sz="2800" b="1" dirty="0"/>
              <a:t>until it gets to a requesting module.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requesting module typically </a:t>
            </a:r>
            <a:r>
              <a:rPr lang="en-US" sz="2800" b="1" dirty="0" smtClean="0">
                <a:solidFill>
                  <a:srgbClr val="FF0000"/>
                </a:solidFill>
              </a:rPr>
              <a:t>responds by </a:t>
            </a:r>
            <a:r>
              <a:rPr lang="en-US" sz="2800" b="1" dirty="0">
                <a:solidFill>
                  <a:srgbClr val="FF0000"/>
                </a:solidFill>
              </a:rPr>
              <a:t>placing a word on the data lines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word is referred to as a </a:t>
            </a:r>
            <a:r>
              <a:rPr lang="en-US" sz="2800" b="1" i="1" dirty="0">
                <a:solidFill>
                  <a:srgbClr val="FF0000"/>
                </a:solidFill>
              </a:rPr>
              <a:t>vector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dirty="0" smtClean="0"/>
              <a:t>is either </a:t>
            </a:r>
            <a:r>
              <a:rPr lang="en-US" sz="2800" dirty="0"/>
              <a:t>the </a:t>
            </a:r>
            <a:r>
              <a:rPr lang="en-US" sz="2800" b="1" dirty="0"/>
              <a:t>address of the I/O module or some other unique identifier. </a:t>
            </a: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23226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either </a:t>
            </a:r>
            <a:r>
              <a:rPr lang="en-US" sz="2800" dirty="0" smtClean="0"/>
              <a:t>case, the </a:t>
            </a:r>
            <a:r>
              <a:rPr lang="en-US" sz="2800" dirty="0"/>
              <a:t>processor uses the vector as a </a:t>
            </a:r>
            <a:r>
              <a:rPr lang="en-US" sz="2800" b="1" dirty="0"/>
              <a:t>pointer to </a:t>
            </a:r>
            <a:r>
              <a:rPr lang="en-US" sz="2800" dirty="0"/>
              <a:t>the appropriate </a:t>
            </a:r>
            <a:r>
              <a:rPr lang="en-US" sz="2800" b="1" dirty="0"/>
              <a:t>device-service routine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avoids the need to execute a general interrupt-service routine first.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technique is </a:t>
            </a:r>
            <a:r>
              <a:rPr lang="en-US" sz="2800" dirty="0"/>
              <a:t>called a </a:t>
            </a:r>
            <a:r>
              <a:rPr lang="en-US" sz="2800" b="1" i="1" dirty="0">
                <a:solidFill>
                  <a:srgbClr val="FF0000"/>
                </a:solidFill>
              </a:rPr>
              <a:t>vectored interrupt</a:t>
            </a:r>
            <a:r>
              <a:rPr lang="en-US" sz="2800" b="1" i="1" dirty="0" smtClean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i="1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99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63041"/>
            <a:ext cx="119870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There is another technique that makes use of vectored interrupts, and that </a:t>
            </a:r>
            <a:r>
              <a:rPr lang="en-US" sz="2800" dirty="0" smtClean="0"/>
              <a:t>is </a:t>
            </a:r>
            <a:r>
              <a:rPr lang="en-US" sz="2800" b="1" dirty="0" smtClean="0"/>
              <a:t>bus </a:t>
            </a:r>
            <a:r>
              <a:rPr lang="en-US" sz="2800" b="1" dirty="0"/>
              <a:t>arbitration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With </a:t>
            </a:r>
            <a:r>
              <a:rPr lang="en-US" sz="2800" dirty="0"/>
              <a:t>bus arbitration, </a:t>
            </a:r>
            <a:r>
              <a:rPr lang="en-US" sz="2800" b="1" dirty="0"/>
              <a:t>an I/O module must first gain control of </a:t>
            </a:r>
            <a:r>
              <a:rPr lang="en-US" sz="2800" b="1" dirty="0" smtClean="0"/>
              <a:t>the bus </a:t>
            </a:r>
            <a:r>
              <a:rPr lang="en-US" sz="2800" dirty="0">
                <a:solidFill>
                  <a:srgbClr val="FF0000"/>
                </a:solidFill>
              </a:rPr>
              <a:t>before it can raise the interrupt request line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Thus</a:t>
            </a:r>
            <a:r>
              <a:rPr lang="en-US" sz="2800" dirty="0"/>
              <a:t>, </a:t>
            </a:r>
            <a:r>
              <a:rPr lang="en-US" sz="2800" b="1" dirty="0"/>
              <a:t>only one module </a:t>
            </a:r>
            <a:r>
              <a:rPr lang="en-US" sz="2800" dirty="0"/>
              <a:t>can raise </a:t>
            </a:r>
            <a:r>
              <a:rPr lang="en-US" sz="2800" dirty="0" smtClean="0"/>
              <a:t>the line </a:t>
            </a:r>
            <a:r>
              <a:rPr lang="en-US" sz="2800" dirty="0"/>
              <a:t>at a time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When </a:t>
            </a:r>
            <a:r>
              <a:rPr lang="en-US" sz="2800" dirty="0"/>
              <a:t>the processor </a:t>
            </a:r>
            <a:r>
              <a:rPr lang="en-US" sz="2800" b="1" dirty="0"/>
              <a:t>detects the interrupt</a:t>
            </a:r>
            <a:r>
              <a:rPr lang="en-US" sz="2800" dirty="0"/>
              <a:t>, it responds on the </a:t>
            </a:r>
            <a:r>
              <a:rPr lang="en-US" sz="2800" dirty="0" smtClean="0"/>
              <a:t>interrupt </a:t>
            </a:r>
            <a:r>
              <a:rPr lang="en-US" sz="2800" b="1" dirty="0" smtClean="0"/>
              <a:t>acknowledge </a:t>
            </a:r>
            <a:r>
              <a:rPr lang="en-US" sz="2800" b="1" dirty="0"/>
              <a:t>line</a:t>
            </a:r>
            <a:r>
              <a:rPr lang="en-US" sz="28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requesting module then </a:t>
            </a:r>
            <a:r>
              <a:rPr lang="en-US" sz="2800" b="1" dirty="0" smtClean="0"/>
              <a:t>places its vector on the data lines</a:t>
            </a:r>
            <a:r>
              <a:rPr lang="en-US" sz="2800" dirty="0" smtClean="0"/>
              <a:t>.</a:t>
            </a:r>
            <a:endParaRPr lang="en-IN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92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Intel 82C59A Interrupt </a:t>
            </a:r>
            <a:r>
              <a:rPr lang="en-IN" b="1" dirty="0" smtClean="0"/>
              <a:t>Controller</a:t>
            </a:r>
          </a:p>
          <a:p>
            <a:r>
              <a:rPr lang="en-IN" b="1" dirty="0"/>
              <a:t>The Intel 82C55A Programmable Peripheral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6719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23643"/>
            <a:ext cx="1198704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/>
              <a:t>Drawbacks of Programmed and Interrupt-Driven </a:t>
            </a:r>
            <a:r>
              <a:rPr lang="en-US" sz="2800" b="1" u="sng" dirty="0" smtClean="0"/>
              <a:t>I/O</a:t>
            </a:r>
          </a:p>
          <a:p>
            <a:endParaRPr lang="en-US" sz="2800" b="1" u="sng" dirty="0"/>
          </a:p>
          <a:p>
            <a:r>
              <a:rPr lang="en-US" sz="2800" b="1" dirty="0"/>
              <a:t>Interrupt-driven I/O</a:t>
            </a:r>
            <a:r>
              <a:rPr lang="en-US" sz="2800" dirty="0"/>
              <a:t>, </a:t>
            </a:r>
            <a:r>
              <a:rPr lang="en-US" sz="2800" dirty="0" smtClean="0"/>
              <a:t>is more </a:t>
            </a:r>
            <a:r>
              <a:rPr lang="en-US" sz="2800" b="1" dirty="0" smtClean="0"/>
              <a:t>efficient than </a:t>
            </a:r>
            <a:r>
              <a:rPr lang="en-US" sz="2800" b="1" dirty="0"/>
              <a:t>programmed I/O, </a:t>
            </a:r>
            <a:r>
              <a:rPr lang="en-US" sz="2800" dirty="0"/>
              <a:t>still </a:t>
            </a:r>
            <a:r>
              <a:rPr lang="en-US" sz="2800" dirty="0" smtClean="0"/>
              <a:t>requires the </a:t>
            </a:r>
            <a:r>
              <a:rPr lang="en-US" sz="2800" dirty="0"/>
              <a:t>active intervention of the </a:t>
            </a:r>
            <a:r>
              <a:rPr lang="en-US" sz="2800" b="1" dirty="0"/>
              <a:t>processor to transfer data</a:t>
            </a:r>
            <a:r>
              <a:rPr lang="en-US" sz="2800" dirty="0"/>
              <a:t> between </a:t>
            </a:r>
            <a:r>
              <a:rPr lang="en-US" sz="2800" b="1" dirty="0"/>
              <a:t>memory </a:t>
            </a:r>
            <a:r>
              <a:rPr lang="en-US" sz="2800" b="1" dirty="0" smtClean="0"/>
              <a:t>and an </a:t>
            </a:r>
            <a:r>
              <a:rPr lang="en-US" sz="2800" b="1" dirty="0"/>
              <a:t>I/O </a:t>
            </a:r>
            <a:r>
              <a:rPr lang="en-US" sz="2800" dirty="0"/>
              <a:t>module, and any data transfer must traverse a path through the processor.</a:t>
            </a:r>
          </a:p>
          <a:p>
            <a:r>
              <a:rPr lang="en-US" sz="2800" dirty="0"/>
              <a:t>Thus</a:t>
            </a:r>
            <a:r>
              <a:rPr lang="en-US" sz="2800" b="1" dirty="0"/>
              <a:t>, both </a:t>
            </a:r>
            <a:r>
              <a:rPr lang="en-US" sz="2800" dirty="0"/>
              <a:t>these forms of </a:t>
            </a:r>
            <a:r>
              <a:rPr lang="en-US" sz="2800" b="1" dirty="0">
                <a:solidFill>
                  <a:srgbClr val="FF0000"/>
                </a:solidFill>
              </a:rPr>
              <a:t>I/O suffer from two </a:t>
            </a:r>
            <a:r>
              <a:rPr lang="en-US" sz="2800" dirty="0" smtClean="0">
                <a:solidFill>
                  <a:srgbClr val="FF0000"/>
                </a:solidFill>
              </a:rPr>
              <a:t>drawbacks:</a:t>
            </a:r>
          </a:p>
          <a:p>
            <a:endParaRPr lang="en-US" sz="2800" dirty="0"/>
          </a:p>
          <a:p>
            <a:r>
              <a:rPr lang="en-US" sz="2800" b="1" dirty="0"/>
              <a:t>1. </a:t>
            </a:r>
            <a:r>
              <a:rPr lang="en-US" sz="2800" dirty="0"/>
              <a:t>The </a:t>
            </a:r>
            <a:r>
              <a:rPr lang="en-US" sz="2800" b="1" dirty="0"/>
              <a:t>I/O transfer rate is limited </a:t>
            </a:r>
            <a:r>
              <a:rPr lang="en-US" sz="2800" dirty="0"/>
              <a:t>by the speed with which the processor can test</a:t>
            </a:r>
          </a:p>
          <a:p>
            <a:r>
              <a:rPr lang="en-IN" sz="2800" dirty="0"/>
              <a:t>and service a device</a:t>
            </a:r>
            <a:r>
              <a:rPr lang="en-IN" sz="2800" dirty="0" smtClean="0"/>
              <a:t>.</a:t>
            </a:r>
          </a:p>
          <a:p>
            <a:endParaRPr lang="en-IN" sz="2800" dirty="0"/>
          </a:p>
          <a:p>
            <a:r>
              <a:rPr lang="en-US" sz="2800" b="1" dirty="0"/>
              <a:t>2. </a:t>
            </a:r>
            <a:r>
              <a:rPr lang="en-US" sz="2800" dirty="0"/>
              <a:t>The </a:t>
            </a:r>
            <a:r>
              <a:rPr lang="en-US" sz="2800" b="1" dirty="0"/>
              <a:t>processor</a:t>
            </a:r>
            <a:r>
              <a:rPr lang="en-US" sz="2800" dirty="0"/>
              <a:t> is tied up in </a:t>
            </a:r>
            <a:r>
              <a:rPr lang="en-US" sz="2800" b="1" dirty="0"/>
              <a:t>managing an I/O transfer; a number of instructions</a:t>
            </a:r>
          </a:p>
          <a:p>
            <a:r>
              <a:rPr lang="en-US" sz="2800" dirty="0"/>
              <a:t>must be executed for each I/O transfer</a:t>
            </a:r>
            <a:endParaRPr lang="en-US" sz="2800" dirty="0" smtClean="0"/>
          </a:p>
          <a:p>
            <a:endParaRPr lang="en-US" sz="2800" u="sng" dirty="0"/>
          </a:p>
          <a:p>
            <a:r>
              <a:rPr lang="en-US" sz="2800" dirty="0"/>
              <a:t>When </a:t>
            </a:r>
            <a:r>
              <a:rPr lang="en-US" sz="2800" b="1" dirty="0"/>
              <a:t>large volumes of data </a:t>
            </a:r>
            <a:r>
              <a:rPr lang="en-US" sz="2800" dirty="0"/>
              <a:t>are to be moved, a more efficient technique is </a:t>
            </a:r>
            <a:r>
              <a:rPr lang="en-US" sz="2800" dirty="0" smtClean="0"/>
              <a:t>required: </a:t>
            </a:r>
            <a:r>
              <a:rPr lang="en-IN" sz="2800" b="1" dirty="0" smtClean="0">
                <a:solidFill>
                  <a:srgbClr val="FF0000"/>
                </a:solidFill>
              </a:rPr>
              <a:t>direct </a:t>
            </a:r>
            <a:r>
              <a:rPr lang="en-IN" sz="2800" b="1" dirty="0">
                <a:solidFill>
                  <a:srgbClr val="FF0000"/>
                </a:solidFill>
              </a:rPr>
              <a:t>memory access (DMA).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-3040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DIRECT MEMORY ACCESS</a:t>
            </a:r>
            <a:r>
              <a:rPr lang="en-IN" b="1" dirty="0" smtClean="0"/>
              <a:t>: 236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92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585871"/>
            <a:ext cx="1198704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/>
              <a:t>DMA </a:t>
            </a:r>
            <a:r>
              <a:rPr lang="en-US" sz="2800" b="1" dirty="0" smtClean="0"/>
              <a:t>module </a:t>
            </a:r>
            <a:r>
              <a:rPr lang="en-US" sz="2800" dirty="0" smtClean="0"/>
              <a:t>(Figure </a:t>
            </a:r>
            <a:r>
              <a:rPr lang="en-US" sz="2800" dirty="0"/>
              <a:t>7.11) is capable of </a:t>
            </a:r>
            <a:r>
              <a:rPr lang="en-US" sz="2800" b="1" dirty="0"/>
              <a:t>mimicking the processor </a:t>
            </a:r>
            <a:r>
              <a:rPr lang="en-US" sz="2800" dirty="0"/>
              <a:t>and, indeed, of taking over </a:t>
            </a:r>
            <a:r>
              <a:rPr lang="en-US" sz="2800" dirty="0" smtClean="0"/>
              <a:t>control of </a:t>
            </a:r>
            <a:r>
              <a:rPr lang="en-US" sz="2800" dirty="0"/>
              <a:t>the system from the processor.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needs to do this to </a:t>
            </a:r>
            <a:r>
              <a:rPr lang="en-US" sz="2800" b="1" dirty="0"/>
              <a:t>transfer data to and </a:t>
            </a:r>
            <a:r>
              <a:rPr lang="en-US" sz="2800" b="1" dirty="0" smtClean="0"/>
              <a:t>from memory </a:t>
            </a:r>
            <a:r>
              <a:rPr lang="en-US" sz="2800" b="1" dirty="0"/>
              <a:t>over the system bus.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For </a:t>
            </a:r>
            <a:r>
              <a:rPr lang="en-US" sz="2800" dirty="0"/>
              <a:t>this purpose, the </a:t>
            </a:r>
            <a:r>
              <a:rPr lang="en-US" sz="2800" b="1" dirty="0"/>
              <a:t>DMA module must use the </a:t>
            </a:r>
            <a:r>
              <a:rPr lang="en-US" sz="2800" b="1" dirty="0" smtClean="0"/>
              <a:t>bus only </a:t>
            </a:r>
            <a:r>
              <a:rPr lang="en-US" sz="2800" b="1" dirty="0"/>
              <a:t>when the processor does not need it</a:t>
            </a:r>
            <a:r>
              <a:rPr lang="en-US" sz="2800" dirty="0"/>
              <a:t>, or </a:t>
            </a:r>
            <a:r>
              <a:rPr lang="en-US" sz="2800" dirty="0">
                <a:solidFill>
                  <a:srgbClr val="FF0000"/>
                </a:solidFill>
              </a:rPr>
              <a:t>it must force the processor to </a:t>
            </a:r>
            <a:r>
              <a:rPr lang="en-US" sz="2800" dirty="0" smtClean="0">
                <a:solidFill>
                  <a:srgbClr val="FF0000"/>
                </a:solidFill>
              </a:rPr>
              <a:t>suspend operation </a:t>
            </a:r>
            <a:r>
              <a:rPr lang="en-US" sz="2800" dirty="0">
                <a:solidFill>
                  <a:srgbClr val="FF0000"/>
                </a:solidFill>
              </a:rPr>
              <a:t>temporarily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latter technique is more common and is referred to </a:t>
            </a:r>
            <a:r>
              <a:rPr lang="en-US" sz="2800" dirty="0" smtClean="0"/>
              <a:t>as </a:t>
            </a:r>
            <a:r>
              <a:rPr lang="en-US" sz="2800" b="1" i="1" dirty="0" smtClean="0">
                <a:solidFill>
                  <a:srgbClr val="FF0000"/>
                </a:solidFill>
              </a:rPr>
              <a:t>cycle </a:t>
            </a:r>
            <a:r>
              <a:rPr lang="en-US" sz="2800" b="1" i="1" dirty="0">
                <a:solidFill>
                  <a:srgbClr val="FF0000"/>
                </a:solidFill>
              </a:rPr>
              <a:t>stealing</a:t>
            </a:r>
            <a:r>
              <a:rPr lang="en-US" sz="2800" i="1" dirty="0">
                <a:solidFill>
                  <a:srgbClr val="FF0000"/>
                </a:solidFill>
              </a:rPr>
              <a:t>, </a:t>
            </a:r>
            <a:r>
              <a:rPr lang="en-US" sz="2800" b="1" dirty="0"/>
              <a:t>because the DMA module in effect steals a bus cycle.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31820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DMA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7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92" t="18750" r="22226" b="32084"/>
          <a:stretch/>
        </p:blipFill>
        <p:spPr bwMode="auto">
          <a:xfrm>
            <a:off x="1844039" y="441960"/>
            <a:ext cx="6710025" cy="6334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068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290911"/>
            <a:ext cx="119870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When the processor wishes to read or write a block of data, </a:t>
            </a:r>
            <a:r>
              <a:rPr lang="en-US" sz="2800" b="1" dirty="0"/>
              <a:t>it issues a command</a:t>
            </a:r>
          </a:p>
          <a:p>
            <a:r>
              <a:rPr lang="en-US" sz="2800" b="1" dirty="0"/>
              <a:t>to the DMA module</a:t>
            </a:r>
            <a:r>
              <a:rPr lang="en-US" sz="2800" dirty="0"/>
              <a:t>, by sending to the DMA module the following information</a:t>
            </a:r>
            <a:r>
              <a:rPr lang="en-US" sz="2800" dirty="0" smtClean="0"/>
              <a:t>:</a:t>
            </a:r>
          </a:p>
          <a:p>
            <a:endParaRPr lang="en-US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Whether a read or write is requested</a:t>
            </a:r>
            <a:r>
              <a:rPr lang="en-US" sz="2800" dirty="0"/>
              <a:t>, using the read or write control line </a:t>
            </a:r>
            <a:r>
              <a:rPr lang="en-US" sz="2800" dirty="0" smtClean="0"/>
              <a:t>between the </a:t>
            </a:r>
            <a:r>
              <a:rPr lang="en-US" sz="2800" dirty="0"/>
              <a:t>processor and the DMA </a:t>
            </a:r>
            <a:r>
              <a:rPr lang="en-US" sz="2800" dirty="0" smtClean="0"/>
              <a:t>module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address of the I/O device involved</a:t>
            </a:r>
            <a:r>
              <a:rPr lang="en-US" sz="2800" dirty="0"/>
              <a:t>, communicated on the data lines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/>
              <a:t>starting location in memory to read from or write </a:t>
            </a:r>
            <a:r>
              <a:rPr lang="en-US" sz="2800" dirty="0"/>
              <a:t>to, communicated </a:t>
            </a:r>
            <a:r>
              <a:rPr lang="en-US" sz="2800" dirty="0" smtClean="0"/>
              <a:t>on the </a:t>
            </a:r>
            <a:r>
              <a:rPr lang="en-US" sz="2800" dirty="0"/>
              <a:t>data lines and stored by the DMA module in its address register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/>
              <a:t>number of words to be read or written</a:t>
            </a:r>
            <a:r>
              <a:rPr lang="en-US" sz="2800" dirty="0"/>
              <a:t>, again communicated via the </a:t>
            </a:r>
            <a:r>
              <a:rPr lang="en-US" sz="2800" dirty="0" smtClean="0"/>
              <a:t>data lines </a:t>
            </a:r>
            <a:r>
              <a:rPr lang="en-US" sz="2800" dirty="0"/>
              <a:t>and stored in the data count register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94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290911"/>
            <a:ext cx="1198704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processor then continues with other </a:t>
            </a:r>
            <a:r>
              <a:rPr lang="en-US" sz="2800" dirty="0" smtClean="0"/>
              <a:t>work.</a:t>
            </a:r>
          </a:p>
          <a:p>
            <a:endParaRPr lang="en-US" sz="2800" b="1" u="sng" dirty="0">
              <a:solidFill>
                <a:srgbClr val="FF0000"/>
              </a:solidFill>
            </a:endParaRPr>
          </a:p>
          <a:p>
            <a:r>
              <a:rPr lang="en-US" sz="2800" dirty="0"/>
              <a:t>The </a:t>
            </a:r>
            <a:r>
              <a:rPr lang="en-US" sz="2800" b="1" dirty="0"/>
              <a:t>DMA module transfers </a:t>
            </a:r>
            <a:r>
              <a:rPr lang="en-US" sz="2800" dirty="0"/>
              <a:t>the entire block of data, </a:t>
            </a:r>
            <a:r>
              <a:rPr lang="en-US" sz="2800" b="1" dirty="0" smtClean="0"/>
              <a:t>one word </a:t>
            </a:r>
            <a:r>
              <a:rPr lang="en-US" sz="2800" b="1" dirty="0"/>
              <a:t>at a time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FF0000"/>
                </a:solidFill>
              </a:rPr>
              <a:t>directly to or from memory</a:t>
            </a:r>
            <a:r>
              <a:rPr lang="en-US" sz="2800" dirty="0"/>
              <a:t>, without going through the processor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When the </a:t>
            </a:r>
            <a:r>
              <a:rPr lang="en-US" sz="2800" b="1" dirty="0"/>
              <a:t>transfer is complete</a:t>
            </a:r>
            <a:r>
              <a:rPr lang="en-US" sz="2800" dirty="0"/>
              <a:t>, the DMA module </a:t>
            </a:r>
            <a:r>
              <a:rPr lang="en-US" sz="2800" b="1" dirty="0"/>
              <a:t>sends an interrupt </a:t>
            </a:r>
            <a:r>
              <a:rPr lang="en-US" sz="2800" dirty="0"/>
              <a:t>signal to the</a:t>
            </a:r>
          </a:p>
          <a:p>
            <a:r>
              <a:rPr lang="en-US" sz="2800" dirty="0"/>
              <a:t>processor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dirty="0" smtClean="0"/>
              <a:t>Thus</a:t>
            </a:r>
            <a:r>
              <a:rPr lang="en-US" sz="2800" dirty="0"/>
              <a:t>, the processor is </a:t>
            </a:r>
            <a:r>
              <a:rPr lang="en-US" sz="2800" b="1" dirty="0"/>
              <a:t>involved</a:t>
            </a:r>
            <a:r>
              <a:rPr lang="en-US" sz="2800" dirty="0"/>
              <a:t> only at the </a:t>
            </a:r>
            <a:r>
              <a:rPr lang="en-US" sz="2800" b="1" dirty="0"/>
              <a:t>beginning and end</a:t>
            </a:r>
            <a:r>
              <a:rPr lang="en-US" sz="2800" dirty="0"/>
              <a:t> of the </a:t>
            </a:r>
            <a:r>
              <a:rPr lang="en-US" sz="2800" dirty="0" smtClean="0"/>
              <a:t>transfer </a:t>
            </a:r>
            <a:r>
              <a:rPr lang="en-IN" sz="2800" dirty="0" smtClean="0"/>
              <a:t>(</a:t>
            </a:r>
            <a:r>
              <a:rPr lang="en-IN" sz="2800" dirty="0"/>
              <a:t>Figure 7.4c).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86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3" t="16157" r="17147" b="39911"/>
          <a:stretch/>
        </p:blipFill>
        <p:spPr bwMode="auto">
          <a:xfrm>
            <a:off x="1312606" y="132747"/>
            <a:ext cx="10102646" cy="6521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92416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-77789"/>
            <a:ext cx="1198704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Figure 7.12 shows where in the instruction cycle the processor may be suspended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In each case, the </a:t>
            </a:r>
            <a:r>
              <a:rPr lang="en-US" sz="2800" b="1" dirty="0"/>
              <a:t>processor is suspended just before it needs to use </a:t>
            </a:r>
            <a:r>
              <a:rPr lang="en-US" sz="2800" b="1" dirty="0" smtClean="0"/>
              <a:t>the bus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/>
              <a:t>DMA module then transfers one word </a:t>
            </a:r>
            <a:r>
              <a:rPr lang="en-US" sz="2800" dirty="0"/>
              <a:t>and returns control to </a:t>
            </a:r>
            <a:r>
              <a:rPr lang="en-US" sz="2800" dirty="0" smtClean="0"/>
              <a:t>the processor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Note </a:t>
            </a:r>
            <a:r>
              <a:rPr lang="en-US" sz="2800" dirty="0"/>
              <a:t>that this is </a:t>
            </a:r>
            <a:r>
              <a:rPr lang="en-US" sz="2800" b="1" dirty="0"/>
              <a:t>not an interrupt</a:t>
            </a:r>
            <a:r>
              <a:rPr lang="en-US" sz="2800" dirty="0"/>
              <a:t>; </a:t>
            </a:r>
            <a:r>
              <a:rPr lang="en-US" sz="2800" b="1" dirty="0">
                <a:solidFill>
                  <a:srgbClr val="FF0000"/>
                </a:solidFill>
              </a:rPr>
              <a:t>the processor does not save a </a:t>
            </a:r>
            <a:r>
              <a:rPr lang="en-US" sz="2800" b="1" dirty="0" smtClean="0">
                <a:solidFill>
                  <a:srgbClr val="FF0000"/>
                </a:solidFill>
              </a:rPr>
              <a:t>context </a:t>
            </a:r>
            <a:r>
              <a:rPr lang="en-US" sz="2800" dirty="0" smtClean="0"/>
              <a:t>and </a:t>
            </a:r>
            <a:r>
              <a:rPr lang="en-US" sz="2800" dirty="0"/>
              <a:t>do something else.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Rather</a:t>
            </a:r>
            <a:r>
              <a:rPr lang="en-US" sz="2800" dirty="0"/>
              <a:t>, the </a:t>
            </a:r>
            <a:r>
              <a:rPr lang="en-US" sz="2800" b="1" dirty="0"/>
              <a:t>processor pauses for one bus cycle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overall </a:t>
            </a:r>
            <a:r>
              <a:rPr lang="en-US" sz="2800" dirty="0"/>
              <a:t>effect is to cause the </a:t>
            </a:r>
            <a:r>
              <a:rPr lang="en-US" sz="2800" b="1" dirty="0">
                <a:solidFill>
                  <a:srgbClr val="FF0000"/>
                </a:solidFill>
              </a:rPr>
              <a:t>processor to execute more slowly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Nevertheless</a:t>
            </a:r>
            <a:r>
              <a:rPr lang="en-US" sz="2800" dirty="0"/>
              <a:t>, </a:t>
            </a:r>
            <a:r>
              <a:rPr lang="en-US" sz="2800" dirty="0" smtClean="0"/>
              <a:t>for a </a:t>
            </a:r>
            <a:r>
              <a:rPr lang="en-US" sz="2800" b="1" dirty="0"/>
              <a:t>multiple-word I/O transfer</a:t>
            </a:r>
            <a:r>
              <a:rPr lang="en-US" sz="2800" dirty="0"/>
              <a:t>, DMA is far more </a:t>
            </a:r>
            <a:r>
              <a:rPr lang="en-US" sz="2800" b="1" dirty="0"/>
              <a:t>efficient than </a:t>
            </a:r>
            <a:r>
              <a:rPr lang="en-US" sz="2800" dirty="0"/>
              <a:t>interrupt-driven </a:t>
            </a:r>
            <a:r>
              <a:rPr lang="en-US" sz="2800" dirty="0" smtClean="0"/>
              <a:t>or </a:t>
            </a:r>
            <a:r>
              <a:rPr lang="en-IN" sz="2800" dirty="0" smtClean="0"/>
              <a:t>programmed </a:t>
            </a:r>
            <a:r>
              <a:rPr lang="en-IN" sz="2800" dirty="0"/>
              <a:t>I/O.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24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290911"/>
            <a:ext cx="119870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DMA mechanism can be configured in a </a:t>
            </a:r>
            <a:r>
              <a:rPr lang="en-US" sz="2800" b="1" dirty="0"/>
              <a:t>variety of ways.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Some possibilities are </a:t>
            </a:r>
            <a:r>
              <a:rPr lang="en-US" sz="2800" dirty="0"/>
              <a:t>shown in Figure 7.13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the first example, </a:t>
            </a:r>
            <a:r>
              <a:rPr lang="en-US" sz="2800" b="1" dirty="0">
                <a:solidFill>
                  <a:srgbClr val="FF0000"/>
                </a:solidFill>
              </a:rPr>
              <a:t>all modules share the </a:t>
            </a:r>
            <a:r>
              <a:rPr lang="en-US" sz="2800" b="1" dirty="0" smtClean="0">
                <a:solidFill>
                  <a:srgbClr val="FF0000"/>
                </a:solidFill>
              </a:rPr>
              <a:t>same system </a:t>
            </a:r>
            <a:r>
              <a:rPr lang="en-US" sz="2800" b="1" dirty="0">
                <a:solidFill>
                  <a:srgbClr val="FF0000"/>
                </a:solidFill>
              </a:rPr>
              <a:t>bus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/>
              <a:t>DMA module</a:t>
            </a:r>
            <a:r>
              <a:rPr lang="en-US" sz="2800" dirty="0"/>
              <a:t>, acting as a </a:t>
            </a:r>
            <a:r>
              <a:rPr lang="en-US" sz="2800" b="1" dirty="0"/>
              <a:t>surrogate processor</a:t>
            </a:r>
            <a:r>
              <a:rPr lang="en-US" sz="2800" dirty="0"/>
              <a:t>, uses </a:t>
            </a:r>
            <a:r>
              <a:rPr lang="en-US" sz="2800" b="1" dirty="0" smtClean="0"/>
              <a:t>programmed I/O </a:t>
            </a:r>
            <a:r>
              <a:rPr lang="en-US" sz="2800" dirty="0"/>
              <a:t>to exchange data between memory and an I/O module through the </a:t>
            </a:r>
            <a:r>
              <a:rPr lang="en-US" sz="2800" dirty="0" smtClean="0"/>
              <a:t>DMA </a:t>
            </a:r>
            <a:r>
              <a:rPr lang="en-US" sz="2800" dirty="0"/>
              <a:t>module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configuration, while it may be </a:t>
            </a:r>
            <a:r>
              <a:rPr lang="en-US" sz="2800" b="1" dirty="0">
                <a:solidFill>
                  <a:srgbClr val="FF0000"/>
                </a:solidFill>
              </a:rPr>
              <a:t>inexpensive</a:t>
            </a:r>
            <a:r>
              <a:rPr lang="en-US" sz="2800" dirty="0"/>
              <a:t>, is clearly </a:t>
            </a:r>
            <a:r>
              <a:rPr lang="en-US" sz="2800" b="1" dirty="0">
                <a:solidFill>
                  <a:srgbClr val="FF0000"/>
                </a:solidFill>
              </a:rPr>
              <a:t>inefficient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As with </a:t>
            </a:r>
            <a:r>
              <a:rPr lang="en-US" sz="2800" dirty="0"/>
              <a:t>processor-controlled programmed I/O, each </a:t>
            </a:r>
            <a:r>
              <a:rPr lang="en-US" sz="2800" b="1" dirty="0"/>
              <a:t>transfer of a word </a:t>
            </a:r>
            <a:r>
              <a:rPr lang="en-US" sz="2800" b="1" dirty="0" smtClean="0"/>
              <a:t>consumes </a:t>
            </a:r>
            <a:r>
              <a:rPr lang="en-IN" sz="2800" b="1" dirty="0" smtClean="0"/>
              <a:t>two </a:t>
            </a:r>
            <a:r>
              <a:rPr lang="en-IN" sz="2800" b="1" dirty="0"/>
              <a:t>bus cycles.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56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01" t="20894" r="16664" b="7610"/>
          <a:stretch/>
        </p:blipFill>
        <p:spPr bwMode="auto">
          <a:xfrm>
            <a:off x="2625165" y="0"/>
            <a:ext cx="6975987" cy="6655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3356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961" y="290911"/>
            <a:ext cx="119870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number of required </a:t>
            </a:r>
            <a:r>
              <a:rPr lang="en-US" sz="2800" b="1" dirty="0"/>
              <a:t>bus cycles can be cut </a:t>
            </a:r>
            <a:r>
              <a:rPr lang="en-US" sz="2800" dirty="0"/>
              <a:t>substantially </a:t>
            </a:r>
            <a:r>
              <a:rPr lang="en-US" sz="2800" dirty="0">
                <a:solidFill>
                  <a:srgbClr val="FF0000"/>
                </a:solidFill>
              </a:rPr>
              <a:t>by integrating </a:t>
            </a:r>
            <a:r>
              <a:rPr lang="en-US" sz="2800" dirty="0" smtClean="0">
                <a:solidFill>
                  <a:srgbClr val="FF0000"/>
                </a:solidFill>
              </a:rPr>
              <a:t>the DMA </a:t>
            </a:r>
            <a:r>
              <a:rPr lang="en-US" sz="2800" dirty="0">
                <a:solidFill>
                  <a:srgbClr val="FF0000"/>
                </a:solidFill>
              </a:rPr>
              <a:t>and I/O functions. </a:t>
            </a:r>
            <a:endParaRPr lang="en-US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As </a:t>
            </a:r>
            <a:r>
              <a:rPr lang="en-US" sz="2800" dirty="0"/>
              <a:t>Figure 7.13b indicates, this means that there is a </a:t>
            </a:r>
            <a:r>
              <a:rPr lang="en-US" sz="2800" b="1" dirty="0" smtClean="0"/>
              <a:t>path between </a:t>
            </a:r>
            <a:r>
              <a:rPr lang="en-US" sz="2800" b="1" dirty="0"/>
              <a:t>the DMA module and one or more I/O modules </a:t>
            </a:r>
            <a:r>
              <a:rPr lang="en-US" sz="2800" dirty="0"/>
              <a:t>that does not </a:t>
            </a:r>
            <a:r>
              <a:rPr lang="en-US" sz="2800" dirty="0" smtClean="0"/>
              <a:t>include the </a:t>
            </a:r>
            <a:r>
              <a:rPr lang="en-US" sz="2800" dirty="0"/>
              <a:t>system bus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/>
              <a:t>DMA</a:t>
            </a:r>
            <a:r>
              <a:rPr lang="en-US" sz="2800" dirty="0"/>
              <a:t> logic may actually be a </a:t>
            </a:r>
            <a:r>
              <a:rPr lang="en-US" sz="2800" b="1" dirty="0"/>
              <a:t>part of an I/O module</a:t>
            </a:r>
            <a:r>
              <a:rPr lang="en-US" sz="2800" dirty="0"/>
              <a:t>, or it </a:t>
            </a:r>
            <a:r>
              <a:rPr lang="en-US" sz="2800" dirty="0" smtClean="0"/>
              <a:t>may be </a:t>
            </a:r>
            <a:r>
              <a:rPr lang="en-US" sz="2800" dirty="0"/>
              <a:t>a separate module that controls one or more I/O modules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concept can </a:t>
            </a:r>
            <a:r>
              <a:rPr lang="en-US" sz="2800" dirty="0" smtClean="0"/>
              <a:t>be taken </a:t>
            </a:r>
            <a:r>
              <a:rPr lang="en-US" sz="2800" b="1" dirty="0"/>
              <a:t>one step further</a:t>
            </a:r>
            <a:r>
              <a:rPr lang="en-US" sz="2800" dirty="0"/>
              <a:t> by </a:t>
            </a:r>
            <a:r>
              <a:rPr lang="en-US" sz="2800" b="1" dirty="0">
                <a:solidFill>
                  <a:srgbClr val="FF0000"/>
                </a:solidFill>
              </a:rPr>
              <a:t>connecting I/O modules to the DMA module using </a:t>
            </a:r>
            <a:r>
              <a:rPr lang="en-US" sz="2800" b="1" dirty="0" smtClean="0">
                <a:solidFill>
                  <a:srgbClr val="FF0000"/>
                </a:solidFill>
              </a:rPr>
              <a:t>an I/O </a:t>
            </a:r>
            <a:r>
              <a:rPr lang="en-US" sz="2800" b="1" dirty="0">
                <a:solidFill>
                  <a:srgbClr val="FF0000"/>
                </a:solidFill>
              </a:rPr>
              <a:t>bus</a:t>
            </a:r>
            <a:r>
              <a:rPr lang="en-US" sz="2800" dirty="0"/>
              <a:t> (Figure 7.13c).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b="1" dirty="0"/>
              <a:t>reduces the number of I/O interfaces in the </a:t>
            </a:r>
            <a:r>
              <a:rPr lang="en-US" sz="2800" b="1" dirty="0" smtClean="0"/>
              <a:t>DMA module </a:t>
            </a:r>
            <a:r>
              <a:rPr lang="en-US" sz="2800" dirty="0"/>
              <a:t>to one and provides for an easily expandable configuration. 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51818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32612A0-DAA9-A41E-33E3-4DE85FB5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AED803C-3696-7B12-D93E-44C16F6AC2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A847D9-DB0D-5C7D-471C-489BB6C9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200" y="609599"/>
            <a:ext cx="5169588" cy="1019175"/>
          </a:xfrm>
        </p:spPr>
        <p:txBody>
          <a:bodyPr anchor="b">
            <a:normAutofit fontScale="90000"/>
          </a:bodyPr>
          <a:lstStyle/>
          <a:p>
            <a:r>
              <a:rPr lang="en-IN" sz="4000" dirty="0"/>
              <a:t>Embedded I/O Systems -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="" xmlns:a16="http://schemas.microsoft.com/office/drawing/2014/main" id="{25BF80EF-A74E-AC40-3761-52FA2DD71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IN" sz="2400" dirty="0" smtClean="0"/>
              <a:t>Embedded </a:t>
            </a:r>
            <a:r>
              <a:rPr lang="en-IN" sz="2400" dirty="0"/>
              <a:t>I/O, </a:t>
            </a:r>
            <a:endParaRPr lang="en-IN" sz="2400" dirty="0" smtClean="0"/>
          </a:p>
          <a:p>
            <a:r>
              <a:rPr lang="en-IN" sz="2400" dirty="0" smtClean="0"/>
              <a:t>General </a:t>
            </a:r>
            <a:r>
              <a:rPr lang="en-IN" sz="2400" dirty="0"/>
              <a:t>Purpose I/O, </a:t>
            </a:r>
            <a:endParaRPr lang="en-IN" sz="2400" dirty="0" smtClean="0"/>
          </a:p>
          <a:p>
            <a:r>
              <a:rPr lang="en-IN" sz="2400" dirty="0" smtClean="0"/>
              <a:t>Serial </a:t>
            </a:r>
            <a:r>
              <a:rPr lang="en-IN" sz="2400" dirty="0"/>
              <a:t>I/O, </a:t>
            </a:r>
            <a:endParaRPr lang="en-IN" sz="2400" dirty="0" smtClean="0"/>
          </a:p>
          <a:p>
            <a:r>
              <a:rPr lang="en-IN" sz="2400" dirty="0" smtClean="0"/>
              <a:t>Other </a:t>
            </a:r>
            <a:r>
              <a:rPr lang="en-IN" sz="2400" dirty="0"/>
              <a:t>Peripherals.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223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Embedded systems </a:t>
            </a:r>
            <a:r>
              <a:rPr lang="en-US" sz="2800" b="1" dirty="0"/>
              <a:t>use a processor to control interactions with the </a:t>
            </a:r>
            <a:r>
              <a:rPr lang="en-US" sz="2800" b="1" dirty="0" smtClean="0"/>
              <a:t>physical environment</a:t>
            </a:r>
            <a:r>
              <a:rPr lang="en-US" sz="2800" b="1" dirty="0"/>
              <a:t>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They </a:t>
            </a:r>
            <a:r>
              <a:rPr lang="en-US" sz="2800" dirty="0"/>
              <a:t>are typically </a:t>
            </a:r>
            <a:r>
              <a:rPr lang="en-US" sz="2800" b="1" dirty="0"/>
              <a:t>built around microcontroller </a:t>
            </a:r>
            <a:r>
              <a:rPr lang="en-US" sz="2800" b="1" dirty="0" smtClean="0"/>
              <a:t>units (MCUs</a:t>
            </a:r>
            <a:r>
              <a:rPr lang="en-US" sz="2800" dirty="0"/>
              <a:t>) which combine a microprocessor with a set of </a:t>
            </a:r>
            <a:r>
              <a:rPr lang="en-US" sz="2800" dirty="0" smtClean="0"/>
              <a:t>easy-to-use peripherals.</a:t>
            </a:r>
            <a:endParaRPr lang="en-IN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IN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b="1" dirty="0"/>
              <a:t>embedded system is a system whose user may be unaware there is a computer </a:t>
            </a:r>
            <a:r>
              <a:rPr lang="en-US" sz="2800" b="1" dirty="0" smtClean="0"/>
              <a:t>inside</a:t>
            </a:r>
          </a:p>
          <a:p>
            <a:endParaRPr lang="en-IN" sz="2800" dirty="0"/>
          </a:p>
          <a:p>
            <a:r>
              <a:rPr lang="en-IN" sz="2800" b="1" dirty="0"/>
              <a:t>Examples</a:t>
            </a:r>
            <a:r>
              <a:rPr lang="en-IN" sz="2800" b="1" dirty="0" smtClean="0"/>
              <a:t>: </a:t>
            </a:r>
            <a:r>
              <a:rPr lang="en-IN" sz="2800" dirty="0" smtClean="0"/>
              <a:t>Microwave </a:t>
            </a:r>
            <a:r>
              <a:rPr lang="en-IN" sz="2800" dirty="0"/>
              <a:t>oven</a:t>
            </a:r>
          </a:p>
          <a:p>
            <a:r>
              <a:rPr lang="en-IN" sz="2800" dirty="0"/>
              <a:t>Clock/radio</a:t>
            </a:r>
          </a:p>
          <a:p>
            <a:r>
              <a:rPr lang="en-IN" sz="2800" dirty="0"/>
              <a:t>Electronic fuel injection</a:t>
            </a:r>
          </a:p>
          <a:p>
            <a:r>
              <a:rPr lang="en-US" sz="2800" dirty="0"/>
              <a:t>Annoying toys with batteries for toddlers</a:t>
            </a:r>
          </a:p>
          <a:p>
            <a:r>
              <a:rPr lang="en-IN" sz="2800" dirty="0"/>
              <a:t>Implantable glucose monitor </a:t>
            </a:r>
          </a:p>
          <a:p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-4234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Embedded </a:t>
            </a:r>
            <a:r>
              <a:rPr lang="en-IN" b="1" dirty="0" smtClean="0"/>
              <a:t>I/O : 565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8927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An </a:t>
            </a:r>
            <a:r>
              <a:rPr lang="en-US" sz="2800" b="1" dirty="0"/>
              <a:t>Embedded </a:t>
            </a:r>
            <a:r>
              <a:rPr lang="en-US" sz="2800" b="1" dirty="0" err="1"/>
              <a:t>Input/Output</a:t>
            </a:r>
            <a:r>
              <a:rPr lang="en-US" sz="2800" b="1" dirty="0"/>
              <a:t> (I/O) System</a:t>
            </a:r>
            <a:r>
              <a:rPr lang="en-US" sz="2800" dirty="0"/>
              <a:t> is the part of an embedded system that </a:t>
            </a:r>
            <a:r>
              <a:rPr lang="en-US" sz="2800" b="1" dirty="0"/>
              <a:t>manages communication between the processor and </a:t>
            </a:r>
            <a:r>
              <a:rPr lang="en-US" sz="2800" b="1" dirty="0" smtClean="0"/>
              <a:t>physical world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They consist of </a:t>
            </a:r>
            <a:r>
              <a:rPr lang="en-US" sz="2800" b="1" dirty="0"/>
              <a:t>sensors, actuators, and communication interfaces </a:t>
            </a:r>
            <a:r>
              <a:rPr lang="en-US" sz="2800" dirty="0"/>
              <a:t>(e.g., UART, I2C, SPI) </a:t>
            </a:r>
            <a:r>
              <a:rPr lang="en-US" sz="2800" b="1" dirty="0"/>
              <a:t>to manage real-time tasks in applications like </a:t>
            </a:r>
            <a:r>
              <a:rPr lang="en-US" sz="2800" b="1" dirty="0" err="1"/>
              <a:t>IoT</a:t>
            </a:r>
            <a:r>
              <a:rPr lang="en-US" sz="2800" dirty="0"/>
              <a:t>, automotive, and industrial automation.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19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Key </a:t>
            </a:r>
            <a:r>
              <a:rPr lang="en-IN" sz="2800" b="1" dirty="0" smtClean="0"/>
              <a:t>Components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b="1" dirty="0" smtClean="0"/>
              <a:t>Input Devices:</a:t>
            </a:r>
            <a:r>
              <a:rPr lang="en-IN" sz="2800" dirty="0"/>
              <a:t> Sensors, switches, and keyboards collect data, while </a:t>
            </a:r>
            <a:r>
              <a:rPr lang="en-IN" sz="2800" dirty="0" err="1"/>
              <a:t>analog</a:t>
            </a:r>
            <a:r>
              <a:rPr lang="en-IN" sz="2800" dirty="0"/>
              <a:t>-to-digital converters (ADCs) transform real-world </a:t>
            </a:r>
            <a:r>
              <a:rPr lang="en-IN" sz="2800" dirty="0" err="1"/>
              <a:t>analog</a:t>
            </a:r>
            <a:r>
              <a:rPr lang="en-IN" sz="2800" dirty="0"/>
              <a:t> signals (temperature, pressure) into digital data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b="1" dirty="0"/>
              <a:t>Output Devices:</a:t>
            </a:r>
            <a:r>
              <a:rPr lang="en-IN" sz="2800" dirty="0"/>
              <a:t> Actuators (motors, relays), displays (LEDs, LCDs), and digital-to-</a:t>
            </a:r>
            <a:r>
              <a:rPr lang="en-IN" sz="2800" dirty="0" err="1"/>
              <a:t>analog</a:t>
            </a:r>
            <a:r>
              <a:rPr lang="en-IN" sz="2800" dirty="0"/>
              <a:t> converters (DACs) allow the system to control external devices or provide feedback</a:t>
            </a:r>
            <a:r>
              <a:rPr lang="en-IN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9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Key </a:t>
            </a:r>
            <a:r>
              <a:rPr lang="en-IN" sz="2800" b="1" dirty="0" smtClean="0"/>
              <a:t>Components</a:t>
            </a:r>
          </a:p>
          <a:p>
            <a:endParaRPr lang="en-IN" sz="28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b="1" dirty="0" smtClean="0"/>
              <a:t>Communication </a:t>
            </a:r>
            <a:r>
              <a:rPr lang="en-IN" sz="2800" b="1" dirty="0"/>
              <a:t>Interfaces:</a:t>
            </a:r>
            <a:r>
              <a:rPr lang="en-IN" sz="2800" dirty="0"/>
              <a:t> </a:t>
            </a:r>
            <a:r>
              <a:rPr lang="en-IN" sz="2800" dirty="0" smtClean="0"/>
              <a:t> Serial </a:t>
            </a:r>
            <a:r>
              <a:rPr lang="en-IN" sz="2800" dirty="0"/>
              <a:t>protocols (UART, </a:t>
            </a:r>
            <a:r>
              <a:rPr lang="en-IN" sz="2800" dirty="0" smtClean="0"/>
              <a:t>I2C</a:t>
            </a:r>
            <a:r>
              <a:rPr lang="en-IN" sz="2800" dirty="0"/>
              <a:t>, SPI) facilitate communication with other components or systems, while parallel interfaces (PIO) allow for high-speed data transfer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b="1" dirty="0"/>
              <a:t>Processing Core:</a:t>
            </a:r>
            <a:r>
              <a:rPr lang="en-IN" sz="2800" dirty="0"/>
              <a:t> Microcontrollers (MCUs) or microprocessors are central, frequently using Real-Time Operating Systems (RTOS) to manage tasks and latency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571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/>
              <a:t>MEMORY-MAPPED I/O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</a:t>
            </a:r>
            <a:r>
              <a:rPr lang="en-US" sz="2800" dirty="0" smtClean="0"/>
              <a:t> </a:t>
            </a:r>
            <a:r>
              <a:rPr lang="en-US" sz="2800" dirty="0"/>
              <a:t>portion of the </a:t>
            </a:r>
            <a:r>
              <a:rPr lang="en-US" sz="2800" b="1" dirty="0"/>
              <a:t>address space is </a:t>
            </a:r>
            <a:r>
              <a:rPr lang="en-US" sz="2800" b="1" dirty="0" smtClean="0"/>
              <a:t>dedicated to </a:t>
            </a:r>
            <a:r>
              <a:rPr lang="en-US" sz="2800" b="1" dirty="0"/>
              <a:t>I/O devices </a:t>
            </a:r>
            <a:r>
              <a:rPr lang="en-US" sz="2800" dirty="0"/>
              <a:t>rather than memory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dirty="0"/>
              <a:t>For example, suppose </a:t>
            </a:r>
            <a:r>
              <a:rPr lang="en-US" sz="2800" dirty="0" smtClean="0"/>
              <a:t>that physical </a:t>
            </a:r>
            <a:r>
              <a:rPr lang="en-US" sz="2800" dirty="0"/>
              <a:t>addresses in the range 0x20000000 to 0x20FFFFFF are </a:t>
            </a:r>
            <a:r>
              <a:rPr lang="en-US" sz="2800" dirty="0" smtClean="0"/>
              <a:t>used for </a:t>
            </a:r>
            <a:r>
              <a:rPr lang="en-US" sz="2800" dirty="0"/>
              <a:t>I/O.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Each </a:t>
            </a:r>
            <a:r>
              <a:rPr lang="en-US" sz="2800" dirty="0"/>
              <a:t>I/O device is assigned </a:t>
            </a:r>
            <a:r>
              <a:rPr lang="en-US" sz="2800" b="1" dirty="0"/>
              <a:t>one or more memory addresses </a:t>
            </a:r>
            <a:r>
              <a:rPr lang="en-US" sz="2800" dirty="0" smtClean="0"/>
              <a:t>in this </a:t>
            </a:r>
            <a:r>
              <a:rPr lang="en-US" sz="2800" dirty="0"/>
              <a:t>range.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b="1" dirty="0">
                <a:solidFill>
                  <a:srgbClr val="FF0000"/>
                </a:solidFill>
              </a:rPr>
              <a:t>store </a:t>
            </a:r>
            <a:r>
              <a:rPr lang="en-US" sz="2800" dirty="0"/>
              <a:t>to the specified address </a:t>
            </a:r>
            <a:r>
              <a:rPr lang="en-US" sz="2800" b="1" dirty="0"/>
              <a:t>sends data to the device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FF0000"/>
                </a:solidFill>
              </a:rPr>
              <a:t>load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b="1" dirty="0"/>
              <a:t>receives data from the device.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method of communicating </a:t>
            </a:r>
            <a:r>
              <a:rPr lang="en-US" sz="2800" dirty="0" smtClean="0"/>
              <a:t>with I/O </a:t>
            </a:r>
            <a:r>
              <a:rPr lang="en-US" sz="2800" dirty="0"/>
              <a:t>devices is called </a:t>
            </a:r>
            <a:r>
              <a:rPr lang="en-US" sz="2800" b="1" i="1" dirty="0">
                <a:solidFill>
                  <a:srgbClr val="FF0000"/>
                </a:solidFill>
              </a:rPr>
              <a:t>memory-mapped </a:t>
            </a:r>
            <a:r>
              <a:rPr lang="en-US" sz="2800" b="1" dirty="0">
                <a:solidFill>
                  <a:srgbClr val="FF0000"/>
                </a:solidFill>
              </a:rPr>
              <a:t>I/O.</a:t>
            </a:r>
          </a:p>
        </p:txBody>
      </p:sp>
    </p:spTree>
    <p:extLst>
      <p:ext uri="{BB962C8B-B14F-4D97-AF65-F5344CB8AC3E}">
        <p14:creationId xmlns:p14="http://schemas.microsoft.com/office/powerpoint/2010/main" val="186277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Embedded systems </a:t>
            </a:r>
            <a:r>
              <a:rPr lang="en-US" sz="2800" b="1" dirty="0"/>
              <a:t>use a processor to control interactions with the </a:t>
            </a:r>
            <a:r>
              <a:rPr lang="en-US" sz="2800" b="1" dirty="0" smtClean="0"/>
              <a:t>physical environment</a:t>
            </a:r>
            <a:r>
              <a:rPr lang="en-US" sz="2800" b="1" dirty="0"/>
              <a:t>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They </a:t>
            </a:r>
            <a:r>
              <a:rPr lang="en-US" sz="2800" dirty="0"/>
              <a:t>are typically </a:t>
            </a:r>
            <a:r>
              <a:rPr lang="en-US" sz="2800" b="1" dirty="0"/>
              <a:t>built around microcontroller </a:t>
            </a:r>
            <a:r>
              <a:rPr lang="en-US" sz="2800" b="1" dirty="0" smtClean="0"/>
              <a:t>units (MCUs</a:t>
            </a:r>
            <a:r>
              <a:rPr lang="en-US" sz="2800" dirty="0"/>
              <a:t>) which combine a microprocessor with a set of </a:t>
            </a:r>
            <a:r>
              <a:rPr lang="en-US" sz="2800" dirty="0" smtClean="0"/>
              <a:t>easy-to-use peripherals.</a:t>
            </a:r>
            <a:endParaRPr lang="en-IN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IN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Microcontrollers</a:t>
            </a:r>
            <a:r>
              <a:rPr lang="en-US" sz="2800" dirty="0"/>
              <a:t> are generally </a:t>
            </a:r>
            <a:r>
              <a:rPr lang="en-US" sz="2800" b="1" dirty="0"/>
              <a:t>inexpensive</a:t>
            </a:r>
            <a:r>
              <a:rPr lang="en-US" sz="2800" dirty="0"/>
              <a:t> and are designed </a:t>
            </a:r>
            <a:r>
              <a:rPr lang="en-US" sz="2800" dirty="0" smtClean="0"/>
              <a:t>to </a:t>
            </a:r>
            <a:r>
              <a:rPr lang="en-US" sz="2800" b="1" dirty="0" smtClean="0">
                <a:solidFill>
                  <a:srgbClr val="FF0000"/>
                </a:solidFill>
              </a:rPr>
              <a:t>minimize </a:t>
            </a:r>
            <a:r>
              <a:rPr lang="en-US" sz="2800" b="1" dirty="0">
                <a:solidFill>
                  <a:srgbClr val="FF0000"/>
                </a:solidFill>
              </a:rPr>
              <a:t>system cost and size</a:t>
            </a:r>
            <a:r>
              <a:rPr lang="en-US" sz="2800" dirty="0"/>
              <a:t> by integrating most of the necessary </a:t>
            </a:r>
            <a:r>
              <a:rPr lang="en-US" sz="2800" b="1" dirty="0" smtClean="0"/>
              <a:t>components </a:t>
            </a:r>
            <a:r>
              <a:rPr lang="en-IN" sz="2800" b="1" dirty="0" smtClean="0"/>
              <a:t>onto </a:t>
            </a:r>
            <a:r>
              <a:rPr lang="en-IN" sz="2800" b="1" dirty="0"/>
              <a:t>a single chip</a:t>
            </a:r>
            <a:r>
              <a:rPr lang="en-IN" sz="28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/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/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-4234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Embedded </a:t>
            </a:r>
            <a:r>
              <a:rPr lang="en-IN" b="1" dirty="0" smtClean="0"/>
              <a:t>I/O : 565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9392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 </a:t>
            </a:r>
            <a:r>
              <a:rPr lang="en-US" sz="2800" b="1" dirty="0" err="1"/>
              <a:t>SparkFun</a:t>
            </a:r>
            <a:r>
              <a:rPr lang="en-US" sz="2800" b="1" dirty="0"/>
              <a:t> RED-V board</a:t>
            </a:r>
            <a:r>
              <a:rPr lang="en-US" sz="2800" dirty="0"/>
              <a:t> is an embedded I/O </a:t>
            </a:r>
            <a:r>
              <a:rPr lang="en-US" sz="2800" dirty="0" smtClean="0"/>
              <a:t>system.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specifically </a:t>
            </a:r>
            <a:r>
              <a:rPr lang="en-US" sz="2800" dirty="0"/>
              <a:t>designed as a </a:t>
            </a:r>
            <a:r>
              <a:rPr lang="en-US" sz="2800" b="1" dirty="0"/>
              <a:t>development board</a:t>
            </a:r>
            <a:r>
              <a:rPr lang="en-US" sz="2800" dirty="0"/>
              <a:t> for testing and deploying </a:t>
            </a:r>
            <a:r>
              <a:rPr lang="en-US" sz="2800" b="1" dirty="0"/>
              <a:t>applications on a RISC-V</a:t>
            </a:r>
            <a:r>
              <a:rPr lang="en-US" sz="2800" dirty="0"/>
              <a:t> microcontroller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b="1" dirty="0" smtClean="0"/>
              <a:t>low-cost</a:t>
            </a:r>
            <a:r>
              <a:rPr lang="en-US" sz="2800" b="1" dirty="0"/>
              <a:t>, open-source development </a:t>
            </a:r>
            <a:r>
              <a:rPr lang="en-US" sz="2800" dirty="0"/>
              <a:t>board featuring </a:t>
            </a:r>
            <a:r>
              <a:rPr lang="en-US" sz="2800" b="1" dirty="0"/>
              <a:t>the </a:t>
            </a:r>
            <a:r>
              <a:rPr lang="en-US" sz="2800" b="1" dirty="0" err="1"/>
              <a:t>SiFive</a:t>
            </a:r>
            <a:r>
              <a:rPr lang="en-US" sz="2800" b="1" dirty="0"/>
              <a:t> Freedom E310 </a:t>
            </a:r>
            <a:r>
              <a:rPr lang="en-US" sz="2800" b="1" dirty="0" err="1" smtClean="0"/>
              <a:t>SoC</a:t>
            </a:r>
            <a:r>
              <a:rPr lang="en-US" sz="2800" dirty="0" err="1" smtClean="0"/>
              <a:t>.</a:t>
            </a:r>
            <a:r>
              <a:rPr lang="en-US" sz="28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uses a familiar </a:t>
            </a:r>
            <a:r>
              <a:rPr lang="en-US" sz="2800" b="1" dirty="0" err="1"/>
              <a:t>Arduino</a:t>
            </a:r>
            <a:r>
              <a:rPr lang="en-US" sz="2800" b="1" dirty="0"/>
              <a:t> Uno R3 footprint </a:t>
            </a:r>
            <a:r>
              <a:rPr lang="en-US" sz="2800" dirty="0"/>
              <a:t>and is ideal for prototyping open-source, royalty-free microcontroller applications.</a:t>
            </a:r>
            <a:endParaRPr lang="en-IN" sz="2800" b="1" u="sng" dirty="0" smtClean="0"/>
          </a:p>
          <a:p>
            <a:pPr marL="457200" indent="-457200">
              <a:buFont typeface="Arial" pitchFamily="34" charset="0"/>
              <a:buChar char="•"/>
            </a:pPr>
            <a:endParaRPr lang="en-IN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-4234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RED-V Board</a:t>
            </a:r>
            <a:r>
              <a:rPr lang="en-IN" b="1" dirty="0" smtClean="0"/>
              <a:t>: 566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7822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411703"/>
            <a:ext cx="11987048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/>
              <a:t>Key Features:</a:t>
            </a:r>
          </a:p>
          <a:p>
            <a:endParaRPr lang="en-IN" sz="2800" b="1" u="sng" dirty="0"/>
          </a:p>
          <a:p>
            <a:r>
              <a:rPr lang="en-IN" sz="2800" b="1" dirty="0"/>
              <a:t>Processor:</a:t>
            </a:r>
            <a:r>
              <a:rPr lang="en-IN" sz="2800" dirty="0"/>
              <a:t> </a:t>
            </a:r>
            <a:r>
              <a:rPr lang="en-IN" sz="2800" dirty="0" err="1"/>
              <a:t>SiFive</a:t>
            </a:r>
            <a:r>
              <a:rPr lang="en-IN" sz="2800" dirty="0"/>
              <a:t> Freedom E310 (FE310) </a:t>
            </a:r>
            <a:r>
              <a:rPr lang="en-IN" sz="2800" dirty="0" err="1"/>
              <a:t>SoC</a:t>
            </a:r>
            <a:r>
              <a:rPr lang="en-IN" sz="2800" dirty="0"/>
              <a:t> with a 32-bit RV32IMAC </a:t>
            </a:r>
            <a:r>
              <a:rPr lang="en-IN" sz="2800" dirty="0" smtClean="0"/>
              <a:t> RISC-V </a:t>
            </a:r>
            <a:r>
              <a:rPr lang="en-IN" sz="2800" dirty="0"/>
              <a:t>core</a:t>
            </a:r>
            <a:r>
              <a:rPr lang="en-IN" sz="2800" dirty="0" smtClean="0"/>
              <a:t>.</a:t>
            </a:r>
          </a:p>
          <a:p>
            <a:endParaRPr lang="en-IN" sz="2800" dirty="0"/>
          </a:p>
          <a:p>
            <a:r>
              <a:rPr lang="en-IN" sz="2800" b="1" dirty="0"/>
              <a:t>Speed:</a:t>
            </a:r>
            <a:r>
              <a:rPr lang="en-IN" sz="2800" dirty="0"/>
              <a:t> Clock speed exceeding 320 </a:t>
            </a:r>
            <a:r>
              <a:rPr lang="en-IN" sz="2800" dirty="0" err="1"/>
              <a:t>MHz</a:t>
            </a:r>
            <a:r>
              <a:rPr lang="en-IN" sz="2800" dirty="0" err="1" smtClean="0"/>
              <a:t>.</a:t>
            </a:r>
            <a:endParaRPr lang="en-IN" sz="2800" dirty="0" smtClean="0"/>
          </a:p>
          <a:p>
            <a:endParaRPr lang="en-IN" sz="2800" dirty="0"/>
          </a:p>
          <a:p>
            <a:r>
              <a:rPr lang="en-IN" sz="2800" b="1" dirty="0"/>
              <a:t>Form Factor:</a:t>
            </a:r>
            <a:r>
              <a:rPr lang="en-IN" sz="2800" dirty="0"/>
              <a:t> </a:t>
            </a:r>
            <a:r>
              <a:rPr lang="en-IN" sz="2800" dirty="0" err="1"/>
              <a:t>Arduino</a:t>
            </a:r>
            <a:r>
              <a:rPr lang="en-IN" sz="2800" dirty="0"/>
              <a:t> Uno R3 footprint (19 digital I/O pins, 9 PWM pins</a:t>
            </a:r>
            <a:r>
              <a:rPr lang="en-IN" sz="2800" dirty="0" smtClean="0"/>
              <a:t>).</a:t>
            </a:r>
          </a:p>
          <a:p>
            <a:r>
              <a:rPr lang="en-US" dirty="0" smtClean="0"/>
              <a:t>(A </a:t>
            </a:r>
            <a:r>
              <a:rPr lang="en-US" dirty="0"/>
              <a:t>form factor defines the physical size, shape, and configuration of hardware components or devices, dictating compatibility, layout, and cooling </a:t>
            </a:r>
            <a:r>
              <a:rPr lang="en-US" dirty="0" smtClean="0"/>
              <a:t>capabilities)</a:t>
            </a:r>
          </a:p>
          <a:p>
            <a:endParaRPr lang="en-IN" dirty="0"/>
          </a:p>
          <a:p>
            <a:r>
              <a:rPr lang="en-IN" sz="2800" b="1" dirty="0"/>
              <a:t>Memory/Storage:</a:t>
            </a:r>
            <a:r>
              <a:rPr lang="en-IN" sz="2800" dirty="0"/>
              <a:t> 16KB instruction cache, 16KB data </a:t>
            </a:r>
            <a:r>
              <a:rPr lang="en-IN" sz="2800" dirty="0" smtClean="0"/>
              <a:t>scratchpad.</a:t>
            </a:r>
          </a:p>
          <a:p>
            <a:endParaRPr lang="en-IN" sz="2800" dirty="0"/>
          </a:p>
          <a:p>
            <a:r>
              <a:rPr lang="en-IN" sz="2800" b="1" dirty="0"/>
              <a:t>Connectivity:</a:t>
            </a:r>
            <a:r>
              <a:rPr lang="en-IN" sz="2800" dirty="0"/>
              <a:t> USB-C connector for programming/debugging (via NXP K22 ARM Cortex-M4), and a </a:t>
            </a:r>
            <a:r>
              <a:rPr lang="en-IN" sz="2800" dirty="0" err="1"/>
              <a:t>Qwiic</a:t>
            </a:r>
            <a:r>
              <a:rPr lang="en-IN" sz="2800" dirty="0"/>
              <a:t> connector for I2C devices</a:t>
            </a:r>
            <a:r>
              <a:rPr lang="en-IN" sz="2800" dirty="0" smtClean="0"/>
              <a:t>.</a:t>
            </a:r>
            <a:endParaRPr lang="en-IN" sz="2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-4234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RED-V Board</a:t>
            </a:r>
            <a:r>
              <a:rPr lang="en-IN" b="1" dirty="0" smtClean="0"/>
              <a:t>: 566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6926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585129"/>
            <a:ext cx="119870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FE310-G002 </a:t>
            </a:r>
            <a:r>
              <a:rPr lang="en-US" sz="2800" dirty="0" err="1"/>
              <a:t>SoC</a:t>
            </a:r>
            <a:r>
              <a:rPr lang="en-US" sz="2800" dirty="0"/>
              <a:t> is a </a:t>
            </a:r>
            <a:r>
              <a:rPr lang="en-US" sz="2800" b="1" dirty="0"/>
              <a:t>powerful</a:t>
            </a:r>
            <a:r>
              <a:rPr lang="en-US" sz="2800" dirty="0"/>
              <a:t> yet </a:t>
            </a:r>
            <a:r>
              <a:rPr lang="en-US" sz="2800" b="1" dirty="0"/>
              <a:t>inexpensive</a:t>
            </a:r>
            <a:r>
              <a:rPr lang="en-US" sz="2800" dirty="0"/>
              <a:t> </a:t>
            </a:r>
            <a:r>
              <a:rPr lang="en-US" sz="2800" b="1" dirty="0" smtClean="0"/>
              <a:t>microcontroller</a:t>
            </a:r>
            <a:r>
              <a:rPr lang="en-US" sz="2800" dirty="0" smtClean="0"/>
              <a:t> chip </a:t>
            </a:r>
            <a:r>
              <a:rPr lang="en-US" sz="2800" dirty="0"/>
              <a:t>designed by </a:t>
            </a:r>
            <a:r>
              <a:rPr lang="en-US" sz="2800" dirty="0" err="1"/>
              <a:t>SiFive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includes a </a:t>
            </a:r>
            <a:r>
              <a:rPr lang="en-US" sz="2800" b="1" dirty="0"/>
              <a:t>RISC-V microprocessor with </a:t>
            </a:r>
            <a:r>
              <a:rPr lang="en-US" sz="2800" b="1" dirty="0" smtClean="0"/>
              <a:t>a 5-stage </a:t>
            </a:r>
            <a:r>
              <a:rPr lang="en-US" sz="2800" b="1" dirty="0"/>
              <a:t>pipeline </a:t>
            </a:r>
            <a:r>
              <a:rPr lang="en-US" sz="2800" b="1" dirty="0" smtClean="0"/>
              <a:t>and </a:t>
            </a:r>
            <a:r>
              <a:rPr lang="en-US" sz="2800" b="1" dirty="0"/>
              <a:t>many </a:t>
            </a:r>
            <a:r>
              <a:rPr lang="en-US" sz="2800" b="1" dirty="0" smtClean="0"/>
              <a:t>I/O </a:t>
            </a:r>
            <a:r>
              <a:rPr lang="en-IN" sz="2800" b="1" dirty="0" smtClean="0"/>
              <a:t>Peripherals.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-4234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FE310-G002 System-on-Chip</a:t>
            </a:r>
          </a:p>
        </p:txBody>
      </p:sp>
    </p:spTree>
    <p:extLst>
      <p:ext uri="{BB962C8B-B14F-4D97-AF65-F5344CB8AC3E}">
        <p14:creationId xmlns:p14="http://schemas.microsoft.com/office/powerpoint/2010/main" val="94702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571357"/>
            <a:ext cx="119870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General-purpose I/O (GPIO) pins are </a:t>
            </a:r>
            <a:r>
              <a:rPr lang="en-US" sz="2800" b="1" dirty="0">
                <a:solidFill>
                  <a:srgbClr val="FF0000"/>
                </a:solidFill>
              </a:rPr>
              <a:t>used to read or write digital signals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GPIO </a:t>
            </a:r>
            <a:r>
              <a:rPr lang="en-IN" sz="2800" dirty="0"/>
              <a:t>pins require </a:t>
            </a:r>
            <a:r>
              <a:rPr lang="en-IN" sz="2800" b="1" dirty="0"/>
              <a:t>memory-mapped I/O </a:t>
            </a:r>
            <a:r>
              <a:rPr lang="en-IN" sz="2800" b="1" dirty="0" smtClean="0"/>
              <a:t>registers </a:t>
            </a:r>
            <a:r>
              <a:rPr lang="en-US" sz="2800" dirty="0"/>
              <a:t>to read input pin values, write output pin </a:t>
            </a:r>
            <a:r>
              <a:rPr lang="en-US" sz="2800" dirty="0" smtClean="0"/>
              <a:t>values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In many embedded systems, the GPIO pins can be </a:t>
            </a:r>
            <a:r>
              <a:rPr lang="en-US" sz="2800" b="1" dirty="0" smtClean="0"/>
              <a:t>shared with </a:t>
            </a:r>
            <a:r>
              <a:rPr lang="en-US" sz="2800" b="1" dirty="0"/>
              <a:t>one or more special-purpose peripherals, </a:t>
            </a:r>
            <a:r>
              <a:rPr lang="en-US" sz="2800" dirty="0"/>
              <a:t>so </a:t>
            </a:r>
            <a:r>
              <a:rPr lang="en-US" sz="2800" b="1" dirty="0"/>
              <a:t>additional </a:t>
            </a:r>
            <a:r>
              <a:rPr lang="en-US" sz="2800" b="1" dirty="0" smtClean="0"/>
              <a:t>configuration registers </a:t>
            </a:r>
            <a:r>
              <a:rPr lang="en-US" sz="2800" b="1" dirty="0"/>
              <a:t>are necessary </a:t>
            </a:r>
            <a:r>
              <a:rPr lang="en-US" sz="2800" dirty="0"/>
              <a:t>to determine whether the pin is general- </a:t>
            </a:r>
            <a:r>
              <a:rPr lang="en-US" sz="2800" dirty="0" smtClean="0"/>
              <a:t>or </a:t>
            </a:r>
            <a:r>
              <a:rPr lang="en-IN" sz="2800" dirty="0" smtClean="0"/>
              <a:t>special-purpose.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</a:t>
            </a:r>
            <a:r>
              <a:rPr lang="en-US" sz="2800" dirty="0" smtClean="0"/>
              <a:t>he </a:t>
            </a:r>
            <a:r>
              <a:rPr lang="en-US" sz="2800" dirty="0"/>
              <a:t>processor may </a:t>
            </a:r>
            <a:r>
              <a:rPr lang="en-US" sz="2800" b="1" dirty="0"/>
              <a:t>generate </a:t>
            </a:r>
            <a:r>
              <a:rPr lang="en-US" sz="2800" b="1" dirty="0" smtClean="0"/>
              <a:t>interrupts </a:t>
            </a:r>
            <a:r>
              <a:rPr lang="en-US" sz="2800" dirty="0" smtClean="0"/>
              <a:t>when </a:t>
            </a:r>
            <a:r>
              <a:rPr lang="en-US" sz="2800" dirty="0"/>
              <a:t>an event such as a </a:t>
            </a:r>
            <a:r>
              <a:rPr lang="en-US" sz="2800" b="1" dirty="0">
                <a:solidFill>
                  <a:srgbClr val="FF0000"/>
                </a:solidFill>
              </a:rPr>
              <a:t>rising or falling edge occurs on an input </a:t>
            </a:r>
            <a:r>
              <a:rPr lang="en-US" sz="2800" b="1" dirty="0" smtClean="0">
                <a:solidFill>
                  <a:srgbClr val="FF0000"/>
                </a:solidFill>
              </a:rPr>
              <a:t>pin</a:t>
            </a:r>
            <a:r>
              <a:rPr lang="en-IN" sz="2800" b="1" dirty="0" smtClean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</a:t>
            </a:r>
            <a:r>
              <a:rPr lang="en-US" sz="2800" dirty="0" smtClean="0"/>
              <a:t>he </a:t>
            </a:r>
            <a:r>
              <a:rPr lang="en-US" sz="2800" dirty="0"/>
              <a:t>FE310 has </a:t>
            </a:r>
            <a:r>
              <a:rPr lang="en-US" sz="2800" b="1" dirty="0">
                <a:solidFill>
                  <a:srgbClr val="FF0000"/>
                </a:solidFill>
              </a:rPr>
              <a:t>19 GPIO pins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1730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General-Purpose I/O: 568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3621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634421"/>
            <a:ext cx="879715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Figure e9.4 shows </a:t>
            </a:r>
            <a:r>
              <a:rPr lang="en-US" sz="2800" b="1" dirty="0"/>
              <a:t>three light-emitting diodes </a:t>
            </a:r>
            <a:r>
              <a:rPr lang="en-US" sz="2800" dirty="0"/>
              <a:t>(LEDs) and </a:t>
            </a:r>
            <a:r>
              <a:rPr lang="en-US" sz="2800" b="1" dirty="0" smtClean="0"/>
              <a:t>three switches </a:t>
            </a:r>
            <a:r>
              <a:rPr lang="en-US" sz="2800" b="1" dirty="0"/>
              <a:t>connected </a:t>
            </a:r>
            <a:r>
              <a:rPr lang="en-US" sz="2800" dirty="0"/>
              <a:t>to </a:t>
            </a:r>
            <a:r>
              <a:rPr lang="en-US" sz="2800" b="1" dirty="0"/>
              <a:t>six GPIO pins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LEDs are wired to </a:t>
            </a:r>
            <a:r>
              <a:rPr lang="en-US" sz="2800" b="1" dirty="0" smtClean="0"/>
              <a:t>glow when </a:t>
            </a:r>
            <a:r>
              <a:rPr lang="en-US" sz="2800" b="1" dirty="0"/>
              <a:t>driven to 1 </a:t>
            </a:r>
            <a:r>
              <a:rPr lang="en-US" sz="2800" dirty="0"/>
              <a:t>and to turn off when driven to 0.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current-limiting resistors </a:t>
            </a:r>
            <a:r>
              <a:rPr lang="en-US" sz="2800" dirty="0"/>
              <a:t>are placed in series with the LEDs </a:t>
            </a:r>
            <a:r>
              <a:rPr lang="en-US" sz="2800" dirty="0" smtClean="0"/>
              <a:t>to set </a:t>
            </a:r>
            <a:r>
              <a:rPr lang="en-US" sz="2800" dirty="0"/>
              <a:t>the brightness and to avoid overloading the current capability of </a:t>
            </a:r>
            <a:r>
              <a:rPr lang="en-US" sz="2800" dirty="0" smtClean="0"/>
              <a:t>the GPIO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switches are </a:t>
            </a:r>
            <a:r>
              <a:rPr lang="en-US" sz="2800" b="1" dirty="0"/>
              <a:t>wired to produce a 1 when closed </a:t>
            </a:r>
            <a:r>
              <a:rPr lang="en-US" sz="2800" dirty="0"/>
              <a:t>and a 0 </a:t>
            </a:r>
            <a:r>
              <a:rPr lang="en-US" sz="2800" dirty="0" smtClean="0"/>
              <a:t>when </a:t>
            </a:r>
            <a:r>
              <a:rPr lang="en-IN" sz="2800" dirty="0" smtClean="0"/>
              <a:t>open</a:t>
            </a:r>
            <a:r>
              <a:rPr lang="en-IN" sz="2800" dirty="0"/>
              <a:t>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1730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General-Purpose I/O: 568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8" t="52586" r="52360" b="9698"/>
          <a:stretch/>
        </p:blipFill>
        <p:spPr bwMode="auto">
          <a:xfrm>
            <a:off x="9229398" y="1529260"/>
            <a:ext cx="2962601" cy="4278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03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839379"/>
            <a:ext cx="1168224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Table e9.2 lists the GPIO registers and their address </a:t>
            </a:r>
            <a:r>
              <a:rPr lang="en-US" sz="2800" dirty="0" smtClean="0"/>
              <a:t>offsets </a:t>
            </a:r>
            <a:r>
              <a:rPr lang="en-IN" sz="2800" dirty="0" smtClean="0"/>
              <a:t>relative </a:t>
            </a:r>
            <a:r>
              <a:rPr lang="en-US" sz="2800" dirty="0" smtClean="0"/>
              <a:t>to </a:t>
            </a:r>
            <a:r>
              <a:rPr lang="en-US" sz="2800" dirty="0"/>
              <a:t>the GPIO base </a:t>
            </a:r>
            <a:r>
              <a:rPr lang="en-US" sz="2800" dirty="0" smtClean="0"/>
              <a:t>address.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Each GPIO pin is mapped to </a:t>
            </a:r>
            <a:r>
              <a:rPr lang="en-US" sz="2800" dirty="0" smtClean="0"/>
              <a:t>one bit </a:t>
            </a:r>
            <a:r>
              <a:rPr lang="en-US" sz="2800" dirty="0"/>
              <a:t>of the registers.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Reading </a:t>
            </a:r>
            <a:r>
              <a:rPr lang="en-US" sz="2800" dirty="0"/>
              <a:t>from the </a:t>
            </a:r>
            <a:r>
              <a:rPr lang="en-US" sz="2800" dirty="0">
                <a:solidFill>
                  <a:srgbClr val="FF0000"/>
                </a:solidFill>
              </a:rPr>
              <a:t>input_val </a:t>
            </a:r>
            <a:r>
              <a:rPr lang="en-US" sz="2800" dirty="0"/>
              <a:t>(input value) </a:t>
            </a:r>
            <a:r>
              <a:rPr lang="en-US" sz="2800" dirty="0" smtClean="0"/>
              <a:t>register </a:t>
            </a:r>
            <a:r>
              <a:rPr lang="en-US" sz="2800" b="1" dirty="0" smtClean="0"/>
              <a:t>reads </a:t>
            </a:r>
            <a:r>
              <a:rPr lang="en-US" sz="2800" b="1" dirty="0"/>
              <a:t>the values of the GPIO pins,</a:t>
            </a:r>
            <a:r>
              <a:rPr lang="en-US" sz="2800" dirty="0"/>
              <a:t> and writing to the </a:t>
            </a:r>
            <a:r>
              <a:rPr lang="en-US" sz="2800" dirty="0" smtClean="0">
                <a:solidFill>
                  <a:srgbClr val="FF0000"/>
                </a:solidFill>
              </a:rPr>
              <a:t>output_val</a:t>
            </a:r>
            <a:r>
              <a:rPr lang="en-US" sz="2800" dirty="0" smtClean="0"/>
              <a:t> (output </a:t>
            </a:r>
            <a:r>
              <a:rPr lang="en-US" sz="2800" dirty="0"/>
              <a:t>value) register </a:t>
            </a:r>
            <a:r>
              <a:rPr lang="en-US" sz="2800" b="1" dirty="0"/>
              <a:t>writes to the GPIO pins.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Before </a:t>
            </a:r>
            <a:r>
              <a:rPr lang="en-US" sz="2800" dirty="0"/>
              <a:t>reading or </a:t>
            </a:r>
            <a:r>
              <a:rPr lang="en-US" sz="2800" dirty="0" smtClean="0"/>
              <a:t>writing to </a:t>
            </a:r>
            <a:r>
              <a:rPr lang="en-US" sz="2800" dirty="0"/>
              <a:t>the pins, </a:t>
            </a:r>
            <a:r>
              <a:rPr lang="en-US" sz="2800" b="1" dirty="0">
                <a:solidFill>
                  <a:srgbClr val="FF0000"/>
                </a:solidFill>
              </a:rPr>
              <a:t>the input and output enable registers</a:t>
            </a:r>
            <a:r>
              <a:rPr lang="en-US" sz="2800" dirty="0"/>
              <a:t> (</a:t>
            </a:r>
            <a:r>
              <a:rPr lang="en-US" sz="2800" b="1" dirty="0"/>
              <a:t>input_en </a:t>
            </a:r>
            <a:r>
              <a:rPr lang="en-US" sz="2800" b="1" dirty="0" smtClean="0"/>
              <a:t>and output_en</a:t>
            </a:r>
            <a:r>
              <a:rPr lang="en-US" sz="2800" dirty="0"/>
              <a:t>) </a:t>
            </a:r>
            <a:r>
              <a:rPr lang="en-US" sz="2800" b="1" dirty="0"/>
              <a:t>must be set </a:t>
            </a:r>
            <a:r>
              <a:rPr lang="en-US" sz="2800" dirty="0"/>
              <a:t>to configure the pins as inputs or outputs </a:t>
            </a:r>
            <a:r>
              <a:rPr lang="en-US" sz="2800" dirty="0" smtClean="0"/>
              <a:t>and the </a:t>
            </a:r>
            <a:r>
              <a:rPr lang="en-US" sz="2800" dirty="0"/>
              <a:t>hardware-driven </a:t>
            </a:r>
            <a:r>
              <a:rPr lang="en-US" sz="2800" b="1" dirty="0"/>
              <a:t>function enable register (iof_en) must be </a:t>
            </a:r>
            <a:r>
              <a:rPr lang="en-US" sz="2800" b="1" dirty="0" smtClean="0"/>
              <a:t>cleared </a:t>
            </a:r>
            <a:r>
              <a:rPr lang="en-US" sz="2800" dirty="0" smtClean="0"/>
              <a:t>to </a:t>
            </a:r>
            <a:r>
              <a:rPr lang="en-US" sz="2800" dirty="0"/>
              <a:t>configure the pins as GPIO controlled</a:t>
            </a:r>
            <a:r>
              <a:rPr lang="en-US" sz="2800" dirty="0" smtClean="0"/>
              <a:t>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1730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General-Purpose I/O: 568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17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3" t="58870" r="27134" b="17312"/>
          <a:stretch/>
        </p:blipFill>
        <p:spPr bwMode="auto">
          <a:xfrm>
            <a:off x="141876" y="693682"/>
            <a:ext cx="11969188" cy="424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835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334867"/>
            <a:ext cx="1168224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 microcontroller can </a:t>
            </a:r>
            <a:r>
              <a:rPr lang="en-US" sz="2800" b="1" dirty="0"/>
              <a:t>send multiple bits to a peripheral device </a:t>
            </a:r>
            <a:r>
              <a:rPr lang="en-US" sz="2800" dirty="0" smtClean="0"/>
              <a:t>by using </a:t>
            </a:r>
            <a:r>
              <a:rPr lang="en-US" sz="2800" b="1" dirty="0"/>
              <a:t>multiple wires </a:t>
            </a:r>
            <a:r>
              <a:rPr lang="en-US" sz="2800" dirty="0"/>
              <a:t>or by sending </a:t>
            </a:r>
            <a:r>
              <a:rPr lang="en-US" sz="2800" dirty="0">
                <a:solidFill>
                  <a:srgbClr val="FF0000"/>
                </a:solidFill>
              </a:rPr>
              <a:t>multiple bits in series over a </a:t>
            </a:r>
            <a:r>
              <a:rPr lang="en-US" sz="2800" dirty="0" smtClean="0">
                <a:solidFill>
                  <a:srgbClr val="FF0000"/>
                </a:solidFill>
              </a:rPr>
              <a:t>single wire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former is called </a:t>
            </a:r>
            <a:r>
              <a:rPr lang="en-US" sz="2800" b="1" i="1" dirty="0"/>
              <a:t>parallel I/O </a:t>
            </a:r>
            <a:r>
              <a:rPr lang="en-US" sz="2800" dirty="0"/>
              <a:t>and the latter is called </a:t>
            </a:r>
            <a:r>
              <a:rPr lang="en-US" sz="2800" i="1" dirty="0" smtClean="0">
                <a:solidFill>
                  <a:srgbClr val="FF0000"/>
                </a:solidFill>
              </a:rPr>
              <a:t>serial </a:t>
            </a:r>
            <a:r>
              <a:rPr lang="en-IN" sz="2800" i="1" dirty="0" smtClean="0">
                <a:solidFill>
                  <a:srgbClr val="FF0000"/>
                </a:solidFill>
              </a:rPr>
              <a:t>I/O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Serial I/O is </a:t>
            </a:r>
            <a:r>
              <a:rPr lang="en-US" sz="2800" b="1" dirty="0"/>
              <a:t>popular</a:t>
            </a:r>
            <a:r>
              <a:rPr lang="en-US" sz="2800" dirty="0"/>
              <a:t>, especially when </a:t>
            </a:r>
            <a:r>
              <a:rPr lang="en-US" sz="2800" b="1" dirty="0"/>
              <a:t>pins are limited</a:t>
            </a:r>
            <a:r>
              <a:rPr lang="en-US" sz="2800" dirty="0"/>
              <a:t>, because </a:t>
            </a:r>
            <a:r>
              <a:rPr lang="en-US" sz="2800" dirty="0" smtClean="0"/>
              <a:t>it uses </a:t>
            </a:r>
            <a:r>
              <a:rPr lang="en-US" sz="2800" b="1" dirty="0"/>
              <a:t>few wires </a:t>
            </a:r>
            <a:r>
              <a:rPr lang="en-US" sz="2800" dirty="0"/>
              <a:t>and is </a:t>
            </a:r>
            <a:r>
              <a:rPr lang="en-US" sz="2800" b="1" dirty="0"/>
              <a:t>fast</a:t>
            </a:r>
            <a:r>
              <a:rPr lang="en-US" sz="2800" dirty="0"/>
              <a:t> enough for many </a:t>
            </a:r>
            <a:r>
              <a:rPr lang="en-US" sz="2800" dirty="0" smtClean="0"/>
              <a:t>applications.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M</a:t>
            </a:r>
            <a:r>
              <a:rPr lang="en-US" sz="2800" dirty="0" smtClean="0"/>
              <a:t>any </a:t>
            </a:r>
            <a:r>
              <a:rPr lang="en-US" sz="2800" dirty="0"/>
              <a:t>standards for serial I/O have been </a:t>
            </a:r>
            <a:r>
              <a:rPr lang="en-US" sz="2800" dirty="0" smtClean="0"/>
              <a:t>established </a:t>
            </a:r>
            <a:r>
              <a:rPr lang="en-US" sz="2800" dirty="0"/>
              <a:t>and microcontrollers offer </a:t>
            </a:r>
            <a:r>
              <a:rPr lang="en-US" sz="2800" b="1" dirty="0"/>
              <a:t>dedicated hardware to easily send data </a:t>
            </a:r>
            <a:r>
              <a:rPr lang="en-US" sz="2800" dirty="0" smtClean="0"/>
              <a:t>via these </a:t>
            </a:r>
            <a:r>
              <a:rPr lang="en-US" sz="2800" dirty="0"/>
              <a:t>standards.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b="1" dirty="0" smtClean="0"/>
              <a:t>SPI </a:t>
            </a:r>
            <a:r>
              <a:rPr lang="en-US" sz="2800" b="1" dirty="0"/>
              <a:t>and UART </a:t>
            </a:r>
            <a:r>
              <a:rPr lang="en-US" sz="2800" b="1" dirty="0" smtClean="0"/>
              <a:t> </a:t>
            </a:r>
            <a:r>
              <a:rPr lang="en-US" sz="2800" dirty="0" smtClean="0"/>
              <a:t>are </a:t>
            </a:r>
            <a:r>
              <a:rPr lang="en-US" sz="2800" b="1" dirty="0" smtClean="0"/>
              <a:t>standard </a:t>
            </a:r>
            <a:r>
              <a:rPr lang="en-IN" sz="2800" b="1" dirty="0" smtClean="0"/>
              <a:t>serial </a:t>
            </a:r>
            <a:r>
              <a:rPr lang="en-IN" sz="2800" b="1" dirty="0"/>
              <a:t>interfaces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Other common serial standards include </a:t>
            </a:r>
            <a:r>
              <a:rPr lang="en-US" sz="2800" b="1" dirty="0"/>
              <a:t>inter-integrated circuit (I</a:t>
            </a:r>
            <a:r>
              <a:rPr lang="en-US" sz="2800" b="1" baseline="30000" dirty="0"/>
              <a:t>2</a:t>
            </a:r>
            <a:r>
              <a:rPr lang="en-US" sz="2800" b="1" dirty="0"/>
              <a:t>C</a:t>
            </a:r>
            <a:r>
              <a:rPr lang="en-US" sz="2800" b="1" dirty="0" smtClean="0"/>
              <a:t>), universal </a:t>
            </a:r>
            <a:r>
              <a:rPr lang="en-US" sz="2800" b="1" dirty="0"/>
              <a:t>serial bus (USB), and Ethernet. 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-7188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Serial </a:t>
            </a:r>
            <a:r>
              <a:rPr lang="en-IN" b="1" dirty="0" smtClean="0"/>
              <a:t>I/O: 577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4774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634421"/>
            <a:ext cx="1168224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SPI (pronounced “S-P-I”) is a simple </a:t>
            </a:r>
            <a:r>
              <a:rPr lang="en-US" sz="2800" b="1" dirty="0"/>
              <a:t>synchronous serial protocol </a:t>
            </a:r>
            <a:r>
              <a:rPr lang="en-US" sz="2800" dirty="0"/>
              <a:t>that </a:t>
            </a:r>
            <a:r>
              <a:rPr lang="en-US" sz="2800" dirty="0" smtClean="0"/>
              <a:t>is </a:t>
            </a:r>
            <a:r>
              <a:rPr lang="en-US" sz="2800" b="1" dirty="0" smtClean="0">
                <a:solidFill>
                  <a:srgbClr val="FF0000"/>
                </a:solidFill>
              </a:rPr>
              <a:t>easy </a:t>
            </a:r>
            <a:r>
              <a:rPr lang="en-US" sz="2800" b="1" dirty="0">
                <a:solidFill>
                  <a:srgbClr val="FF0000"/>
                </a:solidFill>
              </a:rPr>
              <a:t>to use and relatively fast.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physical interface consists of </a:t>
            </a:r>
            <a:r>
              <a:rPr lang="en-US" sz="2800" dirty="0" smtClean="0">
                <a:solidFill>
                  <a:srgbClr val="FF0000"/>
                </a:solidFill>
              </a:rPr>
              <a:t>three pins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FF0000"/>
                </a:solidFill>
              </a:rPr>
              <a:t>serial clock (SCK), serial data out (SDO), and serial data in (SDI</a:t>
            </a:r>
            <a:r>
              <a:rPr lang="en-US" sz="2800" dirty="0" smtClean="0">
                <a:solidFill>
                  <a:srgbClr val="FF0000"/>
                </a:solidFill>
              </a:rPr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SPI connects a </a:t>
            </a:r>
            <a:r>
              <a:rPr lang="en-US" sz="2800" b="1" i="1" dirty="0"/>
              <a:t>controller </a:t>
            </a:r>
            <a:r>
              <a:rPr lang="en-US" sz="2800" b="1" dirty="0"/>
              <a:t>device to a </a:t>
            </a:r>
            <a:r>
              <a:rPr lang="en-US" sz="2800" b="1" i="1" dirty="0"/>
              <a:t>peripheral </a:t>
            </a:r>
            <a:r>
              <a:rPr lang="en-US" sz="2800" b="1" dirty="0"/>
              <a:t>device</a:t>
            </a:r>
            <a:r>
              <a:rPr lang="en-US" sz="2800" dirty="0"/>
              <a:t>, as shown </a:t>
            </a:r>
            <a:r>
              <a:rPr lang="en-US" sz="2800" dirty="0" smtClean="0"/>
              <a:t>in Figure </a:t>
            </a:r>
            <a:r>
              <a:rPr lang="en-US" sz="2800" dirty="0"/>
              <a:t>e9.6(a).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controller produces the </a:t>
            </a:r>
            <a:r>
              <a:rPr lang="en-US" sz="2800" b="1" dirty="0"/>
              <a:t>clock.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b="1" dirty="0"/>
              <a:t>initiates </a:t>
            </a:r>
            <a:r>
              <a:rPr lang="en-US" sz="2800" b="1" dirty="0" smtClean="0"/>
              <a:t>communication by </a:t>
            </a:r>
            <a:r>
              <a:rPr lang="en-US" sz="2800" b="1" dirty="0"/>
              <a:t>sending clock </a:t>
            </a:r>
            <a:r>
              <a:rPr lang="en-US" sz="2800" dirty="0"/>
              <a:t>pulses on SCK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1730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dirty="0"/>
              <a:t>Serial Peripheral Interface (SPI)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1415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634421"/>
            <a:ext cx="1168224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controller </a:t>
            </a:r>
            <a:r>
              <a:rPr lang="en-US" sz="2800" b="1" dirty="0"/>
              <a:t>sends data </a:t>
            </a:r>
            <a:r>
              <a:rPr lang="en-US" sz="2800" b="1" dirty="0" smtClean="0"/>
              <a:t>from its </a:t>
            </a:r>
            <a:r>
              <a:rPr lang="en-US" sz="2800" b="1" dirty="0"/>
              <a:t>SDO pin to the peripheral’s SDI pin </a:t>
            </a:r>
            <a:r>
              <a:rPr lang="en-US" sz="2800" dirty="0">
                <a:solidFill>
                  <a:srgbClr val="FF0000"/>
                </a:solidFill>
              </a:rPr>
              <a:t>one bit per cycle</a:t>
            </a:r>
            <a:r>
              <a:rPr lang="en-US" sz="2800" dirty="0"/>
              <a:t>, starting </a:t>
            </a:r>
            <a:r>
              <a:rPr lang="en-US" sz="2800" dirty="0" smtClean="0"/>
              <a:t>with the </a:t>
            </a:r>
            <a:r>
              <a:rPr lang="en-US" sz="2800" dirty="0">
                <a:solidFill>
                  <a:srgbClr val="FF0000"/>
                </a:solidFill>
              </a:rPr>
              <a:t>most significant bit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peripheral may simultaneously </a:t>
            </a:r>
            <a:r>
              <a:rPr lang="en-US" sz="2800" dirty="0" smtClean="0"/>
              <a:t>respond with </a:t>
            </a:r>
            <a:r>
              <a:rPr lang="en-US" sz="2800" dirty="0"/>
              <a:t>its SDO pin back to the controller’s SDI pin.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Figure </a:t>
            </a:r>
            <a:r>
              <a:rPr lang="en-US" sz="2800" dirty="0"/>
              <a:t>e9.6(b) </a:t>
            </a:r>
            <a:r>
              <a:rPr lang="en-US" sz="2800" dirty="0" smtClean="0"/>
              <a:t>shows the </a:t>
            </a:r>
            <a:r>
              <a:rPr lang="en-US" sz="2800" dirty="0"/>
              <a:t>SPI waveforms for an 8-bit data transmission.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Bits </a:t>
            </a:r>
            <a:r>
              <a:rPr lang="en-US" sz="2800" dirty="0"/>
              <a:t>change on </a:t>
            </a:r>
            <a:r>
              <a:rPr lang="en-US" sz="2800" dirty="0" smtClean="0"/>
              <a:t>the falling </a:t>
            </a:r>
            <a:r>
              <a:rPr lang="en-US" sz="2800" dirty="0"/>
              <a:t>edge of SCK and are stable to sample on the rising edge.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SPI interface </a:t>
            </a:r>
            <a:r>
              <a:rPr lang="en-US" sz="2800" dirty="0"/>
              <a:t>may also send an </a:t>
            </a:r>
            <a:r>
              <a:rPr lang="en-US" sz="2800" b="1" dirty="0"/>
              <a:t>active-low chip enable </a:t>
            </a:r>
            <a:r>
              <a:rPr lang="en-US" sz="2800" b="1" dirty="0">
                <a:solidFill>
                  <a:srgbClr val="FF0000"/>
                </a:solidFill>
              </a:rPr>
              <a:t>to alert the </a:t>
            </a:r>
            <a:r>
              <a:rPr lang="en-US" sz="2800" b="1" dirty="0" smtClean="0">
                <a:solidFill>
                  <a:srgbClr val="FF0000"/>
                </a:solidFill>
              </a:rPr>
              <a:t>receiver </a:t>
            </a:r>
            <a:r>
              <a:rPr lang="en-IN" sz="2800" b="1" dirty="0" smtClean="0">
                <a:solidFill>
                  <a:srgbClr val="FF0000"/>
                </a:solidFill>
              </a:rPr>
              <a:t>that </a:t>
            </a:r>
            <a:r>
              <a:rPr lang="en-IN" sz="2800" b="1" dirty="0">
                <a:solidFill>
                  <a:srgbClr val="FF0000"/>
                </a:solidFill>
              </a:rPr>
              <a:t>data is coming.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1730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dirty="0"/>
              <a:t>Serial Peripheral Interface (SPI)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887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85" t="19735" r="16263" b="28698"/>
          <a:stretch/>
        </p:blipFill>
        <p:spPr bwMode="auto">
          <a:xfrm>
            <a:off x="772507" y="141873"/>
            <a:ext cx="10783614" cy="667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84366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1422721"/>
            <a:ext cx="1168224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UART (pronounced “you-art”) is a </a:t>
            </a:r>
            <a:r>
              <a:rPr lang="en-US" sz="2800" b="1" dirty="0"/>
              <a:t>serial I/O peripheral </a:t>
            </a:r>
            <a:r>
              <a:rPr lang="en-US" sz="2800" dirty="0"/>
              <a:t>that communicates</a:t>
            </a:r>
          </a:p>
          <a:p>
            <a:r>
              <a:rPr lang="en-US" sz="2800" dirty="0"/>
              <a:t>between two systems without </a:t>
            </a:r>
            <a:r>
              <a:rPr lang="en-US" sz="2800" b="1" dirty="0"/>
              <a:t>sending a clock</a:t>
            </a:r>
            <a:r>
              <a:rPr lang="en-US" sz="2800" b="1" dirty="0" smtClean="0"/>
              <a:t>.</a:t>
            </a:r>
          </a:p>
          <a:p>
            <a:endParaRPr lang="en-US" sz="2800" b="1" dirty="0"/>
          </a:p>
          <a:p>
            <a:r>
              <a:rPr lang="en-US" sz="2800" b="1" dirty="0" smtClean="0"/>
              <a:t>It is not a communication protocol </a:t>
            </a:r>
            <a:r>
              <a:rPr lang="en-US" sz="2800" dirty="0" smtClean="0"/>
              <a:t>like SPI, but a physical circuit.</a:t>
            </a:r>
          </a:p>
          <a:p>
            <a:endParaRPr lang="en-US" sz="2800" b="1" dirty="0"/>
          </a:p>
          <a:p>
            <a:r>
              <a:rPr lang="en-US" sz="2800" dirty="0" smtClean="0"/>
              <a:t>A UART’s main purpose is to </a:t>
            </a:r>
            <a:r>
              <a:rPr lang="en-US" sz="2800" b="1" dirty="0" smtClean="0"/>
              <a:t>transmit and receive serial data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UART </a:t>
            </a:r>
            <a:r>
              <a:rPr lang="en-US" sz="2800" b="1" dirty="0" smtClean="0"/>
              <a:t>transmit asynchronously</a:t>
            </a:r>
            <a:r>
              <a:rPr lang="en-US" sz="2800" dirty="0" smtClean="0"/>
              <a:t>,  which means there is no clock signal.</a:t>
            </a:r>
          </a:p>
          <a:p>
            <a:endParaRPr lang="en-US" sz="2800" dirty="0"/>
          </a:p>
          <a:p>
            <a:r>
              <a:rPr lang="en-US" sz="2800" dirty="0" smtClean="0"/>
              <a:t>It has only </a:t>
            </a:r>
            <a:r>
              <a:rPr lang="en-US" sz="2800" b="1" dirty="0" smtClean="0"/>
              <a:t>two wires to receive and transmit data.</a:t>
            </a:r>
          </a:p>
          <a:p>
            <a:endParaRPr lang="en-US" sz="2800" b="1" u="sng" dirty="0">
              <a:solidFill>
                <a:srgbClr val="FF0000"/>
              </a:solidFill>
            </a:endParaRPr>
          </a:p>
          <a:p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189186"/>
            <a:ext cx="10364451" cy="898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Universal Asynchronous Receiver/Transmitter (UART</a:t>
            </a:r>
            <a:r>
              <a:rPr lang="en-IN" b="1" dirty="0" smtClean="0"/>
              <a:t>): 586</a:t>
            </a:r>
            <a:br>
              <a:rPr lang="en-IN" b="1" dirty="0" smtClean="0"/>
            </a:b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67" t="73237" r="1" b="-1"/>
          <a:stretch/>
        </p:blipFill>
        <p:spPr bwMode="auto">
          <a:xfrm>
            <a:off x="8315162" y="4918840"/>
            <a:ext cx="3847926" cy="1907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547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1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92958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15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04303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291" y="-47288"/>
            <a:ext cx="12324510" cy="6889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77306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5" y="47272"/>
            <a:ext cx="12024361" cy="672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61292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4237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58105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2" y="159785"/>
            <a:ext cx="12029090" cy="673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04178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655"/>
            <a:ext cx="12192000" cy="6829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27606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508"/>
            <a:ext cx="12045108" cy="674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2255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1422721"/>
            <a:ext cx="1168224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Character </a:t>
            </a:r>
            <a:r>
              <a:rPr lang="en-IN" sz="2800" b="1" dirty="0" smtClean="0"/>
              <a:t>LCDs: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character LCD is a </a:t>
            </a:r>
            <a:r>
              <a:rPr lang="en-US" sz="2800" b="1" dirty="0"/>
              <a:t>small liquid crystal display </a:t>
            </a:r>
            <a:r>
              <a:rPr lang="en-US" sz="2800" dirty="0"/>
              <a:t>capable of showing </a:t>
            </a:r>
            <a:r>
              <a:rPr lang="en-US" sz="2800" b="1" dirty="0" smtClean="0"/>
              <a:t>one or </a:t>
            </a:r>
            <a:r>
              <a:rPr lang="en-US" sz="2800" b="1" dirty="0"/>
              <a:t>a few lines of text.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They </a:t>
            </a:r>
            <a:r>
              <a:rPr lang="en-US" sz="2800" dirty="0"/>
              <a:t>are commonly used in the </a:t>
            </a:r>
            <a:r>
              <a:rPr lang="en-US" sz="2800" b="1" dirty="0"/>
              <a:t>front panels of </a:t>
            </a:r>
            <a:r>
              <a:rPr lang="en-US" sz="2800" b="1" dirty="0" smtClean="0"/>
              <a:t>appliances </a:t>
            </a:r>
            <a:r>
              <a:rPr lang="en-US" sz="2800" dirty="0" smtClean="0"/>
              <a:t>such </a:t>
            </a:r>
            <a:r>
              <a:rPr lang="en-US" sz="2800" dirty="0"/>
              <a:t>as cash registers, laser printers, and fax machines that need </a:t>
            </a:r>
            <a:r>
              <a:rPr lang="en-US" sz="2800" dirty="0" smtClean="0"/>
              <a:t>to display </a:t>
            </a:r>
            <a:r>
              <a:rPr lang="en-US" sz="2800" dirty="0"/>
              <a:t>a limited amount of information.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They </a:t>
            </a:r>
            <a:r>
              <a:rPr lang="en-US" sz="2800" dirty="0"/>
              <a:t>are </a:t>
            </a:r>
            <a:r>
              <a:rPr lang="en-US" sz="2800" b="1" dirty="0"/>
              <a:t>easy to interface </a:t>
            </a:r>
            <a:r>
              <a:rPr lang="en-US" sz="2800" b="1" dirty="0" smtClean="0"/>
              <a:t>with </a:t>
            </a:r>
            <a:r>
              <a:rPr lang="en-IN" sz="2800" b="1" dirty="0" smtClean="0"/>
              <a:t>a </a:t>
            </a:r>
            <a:r>
              <a:rPr lang="en-IN" sz="2800" b="1" dirty="0"/>
              <a:t>microcontroller </a:t>
            </a:r>
            <a:r>
              <a:rPr lang="en-IN" sz="2800" dirty="0"/>
              <a:t>over parallel, RS-232, or SPI interfaces.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90560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OTHER MICROCONTROLLER </a:t>
            </a:r>
            <a:r>
              <a:rPr lang="en-IN" b="1" dirty="0" smtClean="0"/>
              <a:t>PERIPHERALS: 606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405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1422721"/>
            <a:ext cx="1168224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VGA Monitor</a:t>
            </a:r>
            <a:r>
              <a:rPr lang="en-IN" sz="2800" b="1" dirty="0" smtClean="0"/>
              <a:t>: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more flexible </a:t>
            </a:r>
            <a:r>
              <a:rPr lang="en-US" sz="2800" b="1" dirty="0"/>
              <a:t>display option</a:t>
            </a:r>
            <a:r>
              <a:rPr lang="en-US" sz="2800" dirty="0"/>
              <a:t> is to drive a computer </a:t>
            </a:r>
            <a:r>
              <a:rPr lang="en-US" sz="2800" dirty="0" smtClean="0"/>
              <a:t>monitor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A</a:t>
            </a:r>
            <a:r>
              <a:rPr lang="en-IN" sz="2800" dirty="0" smtClean="0"/>
              <a:t> </a:t>
            </a:r>
            <a:r>
              <a:rPr lang="en-IN" sz="2800" dirty="0"/>
              <a:t>VGA (</a:t>
            </a:r>
            <a:r>
              <a:rPr lang="en-IN" sz="2800" b="1" i="1" dirty="0"/>
              <a:t>video </a:t>
            </a:r>
            <a:r>
              <a:rPr lang="en-IN" sz="2800" b="1" i="1" dirty="0" smtClean="0"/>
              <a:t>graphics array</a:t>
            </a:r>
            <a:r>
              <a:rPr lang="en-IN" sz="2800" dirty="0"/>
              <a:t>) </a:t>
            </a:r>
            <a:r>
              <a:rPr lang="en-IN" sz="2800" dirty="0" smtClean="0"/>
              <a:t>monitor.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VGA monitor standard was introduced in </a:t>
            </a:r>
            <a:r>
              <a:rPr lang="en-US" sz="2800" b="1" dirty="0"/>
              <a:t>1987 for the </a:t>
            </a:r>
            <a:r>
              <a:rPr lang="en-US" sz="2800" b="1" dirty="0" smtClean="0"/>
              <a:t>IBM PS/2 </a:t>
            </a:r>
            <a:r>
              <a:rPr lang="en-US" sz="2800" b="1" dirty="0"/>
              <a:t>computers</a:t>
            </a:r>
            <a:r>
              <a:rPr lang="en-US" sz="2800" dirty="0"/>
              <a:t>, with a </a:t>
            </a:r>
            <a:r>
              <a:rPr lang="en-US" sz="2800" b="1" dirty="0"/>
              <a:t>640 × 480 pixel resolution </a:t>
            </a:r>
            <a:r>
              <a:rPr lang="en-US" sz="2800" dirty="0"/>
              <a:t>on a </a:t>
            </a:r>
            <a:r>
              <a:rPr lang="en-US" sz="2800" b="1" i="1" dirty="0"/>
              <a:t>cathode ray </a:t>
            </a:r>
            <a:r>
              <a:rPr lang="en-US" sz="2800" b="1" i="1" dirty="0" smtClean="0"/>
              <a:t>tube </a:t>
            </a:r>
            <a:r>
              <a:rPr lang="en-US" sz="2800" b="1" dirty="0" smtClean="0"/>
              <a:t>(CRT</a:t>
            </a:r>
            <a:r>
              <a:rPr lang="en-US" sz="2800" dirty="0"/>
              <a:t>) and a </a:t>
            </a:r>
            <a:r>
              <a:rPr lang="en-US" sz="2800" dirty="0">
                <a:solidFill>
                  <a:srgbClr val="FF0000"/>
                </a:solidFill>
              </a:rPr>
              <a:t>15-pin connector conveying color information</a:t>
            </a:r>
            <a:r>
              <a:rPr lang="en-US" sz="2800" dirty="0"/>
              <a:t> with </a:t>
            </a:r>
            <a:r>
              <a:rPr lang="en-US" sz="2800" dirty="0" smtClean="0"/>
              <a:t>analog voltages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28523" y="905606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OTHER MICROCONTROLLER </a:t>
            </a:r>
            <a:r>
              <a:rPr lang="en-IN" b="1" dirty="0" smtClean="0"/>
              <a:t>PERIPHERALS: 606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9903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714799"/>
            <a:ext cx="1168224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In a CRT, an electron gun scans across the screen from left to </a:t>
            </a:r>
            <a:r>
              <a:rPr lang="en-US" sz="2800" dirty="0" smtClean="0"/>
              <a:t>right, exciting </a:t>
            </a:r>
            <a:r>
              <a:rPr lang="en-US" sz="2800" dirty="0"/>
              <a:t>fluorescent material to display an image.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Color </a:t>
            </a:r>
            <a:r>
              <a:rPr lang="en-US" sz="2800" dirty="0"/>
              <a:t>CRTs use </a:t>
            </a:r>
            <a:r>
              <a:rPr lang="en-US" sz="2800" dirty="0" smtClean="0"/>
              <a:t>three different </a:t>
            </a:r>
            <a:r>
              <a:rPr lang="en-US" sz="2800" dirty="0"/>
              <a:t>phosphors for red, green, and blue, and three electron beams.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strength of each beam determines the intensity of each color in </a:t>
            </a:r>
            <a:r>
              <a:rPr lang="en-US" sz="2800" dirty="0" smtClean="0"/>
              <a:t>the pixel.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At </a:t>
            </a:r>
            <a:r>
              <a:rPr lang="en-US" sz="2800" dirty="0"/>
              <a:t>the end of each scan line, the gun must turn off for a </a:t>
            </a:r>
            <a:r>
              <a:rPr lang="en-US" sz="2800" i="1" dirty="0" smtClean="0"/>
              <a:t>horizontal blanking </a:t>
            </a:r>
            <a:r>
              <a:rPr lang="en-US" sz="2800" i="1" dirty="0"/>
              <a:t>interval </a:t>
            </a:r>
            <a:r>
              <a:rPr lang="en-US" sz="2800" dirty="0"/>
              <a:t>to return to the beginning of the next line.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After </a:t>
            </a:r>
            <a:r>
              <a:rPr lang="en-US" sz="2800" dirty="0"/>
              <a:t>all </a:t>
            </a:r>
            <a:r>
              <a:rPr lang="en-US" sz="2800" dirty="0" smtClean="0"/>
              <a:t>of the </a:t>
            </a:r>
            <a:r>
              <a:rPr lang="en-US" sz="2800" dirty="0"/>
              <a:t>scan lines are complete, the gun must turn off again for a </a:t>
            </a:r>
            <a:r>
              <a:rPr lang="en-US" sz="2800" i="1" dirty="0" smtClean="0"/>
              <a:t>vertical blanking </a:t>
            </a:r>
            <a:r>
              <a:rPr lang="en-US" sz="2800" i="1" dirty="0"/>
              <a:t>interval </a:t>
            </a:r>
            <a:r>
              <a:rPr lang="en-US" sz="2800" dirty="0"/>
              <a:t>to return to the upper left corner.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This </a:t>
            </a:r>
            <a:r>
              <a:rPr lang="en-US" sz="2800" dirty="0"/>
              <a:t>entire </a:t>
            </a:r>
            <a:r>
              <a:rPr lang="en-US" sz="2800" dirty="0" smtClean="0"/>
              <a:t>process repeats </a:t>
            </a:r>
            <a:r>
              <a:rPr lang="en-US" sz="2800" dirty="0"/>
              <a:t>about 60 to 75 times per second to refresh the fluorescence </a:t>
            </a:r>
            <a:r>
              <a:rPr lang="en-US" sz="2800" dirty="0" smtClean="0"/>
              <a:t>and give </a:t>
            </a:r>
            <a:r>
              <a:rPr lang="en-US" sz="2800" dirty="0"/>
              <a:t>the visual illusion of a steady image. Modern displays typically </a:t>
            </a:r>
            <a:r>
              <a:rPr lang="en-US" sz="2800" dirty="0" smtClean="0"/>
              <a:t>use LCD </a:t>
            </a:r>
            <a:r>
              <a:rPr lang="en-US" sz="2800" dirty="0"/>
              <a:t>technology, which doesn’t require the same electron scan gun </a:t>
            </a:r>
            <a:r>
              <a:rPr lang="en-US" sz="2800" dirty="0" smtClean="0"/>
              <a:t>but uses </a:t>
            </a:r>
            <a:r>
              <a:rPr lang="en-US" sz="2800" dirty="0"/>
              <a:t>the same VGA interface timing for compatibility.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63850" y="15343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OTHER MICROCONTROLLER </a:t>
            </a:r>
            <a:r>
              <a:rPr lang="en-IN" b="1" dirty="0" smtClean="0"/>
              <a:t>PERIPHERALS: 606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4443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2" y="906528"/>
            <a:ext cx="1168224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Bluetooth Wireless </a:t>
            </a:r>
            <a:r>
              <a:rPr lang="en-IN" sz="2800" b="1" dirty="0" smtClean="0"/>
              <a:t>Communication</a:t>
            </a:r>
            <a:r>
              <a:rPr lang="en-IN" sz="2800" dirty="0" smtClean="0"/>
              <a:t>: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Many </a:t>
            </a:r>
            <a:r>
              <a:rPr lang="en-US" sz="2800" dirty="0"/>
              <a:t>standards are now available for wireless communication, </a:t>
            </a:r>
            <a:r>
              <a:rPr lang="en-US" sz="2800" dirty="0" smtClean="0"/>
              <a:t>including Wi-Fi</a:t>
            </a:r>
            <a:r>
              <a:rPr lang="en-US" sz="2800" dirty="0"/>
              <a:t>, </a:t>
            </a:r>
            <a:r>
              <a:rPr lang="en-US" sz="2800" dirty="0" err="1"/>
              <a:t>ZigBee</a:t>
            </a:r>
            <a:r>
              <a:rPr lang="en-US" sz="2800" dirty="0"/>
              <a:t>, and Bluetooth.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IN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 smtClean="0"/>
              <a:t>BlueSMiRF</a:t>
            </a:r>
            <a:r>
              <a:rPr lang="en-US" sz="2800" dirty="0"/>
              <a:t> </a:t>
            </a:r>
            <a:r>
              <a:rPr lang="en-US" sz="2800" dirty="0" smtClean="0"/>
              <a:t> </a:t>
            </a:r>
            <a:r>
              <a:rPr lang="en-US" sz="2800" dirty="0"/>
              <a:t>is an </a:t>
            </a:r>
            <a:r>
              <a:rPr lang="en-US" sz="2800" b="1" dirty="0"/>
              <a:t>easy-to-use Bluetooth wireless interface </a:t>
            </a:r>
            <a:r>
              <a:rPr lang="en-US" sz="2800" dirty="0"/>
              <a:t>that </a:t>
            </a:r>
            <a:r>
              <a:rPr lang="en-US" sz="2800" dirty="0" smtClean="0"/>
              <a:t>can be </a:t>
            </a:r>
            <a:r>
              <a:rPr lang="en-US" sz="2800" dirty="0"/>
              <a:t>used instead of a serial cable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b="1" u="sng" dirty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Bluetooth is a wireless standard initially developed by </a:t>
            </a:r>
            <a:r>
              <a:rPr lang="en-US" sz="2800" b="1" dirty="0"/>
              <a:t>Ericsson </a:t>
            </a:r>
            <a:r>
              <a:rPr lang="en-US" sz="2800" dirty="0" smtClean="0"/>
              <a:t>in 1994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rgbClr val="FF0000"/>
                </a:solidFill>
              </a:rPr>
              <a:t>low-power, moderate-speed communication over distances of </a:t>
            </a:r>
            <a:r>
              <a:rPr lang="en-US" sz="2800" b="1" dirty="0" smtClean="0">
                <a:solidFill>
                  <a:srgbClr val="FF0000"/>
                </a:solidFill>
              </a:rPr>
              <a:t>5 to 100 </a:t>
            </a:r>
            <a:r>
              <a:rPr lang="en-US" sz="2800" b="1" dirty="0">
                <a:solidFill>
                  <a:srgbClr val="FF0000"/>
                </a:solidFill>
              </a:rPr>
              <a:t>meters,</a:t>
            </a:r>
            <a:r>
              <a:rPr lang="en-US" sz="2800" dirty="0"/>
              <a:t> depending on the transmitter power level.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is </a:t>
            </a:r>
            <a:r>
              <a:rPr lang="en-US" sz="2800" dirty="0" smtClean="0"/>
              <a:t>commonly used </a:t>
            </a:r>
            <a:r>
              <a:rPr lang="en-US" sz="2800" dirty="0"/>
              <a:t>to connect an earpiece to a cellphone or a keyboard to a computer</a:t>
            </a:r>
            <a:r>
              <a:rPr lang="en-US" sz="2800" dirty="0" smtClean="0"/>
              <a:t>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63850" y="241928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OTHER MICROCONTROLLER </a:t>
            </a:r>
            <a:r>
              <a:rPr lang="en-IN" b="1" dirty="0" smtClean="0"/>
              <a:t>PERIPHERALS: 606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4065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862282"/>
            <a:ext cx="1168224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Motor </a:t>
            </a:r>
            <a:r>
              <a:rPr lang="en-IN" sz="2800" b="1" dirty="0" smtClean="0"/>
              <a:t>Control: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Three </a:t>
            </a:r>
            <a:r>
              <a:rPr lang="en-US" sz="2800" dirty="0"/>
              <a:t>types of motors</a:t>
            </a:r>
            <a:r>
              <a:rPr lang="en-US" sz="2800" b="1" dirty="0"/>
              <a:t>: DC </a:t>
            </a:r>
            <a:r>
              <a:rPr lang="en-US" sz="2800" b="1" dirty="0" smtClean="0"/>
              <a:t>motors, servo </a:t>
            </a:r>
            <a:r>
              <a:rPr lang="en-US" sz="2800" b="1" dirty="0"/>
              <a:t>motors, and stepper motors.</a:t>
            </a:r>
            <a:r>
              <a:rPr lang="en-US" sz="2800" dirty="0"/>
              <a:t>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i="1" dirty="0" smtClean="0"/>
              <a:t>DC </a:t>
            </a:r>
            <a:r>
              <a:rPr lang="en-US" sz="2800" i="1" dirty="0"/>
              <a:t>motors </a:t>
            </a:r>
            <a:r>
              <a:rPr lang="en-US" sz="2800" dirty="0"/>
              <a:t>require </a:t>
            </a:r>
            <a:r>
              <a:rPr lang="en-US" sz="2800" b="1" dirty="0"/>
              <a:t>a high drive </a:t>
            </a:r>
            <a:r>
              <a:rPr lang="en-US" sz="2800" b="1" dirty="0" smtClean="0"/>
              <a:t>current, typically </a:t>
            </a:r>
            <a:r>
              <a:rPr lang="en-US" sz="2800" b="1" dirty="0"/>
              <a:t>on the order of 1 A. </a:t>
            </a: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Thus</a:t>
            </a:r>
            <a:r>
              <a:rPr lang="en-US" sz="2800" dirty="0"/>
              <a:t>, a microcontroller’s </a:t>
            </a:r>
            <a:r>
              <a:rPr lang="en-US" sz="2800" b="1" dirty="0"/>
              <a:t>GPIO </a:t>
            </a:r>
            <a:r>
              <a:rPr lang="en-US" sz="2800" b="1" dirty="0" smtClean="0"/>
              <a:t>cannot drive </a:t>
            </a:r>
            <a:r>
              <a:rPr lang="en-US" sz="2800" dirty="0"/>
              <a:t>them directly and a powerful driver such as an </a:t>
            </a:r>
            <a:r>
              <a:rPr lang="en-US" sz="2800" b="1" i="1" dirty="0"/>
              <a:t>H-bridge </a:t>
            </a:r>
            <a:r>
              <a:rPr lang="en-US" sz="2800" dirty="0" smtClean="0"/>
              <a:t>must be </a:t>
            </a:r>
            <a:r>
              <a:rPr lang="en-US" sz="2800" dirty="0"/>
              <a:t>connected between the microcontroller and the motor.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Motors also require </a:t>
            </a:r>
            <a:r>
              <a:rPr lang="en-US" sz="2800" dirty="0"/>
              <a:t>a </a:t>
            </a:r>
            <a:r>
              <a:rPr lang="en-US" sz="2800" b="1" i="1" dirty="0"/>
              <a:t>shaft encoder </a:t>
            </a:r>
            <a:r>
              <a:rPr lang="en-US" sz="2800" b="1" dirty="0"/>
              <a:t>if the user wants to know the current position </a:t>
            </a:r>
            <a:r>
              <a:rPr lang="en-US" sz="2800" b="1" dirty="0" smtClean="0"/>
              <a:t>of the </a:t>
            </a:r>
            <a:r>
              <a:rPr lang="en-US" sz="2800" b="1" dirty="0"/>
              <a:t>motor. </a:t>
            </a:r>
            <a:endParaRPr lang="en-US" sz="2800" b="1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63850" y="241929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OTHER MICROCONTROLLER </a:t>
            </a:r>
            <a:r>
              <a:rPr lang="en-IN" b="1" dirty="0" smtClean="0"/>
              <a:t>PERIPHERALS: 606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5823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953" y="862282"/>
            <a:ext cx="1168224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i="1" dirty="0" smtClean="0"/>
              <a:t>Servo </a:t>
            </a:r>
            <a:r>
              <a:rPr lang="en-US" sz="2800" b="1" i="1" dirty="0"/>
              <a:t>motors </a:t>
            </a:r>
            <a:r>
              <a:rPr lang="en-US" sz="2800" dirty="0"/>
              <a:t>accept a </a:t>
            </a:r>
            <a:r>
              <a:rPr lang="en-US" sz="2800" b="1" dirty="0"/>
              <a:t>pulse-width modulated signal </a:t>
            </a:r>
            <a:r>
              <a:rPr lang="en-US" sz="2800" dirty="0"/>
              <a:t>to </a:t>
            </a:r>
            <a:r>
              <a:rPr lang="en-US" sz="2800" dirty="0" smtClean="0"/>
              <a:t>specify their </a:t>
            </a:r>
            <a:r>
              <a:rPr lang="en-US" sz="2800" dirty="0"/>
              <a:t>position over a limited range of angles.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They </a:t>
            </a:r>
            <a:r>
              <a:rPr lang="en-US" sz="2800" dirty="0"/>
              <a:t>are very </a:t>
            </a:r>
            <a:r>
              <a:rPr lang="en-US" sz="2800" b="1" dirty="0"/>
              <a:t>easy </a:t>
            </a:r>
            <a:r>
              <a:rPr lang="en-US" sz="2800" b="1" dirty="0" smtClean="0"/>
              <a:t>to interface </a:t>
            </a:r>
            <a:r>
              <a:rPr lang="en-US" sz="2800" b="1" dirty="0"/>
              <a:t>but are not as powerful</a:t>
            </a:r>
            <a:r>
              <a:rPr lang="en-US" sz="2800" dirty="0"/>
              <a:t> and are not suited to continuous rotation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i="1" dirty="0"/>
              <a:t>Stepper motors </a:t>
            </a:r>
            <a:r>
              <a:rPr lang="en-US" sz="2800" dirty="0"/>
              <a:t>accept a </a:t>
            </a:r>
            <a:r>
              <a:rPr lang="en-US" sz="2800" b="1" dirty="0"/>
              <a:t>sequence of pulses, </a:t>
            </a:r>
            <a:r>
              <a:rPr lang="en-US" sz="2800" dirty="0"/>
              <a:t>each of which </a:t>
            </a:r>
            <a:r>
              <a:rPr lang="en-US" sz="2800" dirty="0" smtClean="0"/>
              <a:t>rotates the </a:t>
            </a:r>
            <a:r>
              <a:rPr lang="en-US" sz="2800" dirty="0"/>
              <a:t>motor by a fixed angle, called a </a:t>
            </a:r>
            <a:r>
              <a:rPr lang="en-US" sz="2800" i="1" dirty="0"/>
              <a:t>step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They </a:t>
            </a:r>
            <a:r>
              <a:rPr lang="en-US" sz="2800" dirty="0"/>
              <a:t>are </a:t>
            </a:r>
            <a:r>
              <a:rPr lang="en-US" sz="2800" b="1" dirty="0"/>
              <a:t>more expensive</a:t>
            </a:r>
            <a:r>
              <a:rPr lang="en-US" sz="2800" dirty="0"/>
              <a:t> </a:t>
            </a:r>
            <a:r>
              <a:rPr lang="en-US" sz="2800" dirty="0" smtClean="0"/>
              <a:t>and still </a:t>
            </a:r>
            <a:r>
              <a:rPr lang="en-US" sz="2800" b="1" dirty="0"/>
              <a:t>need an H-bridge to drive the high current,</a:t>
            </a:r>
            <a:r>
              <a:rPr lang="en-US" sz="2800" dirty="0"/>
              <a:t> but the position can </a:t>
            </a:r>
            <a:r>
              <a:rPr lang="en-US" sz="2800" dirty="0" smtClean="0"/>
              <a:t>be </a:t>
            </a:r>
            <a:r>
              <a:rPr lang="en-IN" sz="2800" dirty="0" smtClean="0"/>
              <a:t>precisely </a:t>
            </a:r>
            <a:r>
              <a:rPr lang="en-IN" sz="2800" dirty="0"/>
              <a:t>controlled.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63850" y="241929"/>
            <a:ext cx="10364451" cy="4540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OTHER MICROCONTROLLER </a:t>
            </a:r>
            <a:r>
              <a:rPr lang="en-IN" b="1" dirty="0" smtClean="0"/>
              <a:t>PERIPHERALS: 606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9957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306" y="869368"/>
            <a:ext cx="10364452" cy="34241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3900" dirty="0" smtClean="0">
                <a:latin typeface="Brush Script MT" pitchFamily="66" charset="0"/>
              </a:rPr>
              <a:t>END</a:t>
            </a:r>
            <a:endParaRPr lang="en-IN" sz="23900" dirty="0">
              <a:latin typeface="Brush Script MT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17597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2288</TotalTime>
  <Words>6036</Words>
  <Application>Microsoft Office PowerPoint</Application>
  <PresentationFormat>Custom</PresentationFormat>
  <Paragraphs>642</Paragraphs>
  <Slides>95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Droplet</vt:lpstr>
      <vt:lpstr>COMPUTER ORGANIZATION AND ARCHITECTURE</vt:lpstr>
      <vt:lpstr>MODULE 4</vt:lpstr>
      <vt:lpstr>Input / Output -</vt:lpstr>
      <vt:lpstr>EXTERNAL DEVICES: 219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Keyboard/Monitor</vt:lpstr>
      <vt:lpstr>Disk Drive</vt:lpstr>
      <vt:lpstr>I/O MODULES:222</vt:lpstr>
      <vt:lpstr>I/O MODULES:222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I/O Module Structure: 223</vt:lpstr>
      <vt:lpstr>PowerPoint Presentation</vt:lpstr>
      <vt:lpstr>PowerPoint Presentation</vt:lpstr>
      <vt:lpstr>PROGRAMMED I/O: 224</vt:lpstr>
      <vt:lpstr>PowerPoint Presentation</vt:lpstr>
      <vt:lpstr>PROGRAMMED I/O: 224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INTERRUPT-DRIVEN I/O: 228</vt:lpstr>
      <vt:lpstr>INTERRUPT-DRIVEN I/O: 228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DIRECT MEMORY ACCESS: 236</vt:lpstr>
      <vt:lpstr>DMA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Embedded I/O Systems -</vt:lpstr>
      <vt:lpstr>Embedded I/O : 565</vt:lpstr>
      <vt:lpstr>PowerPoint Presentation</vt:lpstr>
      <vt:lpstr>PowerPoint Presentation</vt:lpstr>
      <vt:lpstr>PowerPoint Presentation</vt:lpstr>
      <vt:lpstr>PowerPoint Presentation</vt:lpstr>
      <vt:lpstr>Embedded I/O : 565</vt:lpstr>
      <vt:lpstr>RED-V Board: 566</vt:lpstr>
      <vt:lpstr>RED-V Board: 566</vt:lpstr>
      <vt:lpstr>FE310-G002 System-on-Chip</vt:lpstr>
      <vt:lpstr>General-Purpose I/O: 568</vt:lpstr>
      <vt:lpstr>General-Purpose I/O: 568</vt:lpstr>
      <vt:lpstr>General-Purpose I/O: 568</vt:lpstr>
      <vt:lpstr>PowerPoint Presentation</vt:lpstr>
      <vt:lpstr>Serial I/O: 577</vt:lpstr>
      <vt:lpstr>Serial Peripheral Interface (SPI)</vt:lpstr>
      <vt:lpstr>Serial Peripheral Interface (SPI)</vt:lpstr>
      <vt:lpstr>PowerPoint Presentation</vt:lpstr>
      <vt:lpstr>Universal Asynchronous Receiver/Transmitter (UART): 586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MICROCONTROLLER PERIPHERALS: 606</vt:lpstr>
      <vt:lpstr>OTHER MICROCONTROLLER PERIPHERALS: 606</vt:lpstr>
      <vt:lpstr>OTHER MICROCONTROLLER PERIPHERALS: 606</vt:lpstr>
      <vt:lpstr>OTHER MICROCONTROLLER PERIPHERALS: 606</vt:lpstr>
      <vt:lpstr>OTHER MICROCONTROLLER PERIPHERALS: 606</vt:lpstr>
      <vt:lpstr>OTHER MICROCONTROLLER PERIPHERALS: 606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creator>aiswarya640@hotmail.com</dc:creator>
  <cp:lastModifiedBy>User</cp:lastModifiedBy>
  <cp:revision>141</cp:revision>
  <dcterms:created xsi:type="dcterms:W3CDTF">2025-11-23T01:06:49Z</dcterms:created>
  <dcterms:modified xsi:type="dcterms:W3CDTF">2026-03-11T03:11:26Z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