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4"/>
  </p:sldMasterIdLst>
  <p:notesMasterIdLst>
    <p:notesMasterId r:id="rId110"/>
  </p:notesMasterIdLst>
  <p:sldIdLst>
    <p:sldId id="278" r:id="rId5"/>
    <p:sldId id="282" r:id="rId6"/>
    <p:sldId id="279" r:id="rId7"/>
    <p:sldId id="286" r:id="rId8"/>
    <p:sldId id="287" r:id="rId9"/>
    <p:sldId id="288" r:id="rId10"/>
    <p:sldId id="299" r:id="rId11"/>
    <p:sldId id="300" r:id="rId12"/>
    <p:sldId id="301" r:id="rId13"/>
    <p:sldId id="298" r:id="rId14"/>
    <p:sldId id="289" r:id="rId15"/>
    <p:sldId id="302" r:id="rId16"/>
    <p:sldId id="291" r:id="rId17"/>
    <p:sldId id="292" r:id="rId18"/>
    <p:sldId id="303" r:id="rId19"/>
    <p:sldId id="304" r:id="rId20"/>
    <p:sldId id="305" r:id="rId21"/>
    <p:sldId id="306" r:id="rId22"/>
    <p:sldId id="284" r:id="rId23"/>
    <p:sldId id="307" r:id="rId24"/>
    <p:sldId id="297" r:id="rId25"/>
    <p:sldId id="308" r:id="rId26"/>
    <p:sldId id="309" r:id="rId27"/>
    <p:sldId id="310" r:id="rId28"/>
    <p:sldId id="313" r:id="rId29"/>
    <p:sldId id="311" r:id="rId30"/>
    <p:sldId id="314" r:id="rId31"/>
    <p:sldId id="315" r:id="rId32"/>
    <p:sldId id="316" r:id="rId33"/>
    <p:sldId id="317" r:id="rId34"/>
    <p:sldId id="318" r:id="rId35"/>
    <p:sldId id="320" r:id="rId36"/>
    <p:sldId id="319" r:id="rId37"/>
    <p:sldId id="321" r:id="rId38"/>
    <p:sldId id="322" r:id="rId39"/>
    <p:sldId id="324" r:id="rId40"/>
    <p:sldId id="325" r:id="rId41"/>
    <p:sldId id="326" r:id="rId42"/>
    <p:sldId id="327" r:id="rId43"/>
    <p:sldId id="328" r:id="rId44"/>
    <p:sldId id="329" r:id="rId45"/>
    <p:sldId id="330" r:id="rId46"/>
    <p:sldId id="331" r:id="rId47"/>
    <p:sldId id="332" r:id="rId48"/>
    <p:sldId id="333" r:id="rId49"/>
    <p:sldId id="334" r:id="rId50"/>
    <p:sldId id="335" r:id="rId51"/>
    <p:sldId id="336" r:id="rId52"/>
    <p:sldId id="337" r:id="rId53"/>
    <p:sldId id="338" r:id="rId54"/>
    <p:sldId id="323" r:id="rId55"/>
    <p:sldId id="340" r:id="rId56"/>
    <p:sldId id="339" r:id="rId57"/>
    <p:sldId id="341" r:id="rId58"/>
    <p:sldId id="342" r:id="rId59"/>
    <p:sldId id="343" r:id="rId60"/>
    <p:sldId id="344" r:id="rId61"/>
    <p:sldId id="345" r:id="rId62"/>
    <p:sldId id="346" r:id="rId63"/>
    <p:sldId id="347" r:id="rId64"/>
    <p:sldId id="348" r:id="rId65"/>
    <p:sldId id="349" r:id="rId66"/>
    <p:sldId id="350" r:id="rId67"/>
    <p:sldId id="351" r:id="rId68"/>
    <p:sldId id="352" r:id="rId69"/>
    <p:sldId id="353" r:id="rId70"/>
    <p:sldId id="354" r:id="rId71"/>
    <p:sldId id="355" r:id="rId72"/>
    <p:sldId id="356" r:id="rId73"/>
    <p:sldId id="285" r:id="rId74"/>
    <p:sldId id="357" r:id="rId75"/>
    <p:sldId id="358" r:id="rId76"/>
    <p:sldId id="359" r:id="rId77"/>
    <p:sldId id="360" r:id="rId78"/>
    <p:sldId id="361" r:id="rId79"/>
    <p:sldId id="374" r:id="rId80"/>
    <p:sldId id="366" r:id="rId81"/>
    <p:sldId id="362" r:id="rId82"/>
    <p:sldId id="363" r:id="rId83"/>
    <p:sldId id="364" r:id="rId84"/>
    <p:sldId id="365" r:id="rId85"/>
    <p:sldId id="367" r:id="rId86"/>
    <p:sldId id="368" r:id="rId87"/>
    <p:sldId id="369" r:id="rId88"/>
    <p:sldId id="370" r:id="rId89"/>
    <p:sldId id="371" r:id="rId90"/>
    <p:sldId id="372" r:id="rId91"/>
    <p:sldId id="373" r:id="rId92"/>
    <p:sldId id="375" r:id="rId93"/>
    <p:sldId id="376" r:id="rId94"/>
    <p:sldId id="377" r:id="rId95"/>
    <p:sldId id="378" r:id="rId96"/>
    <p:sldId id="380" r:id="rId97"/>
    <p:sldId id="381" r:id="rId98"/>
    <p:sldId id="382" r:id="rId99"/>
    <p:sldId id="383" r:id="rId100"/>
    <p:sldId id="384" r:id="rId101"/>
    <p:sldId id="385" r:id="rId102"/>
    <p:sldId id="386" r:id="rId103"/>
    <p:sldId id="391" r:id="rId104"/>
    <p:sldId id="387" r:id="rId105"/>
    <p:sldId id="388" r:id="rId106"/>
    <p:sldId id="389" r:id="rId107"/>
    <p:sldId id="390" r:id="rId108"/>
    <p:sldId id="392" r:id="rId10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87" autoAdjust="0"/>
  </p:normalViewPr>
  <p:slideViewPr>
    <p:cSldViewPr snapToGrid="0">
      <p:cViewPr varScale="1">
        <p:scale>
          <a:sx n="63" d="100"/>
          <a:sy n="63" d="100"/>
        </p:scale>
        <p:origin x="-312"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07" Type="http://schemas.openxmlformats.org/officeDocument/2006/relationships/slide" Target="slides/slide103.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slide" Target="slides/slide98.xml"/><Relationship Id="rId110"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2/18/2026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16D7389-B600-1416-BAC3-DA3206101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98BDD4A-4F04-5A3D-938F-36C3959D77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1995955-8101-38A3-1B26-D62C918DCF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8571A6E1-66C9-87EA-68A5-38A0572433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1668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082833C-F737-95E4-B564-DFA2E42E7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757EC4E-73A2-4F5F-3332-8BF06465B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6C33FB6-E32E-4D76-C86C-65BABFA071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CB2786E2-A8BF-072D-6BE7-8054CD4E7E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9382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33709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3ED0CC-082F-4160-86E5-0D6041F12778}" type="datetime1">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797644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6172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3ED0CC-082F-4160-86E5-0D6041F12778}" type="datetime1">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36988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3ED0CC-082F-4160-86E5-0D6041F12778}" type="datetime1">
              <a:rPr lang="en-US" smtClean="0"/>
              <a:t>2/18/2026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644513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6930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E68812DA-F765-4142-A6A3-A8ED7235E082}" type="datetime1">
              <a:rPr lang="en-US" smtClean="0"/>
              <a:t>2/18/2026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1566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3ED0CC-082F-4160-86E5-0D6041F12778}" type="datetime1">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816967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2/18/2026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8895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9436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300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12975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2168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93183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50799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3ED0CC-082F-4160-86E5-0D6041F12778}" type="datetime1">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9294011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3ED0CC-082F-4160-86E5-0D6041F12778}" type="datetime1">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4651134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3969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73ED0CC-082F-4160-86E5-0D6041F12778}" type="datetime1">
              <a:rPr lang="en-US" smtClean="0"/>
              <a:t>2/18/2026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659170832"/>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emf"/><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8A1C807-B9AD-4C9B-BF9F-60F03428998E}"/>
              </a:ext>
              <a:ext uri="{C183D7F6-B498-43B3-948B-1728B52AA6E4}">
                <adec:decorative xmlns:adec="http://schemas.microsoft.com/office/drawing/2017/decorative" xmlns=""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4518"/>
            <a:ext cx="12192001" cy="6857990"/>
          </a:xfrm>
          <a:prstGeom prst="rect">
            <a:avLst/>
          </a:prstGeom>
        </p:spPr>
      </p:pic>
      <p:sp>
        <p:nvSpPr>
          <p:cNvPr id="2" name="Title 1">
            <a:extLst>
              <a:ext uri="{FF2B5EF4-FFF2-40B4-BE49-F238E27FC236}">
                <a16:creationId xmlns:a16="http://schemas.microsoft.com/office/drawing/2014/main" xmlns="" id="{0D1F047C-C727-42A7-85C5-68C5AA1B1A93}"/>
              </a:ext>
            </a:extLst>
          </p:cNvPr>
          <p:cNvSpPr>
            <a:spLocks noGrp="1"/>
          </p:cNvSpPr>
          <p:nvPr>
            <p:ph type="ctrTitle"/>
          </p:nvPr>
        </p:nvSpPr>
        <p:spPr>
          <a:xfrm>
            <a:off x="-2" y="2316463"/>
            <a:ext cx="12192001" cy="810886"/>
          </a:xfrm>
        </p:spPr>
        <p:txBody>
          <a:bodyPr>
            <a:normAutofit/>
          </a:bodyPr>
          <a:lstStyle/>
          <a:p>
            <a:pPr algn="l"/>
            <a:r>
              <a:rPr lang="en-IN" sz="4400" b="1" dirty="0"/>
              <a:t>COMPUTER ORGANIZATION AND ARCHITECTURE</a:t>
            </a:r>
            <a:endParaRPr lang="en-US" sz="3600" b="1" dirty="0"/>
          </a:p>
        </p:txBody>
      </p:sp>
      <p:sp>
        <p:nvSpPr>
          <p:cNvPr id="3" name="Subtitle 2">
            <a:extLst>
              <a:ext uri="{FF2B5EF4-FFF2-40B4-BE49-F238E27FC236}">
                <a16:creationId xmlns:a16="http://schemas.microsoft.com/office/drawing/2014/main" xmlns="" id="{DB93FB3F-A8D4-46D3-A1C6-C79C64563729}"/>
              </a:ext>
            </a:extLst>
          </p:cNvPr>
          <p:cNvSpPr>
            <a:spLocks noGrp="1"/>
          </p:cNvSpPr>
          <p:nvPr>
            <p:ph type="subTitle" idx="1"/>
          </p:nvPr>
        </p:nvSpPr>
        <p:spPr>
          <a:xfrm>
            <a:off x="7404252" y="3730652"/>
            <a:ext cx="3485072" cy="1026544"/>
          </a:xfrm>
        </p:spPr>
        <p:txBody>
          <a:bodyPr>
            <a:normAutofit/>
          </a:bodyPr>
          <a:lstStyle/>
          <a:p>
            <a:pPr algn="l"/>
            <a:r>
              <a:rPr lang="en-US" sz="4400" dirty="0">
                <a:solidFill>
                  <a:schemeClr val="tx2">
                    <a:lumMod val="50000"/>
                  </a:schemeClr>
                </a:solidFill>
              </a:rPr>
              <a:t>MODULE </a:t>
            </a:r>
            <a:r>
              <a:rPr lang="en-US" sz="4400" dirty="0" smtClean="0">
                <a:solidFill>
                  <a:schemeClr val="tx2">
                    <a:lumMod val="50000"/>
                  </a:schemeClr>
                </a:solidFill>
              </a:rPr>
              <a:t>3</a:t>
            </a:r>
            <a:endParaRPr lang="en-US" sz="4400" dirty="0">
              <a:solidFill>
                <a:schemeClr val="tx2">
                  <a:lumMod val="50000"/>
                </a:schemeClr>
              </a:solidFill>
            </a:endParaRPr>
          </a:p>
        </p:txBody>
      </p:sp>
    </p:spTree>
    <p:extLst>
      <p:ext uri="{BB962C8B-B14F-4D97-AF65-F5344CB8AC3E}">
        <p14:creationId xmlns:p14="http://schemas.microsoft.com/office/powerpoint/2010/main" val="41678842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EB073B8-C21B-28A1-1224-A93FCC063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4DCD4DA-D0DB-52EC-E2C3-EB2DE6367E0F}"/>
              </a:ext>
            </a:extLst>
          </p:cNvPr>
          <p:cNvSpPr>
            <a:spLocks noGrp="1"/>
          </p:cNvSpPr>
          <p:nvPr>
            <p:ph type="title"/>
          </p:nvPr>
        </p:nvSpPr>
        <p:spPr/>
        <p:txBody>
          <a:bodyPr/>
          <a:lstStyle/>
          <a:p>
            <a:r>
              <a:rPr lang="en-IN" dirty="0"/>
              <a:t>MODULE </a:t>
            </a:r>
            <a:r>
              <a:rPr lang="en-IN" dirty="0" smtClean="0"/>
              <a:t>3</a:t>
            </a:r>
            <a:endParaRPr lang="en-IN" dirty="0"/>
          </a:p>
        </p:txBody>
      </p:sp>
      <p:sp>
        <p:nvSpPr>
          <p:cNvPr id="5" name="TextBox 4">
            <a:extLst>
              <a:ext uri="{FF2B5EF4-FFF2-40B4-BE49-F238E27FC236}">
                <a16:creationId xmlns:a16="http://schemas.microsoft.com/office/drawing/2014/main" xmlns="" id="{8AD3EA4F-B754-2AAC-457C-F29B000D3DA6}"/>
              </a:ext>
            </a:extLst>
          </p:cNvPr>
          <p:cNvSpPr txBox="1"/>
          <p:nvPr/>
        </p:nvSpPr>
        <p:spPr>
          <a:xfrm>
            <a:off x="142874" y="1777992"/>
            <a:ext cx="11987213" cy="2862322"/>
          </a:xfrm>
          <a:prstGeom prst="rect">
            <a:avLst/>
          </a:prstGeom>
          <a:noFill/>
        </p:spPr>
        <p:txBody>
          <a:bodyPr wrap="square">
            <a:spAutoFit/>
          </a:bodyPr>
          <a:lstStyle/>
          <a:p>
            <a:r>
              <a:rPr lang="en-US" sz="3600" b="1" dirty="0" smtClean="0"/>
              <a:t>Memory Systems: </a:t>
            </a:r>
            <a:r>
              <a:rPr lang="en-US" sz="3600" dirty="0" smtClean="0"/>
              <a:t>Introduction; performance analysis; Caches – basic </a:t>
            </a:r>
            <a:r>
              <a:rPr lang="en-IN" sz="3600" dirty="0" smtClean="0"/>
              <a:t>concepts</a:t>
            </a:r>
            <a:r>
              <a:rPr lang="en-IN" sz="3600" dirty="0"/>
              <a:t>, Cache mapping, Cache replacement, Multiple-Level </a:t>
            </a:r>
            <a:r>
              <a:rPr lang="en-IN" sz="3600" dirty="0" smtClean="0"/>
              <a:t>Caches, </a:t>
            </a:r>
            <a:r>
              <a:rPr lang="en-US" sz="3600" dirty="0" smtClean="0"/>
              <a:t>Reducing </a:t>
            </a:r>
            <a:r>
              <a:rPr lang="en-US" sz="3600" dirty="0"/>
              <a:t>Miss Rate, Write Policy; Virtual Memory - Address </a:t>
            </a:r>
            <a:r>
              <a:rPr lang="en-US" sz="3600" dirty="0" smtClean="0"/>
              <a:t>Translation; Page </a:t>
            </a:r>
            <a:r>
              <a:rPr lang="en-US" sz="3600" dirty="0"/>
              <a:t>Table; Translation </a:t>
            </a:r>
            <a:r>
              <a:rPr lang="en-US" sz="3600" dirty="0" err="1"/>
              <a:t>Lookaside</a:t>
            </a:r>
            <a:r>
              <a:rPr lang="en-US" sz="3600" dirty="0"/>
              <a:t> Buffer; Memory Protection.</a:t>
            </a:r>
            <a:endParaRPr lang="en-IN" sz="3600" dirty="0"/>
          </a:p>
        </p:txBody>
      </p:sp>
    </p:spTree>
    <p:extLst>
      <p:ext uri="{BB962C8B-B14F-4D97-AF65-F5344CB8AC3E}">
        <p14:creationId xmlns:p14="http://schemas.microsoft.com/office/powerpoint/2010/main" val="30278320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2B2D6DE-C9B5-4678-91EF-77E85F2350DA}"/>
              </a:ext>
              <a:ext uri="{C183D7F6-B498-43B3-948B-1728B52AA6E4}">
                <adec:decorative xmlns:adec="http://schemas.microsoft.com/office/drawing/2017/decorative" xmlns="" val="1"/>
              </a:ext>
            </a:extLst>
          </p:cNvPr>
          <p:cNvPicPr>
            <a:picLocks noChangeAspect="1"/>
          </p:cNvPicPr>
          <p:nvPr/>
        </p:nvPicPr>
        <p:blipFill rotWithShape="1">
          <a:blip r:embed="rId4">
            <a:extLst>
              <a:ext uri="{28A0092B-C50C-407E-A947-70E740481C1C}">
                <a14:useLocalDpi xmlns:a14="http://schemas.microsoft.com/office/drawing/2010/main" val="0"/>
              </a:ext>
            </a:extLst>
          </a:blip>
          <a:srcRect b="-1"/>
          <a:stretch/>
        </p:blipFill>
        <p:spPr>
          <a:xfrm>
            <a:off x="-8622" y="10"/>
            <a:ext cx="6096000" cy="6857990"/>
          </a:xfrm>
          <a:prstGeom prst="rect">
            <a:avLst/>
          </a:prstGeom>
        </p:spPr>
      </p:pic>
      <p:sp>
        <p:nvSpPr>
          <p:cNvPr id="2" name="Title 1">
            <a:extLst>
              <a:ext uri="{FF2B5EF4-FFF2-40B4-BE49-F238E27FC236}">
                <a16:creationId xmlns:a16="http://schemas.microsoft.com/office/drawing/2014/main" xmlns="" id="{89559F60-4CE1-4E2F-86EA-1B60679F1F4A}"/>
              </a:ext>
            </a:extLst>
          </p:cNvPr>
          <p:cNvSpPr>
            <a:spLocks noGrp="1"/>
          </p:cNvSpPr>
          <p:nvPr>
            <p:ph type="title"/>
          </p:nvPr>
        </p:nvSpPr>
        <p:spPr>
          <a:xfrm>
            <a:off x="6900492" y="609599"/>
            <a:ext cx="4815257" cy="1019175"/>
          </a:xfrm>
        </p:spPr>
        <p:txBody>
          <a:bodyPr anchor="b">
            <a:normAutofit fontScale="90000"/>
          </a:bodyPr>
          <a:lstStyle/>
          <a:p>
            <a:pPr algn="l"/>
            <a:r>
              <a:rPr lang="en-US" sz="4000" dirty="0"/>
              <a:t>Memory </a:t>
            </a:r>
            <a:r>
              <a:rPr lang="en-US" sz="4000" dirty="0" smtClean="0"/>
              <a:t>Systems: 521</a:t>
            </a:r>
            <a:endParaRPr lang="en-US" sz="4000" dirty="0"/>
          </a:p>
        </p:txBody>
      </p:sp>
      <p:sp>
        <p:nvSpPr>
          <p:cNvPr id="24" name="Content Placeholder 2">
            <a:extLst>
              <a:ext uri="{FF2B5EF4-FFF2-40B4-BE49-F238E27FC236}">
                <a16:creationId xmlns:a16="http://schemas.microsoft.com/office/drawing/2014/main" xmlns="" id="{F260476B-CCA6-412B-A9C5-399C34AE6F05}"/>
              </a:ext>
            </a:extLst>
          </p:cNvPr>
          <p:cNvSpPr>
            <a:spLocks noGrp="1"/>
          </p:cNvSpPr>
          <p:nvPr>
            <p:ph idx="1"/>
          </p:nvPr>
        </p:nvSpPr>
        <p:spPr>
          <a:xfrm>
            <a:off x="6900493" y="1732449"/>
            <a:ext cx="4403596" cy="4058751"/>
          </a:xfrm>
        </p:spPr>
        <p:txBody>
          <a:bodyPr anchor="t">
            <a:normAutofit/>
          </a:bodyPr>
          <a:lstStyle/>
          <a:p>
            <a:r>
              <a:rPr lang="en-US" sz="2400" dirty="0" smtClean="0"/>
              <a:t>Introduction</a:t>
            </a:r>
            <a:r>
              <a:rPr lang="en-US" sz="2400" dirty="0"/>
              <a:t>; </a:t>
            </a:r>
            <a:endParaRPr lang="en-US" sz="2400" dirty="0" smtClean="0"/>
          </a:p>
          <a:p>
            <a:r>
              <a:rPr lang="en-US" sz="2400" dirty="0" smtClean="0"/>
              <a:t>performance </a:t>
            </a:r>
            <a:r>
              <a:rPr lang="en-US" sz="2400" dirty="0"/>
              <a:t>analysis;</a:t>
            </a:r>
          </a:p>
        </p:txBody>
      </p:sp>
    </p:spTree>
    <p:extLst>
      <p:ext uri="{BB962C8B-B14F-4D97-AF65-F5344CB8AC3E}">
        <p14:creationId xmlns:p14="http://schemas.microsoft.com/office/powerpoint/2010/main" val="32202356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33" y="224622"/>
            <a:ext cx="10364451" cy="619440"/>
          </a:xfrm>
        </p:spPr>
        <p:txBody>
          <a:bodyPr/>
          <a:lstStyle/>
          <a:p>
            <a:r>
              <a:rPr lang="en-IN" b="1" dirty="0" smtClean="0"/>
              <a:t>INTRODUCTION</a:t>
            </a:r>
            <a:endParaRPr lang="en-IN" b="1" dirty="0"/>
          </a:p>
        </p:txBody>
      </p:sp>
      <p:sp>
        <p:nvSpPr>
          <p:cNvPr id="5" name="Rectangle 4"/>
          <p:cNvSpPr/>
          <p:nvPr/>
        </p:nvSpPr>
        <p:spPr>
          <a:xfrm>
            <a:off x="318867" y="1110400"/>
            <a:ext cx="11624604" cy="4832092"/>
          </a:xfrm>
          <a:prstGeom prst="rect">
            <a:avLst/>
          </a:prstGeom>
        </p:spPr>
        <p:txBody>
          <a:bodyPr wrap="square">
            <a:spAutoFit/>
          </a:bodyPr>
          <a:lstStyle/>
          <a:p>
            <a:pPr marL="457200" indent="-457200">
              <a:buFont typeface="Arial" pitchFamily="34" charset="0"/>
              <a:buChar char="•"/>
            </a:pPr>
            <a:r>
              <a:rPr lang="en-US" sz="2800" dirty="0"/>
              <a:t>Computer system performance depends on the </a:t>
            </a:r>
            <a:r>
              <a:rPr lang="en-US" sz="2800" b="1" dirty="0"/>
              <a:t>memory system </a:t>
            </a:r>
            <a:r>
              <a:rPr lang="en-US" sz="2800" dirty="0"/>
              <a:t>as well </a:t>
            </a:r>
            <a:r>
              <a:rPr lang="en-US" sz="2800" dirty="0" smtClean="0"/>
              <a:t>as </a:t>
            </a:r>
            <a:r>
              <a:rPr lang="en-IN" sz="2800" b="1" dirty="0" smtClean="0"/>
              <a:t>the </a:t>
            </a:r>
            <a:r>
              <a:rPr lang="en-IN" sz="2800" b="1" dirty="0"/>
              <a:t>processor microarchitecture</a:t>
            </a:r>
            <a:r>
              <a:rPr lang="en-IN" sz="2800" dirty="0" smtClean="0"/>
              <a:t>.</a:t>
            </a:r>
          </a:p>
          <a:p>
            <a:pPr marL="457200" indent="-457200">
              <a:buFont typeface="Arial" pitchFamily="34" charset="0"/>
              <a:buChar char="•"/>
            </a:pPr>
            <a:r>
              <a:rPr lang="en-IN" sz="2800" dirty="0"/>
              <a:t>A</a:t>
            </a:r>
            <a:r>
              <a:rPr lang="en-IN" sz="2800" dirty="0" smtClean="0"/>
              <a:t>n </a:t>
            </a:r>
            <a:r>
              <a:rPr lang="en-IN" sz="2800" dirty="0"/>
              <a:t>ideal memory </a:t>
            </a:r>
            <a:r>
              <a:rPr lang="en-IN" sz="2800" dirty="0" smtClean="0"/>
              <a:t>system </a:t>
            </a:r>
            <a:r>
              <a:rPr lang="en-US" sz="2800" dirty="0" smtClean="0"/>
              <a:t>that </a:t>
            </a:r>
            <a:r>
              <a:rPr lang="en-US" sz="2800" dirty="0"/>
              <a:t>could be </a:t>
            </a:r>
            <a:r>
              <a:rPr lang="en-US" sz="2800" b="1" dirty="0"/>
              <a:t>accessed in a single clock cycle</a:t>
            </a:r>
            <a:r>
              <a:rPr lang="en-US" sz="2800" dirty="0" smtClean="0"/>
              <a:t>. </a:t>
            </a:r>
          </a:p>
          <a:p>
            <a:pPr marL="457200" indent="-457200">
              <a:buFont typeface="Arial" pitchFamily="34" charset="0"/>
              <a:buChar char="•"/>
            </a:pPr>
            <a:r>
              <a:rPr lang="en-US" sz="2800" dirty="0" smtClean="0"/>
              <a:t>The </a:t>
            </a:r>
            <a:r>
              <a:rPr lang="en-US" sz="2800" dirty="0"/>
              <a:t>processor communicates with the memory system over a </a:t>
            </a:r>
            <a:r>
              <a:rPr lang="en-US" sz="2800" b="1" i="1" dirty="0" smtClean="0"/>
              <a:t>memory </a:t>
            </a:r>
            <a:r>
              <a:rPr lang="en-IN" sz="2800" b="1" i="1" dirty="0" smtClean="0"/>
              <a:t>interface</a:t>
            </a:r>
            <a:r>
              <a:rPr lang="en-IN" sz="2800" dirty="0" smtClean="0"/>
              <a:t>. </a:t>
            </a:r>
          </a:p>
          <a:p>
            <a:pPr marL="457200" indent="-457200">
              <a:buFont typeface="Arial" pitchFamily="34" charset="0"/>
              <a:buChar char="•"/>
            </a:pPr>
            <a:r>
              <a:rPr lang="en-US" sz="2800" dirty="0" smtClean="0"/>
              <a:t>Figure </a:t>
            </a:r>
            <a:r>
              <a:rPr lang="en-US" sz="2800" dirty="0"/>
              <a:t>8.1 shows the simple memory interface used in </a:t>
            </a:r>
            <a:r>
              <a:rPr lang="en-US" sz="2800" dirty="0" smtClean="0"/>
              <a:t>our </a:t>
            </a:r>
            <a:r>
              <a:rPr lang="en-US" sz="2800" dirty="0" err="1" smtClean="0"/>
              <a:t>multicycle</a:t>
            </a:r>
            <a:r>
              <a:rPr lang="en-US" sz="2800" dirty="0" smtClean="0"/>
              <a:t> </a:t>
            </a:r>
            <a:r>
              <a:rPr lang="en-US" sz="2800" dirty="0"/>
              <a:t>RISC-V processor. </a:t>
            </a:r>
            <a:endParaRPr lang="en-US" sz="2800" dirty="0" smtClean="0"/>
          </a:p>
          <a:p>
            <a:pPr marL="457200" indent="-457200">
              <a:buFont typeface="Arial" pitchFamily="34" charset="0"/>
              <a:buChar char="•"/>
            </a:pPr>
            <a:r>
              <a:rPr lang="en-US" sz="2800" dirty="0" smtClean="0"/>
              <a:t>The </a:t>
            </a:r>
            <a:r>
              <a:rPr lang="en-US" sz="2800" dirty="0"/>
              <a:t>processor sends an address over </a:t>
            </a:r>
            <a:r>
              <a:rPr lang="en-US" sz="2800" dirty="0" smtClean="0"/>
              <a:t>the </a:t>
            </a:r>
            <a:r>
              <a:rPr lang="en-US" sz="2800" i="1" dirty="0" smtClean="0"/>
              <a:t>Address </a:t>
            </a:r>
            <a:r>
              <a:rPr lang="en-US" sz="2800" dirty="0"/>
              <a:t>bus to the memory system. </a:t>
            </a:r>
            <a:endParaRPr lang="en-US" sz="2800" dirty="0" smtClean="0"/>
          </a:p>
          <a:p>
            <a:pPr marL="457200" indent="-457200">
              <a:buFont typeface="Arial" pitchFamily="34" charset="0"/>
              <a:buChar char="•"/>
            </a:pPr>
            <a:r>
              <a:rPr lang="en-US" sz="2800" dirty="0" smtClean="0"/>
              <a:t>For </a:t>
            </a:r>
            <a:r>
              <a:rPr lang="en-US" sz="2800" dirty="0"/>
              <a:t>a read, </a:t>
            </a:r>
            <a:r>
              <a:rPr lang="en-US" sz="2800" i="1" dirty="0" err="1"/>
              <a:t>MemWrite</a:t>
            </a:r>
            <a:r>
              <a:rPr lang="en-US" sz="2800" i="1" dirty="0"/>
              <a:t> </a:t>
            </a:r>
            <a:r>
              <a:rPr lang="en-US" sz="2800" dirty="0"/>
              <a:t>is 0 and </a:t>
            </a:r>
            <a:r>
              <a:rPr lang="en-US" sz="2800" dirty="0" smtClean="0"/>
              <a:t>the memory </a:t>
            </a:r>
            <a:r>
              <a:rPr lang="en-US" sz="2800" dirty="0"/>
              <a:t>returns the data on the </a:t>
            </a:r>
            <a:r>
              <a:rPr lang="en-US" sz="2800" i="1" dirty="0" err="1"/>
              <a:t>ReadData</a:t>
            </a:r>
            <a:r>
              <a:rPr lang="en-US" sz="2800" i="1" dirty="0"/>
              <a:t> </a:t>
            </a:r>
            <a:r>
              <a:rPr lang="en-US" sz="2800" dirty="0"/>
              <a:t>bus. </a:t>
            </a:r>
            <a:endParaRPr lang="en-US" sz="2800" dirty="0" smtClean="0"/>
          </a:p>
          <a:p>
            <a:pPr marL="457200" indent="-457200">
              <a:buFont typeface="Arial" pitchFamily="34" charset="0"/>
              <a:buChar char="•"/>
            </a:pPr>
            <a:r>
              <a:rPr lang="en-US" sz="2800" dirty="0" smtClean="0"/>
              <a:t>For </a:t>
            </a:r>
            <a:r>
              <a:rPr lang="en-US" sz="2800" dirty="0"/>
              <a:t>a write, </a:t>
            </a:r>
            <a:r>
              <a:rPr lang="en-US" sz="2800" i="1" dirty="0" err="1" smtClean="0"/>
              <a:t>MemWrite</a:t>
            </a:r>
            <a:r>
              <a:rPr lang="en-US" sz="2800" i="1" dirty="0" smtClean="0"/>
              <a:t> </a:t>
            </a:r>
            <a:r>
              <a:rPr lang="en-US" sz="2800" dirty="0" smtClean="0"/>
              <a:t>is </a:t>
            </a:r>
            <a:r>
              <a:rPr lang="en-US" sz="2800" dirty="0"/>
              <a:t>1 and the processor sends data to memory on the </a:t>
            </a:r>
            <a:r>
              <a:rPr lang="en-US" sz="2800" i="1" dirty="0" err="1"/>
              <a:t>WriteData</a:t>
            </a:r>
            <a:r>
              <a:rPr lang="en-US" sz="2800" i="1" dirty="0"/>
              <a:t> </a:t>
            </a:r>
            <a:r>
              <a:rPr lang="en-US" sz="2800" dirty="0"/>
              <a:t>bus.</a:t>
            </a:r>
            <a:endParaRPr lang="en-IN" sz="2800" dirty="0"/>
          </a:p>
        </p:txBody>
      </p:sp>
    </p:spTree>
    <p:extLst>
      <p:ext uri="{BB962C8B-B14F-4D97-AF65-F5344CB8AC3E}">
        <p14:creationId xmlns:p14="http://schemas.microsoft.com/office/powerpoint/2010/main" val="29736601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6966" t="44675" r="22822" b="36946"/>
          <a:stretch/>
        </p:blipFill>
        <p:spPr bwMode="auto">
          <a:xfrm>
            <a:off x="823855" y="98475"/>
            <a:ext cx="10951886" cy="5598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831" t="50773" r="50625" b="43129"/>
          <a:stretch/>
        </p:blipFill>
        <p:spPr bwMode="auto">
          <a:xfrm>
            <a:off x="3942703" y="5689631"/>
            <a:ext cx="4483849" cy="929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9936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33" y="224622"/>
            <a:ext cx="10364451" cy="619440"/>
          </a:xfrm>
        </p:spPr>
        <p:txBody>
          <a:bodyPr/>
          <a:lstStyle/>
          <a:p>
            <a:r>
              <a:rPr lang="en-IN" b="1" dirty="0" smtClean="0"/>
              <a:t>INTRODUCTION</a:t>
            </a:r>
            <a:endParaRPr lang="en-IN" b="1" dirty="0"/>
          </a:p>
        </p:txBody>
      </p:sp>
      <p:sp>
        <p:nvSpPr>
          <p:cNvPr id="4" name="Content Placeholder 2">
            <a:extLst>
              <a:ext uri="{FF2B5EF4-FFF2-40B4-BE49-F238E27FC236}">
                <a16:creationId xmlns:lc="http://schemas.openxmlformats.org/drawingml/2006/lockedCanvas" xmlns:a16="http://schemas.microsoft.com/office/drawing/2014/main" xmlns="" id="{E00DE333-2050-0A44-B0A8-78F72364D81A}"/>
              </a:ext>
            </a:extLst>
          </p:cNvPr>
          <p:cNvSpPr>
            <a:spLocks noGrp="1"/>
          </p:cNvSpPr>
          <p:nvPr/>
        </p:nvSpPr>
        <p:spPr>
          <a:xfrm>
            <a:off x="838200"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latin typeface="Times New Roman" panose="02020603050405020304" pitchFamily="18" charset="0"/>
                <a:cs typeface="Times New Roman" panose="02020603050405020304" pitchFamily="18" charset="0"/>
              </a:rPr>
              <a:t>Temporal locality</a:t>
            </a:r>
            <a:r>
              <a:rPr lang="en-US" sz="2400" dirty="0">
                <a:latin typeface="Times New Roman" panose="02020603050405020304" pitchFamily="18" charset="0"/>
                <a:cs typeface="Times New Roman" panose="02020603050405020304" pitchFamily="18" charset="0"/>
              </a:rPr>
              <a:t> means: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If a memory location is accessed once, it is likely to be accessed again soon.</a:t>
            </a:r>
          </a:p>
          <a:p>
            <a:pPr marL="0" indent="0">
              <a:buNone/>
            </a:pP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Spatial locality</a:t>
            </a:r>
            <a:r>
              <a:rPr lang="en-US" sz="2400" dirty="0">
                <a:latin typeface="Times New Roman" panose="02020603050405020304" pitchFamily="18" charset="0"/>
                <a:cs typeface="Times New Roman" panose="02020603050405020304" pitchFamily="18" charset="0"/>
              </a:rPr>
              <a:t> means: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If a memory location is accessed, nearby memory locations are likely to be accessed soon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Temporal locality means that if you have used a book recently, you are likely to use it again soon. </a:t>
            </a:r>
          </a:p>
          <a:p>
            <a:r>
              <a:rPr lang="en-US" sz="2400" dirty="0">
                <a:latin typeface="Times New Roman" panose="02020603050405020304" pitchFamily="18" charset="0"/>
                <a:cs typeface="Times New Roman" panose="02020603050405020304" pitchFamily="18" charset="0"/>
              </a:rPr>
              <a:t>Spatial locality means that when you use one particular book, you are likely to be interested in other books on the same shelf.</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51015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33" y="224622"/>
            <a:ext cx="10364451" cy="619440"/>
          </a:xfrm>
        </p:spPr>
        <p:txBody>
          <a:bodyPr>
            <a:normAutofit/>
          </a:bodyPr>
          <a:lstStyle/>
          <a:p>
            <a:r>
              <a:rPr lang="en-IN" sz="3200" b="1" dirty="0" smtClean="0"/>
              <a:t>INTRODUCTION</a:t>
            </a:r>
            <a:endParaRPr lang="en-IN" sz="3200" b="1" dirty="0"/>
          </a:p>
        </p:txBody>
      </p:sp>
      <p:sp>
        <p:nvSpPr>
          <p:cNvPr id="3" name="Rectangle 2"/>
          <p:cNvSpPr/>
          <p:nvPr/>
        </p:nvSpPr>
        <p:spPr>
          <a:xfrm>
            <a:off x="436098" y="970671"/>
            <a:ext cx="10888394" cy="4031873"/>
          </a:xfrm>
          <a:prstGeom prst="rect">
            <a:avLst/>
          </a:prstGeom>
        </p:spPr>
        <p:txBody>
          <a:bodyPr wrap="square">
            <a:spAutoFit/>
          </a:bodyPr>
          <a:lstStyle/>
          <a:p>
            <a:pPr marL="285750" indent="-285750">
              <a:buFont typeface="Arial" pitchFamily="34" charset="0"/>
              <a:buChar char="•"/>
            </a:pPr>
            <a:r>
              <a:rPr lang="en-US" sz="3200" dirty="0"/>
              <a:t>C</a:t>
            </a:r>
            <a:r>
              <a:rPr lang="en-US" sz="3200" dirty="0" smtClean="0"/>
              <a:t>omputers </a:t>
            </a:r>
            <a:r>
              <a:rPr lang="en-US" sz="3200" dirty="0"/>
              <a:t>store the most commonly </a:t>
            </a:r>
            <a:r>
              <a:rPr lang="en-US" sz="3200" dirty="0" smtClean="0"/>
              <a:t>used instructions </a:t>
            </a:r>
            <a:r>
              <a:rPr lang="en-US" sz="3200" dirty="0"/>
              <a:t>and data in a faster but smaller memory, called </a:t>
            </a:r>
            <a:r>
              <a:rPr lang="en-US" sz="3200" b="1" dirty="0"/>
              <a:t>a </a:t>
            </a:r>
            <a:r>
              <a:rPr lang="en-US" sz="3200" b="1" i="1" dirty="0" smtClean="0"/>
              <a:t>cache.</a:t>
            </a:r>
          </a:p>
          <a:p>
            <a:pPr marL="285750" indent="-285750">
              <a:buFont typeface="Arial" pitchFamily="34" charset="0"/>
              <a:buChar char="•"/>
            </a:pPr>
            <a:endParaRPr lang="en-US" sz="3200" b="1" i="1" dirty="0"/>
          </a:p>
          <a:p>
            <a:pPr marL="457200" indent="-457200">
              <a:buFont typeface="Arial" pitchFamily="34" charset="0"/>
              <a:buChar char="•"/>
            </a:pPr>
            <a:r>
              <a:rPr lang="en-US" sz="3200" dirty="0"/>
              <a:t>If the processor requests data that </a:t>
            </a:r>
            <a:r>
              <a:rPr lang="en-US" sz="3200" b="1" dirty="0"/>
              <a:t>is available </a:t>
            </a:r>
            <a:r>
              <a:rPr lang="en-US" sz="3200" dirty="0"/>
              <a:t>in the cache, it </a:t>
            </a:r>
            <a:r>
              <a:rPr lang="en-US" sz="3200" dirty="0" smtClean="0"/>
              <a:t>is returned </a:t>
            </a:r>
            <a:r>
              <a:rPr lang="en-US" sz="3200" dirty="0"/>
              <a:t>quickly. This is called a </a:t>
            </a:r>
            <a:r>
              <a:rPr lang="en-US" sz="3200" b="1" dirty="0"/>
              <a:t>cache </a:t>
            </a:r>
            <a:r>
              <a:rPr lang="en-US" sz="3200" b="1" i="1" dirty="0"/>
              <a:t>hit</a:t>
            </a:r>
            <a:r>
              <a:rPr lang="en-US" sz="3200" dirty="0"/>
              <a:t>. </a:t>
            </a:r>
            <a:endParaRPr lang="en-US" sz="3200" dirty="0" smtClean="0"/>
          </a:p>
          <a:p>
            <a:pPr marL="457200" indent="-457200">
              <a:buFont typeface="Arial" pitchFamily="34" charset="0"/>
              <a:buChar char="•"/>
            </a:pPr>
            <a:endParaRPr lang="en-US" sz="3200" dirty="0"/>
          </a:p>
          <a:p>
            <a:pPr marL="457200" indent="-457200">
              <a:buFont typeface="Arial" pitchFamily="34" charset="0"/>
              <a:buChar char="•"/>
            </a:pPr>
            <a:r>
              <a:rPr lang="en-US" sz="3200" dirty="0" smtClean="0"/>
              <a:t>Otherwise</a:t>
            </a:r>
            <a:r>
              <a:rPr lang="en-US" sz="3200" dirty="0"/>
              <a:t>, the </a:t>
            </a:r>
            <a:r>
              <a:rPr lang="en-US" sz="3200" dirty="0" smtClean="0"/>
              <a:t>processor retrieves </a:t>
            </a:r>
            <a:r>
              <a:rPr lang="en-US" sz="3200" dirty="0"/>
              <a:t>the data from main memory (DRAM). This is called a </a:t>
            </a:r>
            <a:r>
              <a:rPr lang="en-US" sz="3200" b="1" dirty="0" smtClean="0"/>
              <a:t>cache </a:t>
            </a:r>
            <a:r>
              <a:rPr lang="en-IN" sz="3200" b="1" i="1" dirty="0" smtClean="0"/>
              <a:t>miss</a:t>
            </a:r>
            <a:r>
              <a:rPr lang="en-IN" sz="3200" dirty="0"/>
              <a:t>.</a:t>
            </a:r>
            <a:endParaRPr lang="en-IN" sz="3200" b="1" dirty="0"/>
          </a:p>
        </p:txBody>
      </p:sp>
    </p:spTree>
    <p:extLst>
      <p:ext uri="{BB962C8B-B14F-4D97-AF65-F5344CB8AC3E}">
        <p14:creationId xmlns:p14="http://schemas.microsoft.com/office/powerpoint/2010/main" val="2456505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33" y="224622"/>
            <a:ext cx="10364451" cy="619440"/>
          </a:xfrm>
        </p:spPr>
        <p:txBody>
          <a:bodyPr/>
          <a:lstStyle/>
          <a:p>
            <a:r>
              <a:rPr lang="en-US" b="1" dirty="0"/>
              <a:t>memory hierarchy of the computer system</a:t>
            </a:r>
            <a:endParaRPr lang="en-IN" b="1"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1314" t="55754" r="16002" b="27381"/>
          <a:stretch/>
        </p:blipFill>
        <p:spPr bwMode="auto">
          <a:xfrm>
            <a:off x="566056" y="1739716"/>
            <a:ext cx="11217847" cy="32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407556" y="5410759"/>
            <a:ext cx="1690656" cy="523220"/>
          </a:xfrm>
          <a:prstGeom prst="rect">
            <a:avLst/>
          </a:prstGeom>
        </p:spPr>
        <p:txBody>
          <a:bodyPr wrap="none">
            <a:spAutoFit/>
          </a:bodyPr>
          <a:lstStyle/>
          <a:p>
            <a:r>
              <a:rPr lang="en-IN" sz="2800" b="1" dirty="0"/>
              <a:t>Figure 8.3</a:t>
            </a:r>
          </a:p>
        </p:txBody>
      </p:sp>
    </p:spTree>
    <p:extLst>
      <p:ext uri="{BB962C8B-B14F-4D97-AF65-F5344CB8AC3E}">
        <p14:creationId xmlns:p14="http://schemas.microsoft.com/office/powerpoint/2010/main" val="6967119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33" y="224622"/>
            <a:ext cx="10364451" cy="619440"/>
          </a:xfrm>
        </p:spPr>
        <p:txBody>
          <a:bodyPr/>
          <a:lstStyle/>
          <a:p>
            <a:r>
              <a:rPr lang="en-IN" b="1" dirty="0" smtClean="0"/>
              <a:t>INTRODUCTION</a:t>
            </a:r>
            <a:endParaRPr lang="en-IN" b="1" dirty="0"/>
          </a:p>
        </p:txBody>
      </p:sp>
      <p:sp>
        <p:nvSpPr>
          <p:cNvPr id="3" name="Rectangle 2"/>
          <p:cNvSpPr/>
          <p:nvPr/>
        </p:nvSpPr>
        <p:spPr>
          <a:xfrm>
            <a:off x="436098" y="970671"/>
            <a:ext cx="10888394" cy="4031873"/>
          </a:xfrm>
          <a:prstGeom prst="rect">
            <a:avLst/>
          </a:prstGeom>
        </p:spPr>
        <p:txBody>
          <a:bodyPr wrap="square">
            <a:spAutoFit/>
          </a:bodyPr>
          <a:lstStyle/>
          <a:p>
            <a:pPr marL="457200" indent="-457200">
              <a:buFont typeface="Arial" pitchFamily="34" charset="0"/>
              <a:buChar char="•"/>
            </a:pPr>
            <a:r>
              <a:rPr lang="en-US" sz="3200" dirty="0"/>
              <a:t>The hard drive provides an illusion of more capacity </a:t>
            </a:r>
            <a:r>
              <a:rPr lang="en-US" sz="3200" dirty="0" smtClean="0"/>
              <a:t>than actually exists </a:t>
            </a:r>
            <a:r>
              <a:rPr lang="en-US" sz="3200" dirty="0"/>
              <a:t>in the main memory. </a:t>
            </a:r>
            <a:endParaRPr lang="en-US" sz="3200" dirty="0" smtClean="0"/>
          </a:p>
          <a:p>
            <a:pPr marL="457200" indent="-457200">
              <a:buFont typeface="Arial" pitchFamily="34" charset="0"/>
              <a:buChar char="•"/>
            </a:pPr>
            <a:r>
              <a:rPr lang="en-US" sz="3200" dirty="0" smtClean="0"/>
              <a:t>It </a:t>
            </a:r>
            <a:r>
              <a:rPr lang="en-US" sz="3200" dirty="0"/>
              <a:t>is thus called </a:t>
            </a:r>
            <a:r>
              <a:rPr lang="en-US" sz="3200" b="1" i="1" dirty="0"/>
              <a:t>virtual memory</a:t>
            </a:r>
            <a:r>
              <a:rPr lang="en-US" sz="3200" b="1" dirty="0"/>
              <a:t>. </a:t>
            </a:r>
            <a:endParaRPr lang="en-US" sz="3200" b="1" dirty="0" smtClean="0"/>
          </a:p>
          <a:p>
            <a:pPr marL="457200" indent="-457200">
              <a:buFont typeface="Arial" pitchFamily="34" charset="0"/>
              <a:buChar char="•"/>
            </a:pPr>
            <a:endParaRPr lang="en-US" sz="3200" b="1" dirty="0" smtClean="0"/>
          </a:p>
          <a:p>
            <a:pPr marL="457200" indent="-457200">
              <a:buFont typeface="Arial" pitchFamily="34" charset="0"/>
              <a:buChar char="•"/>
            </a:pPr>
            <a:r>
              <a:rPr lang="en-US" sz="3200" dirty="0" smtClean="0"/>
              <a:t>Like books in </a:t>
            </a:r>
            <a:r>
              <a:rPr lang="en-US" sz="3200" dirty="0"/>
              <a:t>the basement, data in virtual memory </a:t>
            </a:r>
            <a:r>
              <a:rPr lang="en-US" sz="3200" b="1" dirty="0"/>
              <a:t>takes a long time to access</a:t>
            </a:r>
            <a:r>
              <a:rPr lang="en-US" sz="3200" b="1" dirty="0" smtClean="0"/>
              <a:t>.</a:t>
            </a:r>
          </a:p>
          <a:p>
            <a:pPr marL="457200" indent="-457200">
              <a:buFont typeface="Arial" pitchFamily="34" charset="0"/>
              <a:buChar char="•"/>
            </a:pPr>
            <a:endParaRPr lang="en-US" sz="3200" dirty="0"/>
          </a:p>
          <a:p>
            <a:pPr marL="457200" indent="-457200">
              <a:buFont typeface="Arial" pitchFamily="34" charset="0"/>
              <a:buChar char="•"/>
            </a:pPr>
            <a:r>
              <a:rPr lang="en-US" sz="3200" dirty="0"/>
              <a:t>Main memory, also called </a:t>
            </a:r>
            <a:r>
              <a:rPr lang="en-US" sz="3200" b="1" i="1" dirty="0"/>
              <a:t>physical </a:t>
            </a:r>
            <a:r>
              <a:rPr lang="en-US" sz="3200" b="1" i="1" dirty="0" smtClean="0"/>
              <a:t>memory.</a:t>
            </a:r>
            <a:endParaRPr lang="en-IN" sz="3200" b="1" dirty="0"/>
          </a:p>
        </p:txBody>
      </p:sp>
    </p:spTree>
    <p:extLst>
      <p:ext uri="{BB962C8B-B14F-4D97-AF65-F5344CB8AC3E}">
        <p14:creationId xmlns:p14="http://schemas.microsoft.com/office/powerpoint/2010/main" val="30562459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54274"/>
            <a:ext cx="10364451" cy="999268"/>
          </a:xfrm>
        </p:spPr>
        <p:txBody>
          <a:bodyPr>
            <a:normAutofit fontScale="90000"/>
          </a:bodyPr>
          <a:lstStyle/>
          <a:p>
            <a:r>
              <a:rPr lang="en-US" b="1" dirty="0"/>
              <a:t>capacity and speed trade-off in the memory hierarchy</a:t>
            </a:r>
            <a:endParaRPr lang="en-IN" b="1"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028" t="25198" r="51363" b="48413"/>
          <a:stretch/>
        </p:blipFill>
        <p:spPr bwMode="auto">
          <a:xfrm>
            <a:off x="2598057" y="1320800"/>
            <a:ext cx="7361869" cy="5157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02062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33" y="224622"/>
            <a:ext cx="10364451" cy="619440"/>
          </a:xfrm>
        </p:spPr>
        <p:txBody>
          <a:bodyPr/>
          <a:lstStyle/>
          <a:p>
            <a:r>
              <a:rPr lang="en-IN" b="1" dirty="0"/>
              <a:t>MEMORY SYSTEM PERFORMANCE ANALYSIS</a:t>
            </a:r>
          </a:p>
        </p:txBody>
      </p:sp>
      <p:sp>
        <p:nvSpPr>
          <p:cNvPr id="5" name="Rectangle 4"/>
          <p:cNvSpPr/>
          <p:nvPr/>
        </p:nvSpPr>
        <p:spPr>
          <a:xfrm>
            <a:off x="318867" y="1096332"/>
            <a:ext cx="11160369" cy="2677656"/>
          </a:xfrm>
          <a:prstGeom prst="rect">
            <a:avLst/>
          </a:prstGeom>
        </p:spPr>
        <p:txBody>
          <a:bodyPr wrap="square">
            <a:spAutoFit/>
          </a:bodyPr>
          <a:lstStyle/>
          <a:p>
            <a:pPr marL="457200" indent="-457200">
              <a:buFont typeface="Arial" pitchFamily="34" charset="0"/>
              <a:buChar char="•"/>
            </a:pPr>
            <a:r>
              <a:rPr lang="en-US" sz="2800" dirty="0"/>
              <a:t>Designers (and computer buyers) need quantitative ways to measure </a:t>
            </a:r>
            <a:r>
              <a:rPr lang="en-US" sz="2800" dirty="0" smtClean="0"/>
              <a:t>the performance </a:t>
            </a:r>
            <a:r>
              <a:rPr lang="en-US" sz="2800" dirty="0"/>
              <a:t>of memory systems to evaluate the cost-benefit </a:t>
            </a:r>
            <a:r>
              <a:rPr lang="en-US" sz="2800" dirty="0" smtClean="0"/>
              <a:t>trade-offs of </a:t>
            </a:r>
            <a:r>
              <a:rPr lang="en-US" sz="2800" dirty="0"/>
              <a:t>various alternatives. </a:t>
            </a:r>
            <a:endParaRPr lang="en-US" sz="2800" dirty="0" smtClean="0"/>
          </a:p>
          <a:p>
            <a:pPr marL="457200" indent="-457200">
              <a:buFont typeface="Arial" pitchFamily="34" charset="0"/>
              <a:buChar char="•"/>
            </a:pPr>
            <a:r>
              <a:rPr lang="en-US" sz="2800" dirty="0" smtClean="0"/>
              <a:t>Memory </a:t>
            </a:r>
            <a:r>
              <a:rPr lang="en-US" sz="2800" dirty="0"/>
              <a:t>system performance metrics are </a:t>
            </a:r>
            <a:r>
              <a:rPr lang="en-US" sz="2800" i="1" dirty="0" smtClean="0"/>
              <a:t>miss rate </a:t>
            </a:r>
            <a:r>
              <a:rPr lang="en-US" sz="2800" dirty="0"/>
              <a:t>or </a:t>
            </a:r>
            <a:r>
              <a:rPr lang="en-US" sz="2800" i="1" dirty="0"/>
              <a:t>hit rate </a:t>
            </a:r>
            <a:r>
              <a:rPr lang="en-US" sz="2800" dirty="0"/>
              <a:t>and </a:t>
            </a:r>
            <a:r>
              <a:rPr lang="en-US" sz="2800" i="1" dirty="0"/>
              <a:t>average memory access time</a:t>
            </a:r>
            <a:r>
              <a:rPr lang="en-US" sz="2800" dirty="0"/>
              <a:t>. </a:t>
            </a:r>
            <a:endParaRPr lang="en-US" sz="2800" dirty="0" smtClean="0"/>
          </a:p>
          <a:p>
            <a:pPr marL="457200" indent="-457200">
              <a:buFont typeface="Arial" pitchFamily="34" charset="0"/>
              <a:buChar char="•"/>
            </a:pPr>
            <a:r>
              <a:rPr lang="en-US" sz="2800" dirty="0" smtClean="0"/>
              <a:t>Miss </a:t>
            </a:r>
            <a:r>
              <a:rPr lang="en-US" sz="2800" dirty="0"/>
              <a:t>and hit rates </a:t>
            </a:r>
            <a:r>
              <a:rPr lang="en-US" sz="2800" dirty="0" smtClean="0"/>
              <a:t>are </a:t>
            </a:r>
            <a:r>
              <a:rPr lang="en-IN" sz="2800" dirty="0" smtClean="0"/>
              <a:t>calculated </a:t>
            </a:r>
            <a:r>
              <a:rPr lang="en-IN" sz="2800" dirty="0"/>
              <a:t>as:</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6031" t="53175" r="30726" b="32936"/>
          <a:stretch/>
        </p:blipFill>
        <p:spPr bwMode="auto">
          <a:xfrm>
            <a:off x="14068" y="4023749"/>
            <a:ext cx="12155650" cy="2855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88276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33" y="224622"/>
            <a:ext cx="10364451" cy="619440"/>
          </a:xfrm>
        </p:spPr>
        <p:txBody>
          <a:bodyPr/>
          <a:lstStyle/>
          <a:p>
            <a:r>
              <a:rPr lang="en-IN" b="1" dirty="0"/>
              <a:t>MEMORY SYSTEM PERFORMANCE ANALYSIS</a:t>
            </a:r>
          </a:p>
        </p:txBody>
      </p:sp>
      <p:sp>
        <p:nvSpPr>
          <p:cNvPr id="5" name="Rectangle 4"/>
          <p:cNvSpPr/>
          <p:nvPr/>
        </p:nvSpPr>
        <p:spPr>
          <a:xfrm>
            <a:off x="318867" y="1096332"/>
            <a:ext cx="11160369" cy="483209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Example 8.1 CALCULATING CACHE PERFORMANCE </a:t>
            </a:r>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Suppose a program has 2,000 data access instructions (loads or stores) and 1,250 of these requested data values are found in the cache. The other 750 data values are supplied to the processor by main memory or disk memory. What are the miss and hit rates for the cache</a:t>
            </a:r>
            <a:r>
              <a:rPr lang="en-US" sz="2800" dirty="0" smtClean="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Solution:</a:t>
            </a: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The </a:t>
            </a:r>
            <a:r>
              <a:rPr lang="en-US" sz="2800" dirty="0">
                <a:latin typeface="Times New Roman" panose="02020603050405020304" pitchFamily="18" charset="0"/>
                <a:cs typeface="Times New Roman" panose="02020603050405020304" pitchFamily="18" charset="0"/>
              </a:rPr>
              <a:t>miss rate is 750/2000 = 0.375 = 37.5%.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The </a:t>
            </a:r>
            <a:r>
              <a:rPr lang="en-US" sz="2800" dirty="0">
                <a:latin typeface="Times New Roman" panose="02020603050405020304" pitchFamily="18" charset="0"/>
                <a:cs typeface="Times New Roman" panose="02020603050405020304" pitchFamily="18" charset="0"/>
              </a:rPr>
              <a:t>hit rate is 1250/2000 = 0.625 = 1 − 0.375 = 62.5%</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8960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18865" y="167864"/>
            <a:ext cx="11610537" cy="4401205"/>
          </a:xfrm>
          <a:prstGeom prst="rect">
            <a:avLst/>
          </a:prstGeom>
        </p:spPr>
        <p:txBody>
          <a:bodyPr wrap="square">
            <a:spAutoFit/>
          </a:bodyPr>
          <a:lstStyle/>
          <a:p>
            <a:pPr marL="457200" indent="-457200">
              <a:buFont typeface="Arial" pitchFamily="34" charset="0"/>
              <a:buChar char="•"/>
            </a:pPr>
            <a:r>
              <a:rPr lang="en-US" sz="2800" b="1" i="1" dirty="0"/>
              <a:t>Average memory access time </a:t>
            </a:r>
            <a:r>
              <a:rPr lang="en-US" sz="2800" dirty="0"/>
              <a:t>(</a:t>
            </a:r>
            <a:r>
              <a:rPr lang="en-US" sz="2800" i="1" dirty="0"/>
              <a:t>AMAT</a:t>
            </a:r>
            <a:r>
              <a:rPr lang="en-US" sz="2800" dirty="0"/>
              <a:t>) is the average time a </a:t>
            </a:r>
            <a:r>
              <a:rPr lang="en-US" sz="2800" dirty="0" smtClean="0"/>
              <a:t>processor must </a:t>
            </a:r>
            <a:r>
              <a:rPr lang="en-US" sz="2800" dirty="0"/>
              <a:t>wait for memory per </a:t>
            </a:r>
            <a:r>
              <a:rPr lang="en-US" sz="2800" b="1" dirty="0"/>
              <a:t>load or store instruction</a:t>
            </a:r>
            <a:r>
              <a:rPr lang="en-US" sz="2800" dirty="0"/>
              <a: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In </a:t>
            </a:r>
            <a:r>
              <a:rPr lang="en-US" sz="2800" dirty="0"/>
              <a:t>the </a:t>
            </a:r>
            <a:r>
              <a:rPr lang="en-US" sz="2800" dirty="0" smtClean="0"/>
              <a:t>typical computer </a:t>
            </a:r>
            <a:r>
              <a:rPr lang="en-US" sz="2800" dirty="0"/>
              <a:t>system from Figure 8.3, the processor first looks for the </a:t>
            </a:r>
            <a:r>
              <a:rPr lang="en-US" sz="2800" dirty="0" smtClean="0"/>
              <a:t>data in </a:t>
            </a:r>
            <a:r>
              <a:rPr lang="en-US" sz="2800" dirty="0"/>
              <a:t>the cache.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If </a:t>
            </a:r>
            <a:r>
              <a:rPr lang="en-US" sz="2800" dirty="0"/>
              <a:t>the cache misses, the processor then looks in main memory</a:t>
            </a:r>
            <a:r>
              <a:rPr lang="en-US" sz="2800" dirty="0" smtClean="0"/>
              <a:t>.</a:t>
            </a:r>
          </a:p>
          <a:p>
            <a:pPr marL="457200" indent="-457200">
              <a:buFont typeface="Arial" pitchFamily="34" charset="0"/>
              <a:buChar char="•"/>
            </a:pPr>
            <a:endParaRPr lang="en-US" sz="2800" dirty="0"/>
          </a:p>
          <a:p>
            <a:pPr marL="457200" indent="-457200">
              <a:buFont typeface="Arial" pitchFamily="34" charset="0"/>
              <a:buChar char="•"/>
            </a:pPr>
            <a:r>
              <a:rPr lang="en-US" sz="2800" dirty="0"/>
              <a:t>If the main memory misses, the processor accesses virtual </a:t>
            </a:r>
            <a:r>
              <a:rPr lang="en-US" sz="2800" dirty="0" smtClean="0"/>
              <a:t>memory on </a:t>
            </a:r>
            <a:r>
              <a:rPr lang="en-US" sz="2800" dirty="0"/>
              <a:t>the hard disk. Thus, </a:t>
            </a:r>
            <a:r>
              <a:rPr lang="en-US" sz="2800" i="1" dirty="0"/>
              <a:t>AMAT </a:t>
            </a:r>
            <a:r>
              <a:rPr lang="en-US" sz="2800" dirty="0"/>
              <a:t>is calculated as:</a:t>
            </a:r>
            <a:endParaRPr lang="en-IN" sz="2800" dirty="0"/>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5358" t="54039" r="21578" b="41270"/>
          <a:stretch/>
        </p:blipFill>
        <p:spPr bwMode="auto">
          <a:xfrm>
            <a:off x="541582" y="5330092"/>
            <a:ext cx="10714935" cy="1225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07195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1582" y="3182705"/>
            <a:ext cx="11176806" cy="2554545"/>
          </a:xfrm>
          <a:prstGeom prst="rect">
            <a:avLst/>
          </a:prstGeom>
        </p:spPr>
        <p:txBody>
          <a:bodyPr wrap="square">
            <a:spAutoFit/>
          </a:bodyPr>
          <a:lstStyle/>
          <a:p>
            <a:r>
              <a:rPr lang="en-US" sz="3200" dirty="0">
                <a:latin typeface="SabonLTStd-Roman"/>
              </a:rPr>
              <a:t>where </a:t>
            </a:r>
            <a:r>
              <a:rPr lang="en-US" sz="3200" b="1" i="1" dirty="0" err="1" smtClean="0">
                <a:latin typeface="SabonLTStd-Italic"/>
              </a:rPr>
              <a:t>t</a:t>
            </a:r>
            <a:r>
              <a:rPr lang="en-US" sz="1600" b="1" dirty="0" err="1" smtClean="0">
                <a:latin typeface="SabonLTStd-Roman"/>
              </a:rPr>
              <a:t>cache</a:t>
            </a:r>
            <a:r>
              <a:rPr lang="en-US" sz="3200" b="1" dirty="0" smtClean="0">
                <a:latin typeface="SabonLTStd-Roman"/>
              </a:rPr>
              <a:t>, </a:t>
            </a:r>
            <a:r>
              <a:rPr lang="en-US" sz="3200" b="1" i="1" dirty="0" err="1" smtClean="0">
                <a:latin typeface="SabonLTStd-Italic"/>
              </a:rPr>
              <a:t>t</a:t>
            </a:r>
            <a:r>
              <a:rPr lang="en-US" sz="1400" b="1" i="1" dirty="0" err="1" smtClean="0">
                <a:latin typeface="SabonLTStd-Italic"/>
              </a:rPr>
              <a:t>MM</a:t>
            </a:r>
            <a:r>
              <a:rPr lang="en-US" sz="3200" b="1" dirty="0" smtClean="0">
                <a:latin typeface="SabonLTStd-Roman"/>
              </a:rPr>
              <a:t>, and </a:t>
            </a:r>
            <a:r>
              <a:rPr lang="en-US" sz="3200" b="1" i="1" dirty="0" err="1" smtClean="0">
                <a:latin typeface="SabonLTStd-Italic"/>
              </a:rPr>
              <a:t>t</a:t>
            </a:r>
            <a:r>
              <a:rPr lang="en-US" sz="1400" b="1" i="1" dirty="0" err="1" smtClean="0">
                <a:latin typeface="SabonLTStd-Italic"/>
              </a:rPr>
              <a:t>VM</a:t>
            </a:r>
            <a:r>
              <a:rPr lang="en-US" sz="1100" b="1" i="1" dirty="0" smtClean="0">
                <a:latin typeface="SabonLTStd-Italic"/>
              </a:rPr>
              <a:t>  </a:t>
            </a:r>
            <a:r>
              <a:rPr lang="en-US" sz="3200" dirty="0" smtClean="0">
                <a:latin typeface="SabonLTStd-Roman"/>
              </a:rPr>
              <a:t>are the </a:t>
            </a:r>
            <a:r>
              <a:rPr lang="en-US" sz="3200" dirty="0">
                <a:latin typeface="SabonLTStd-Roman"/>
              </a:rPr>
              <a:t>access times of the cache, main </a:t>
            </a:r>
            <a:r>
              <a:rPr lang="en-US" sz="3200" dirty="0" smtClean="0">
                <a:latin typeface="SabonLTStd-Roman"/>
              </a:rPr>
              <a:t>memory, and </a:t>
            </a:r>
            <a:r>
              <a:rPr lang="en-US" sz="3200" dirty="0">
                <a:latin typeface="SabonLTStd-Roman"/>
              </a:rPr>
              <a:t>virtual memory, </a:t>
            </a:r>
            <a:endParaRPr lang="en-US" sz="3200" dirty="0" smtClean="0">
              <a:latin typeface="SabonLTStd-Roman"/>
            </a:endParaRPr>
          </a:p>
          <a:p>
            <a:endParaRPr lang="en-US" sz="3200" dirty="0">
              <a:latin typeface="SabonLTStd-Roman"/>
            </a:endParaRPr>
          </a:p>
          <a:p>
            <a:r>
              <a:rPr lang="en-US" sz="3200" i="1" dirty="0" err="1" smtClean="0">
                <a:latin typeface="SabonLTStd-Italic"/>
              </a:rPr>
              <a:t>MR</a:t>
            </a:r>
            <a:r>
              <a:rPr lang="en-US" dirty="0" err="1" smtClean="0">
                <a:latin typeface="SabonLTStd-Roman"/>
              </a:rPr>
              <a:t>cache</a:t>
            </a:r>
            <a:r>
              <a:rPr lang="en-US" sz="1100" dirty="0" smtClean="0">
                <a:latin typeface="SabonLTStd-Roman"/>
              </a:rPr>
              <a:t> </a:t>
            </a:r>
            <a:r>
              <a:rPr lang="en-US" sz="3200" dirty="0">
                <a:latin typeface="SabonLTStd-Roman"/>
              </a:rPr>
              <a:t>and </a:t>
            </a:r>
            <a:r>
              <a:rPr lang="en-US" sz="3200" i="1" dirty="0">
                <a:latin typeface="SabonLTStd-Italic"/>
              </a:rPr>
              <a:t>MR</a:t>
            </a:r>
            <a:r>
              <a:rPr lang="en-US" sz="1600" b="1" i="1" dirty="0">
                <a:latin typeface="SabonLTStd-Italic"/>
              </a:rPr>
              <a:t>MM</a:t>
            </a:r>
            <a:r>
              <a:rPr lang="en-US" sz="1100" i="1" dirty="0">
                <a:latin typeface="SabonLTStd-Italic"/>
              </a:rPr>
              <a:t> </a:t>
            </a:r>
            <a:r>
              <a:rPr lang="en-US" sz="3200" dirty="0">
                <a:latin typeface="SabonLTStd-Roman"/>
              </a:rPr>
              <a:t>are the cache and </a:t>
            </a:r>
            <a:r>
              <a:rPr lang="en-US" sz="3200" dirty="0" smtClean="0">
                <a:latin typeface="SabonLTStd-Roman"/>
              </a:rPr>
              <a:t>main </a:t>
            </a:r>
            <a:r>
              <a:rPr lang="en-IN" sz="3200" dirty="0" smtClean="0">
                <a:latin typeface="SabonLTStd-Roman"/>
              </a:rPr>
              <a:t>memory </a:t>
            </a:r>
            <a:r>
              <a:rPr lang="en-IN" sz="3200" dirty="0">
                <a:latin typeface="SabonLTStd-Roman"/>
              </a:rPr>
              <a:t>miss rates, respectively.</a:t>
            </a:r>
            <a:endParaRPr lang="en-IN" sz="3200" dirty="0"/>
          </a:p>
        </p:txBody>
      </p:sp>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5358" t="54039" r="21578" b="41270"/>
          <a:stretch/>
        </p:blipFill>
        <p:spPr bwMode="auto">
          <a:xfrm>
            <a:off x="541582" y="1250462"/>
            <a:ext cx="10714935" cy="1225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4972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1582" y="566057"/>
            <a:ext cx="11176806" cy="526297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Example 8.2 CALCULATING AVERAGE MEMORY ACCESS </a:t>
            </a:r>
            <a:r>
              <a:rPr lang="en-US" sz="2800" dirty="0" smtClean="0">
                <a:latin typeface="Times New Roman" panose="02020603050405020304" pitchFamily="18" charset="0"/>
                <a:cs typeface="Times New Roman" panose="02020603050405020304" pitchFamily="18" charset="0"/>
              </a:rPr>
              <a:t>TIME</a:t>
            </a:r>
          </a:p>
          <a:p>
            <a:r>
              <a:rPr lang="en-US" sz="2800" dirty="0" smtClean="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Suppose a computer system has a memory organization with only two levels of hierarchy, a cache and main memory. What is the average memory access time given the access times and miss rates in Table 8.1? </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Solution The average memory access time is 1 + 0.1(100) = 11 cycles.</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lc="http://schemas.openxmlformats.org/drawingml/2006/lockedCanvas" xmlns:a16="http://schemas.microsoft.com/office/drawing/2014/main" xmlns="" id="{CF714956-6BD9-24FA-242B-B9667A8021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2432" y="2911898"/>
            <a:ext cx="7442648" cy="2039929"/>
          </a:xfrm>
          <a:prstGeom prst="rect">
            <a:avLst/>
          </a:prstGeom>
        </p:spPr>
      </p:pic>
    </p:spTree>
    <p:extLst>
      <p:ext uri="{BB962C8B-B14F-4D97-AF65-F5344CB8AC3E}">
        <p14:creationId xmlns:p14="http://schemas.microsoft.com/office/powerpoint/2010/main" val="1263597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1582" y="566057"/>
            <a:ext cx="11176806" cy="483209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Example 8.3 IMPROVING ACCESS TIME</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An 11-cycle average memory access time means that the processor spends ten cycles waiting for data for every one cycle actually using that data. What cache miss rate is needed to reduce the average memory access time to 1.5 cycles given the access times in Table 8.1? </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lc="http://schemas.openxmlformats.org/drawingml/2006/lockedCanvas" xmlns:a16="http://schemas.microsoft.com/office/drawing/2014/main" xmlns="" id="{CF714956-6BD9-24FA-242B-B9667A8021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620" y="3502742"/>
            <a:ext cx="7442648" cy="2039929"/>
          </a:xfrm>
          <a:prstGeom prst="rect">
            <a:avLst/>
          </a:prstGeom>
        </p:spPr>
      </p:pic>
    </p:spTree>
    <p:extLst>
      <p:ext uri="{BB962C8B-B14F-4D97-AF65-F5344CB8AC3E}">
        <p14:creationId xmlns:p14="http://schemas.microsoft.com/office/powerpoint/2010/main" val="8122421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1582" y="566057"/>
            <a:ext cx="11176806" cy="5693866"/>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Solution </a:t>
            </a:r>
          </a:p>
          <a:p>
            <a:r>
              <a:rPr lang="en-US" sz="2800" dirty="0">
                <a:latin typeface="Times New Roman" panose="02020603050405020304" pitchFamily="18" charset="0"/>
                <a:cs typeface="Times New Roman" panose="02020603050405020304" pitchFamily="18" charset="0"/>
              </a:rPr>
              <a:t>If the miss rate is m, the average access time is 1 + 100m. Setting this time to 1.5 and solving for m requires a cache miss rate of 0.5%.</a:t>
            </a:r>
            <a:endParaRPr lang="en-IN" sz="2800"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Given</a:t>
            </a:r>
          </a:p>
          <a:p>
            <a:r>
              <a:rPr lang="en-US" sz="2800" dirty="0">
                <a:latin typeface="Times New Roman" panose="02020603050405020304" pitchFamily="18" charset="0"/>
                <a:cs typeface="Times New Roman" panose="02020603050405020304" pitchFamily="18" charset="0"/>
              </a:rPr>
              <a:t>From Table 8.1:</a:t>
            </a:r>
          </a:p>
          <a:p>
            <a:r>
              <a:rPr lang="en-US" sz="2800" dirty="0">
                <a:latin typeface="Times New Roman" panose="02020603050405020304" pitchFamily="18" charset="0"/>
                <a:cs typeface="Times New Roman" panose="02020603050405020304" pitchFamily="18" charset="0"/>
              </a:rPr>
              <a:t>Cache access time = 1 cycle</a:t>
            </a:r>
          </a:p>
          <a:p>
            <a:r>
              <a:rPr lang="en-US" sz="2800" dirty="0">
                <a:latin typeface="Times New Roman" panose="02020603050405020304" pitchFamily="18" charset="0"/>
                <a:cs typeface="Times New Roman" panose="02020603050405020304" pitchFamily="18" charset="0"/>
              </a:rPr>
              <a:t>Main memory access time (miss penalty) = 100 cycles</a:t>
            </a:r>
          </a:p>
          <a:p>
            <a:r>
              <a:rPr lang="en-US" sz="2800" dirty="0">
                <a:latin typeface="Times New Roman" panose="02020603050405020304" pitchFamily="18" charset="0"/>
                <a:cs typeface="Times New Roman" panose="02020603050405020304" pitchFamily="18" charset="0"/>
              </a:rPr>
              <a:t>Desired average memory access time (AMAT) = 1.5 cycles</a:t>
            </a:r>
          </a:p>
          <a:p>
            <a:r>
              <a:rPr lang="en-US" sz="2800" dirty="0">
                <a:latin typeface="Times New Roman" panose="02020603050405020304" pitchFamily="18" charset="0"/>
                <a:cs typeface="Times New Roman" panose="02020603050405020304" pitchFamily="18" charset="0"/>
              </a:rPr>
              <a:t>Let the cache miss rate = m.</a:t>
            </a:r>
          </a:p>
          <a:p>
            <a:endParaRPr lang="en-US" sz="2800" dirty="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3222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541582" y="566057"/>
                <a:ext cx="11176806" cy="6124754"/>
              </a:xfrm>
              <a:prstGeom prst="rect">
                <a:avLst/>
              </a:prstGeom>
            </p:spPr>
            <p:txBody>
              <a:bodyPr wrap="square">
                <a:spAutoFit/>
              </a:bodyPr>
              <a:lstStyle/>
              <a:p>
                <a:r>
                  <a:rPr lang="en-IN" sz="2800" dirty="0">
                    <a:latin typeface="Times New Roman" panose="02020603050405020304" pitchFamily="18" charset="0"/>
                    <a:cs typeface="Times New Roman" panose="02020603050405020304" pitchFamily="18" charset="0"/>
                  </a:rPr>
                  <a:t>For a two-level memory hierarchy:</a:t>
                </a:r>
              </a:p>
              <a:p>
                <a:pPr/>
                <a14:m>
                  <m:oMathPara xmlns:m="http://schemas.openxmlformats.org/officeDocument/2006/math">
                    <m:oMathParaPr>
                      <m:jc m:val="centerGroup"/>
                    </m:oMathParaPr>
                    <m:oMath xmlns:m="http://schemas.openxmlformats.org/officeDocument/2006/math">
                      <m:r>
                        <m:rPr>
                          <m:nor/>
                        </m:rPr>
                        <a:rPr lang="en-IN" sz="2800">
                          <a:latin typeface="Times New Roman" panose="02020603050405020304" pitchFamily="18" charset="0"/>
                          <a:cs typeface="Times New Roman" panose="02020603050405020304" pitchFamily="18" charset="0"/>
                        </a:rPr>
                        <m:t>AMAT</m:t>
                      </m:r>
                      <m:r>
                        <a:rPr lang="en-IN" sz="2800">
                          <a:latin typeface="Cambria Math" panose="02040503050406030204" pitchFamily="18" charset="0"/>
                        </a:rPr>
                        <m:t>=</m:t>
                      </m:r>
                      <m:r>
                        <m:rPr>
                          <m:nor/>
                        </m:rPr>
                        <a:rPr lang="en-IN" sz="2800" i="1">
                          <a:latin typeface="Times New Roman" panose="02020603050405020304" pitchFamily="18" charset="0"/>
                          <a:cs typeface="Times New Roman" panose="02020603050405020304" pitchFamily="18" charset="0"/>
                        </a:rPr>
                        <m:t>Cache</m:t>
                      </m:r>
                      <m:r>
                        <m:rPr>
                          <m:nor/>
                        </m:rPr>
                        <a:rPr lang="en-IN" sz="2800" i="1">
                          <a:latin typeface="Times New Roman" panose="02020603050405020304" pitchFamily="18" charset="0"/>
                          <a:cs typeface="Times New Roman" panose="02020603050405020304" pitchFamily="18" charset="0"/>
                        </a:rPr>
                        <m:t> </m:t>
                      </m:r>
                      <m:r>
                        <m:rPr>
                          <m:nor/>
                        </m:rPr>
                        <a:rPr lang="en-IN" sz="2800" i="1">
                          <a:latin typeface="Times New Roman" panose="02020603050405020304" pitchFamily="18" charset="0"/>
                          <a:cs typeface="Times New Roman" panose="02020603050405020304" pitchFamily="18" charset="0"/>
                        </a:rPr>
                        <m:t>access</m:t>
                      </m:r>
                      <m:r>
                        <m:rPr>
                          <m:nor/>
                        </m:rPr>
                        <a:rPr lang="en-IN" sz="2800" i="1">
                          <a:latin typeface="Times New Roman" panose="02020603050405020304" pitchFamily="18" charset="0"/>
                          <a:cs typeface="Times New Roman" panose="02020603050405020304" pitchFamily="18" charset="0"/>
                        </a:rPr>
                        <m:t> </m:t>
                      </m:r>
                      <m:r>
                        <m:rPr>
                          <m:nor/>
                        </m:rPr>
                        <a:rPr lang="en-IN" sz="2800" i="1">
                          <a:latin typeface="Times New Roman" panose="02020603050405020304" pitchFamily="18" charset="0"/>
                          <a:cs typeface="Times New Roman" panose="02020603050405020304" pitchFamily="18" charset="0"/>
                        </a:rPr>
                        <m:t>time</m:t>
                      </m:r>
                      <m:r>
                        <a:rPr lang="en-IN" sz="2800">
                          <a:latin typeface="Cambria Math" panose="02040503050406030204" pitchFamily="18" charset="0"/>
                        </a:rPr>
                        <m:t>+</m:t>
                      </m:r>
                      <m:d>
                        <m:dPr>
                          <m:ctrlPr>
                            <a:rPr lang="ar-AE" sz="2800" i="1">
                              <a:latin typeface="Cambria Math"/>
                            </a:rPr>
                          </m:ctrlPr>
                        </m:dPr>
                        <m:e>
                          <m:r>
                            <m:rPr>
                              <m:nor/>
                            </m:rPr>
                            <a:rPr lang="en-IN" sz="2800" i="1">
                              <a:latin typeface="Times New Roman" panose="02020603050405020304" pitchFamily="18" charset="0"/>
                              <a:cs typeface="Times New Roman" panose="02020603050405020304" pitchFamily="18" charset="0"/>
                            </a:rPr>
                            <m:t>Miss</m:t>
                          </m:r>
                          <m:r>
                            <m:rPr>
                              <m:nor/>
                            </m:rPr>
                            <a:rPr lang="en-IN" sz="2800" i="1">
                              <a:latin typeface="Times New Roman" panose="02020603050405020304" pitchFamily="18" charset="0"/>
                              <a:cs typeface="Times New Roman" panose="02020603050405020304" pitchFamily="18" charset="0"/>
                            </a:rPr>
                            <m:t> </m:t>
                          </m:r>
                          <m:r>
                            <m:rPr>
                              <m:nor/>
                            </m:rPr>
                            <a:rPr lang="en-IN" sz="2800" i="1">
                              <a:latin typeface="Times New Roman" panose="02020603050405020304" pitchFamily="18" charset="0"/>
                              <a:cs typeface="Times New Roman" panose="02020603050405020304" pitchFamily="18" charset="0"/>
                            </a:rPr>
                            <m:t>rate</m:t>
                          </m:r>
                          <m:r>
                            <a:rPr lang="en-IN" sz="2800">
                              <a:latin typeface="Cambria Math" panose="02040503050406030204" pitchFamily="18" charset="0"/>
                            </a:rPr>
                            <m:t>×</m:t>
                          </m:r>
                          <m:r>
                            <m:rPr>
                              <m:nor/>
                            </m:rPr>
                            <a:rPr lang="en-IN" sz="2800" i="1">
                              <a:latin typeface="Times New Roman" panose="02020603050405020304" pitchFamily="18" charset="0"/>
                              <a:cs typeface="Times New Roman" panose="02020603050405020304" pitchFamily="18" charset="0"/>
                            </a:rPr>
                            <m:t>Miss</m:t>
                          </m:r>
                          <m:r>
                            <m:rPr>
                              <m:nor/>
                            </m:rPr>
                            <a:rPr lang="en-IN" sz="2800" i="1">
                              <a:latin typeface="Times New Roman" panose="02020603050405020304" pitchFamily="18" charset="0"/>
                              <a:cs typeface="Times New Roman" panose="02020603050405020304" pitchFamily="18" charset="0"/>
                            </a:rPr>
                            <m:t> </m:t>
                          </m:r>
                          <m:r>
                            <m:rPr>
                              <m:nor/>
                            </m:rPr>
                            <a:rPr lang="en-IN" sz="2800" i="1">
                              <a:latin typeface="Times New Roman" panose="02020603050405020304" pitchFamily="18" charset="0"/>
                              <a:cs typeface="Times New Roman" panose="02020603050405020304" pitchFamily="18" charset="0"/>
                            </a:rPr>
                            <m:t>penalty</m:t>
                          </m:r>
                        </m:e>
                      </m:d>
                    </m:oMath>
                  </m:oMathPara>
                </a14:m>
                <a:endParaRPr lang="ar-AE"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Substitute the known values:</a:t>
                </a:r>
              </a:p>
              <a:p>
                <a:pPr/>
                <a14:m>
                  <m:oMathPara xmlns:m="http://schemas.openxmlformats.org/officeDocument/2006/math">
                    <m:oMathParaPr>
                      <m:jc m:val="centerGroup"/>
                    </m:oMathParaPr>
                    <m:oMath xmlns:m="http://schemas.openxmlformats.org/officeDocument/2006/math">
                      <m:r>
                        <m:rPr>
                          <m:nor/>
                        </m:rPr>
                        <a:rPr lang="en-IN" sz="2800">
                          <a:latin typeface="Times New Roman" panose="02020603050405020304" pitchFamily="18" charset="0"/>
                          <a:cs typeface="Times New Roman" panose="02020603050405020304" pitchFamily="18" charset="0"/>
                        </a:rPr>
                        <m:t>AMAT</m:t>
                      </m:r>
                      <m:r>
                        <a:rPr lang="en-IN" sz="2800">
                          <a:latin typeface="Cambria Math" panose="02040503050406030204" pitchFamily="18" charset="0"/>
                        </a:rPr>
                        <m:t>=</m:t>
                      </m:r>
                      <m:r>
                        <a:rPr lang="en-IN" sz="2800">
                          <a:latin typeface="Cambria Math" panose="02040503050406030204" pitchFamily="18" charset="0"/>
                        </a:rPr>
                        <m:t>1</m:t>
                      </m:r>
                      <m:r>
                        <a:rPr lang="en-IN" sz="2800">
                          <a:latin typeface="Cambria Math" panose="02040503050406030204" pitchFamily="18" charset="0"/>
                        </a:rPr>
                        <m:t>+</m:t>
                      </m:r>
                      <m:r>
                        <a:rPr lang="en-IN" sz="2800">
                          <a:latin typeface="Cambria Math" panose="02040503050406030204" pitchFamily="18" charset="0"/>
                        </a:rPr>
                        <m:t>100</m:t>
                      </m:r>
                      <m:r>
                        <a:rPr lang="en-IN" sz="2800" i="1">
                          <a:latin typeface="Cambria Math" panose="02040503050406030204" pitchFamily="18" charset="0"/>
                        </a:rPr>
                        <m:t>𝑚</m:t>
                      </m:r>
                    </m:oMath>
                  </m:oMathPara>
                </a14:m>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Set the AMAT to </a:t>
                </a:r>
                <a:r>
                  <a:rPr lang="en-US" sz="2800" b="1" dirty="0">
                    <a:latin typeface="Times New Roman" panose="02020603050405020304" pitchFamily="18" charset="0"/>
                    <a:cs typeface="Times New Roman" panose="02020603050405020304" pitchFamily="18" charset="0"/>
                  </a:rPr>
                  <a:t>1.5 cycles</a:t>
                </a:r>
                <a:r>
                  <a:rPr lang="en-US" sz="2800" dirty="0">
                    <a:latin typeface="Times New Roman" panose="02020603050405020304" pitchFamily="18" charset="0"/>
                    <a:cs typeface="Times New Roman" panose="02020603050405020304" pitchFamily="18" charset="0"/>
                  </a:rPr>
                  <a:t>:</a:t>
                </a:r>
              </a:p>
              <a:p>
                <a:pPr/>
                <a14:m>
                  <m:oMathPara xmlns:m="http://schemas.openxmlformats.org/officeDocument/2006/math">
                    <m:oMathParaPr>
                      <m:jc m:val="centerGroup"/>
                    </m:oMathParaPr>
                    <m:oMath xmlns:m="http://schemas.openxmlformats.org/officeDocument/2006/math">
                      <m:r>
                        <a:rPr lang="en-US" sz="2800">
                          <a:latin typeface="Cambria Math" panose="02040503050406030204" pitchFamily="18" charset="0"/>
                        </a:rPr>
                        <m:t>1</m:t>
                      </m:r>
                      <m:r>
                        <a:rPr lang="en-US" sz="2800">
                          <a:latin typeface="Cambria Math" panose="02040503050406030204" pitchFamily="18" charset="0"/>
                        </a:rPr>
                        <m:t>+</m:t>
                      </m:r>
                      <m:r>
                        <a:rPr lang="en-US" sz="2800">
                          <a:latin typeface="Cambria Math" panose="02040503050406030204" pitchFamily="18" charset="0"/>
                        </a:rPr>
                        <m:t>100</m:t>
                      </m:r>
                      <m:r>
                        <a:rPr lang="en-US" sz="2800" i="1">
                          <a:latin typeface="Cambria Math" panose="02040503050406030204" pitchFamily="18" charset="0"/>
                        </a:rPr>
                        <m:t>𝑚</m:t>
                      </m:r>
                      <m:r>
                        <a:rPr lang="en-US" sz="2800">
                          <a:latin typeface="Cambria Math" panose="02040503050406030204" pitchFamily="18" charset="0"/>
                        </a:rPr>
                        <m:t>=</m:t>
                      </m:r>
                      <m:r>
                        <a:rPr lang="en-US" sz="2800">
                          <a:latin typeface="Cambria Math" panose="02040503050406030204" pitchFamily="18" charset="0"/>
                        </a:rPr>
                        <m:t>1</m:t>
                      </m:r>
                      <m:r>
                        <a:rPr lang="en-US" sz="2800">
                          <a:latin typeface="Cambria Math" panose="02040503050406030204" pitchFamily="18" charset="0"/>
                        </a:rPr>
                        <m:t>.</m:t>
                      </m:r>
                      <m:r>
                        <a:rPr lang="en-US" sz="2800">
                          <a:latin typeface="Cambria Math" panose="02040503050406030204" pitchFamily="18" charset="0"/>
                        </a:rPr>
                        <m:t>5</m:t>
                      </m:r>
                    </m:oMath>
                  </m:oMathPara>
                </a14:m>
                <a:endParaRPr lang="en-US" sz="28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800">
                          <a:latin typeface="Cambria Math" panose="02040503050406030204" pitchFamily="18" charset="0"/>
                        </a:rPr>
                        <m:t>100</m:t>
                      </m:r>
                      <m:r>
                        <a:rPr lang="en-US" sz="2800" i="1">
                          <a:latin typeface="Cambria Math" panose="02040503050406030204" pitchFamily="18" charset="0"/>
                        </a:rPr>
                        <m:t>𝑚</m:t>
                      </m:r>
                      <m:r>
                        <a:rPr lang="en-US" sz="2800">
                          <a:latin typeface="Cambria Math" panose="02040503050406030204" pitchFamily="18" charset="0"/>
                        </a:rPr>
                        <m:t>=</m:t>
                      </m:r>
                      <m:r>
                        <a:rPr lang="en-US" sz="2800">
                          <a:latin typeface="Cambria Math" panose="02040503050406030204" pitchFamily="18" charset="0"/>
                        </a:rPr>
                        <m:t>0</m:t>
                      </m:r>
                      <m:r>
                        <a:rPr lang="en-US" sz="2800">
                          <a:latin typeface="Cambria Math" panose="02040503050406030204" pitchFamily="18" charset="0"/>
                        </a:rPr>
                        <m:t>.</m:t>
                      </m:r>
                      <m:r>
                        <a:rPr lang="en-US" sz="2800">
                          <a:latin typeface="Cambria Math" panose="02040503050406030204" pitchFamily="18" charset="0"/>
                        </a:rPr>
                        <m:t>5</m:t>
                      </m:r>
                    </m:oMath>
                  </m:oMathPara>
                </a14:m>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Divide by 100:</a:t>
                </a: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𝑚</m:t>
                      </m:r>
                      <m:r>
                        <a:rPr lang="en-US" sz="2800">
                          <a:latin typeface="Cambria Math" panose="02040503050406030204" pitchFamily="18" charset="0"/>
                        </a:rPr>
                        <m:t>=</m:t>
                      </m:r>
                      <m:r>
                        <a:rPr lang="en-US" sz="2800">
                          <a:latin typeface="Cambria Math" panose="02040503050406030204" pitchFamily="18" charset="0"/>
                        </a:rPr>
                        <m:t>0</m:t>
                      </m:r>
                      <m:r>
                        <a:rPr lang="en-US" sz="2800">
                          <a:latin typeface="Cambria Math" panose="02040503050406030204" pitchFamily="18" charset="0"/>
                        </a:rPr>
                        <m:t>.</m:t>
                      </m:r>
                      <m:r>
                        <a:rPr lang="en-US" sz="2800">
                          <a:latin typeface="Cambria Math" panose="02040503050406030204" pitchFamily="18" charset="0"/>
                        </a:rPr>
                        <m:t>005</m:t>
                      </m:r>
                    </m:oMath>
                  </m:oMathPara>
                </a14:m>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Convert to percentage</a:t>
                </a: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𝑚</m:t>
                      </m:r>
                      <m:r>
                        <a:rPr lang="en-US" sz="2800">
                          <a:latin typeface="Cambria Math" panose="02040503050406030204" pitchFamily="18" charset="0"/>
                        </a:rPr>
                        <m:t>=</m:t>
                      </m:r>
                      <m:r>
                        <a:rPr lang="en-US" sz="2800">
                          <a:latin typeface="Cambria Math" panose="02040503050406030204" pitchFamily="18" charset="0"/>
                        </a:rPr>
                        <m:t>0</m:t>
                      </m:r>
                      <m:r>
                        <a:rPr lang="en-US" sz="2800">
                          <a:latin typeface="Cambria Math" panose="02040503050406030204" pitchFamily="18" charset="0"/>
                        </a:rPr>
                        <m:t>.</m:t>
                      </m:r>
                      <m:r>
                        <a:rPr lang="en-US" sz="2800">
                          <a:latin typeface="Cambria Math" panose="02040503050406030204" pitchFamily="18" charset="0"/>
                        </a:rPr>
                        <m:t>005</m:t>
                      </m:r>
                      <m:r>
                        <a:rPr lang="en-US" sz="2800">
                          <a:latin typeface="Cambria Math" panose="02040503050406030204" pitchFamily="18" charset="0"/>
                        </a:rPr>
                        <m:t>×</m:t>
                      </m:r>
                      <m:r>
                        <a:rPr lang="en-US" sz="2800">
                          <a:latin typeface="Cambria Math" panose="02040503050406030204" pitchFamily="18" charset="0"/>
                        </a:rPr>
                        <m:t>100</m:t>
                      </m:r>
                      <m:r>
                        <a:rPr lang="en-US" sz="2800">
                          <a:latin typeface="Cambria Math" panose="02040503050406030204" pitchFamily="18" charset="0"/>
                        </a:rPr>
                        <m:t>=</m:t>
                      </m:r>
                      <m:r>
                        <a:rPr lang="en-US" sz="2800">
                          <a:latin typeface="Cambria Math" panose="02040503050406030204" pitchFamily="18" charset="0"/>
                        </a:rPr>
                        <m:t>0</m:t>
                      </m:r>
                      <m:r>
                        <a:rPr lang="en-US" sz="2800">
                          <a:latin typeface="Cambria Math" panose="02040503050406030204" pitchFamily="18" charset="0"/>
                        </a:rPr>
                        <m:t>.</m:t>
                      </m:r>
                      <m:r>
                        <a:rPr lang="en-US" sz="2800">
                          <a:latin typeface="Cambria Math" panose="02040503050406030204" pitchFamily="18" charset="0"/>
                        </a:rPr>
                        <m:t>5</m:t>
                      </m:r>
                      <m:r>
                        <a:rPr lang="en-US" sz="2800">
                          <a:latin typeface="Cambria Math" panose="02040503050406030204" pitchFamily="18" charset="0"/>
                        </a:rPr>
                        <m:t>%</m:t>
                      </m:r>
                    </m:oMath>
                  </m:oMathPara>
                </a14:m>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541582" y="566057"/>
                <a:ext cx="11176806" cy="6124754"/>
              </a:xfrm>
              <a:prstGeom prst="rect">
                <a:avLst/>
              </a:prstGeom>
              <a:blipFill rotWithShape="1">
                <a:blip r:embed="rId2"/>
                <a:stretch>
                  <a:fillRect l="-1146" t="-995" b="-1791"/>
                </a:stretch>
              </a:blipFill>
            </p:spPr>
            <p:txBody>
              <a:bodyPr/>
              <a:lstStyle/>
              <a:p>
                <a:r>
                  <a:rPr lang="en-IN">
                    <a:noFill/>
                  </a:rPr>
                  <a:t> </a:t>
                </a:r>
              </a:p>
            </p:txBody>
          </p:sp>
        </mc:Fallback>
      </mc:AlternateContent>
    </p:spTree>
    <p:extLst>
      <p:ext uri="{BB962C8B-B14F-4D97-AF65-F5344CB8AC3E}">
        <p14:creationId xmlns:p14="http://schemas.microsoft.com/office/powerpoint/2010/main" val="3315782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32612A0-DAA9-A41E-33E3-4DE85FB5F97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xmlns="" id="{4AED803C-3696-7B12-D93E-44C16F6AC210}"/>
              </a:ext>
              <a:ext uri="{C183D7F6-B498-43B3-948B-1728B52AA6E4}">
                <adec:decorative xmlns:adec="http://schemas.microsoft.com/office/drawing/2017/decorative" xmlns="" val="1"/>
              </a:ext>
            </a:extLst>
          </p:cNvPr>
          <p:cNvPicPr>
            <a:picLocks noChangeAspect="1"/>
          </p:cNvPicPr>
          <p:nvPr/>
        </p:nvPicPr>
        <p:blipFill rotWithShape="1">
          <a:blip r:embed="rId3">
            <a:extLst>
              <a:ext uri="{28A0092B-C50C-407E-A947-70E740481C1C}">
                <a14:useLocalDpi xmlns:a14="http://schemas.microsoft.com/office/drawing/2010/main" val="0"/>
              </a:ext>
            </a:extLst>
          </a:blip>
          <a:srcRect b="-1"/>
          <a:stretch/>
        </p:blipFill>
        <p:spPr>
          <a:xfrm>
            <a:off x="-8622" y="10"/>
            <a:ext cx="6096000" cy="6857990"/>
          </a:xfrm>
          <a:prstGeom prst="rect">
            <a:avLst/>
          </a:prstGeom>
        </p:spPr>
      </p:pic>
      <p:sp>
        <p:nvSpPr>
          <p:cNvPr id="2" name="Title 1">
            <a:extLst>
              <a:ext uri="{FF2B5EF4-FFF2-40B4-BE49-F238E27FC236}">
                <a16:creationId xmlns:a16="http://schemas.microsoft.com/office/drawing/2014/main" xmlns="" id="{43A847D9-DB0D-5C7D-471C-489BB6C907C0}"/>
              </a:ext>
            </a:extLst>
          </p:cNvPr>
          <p:cNvSpPr>
            <a:spLocks noGrp="1"/>
          </p:cNvSpPr>
          <p:nvPr>
            <p:ph type="title"/>
          </p:nvPr>
        </p:nvSpPr>
        <p:spPr>
          <a:xfrm>
            <a:off x="6900492" y="609599"/>
            <a:ext cx="4815257" cy="1019175"/>
          </a:xfrm>
        </p:spPr>
        <p:txBody>
          <a:bodyPr anchor="b">
            <a:normAutofit/>
          </a:bodyPr>
          <a:lstStyle/>
          <a:p>
            <a:pPr algn="l"/>
            <a:r>
              <a:rPr lang="en-IN" sz="4000" dirty="0"/>
              <a:t>Caches -</a:t>
            </a:r>
            <a:endParaRPr lang="en-US" sz="4000" dirty="0"/>
          </a:p>
        </p:txBody>
      </p:sp>
      <p:sp>
        <p:nvSpPr>
          <p:cNvPr id="24" name="Content Placeholder 2">
            <a:extLst>
              <a:ext uri="{FF2B5EF4-FFF2-40B4-BE49-F238E27FC236}">
                <a16:creationId xmlns:a16="http://schemas.microsoft.com/office/drawing/2014/main" xmlns="" id="{25BF80EF-A74E-AC40-3761-52FA2DD71990}"/>
              </a:ext>
            </a:extLst>
          </p:cNvPr>
          <p:cNvSpPr>
            <a:spLocks noGrp="1"/>
          </p:cNvSpPr>
          <p:nvPr>
            <p:ph idx="1"/>
          </p:nvPr>
        </p:nvSpPr>
        <p:spPr>
          <a:xfrm>
            <a:off x="6900493" y="1732449"/>
            <a:ext cx="4403596" cy="4058751"/>
          </a:xfrm>
        </p:spPr>
        <p:txBody>
          <a:bodyPr anchor="t">
            <a:normAutofit/>
          </a:bodyPr>
          <a:lstStyle/>
          <a:p>
            <a:r>
              <a:rPr lang="en-IN" sz="2400" dirty="0" smtClean="0"/>
              <a:t>Basic concepts</a:t>
            </a:r>
            <a:r>
              <a:rPr lang="en-IN" sz="2400" dirty="0"/>
              <a:t>, </a:t>
            </a:r>
            <a:endParaRPr lang="en-IN" sz="2400" dirty="0" smtClean="0"/>
          </a:p>
          <a:p>
            <a:r>
              <a:rPr lang="en-IN" sz="2400" dirty="0" smtClean="0"/>
              <a:t>Cache </a:t>
            </a:r>
            <a:r>
              <a:rPr lang="en-IN" sz="2400" dirty="0"/>
              <a:t>mapping, </a:t>
            </a:r>
            <a:endParaRPr lang="en-IN" sz="2400" dirty="0" smtClean="0"/>
          </a:p>
          <a:p>
            <a:r>
              <a:rPr lang="en-IN" sz="2400" dirty="0" smtClean="0"/>
              <a:t>Cache </a:t>
            </a:r>
            <a:r>
              <a:rPr lang="en-IN" sz="2400" dirty="0"/>
              <a:t>replacement, </a:t>
            </a:r>
            <a:endParaRPr lang="en-IN" sz="2400" dirty="0" smtClean="0"/>
          </a:p>
          <a:p>
            <a:r>
              <a:rPr lang="en-IN" sz="2400" dirty="0" smtClean="0"/>
              <a:t>Multiple-Level </a:t>
            </a:r>
            <a:r>
              <a:rPr lang="en-IN" sz="2400" dirty="0"/>
              <a:t>Caches,</a:t>
            </a:r>
          </a:p>
          <a:p>
            <a:r>
              <a:rPr lang="en-US" sz="2400" dirty="0"/>
              <a:t>Reducing Miss Rate, </a:t>
            </a:r>
            <a:endParaRPr lang="en-US" sz="2400" dirty="0" smtClean="0"/>
          </a:p>
          <a:p>
            <a:r>
              <a:rPr lang="en-US" sz="2400" dirty="0" smtClean="0"/>
              <a:t>Write </a:t>
            </a:r>
            <a:r>
              <a:rPr lang="en-US" sz="2400" dirty="0"/>
              <a:t>Policy;</a:t>
            </a:r>
          </a:p>
        </p:txBody>
      </p:sp>
    </p:spTree>
    <p:extLst>
      <p:ext uri="{BB962C8B-B14F-4D97-AF65-F5344CB8AC3E}">
        <p14:creationId xmlns:p14="http://schemas.microsoft.com/office/powerpoint/2010/main" val="962230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9865"/>
            <a:ext cx="10364451" cy="492843"/>
          </a:xfrm>
        </p:spPr>
        <p:txBody>
          <a:bodyPr>
            <a:noAutofit/>
          </a:bodyPr>
          <a:lstStyle/>
          <a:p>
            <a:r>
              <a:rPr lang="en-IN" sz="4000" b="1" dirty="0" smtClean="0"/>
              <a:t>CACHES: 527</a:t>
            </a:r>
            <a:endParaRPr lang="en-IN" sz="4000" b="1" dirty="0"/>
          </a:p>
        </p:txBody>
      </p:sp>
      <p:sp>
        <p:nvSpPr>
          <p:cNvPr id="4" name="Rectangle 3"/>
          <p:cNvSpPr/>
          <p:nvPr/>
        </p:nvSpPr>
        <p:spPr>
          <a:xfrm>
            <a:off x="154746" y="529255"/>
            <a:ext cx="11816860" cy="6340197"/>
          </a:xfrm>
          <a:prstGeom prst="rect">
            <a:avLst/>
          </a:prstGeom>
        </p:spPr>
        <p:txBody>
          <a:bodyPr wrap="square">
            <a:spAutoFit/>
          </a:bodyPr>
          <a:lstStyle/>
          <a:p>
            <a:pPr marL="457200" indent="-457200">
              <a:buFont typeface="Arial" pitchFamily="34" charset="0"/>
              <a:buChar char="•"/>
            </a:pPr>
            <a:r>
              <a:rPr lang="en-US" sz="2800" dirty="0" smtClean="0"/>
              <a:t>A cache holds </a:t>
            </a:r>
            <a:r>
              <a:rPr lang="en-US" sz="2800" b="1" dirty="0" smtClean="0"/>
              <a:t>commonly used</a:t>
            </a:r>
            <a:r>
              <a:rPr lang="en-US" sz="2800" dirty="0" smtClean="0"/>
              <a:t> memory data. </a:t>
            </a:r>
          </a:p>
          <a:p>
            <a:endParaRPr lang="en-US" sz="1400" dirty="0" smtClean="0"/>
          </a:p>
          <a:p>
            <a:pPr marL="457200" indent="-457200">
              <a:buFont typeface="Arial" pitchFamily="34" charset="0"/>
              <a:buChar char="•"/>
            </a:pPr>
            <a:r>
              <a:rPr lang="en-US" sz="2800" dirty="0" smtClean="0"/>
              <a:t>The number of data words that it can hold is called the </a:t>
            </a:r>
            <a:r>
              <a:rPr lang="en-US" sz="2800" b="1" i="1" dirty="0" smtClean="0"/>
              <a:t>capacity</a:t>
            </a:r>
            <a:r>
              <a:rPr lang="en-US" sz="2800" b="1" dirty="0" smtClean="0"/>
              <a:t>, </a:t>
            </a:r>
            <a:r>
              <a:rPr lang="en-US" sz="2800" b="1" i="1" dirty="0" smtClean="0"/>
              <a:t>C</a:t>
            </a:r>
            <a:r>
              <a:rPr lang="en-US" sz="2800" b="1" dirty="0" smtClean="0"/>
              <a:t>.</a:t>
            </a:r>
          </a:p>
          <a:p>
            <a:pPr marL="457200" indent="-457200">
              <a:buFont typeface="Arial" pitchFamily="34" charset="0"/>
              <a:buChar char="•"/>
            </a:pPr>
            <a:endParaRPr lang="en-US" sz="1400" dirty="0" smtClean="0"/>
          </a:p>
          <a:p>
            <a:pPr marL="457200" indent="-457200">
              <a:buFont typeface="Arial" pitchFamily="34" charset="0"/>
              <a:buChar char="•"/>
            </a:pPr>
            <a:r>
              <a:rPr lang="en-US" sz="2800" dirty="0" smtClean="0"/>
              <a:t>Because the </a:t>
            </a:r>
            <a:r>
              <a:rPr lang="en-US" sz="2800" b="1" dirty="0" smtClean="0"/>
              <a:t>capacity of the cache is smaller </a:t>
            </a:r>
            <a:r>
              <a:rPr lang="en-US" sz="2800" dirty="0" smtClean="0"/>
              <a:t>than that of main memory, the computer system designer must choose </a:t>
            </a:r>
            <a:r>
              <a:rPr lang="en-US" sz="2800" b="1" dirty="0" smtClean="0"/>
              <a:t>what subset of the main memory is kept in the cache.</a:t>
            </a:r>
            <a:r>
              <a:rPr lang="en-US" sz="2800" dirty="0"/>
              <a:t> </a:t>
            </a:r>
            <a:endParaRPr lang="en-US" sz="2800" dirty="0" smtClean="0"/>
          </a:p>
          <a:p>
            <a:pPr marL="457200" indent="-457200">
              <a:buFont typeface="Arial" pitchFamily="34" charset="0"/>
              <a:buChar char="•"/>
            </a:pPr>
            <a:endParaRPr lang="en-US" sz="1400" dirty="0" smtClean="0"/>
          </a:p>
          <a:p>
            <a:pPr marL="457200" indent="-457200">
              <a:buFont typeface="Arial" pitchFamily="34" charset="0"/>
              <a:buChar char="•"/>
            </a:pPr>
            <a:r>
              <a:rPr lang="en-US" sz="2800" dirty="0" smtClean="0"/>
              <a:t>When </a:t>
            </a:r>
            <a:r>
              <a:rPr lang="en-US" sz="2800" dirty="0"/>
              <a:t>the processor </a:t>
            </a:r>
            <a:r>
              <a:rPr lang="en-US" sz="2800" b="1" dirty="0"/>
              <a:t>attempts to access data</a:t>
            </a:r>
            <a:r>
              <a:rPr lang="en-US" sz="2800" dirty="0"/>
              <a:t>, it first checks the </a:t>
            </a:r>
            <a:r>
              <a:rPr lang="en-US" sz="2800" dirty="0" smtClean="0"/>
              <a:t>cache for </a:t>
            </a:r>
            <a:r>
              <a:rPr lang="en-US" sz="2800" dirty="0"/>
              <a:t>the data. </a:t>
            </a:r>
            <a:endParaRPr lang="en-US" sz="2800" dirty="0" smtClean="0"/>
          </a:p>
          <a:p>
            <a:pPr marL="457200" indent="-457200">
              <a:buFont typeface="Arial" pitchFamily="34" charset="0"/>
              <a:buChar char="•"/>
            </a:pPr>
            <a:endParaRPr lang="en-US" sz="1400" dirty="0" smtClean="0"/>
          </a:p>
          <a:p>
            <a:pPr marL="457200" indent="-457200">
              <a:buFont typeface="Arial" pitchFamily="34" charset="0"/>
              <a:buChar char="•"/>
            </a:pPr>
            <a:r>
              <a:rPr lang="en-US" sz="2800" dirty="0" smtClean="0"/>
              <a:t>If </a:t>
            </a:r>
            <a:r>
              <a:rPr lang="en-US" sz="2800" dirty="0"/>
              <a:t>the </a:t>
            </a:r>
            <a:r>
              <a:rPr lang="en-US" sz="2800" b="1" dirty="0"/>
              <a:t>cache hits, </a:t>
            </a:r>
            <a:r>
              <a:rPr lang="en-US" sz="2800" dirty="0"/>
              <a:t>the data is available immediately. </a:t>
            </a:r>
            <a:endParaRPr lang="en-US" sz="2800" dirty="0" smtClean="0"/>
          </a:p>
          <a:p>
            <a:pPr marL="457200" indent="-457200">
              <a:buFont typeface="Arial" pitchFamily="34" charset="0"/>
              <a:buChar char="•"/>
            </a:pPr>
            <a:endParaRPr lang="en-US" sz="1400" dirty="0" smtClean="0"/>
          </a:p>
          <a:p>
            <a:pPr marL="457200" indent="-457200">
              <a:buFont typeface="Arial" pitchFamily="34" charset="0"/>
              <a:buChar char="•"/>
            </a:pPr>
            <a:r>
              <a:rPr lang="en-US" sz="2800" dirty="0" smtClean="0"/>
              <a:t>If the </a:t>
            </a:r>
            <a:r>
              <a:rPr lang="en-US" sz="2800" b="1" dirty="0" smtClean="0"/>
              <a:t>cache </a:t>
            </a:r>
            <a:r>
              <a:rPr lang="en-US" sz="2800" b="1" dirty="0"/>
              <a:t>misses</a:t>
            </a:r>
            <a:r>
              <a:rPr lang="en-US" sz="2800" dirty="0"/>
              <a:t>, the processor </a:t>
            </a:r>
            <a:r>
              <a:rPr lang="en-US" sz="2800" b="1" dirty="0"/>
              <a:t>fetches the data from main memory </a:t>
            </a:r>
            <a:r>
              <a:rPr lang="en-US" sz="2800" b="1" dirty="0" smtClean="0"/>
              <a:t>and places </a:t>
            </a:r>
            <a:r>
              <a:rPr lang="en-US" sz="2800" b="1" dirty="0"/>
              <a:t>it in the cache for future </a:t>
            </a:r>
            <a:r>
              <a:rPr lang="en-US" sz="2800" b="1" dirty="0" smtClean="0"/>
              <a:t>use.</a:t>
            </a:r>
          </a:p>
          <a:p>
            <a:pPr marL="457200" indent="-457200">
              <a:buFont typeface="Arial" pitchFamily="34" charset="0"/>
              <a:buChar char="•"/>
            </a:pPr>
            <a:endParaRPr lang="en-US" sz="2800" b="1" dirty="0"/>
          </a:p>
          <a:p>
            <a:pPr marL="457200" indent="-457200">
              <a:buFont typeface="Arial" pitchFamily="34" charset="0"/>
              <a:buChar char="•"/>
            </a:pPr>
            <a:r>
              <a:rPr lang="en-US" sz="2800" dirty="0" smtClean="0"/>
              <a:t>To </a:t>
            </a:r>
            <a:r>
              <a:rPr lang="en-US" sz="2800" dirty="0"/>
              <a:t>accommodate the new data, </a:t>
            </a:r>
            <a:r>
              <a:rPr lang="en-US" sz="2800" dirty="0" smtClean="0"/>
              <a:t>the cache </a:t>
            </a:r>
            <a:r>
              <a:rPr lang="en-US" sz="2800" dirty="0"/>
              <a:t>must </a:t>
            </a:r>
            <a:r>
              <a:rPr lang="en-US" sz="2800" b="1" i="1" dirty="0"/>
              <a:t>replace </a:t>
            </a:r>
            <a:r>
              <a:rPr lang="en-US" sz="2800" b="1" dirty="0"/>
              <a:t>old data.</a:t>
            </a:r>
            <a:endParaRPr lang="en-IN" sz="2800" b="1" dirty="0"/>
          </a:p>
        </p:txBody>
      </p:sp>
    </p:spTree>
    <p:extLst>
      <p:ext uri="{BB962C8B-B14F-4D97-AF65-F5344CB8AC3E}">
        <p14:creationId xmlns:p14="http://schemas.microsoft.com/office/powerpoint/2010/main" val="3112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9865"/>
            <a:ext cx="10364451" cy="746049"/>
          </a:xfrm>
        </p:spPr>
        <p:txBody>
          <a:bodyPr/>
          <a:lstStyle/>
          <a:p>
            <a:r>
              <a:rPr lang="en-IN" b="1" dirty="0" smtClean="0"/>
              <a:t>CACHES design issues</a:t>
            </a:r>
            <a:endParaRPr lang="en-IN" b="1" dirty="0"/>
          </a:p>
        </p:txBody>
      </p:sp>
      <p:sp>
        <p:nvSpPr>
          <p:cNvPr id="4" name="Rectangle 3"/>
          <p:cNvSpPr/>
          <p:nvPr/>
        </p:nvSpPr>
        <p:spPr>
          <a:xfrm>
            <a:off x="154746" y="838751"/>
            <a:ext cx="11816860" cy="2062103"/>
          </a:xfrm>
          <a:prstGeom prst="rect">
            <a:avLst/>
          </a:prstGeom>
        </p:spPr>
        <p:txBody>
          <a:bodyPr wrap="square">
            <a:spAutoFit/>
          </a:bodyPr>
          <a:lstStyle/>
          <a:p>
            <a:pPr marL="457200" indent="-457200">
              <a:buFont typeface="Arial" pitchFamily="34" charset="0"/>
              <a:buChar char="•"/>
            </a:pPr>
            <a:r>
              <a:rPr lang="en-US" sz="3200" dirty="0"/>
              <a:t>(1) What data is </a:t>
            </a:r>
            <a:r>
              <a:rPr lang="en-US" sz="3200" dirty="0" smtClean="0"/>
              <a:t>held in </a:t>
            </a:r>
            <a:r>
              <a:rPr lang="en-US" sz="3200" dirty="0"/>
              <a:t>the cache? </a:t>
            </a:r>
            <a:endParaRPr lang="en-US" sz="3200" dirty="0" smtClean="0"/>
          </a:p>
          <a:p>
            <a:pPr marL="457200" indent="-457200">
              <a:buFont typeface="Arial" pitchFamily="34" charset="0"/>
              <a:buChar char="•"/>
            </a:pPr>
            <a:r>
              <a:rPr lang="en-US" sz="3200" dirty="0" smtClean="0"/>
              <a:t>(</a:t>
            </a:r>
            <a:r>
              <a:rPr lang="en-US" sz="3200" dirty="0"/>
              <a:t>2) How is data found</a:t>
            </a:r>
            <a:r>
              <a:rPr lang="en-US" sz="3200" dirty="0" smtClean="0"/>
              <a:t>?</a:t>
            </a:r>
          </a:p>
          <a:p>
            <a:pPr marL="457200" indent="-457200">
              <a:buFont typeface="Arial" pitchFamily="34" charset="0"/>
              <a:buChar char="•"/>
            </a:pPr>
            <a:r>
              <a:rPr lang="en-US" sz="3200" dirty="0" smtClean="0"/>
              <a:t>(</a:t>
            </a:r>
            <a:r>
              <a:rPr lang="en-US" sz="3200" dirty="0"/>
              <a:t>3) What data is replaced </a:t>
            </a:r>
            <a:r>
              <a:rPr lang="en-US" sz="3200" dirty="0" smtClean="0"/>
              <a:t>to make </a:t>
            </a:r>
            <a:r>
              <a:rPr lang="en-US" sz="3200" dirty="0"/>
              <a:t>room for new data when the cache is full?</a:t>
            </a:r>
            <a:endParaRPr lang="en-IN" sz="3200" b="1" dirty="0"/>
          </a:p>
        </p:txBody>
      </p:sp>
    </p:spTree>
    <p:extLst>
      <p:ext uri="{BB962C8B-B14F-4D97-AF65-F5344CB8AC3E}">
        <p14:creationId xmlns:p14="http://schemas.microsoft.com/office/powerpoint/2010/main" val="3886755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9865"/>
            <a:ext cx="10364451" cy="746049"/>
          </a:xfrm>
        </p:spPr>
        <p:txBody>
          <a:bodyPr/>
          <a:lstStyle/>
          <a:p>
            <a:r>
              <a:rPr lang="en-IN" b="1" dirty="0" smtClean="0"/>
              <a:t>CACHES terminology</a:t>
            </a:r>
            <a:endParaRPr lang="en-IN" b="1" dirty="0"/>
          </a:p>
        </p:txBody>
      </p:sp>
      <p:sp>
        <p:nvSpPr>
          <p:cNvPr id="4" name="Rectangle 3"/>
          <p:cNvSpPr/>
          <p:nvPr/>
        </p:nvSpPr>
        <p:spPr>
          <a:xfrm>
            <a:off x="154746" y="838751"/>
            <a:ext cx="11816860" cy="5878532"/>
          </a:xfrm>
          <a:prstGeom prst="rect">
            <a:avLst/>
          </a:prstGeom>
        </p:spPr>
        <p:txBody>
          <a:bodyPr wrap="square">
            <a:spAutoFit/>
          </a:bodyPr>
          <a:lstStyle/>
          <a:p>
            <a:r>
              <a:rPr lang="en-US" sz="3200" dirty="0" smtClean="0"/>
              <a:t>Caches </a:t>
            </a:r>
            <a:r>
              <a:rPr lang="en-US" sz="3200" dirty="0"/>
              <a:t>are specified by </a:t>
            </a:r>
            <a:r>
              <a:rPr lang="en-US" sz="3200" dirty="0" smtClean="0"/>
              <a:t>their capacity </a:t>
            </a:r>
            <a:r>
              <a:rPr lang="en-US" sz="3200" dirty="0"/>
              <a:t>(</a:t>
            </a:r>
            <a:r>
              <a:rPr lang="en-US" sz="3200" i="1" dirty="0"/>
              <a:t>C</a:t>
            </a:r>
            <a:r>
              <a:rPr lang="en-US" sz="3200" dirty="0"/>
              <a:t>), number of sets (</a:t>
            </a:r>
            <a:r>
              <a:rPr lang="en-US" sz="3200" i="1" dirty="0"/>
              <a:t>S</a:t>
            </a:r>
            <a:r>
              <a:rPr lang="en-US" sz="3200" dirty="0"/>
              <a:t>), block size (</a:t>
            </a:r>
            <a:r>
              <a:rPr lang="en-US" sz="3200" i="1" dirty="0"/>
              <a:t>b</a:t>
            </a:r>
            <a:r>
              <a:rPr lang="en-US" sz="3200" dirty="0"/>
              <a:t>), number of blocks (</a:t>
            </a:r>
            <a:r>
              <a:rPr lang="en-US" sz="3200" i="1" dirty="0"/>
              <a:t>B</a:t>
            </a:r>
            <a:r>
              <a:rPr lang="en-US" sz="3200" dirty="0" smtClean="0"/>
              <a:t>), and </a:t>
            </a:r>
            <a:r>
              <a:rPr lang="en-US" sz="3200" dirty="0"/>
              <a:t>degree of associativity (</a:t>
            </a:r>
            <a:r>
              <a:rPr lang="en-US" sz="3200" i="1" dirty="0"/>
              <a:t>N</a:t>
            </a:r>
            <a:r>
              <a:rPr lang="en-US" sz="3200" dirty="0" smtClean="0"/>
              <a:t>).</a:t>
            </a:r>
          </a:p>
          <a:p>
            <a:endParaRPr lang="en-US" sz="3200" b="1" dirty="0"/>
          </a:p>
          <a:p>
            <a:pPr lvl="2"/>
            <a:r>
              <a:rPr lang="en-US" sz="2800" b="1" dirty="0">
                <a:solidFill>
                  <a:schemeClr val="accent1"/>
                </a:solidFill>
              </a:rPr>
              <a:t>Capacity (</a:t>
            </a:r>
            <a:r>
              <a:rPr lang="en-US" sz="2800" b="1" i="1" dirty="0">
                <a:solidFill>
                  <a:schemeClr val="accent1"/>
                </a:solidFill>
              </a:rPr>
              <a:t>C</a:t>
            </a:r>
            <a:r>
              <a:rPr lang="en-US" sz="2800" b="1" dirty="0">
                <a:solidFill>
                  <a:schemeClr val="accent1"/>
                </a:solidFill>
              </a:rPr>
              <a:t>): </a:t>
            </a:r>
          </a:p>
          <a:p>
            <a:pPr lvl="3"/>
            <a:r>
              <a:rPr lang="en-US" sz="2800" dirty="0"/>
              <a:t>number of data bytes in cache</a:t>
            </a:r>
          </a:p>
          <a:p>
            <a:pPr lvl="2"/>
            <a:r>
              <a:rPr lang="en-US" sz="2800" b="1" dirty="0">
                <a:solidFill>
                  <a:schemeClr val="accent1"/>
                </a:solidFill>
              </a:rPr>
              <a:t>Block size (</a:t>
            </a:r>
            <a:r>
              <a:rPr lang="en-US" sz="2800" b="1" i="1" dirty="0">
                <a:solidFill>
                  <a:schemeClr val="accent1"/>
                </a:solidFill>
              </a:rPr>
              <a:t>b</a:t>
            </a:r>
            <a:r>
              <a:rPr lang="en-US" sz="2800" b="1" dirty="0">
                <a:solidFill>
                  <a:schemeClr val="accent1"/>
                </a:solidFill>
              </a:rPr>
              <a:t>): </a:t>
            </a:r>
          </a:p>
          <a:p>
            <a:pPr lvl="3"/>
            <a:r>
              <a:rPr lang="en-US" sz="2800" dirty="0"/>
              <a:t>bytes of data brought into cache at once</a:t>
            </a:r>
          </a:p>
          <a:p>
            <a:pPr lvl="2"/>
            <a:r>
              <a:rPr lang="en-US" sz="2800" b="1" dirty="0">
                <a:solidFill>
                  <a:schemeClr val="accent1"/>
                </a:solidFill>
              </a:rPr>
              <a:t>Number of blocks (</a:t>
            </a:r>
            <a:r>
              <a:rPr lang="en-US" sz="2800" b="1" i="1" dirty="0">
                <a:solidFill>
                  <a:schemeClr val="accent1"/>
                </a:solidFill>
              </a:rPr>
              <a:t>B = C/b</a:t>
            </a:r>
            <a:r>
              <a:rPr lang="en-US" sz="2800" b="1" dirty="0">
                <a:solidFill>
                  <a:schemeClr val="accent1"/>
                </a:solidFill>
              </a:rPr>
              <a:t>): </a:t>
            </a:r>
          </a:p>
          <a:p>
            <a:pPr lvl="3"/>
            <a:r>
              <a:rPr lang="en-US" sz="2800" dirty="0"/>
              <a:t>number of blocks in cache: </a:t>
            </a:r>
            <a:r>
              <a:rPr lang="en-US" sz="2800" i="1" dirty="0"/>
              <a:t>B</a:t>
            </a:r>
            <a:r>
              <a:rPr lang="en-US" sz="2800" dirty="0"/>
              <a:t> = </a:t>
            </a:r>
            <a:r>
              <a:rPr lang="en-US" sz="2800" i="1" dirty="0"/>
              <a:t>C</a:t>
            </a:r>
            <a:r>
              <a:rPr lang="en-US" sz="2800" dirty="0"/>
              <a:t>/</a:t>
            </a:r>
            <a:r>
              <a:rPr lang="en-US" sz="2800" i="1" dirty="0"/>
              <a:t>b</a:t>
            </a:r>
          </a:p>
          <a:p>
            <a:pPr lvl="2"/>
            <a:r>
              <a:rPr lang="en-US" sz="2800" b="1" dirty="0">
                <a:solidFill>
                  <a:schemeClr val="accent1"/>
                </a:solidFill>
              </a:rPr>
              <a:t>Degree of associativity (</a:t>
            </a:r>
            <a:r>
              <a:rPr lang="en-US" sz="2800" b="1" i="1" dirty="0">
                <a:solidFill>
                  <a:schemeClr val="accent1"/>
                </a:solidFill>
              </a:rPr>
              <a:t>N</a:t>
            </a:r>
            <a:r>
              <a:rPr lang="en-US" sz="2800" b="1" dirty="0">
                <a:solidFill>
                  <a:schemeClr val="accent1"/>
                </a:solidFill>
              </a:rPr>
              <a:t>): </a:t>
            </a:r>
          </a:p>
          <a:p>
            <a:pPr lvl="3"/>
            <a:r>
              <a:rPr lang="en-US" sz="2800" dirty="0"/>
              <a:t>number of blocks in a set</a:t>
            </a:r>
          </a:p>
          <a:p>
            <a:pPr lvl="2"/>
            <a:r>
              <a:rPr lang="en-US" sz="2800" b="1" dirty="0">
                <a:solidFill>
                  <a:schemeClr val="accent1"/>
                </a:solidFill>
              </a:rPr>
              <a:t>Number of sets (</a:t>
            </a:r>
            <a:r>
              <a:rPr lang="en-US" sz="2800" b="1" i="1" dirty="0">
                <a:solidFill>
                  <a:schemeClr val="accent1"/>
                </a:solidFill>
              </a:rPr>
              <a:t>S = B/N</a:t>
            </a:r>
            <a:r>
              <a:rPr lang="en-US" sz="2800" b="1" dirty="0">
                <a:solidFill>
                  <a:schemeClr val="accent1"/>
                </a:solidFill>
              </a:rPr>
              <a:t>): </a:t>
            </a:r>
          </a:p>
          <a:p>
            <a:pPr lvl="3"/>
            <a:r>
              <a:rPr lang="en-US" sz="2800" dirty="0"/>
              <a:t>each memory address maps to exactly one cache set </a:t>
            </a:r>
            <a:endParaRPr lang="en-IN" sz="3200" b="1" dirty="0"/>
          </a:p>
        </p:txBody>
      </p:sp>
    </p:spTree>
    <p:extLst>
      <p:ext uri="{BB962C8B-B14F-4D97-AF65-F5344CB8AC3E}">
        <p14:creationId xmlns:p14="http://schemas.microsoft.com/office/powerpoint/2010/main" val="3538554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9865"/>
            <a:ext cx="10364451" cy="746049"/>
          </a:xfrm>
        </p:spPr>
        <p:txBody>
          <a:bodyPr/>
          <a:lstStyle/>
          <a:p>
            <a:r>
              <a:rPr lang="en-US" b="1" dirty="0"/>
              <a:t>What Data is Held in the Cache?</a:t>
            </a:r>
            <a:endParaRPr lang="en-IN" b="1" dirty="0"/>
          </a:p>
        </p:txBody>
      </p:sp>
      <p:sp>
        <p:nvSpPr>
          <p:cNvPr id="4" name="Rectangle 3"/>
          <p:cNvSpPr/>
          <p:nvPr/>
        </p:nvSpPr>
        <p:spPr>
          <a:xfrm>
            <a:off x="154746" y="838751"/>
            <a:ext cx="11816860" cy="5016758"/>
          </a:xfrm>
          <a:prstGeom prst="rect">
            <a:avLst/>
          </a:prstGeom>
        </p:spPr>
        <p:txBody>
          <a:bodyPr wrap="square">
            <a:spAutoFit/>
          </a:bodyPr>
          <a:lstStyle/>
          <a:p>
            <a:pPr marL="457200" indent="-457200">
              <a:buFont typeface="Arial" pitchFamily="34" charset="0"/>
              <a:buChar char="•"/>
            </a:pPr>
            <a:r>
              <a:rPr lang="en-US" sz="3200" dirty="0"/>
              <a:t>An ideal cache would anticipate all of the data needed by the </a:t>
            </a:r>
            <a:r>
              <a:rPr lang="en-US" sz="3200" dirty="0" smtClean="0"/>
              <a:t>processor and </a:t>
            </a:r>
            <a:r>
              <a:rPr lang="en-US" sz="3200" dirty="0"/>
              <a:t>fetch it from main memory ahead of time so that the cache has a </a:t>
            </a:r>
            <a:r>
              <a:rPr lang="en-US" sz="3200" b="1" dirty="0" smtClean="0"/>
              <a:t>zero miss </a:t>
            </a:r>
            <a:r>
              <a:rPr lang="en-US" sz="3200" b="1" dirty="0"/>
              <a:t>rate</a:t>
            </a:r>
            <a:r>
              <a:rPr lang="en-US" sz="3200" dirty="0"/>
              <a:t>. </a:t>
            </a:r>
            <a:endParaRPr lang="en-US" sz="3200" dirty="0" smtClean="0"/>
          </a:p>
          <a:p>
            <a:pPr marL="457200" indent="-457200">
              <a:buFont typeface="Arial" pitchFamily="34" charset="0"/>
              <a:buChar char="•"/>
            </a:pPr>
            <a:endParaRPr lang="en-US" sz="3200" dirty="0" smtClean="0"/>
          </a:p>
          <a:p>
            <a:pPr marL="457200" indent="-457200">
              <a:buFont typeface="Arial" pitchFamily="34" charset="0"/>
              <a:buChar char="•"/>
            </a:pPr>
            <a:r>
              <a:rPr lang="en-US" sz="3200" dirty="0" smtClean="0"/>
              <a:t>Because </a:t>
            </a:r>
            <a:r>
              <a:rPr lang="en-US" sz="3200" dirty="0"/>
              <a:t>it is </a:t>
            </a:r>
            <a:r>
              <a:rPr lang="en-US" sz="3200" b="1" dirty="0"/>
              <a:t>impossible to predict the future </a:t>
            </a:r>
            <a:r>
              <a:rPr lang="en-US" sz="3200" dirty="0"/>
              <a:t>with perfect </a:t>
            </a:r>
            <a:r>
              <a:rPr lang="en-US" sz="3200" dirty="0" smtClean="0"/>
              <a:t>accuracy, the </a:t>
            </a:r>
            <a:r>
              <a:rPr lang="en-US" sz="3200" dirty="0"/>
              <a:t>cache must guess what data will be needed based on the </a:t>
            </a:r>
            <a:r>
              <a:rPr lang="en-US" sz="3200" dirty="0" smtClean="0"/>
              <a:t>past pattern </a:t>
            </a:r>
            <a:r>
              <a:rPr lang="en-US" sz="3200" dirty="0"/>
              <a:t>of memory accesses. </a:t>
            </a:r>
            <a:endParaRPr lang="en-US" sz="3200" dirty="0" smtClean="0"/>
          </a:p>
          <a:p>
            <a:pPr marL="457200" indent="-457200">
              <a:buFont typeface="Arial" pitchFamily="34" charset="0"/>
              <a:buChar char="•"/>
            </a:pPr>
            <a:endParaRPr lang="en-US" sz="3200" dirty="0" smtClean="0"/>
          </a:p>
          <a:p>
            <a:pPr marL="457200" indent="-457200">
              <a:buFont typeface="Arial" pitchFamily="34" charset="0"/>
              <a:buChar char="•"/>
            </a:pPr>
            <a:r>
              <a:rPr lang="en-US" sz="3200" dirty="0" smtClean="0"/>
              <a:t>In </a:t>
            </a:r>
            <a:r>
              <a:rPr lang="en-US" sz="3200" dirty="0"/>
              <a:t>particular, the cache exploits </a:t>
            </a:r>
            <a:r>
              <a:rPr lang="en-US" sz="3200" b="1" dirty="0" smtClean="0"/>
              <a:t>temporal and </a:t>
            </a:r>
            <a:r>
              <a:rPr lang="en-US" sz="3200" b="1" dirty="0"/>
              <a:t>spatial locality to achieve a low miss rate.</a:t>
            </a:r>
            <a:endParaRPr lang="en-IN" sz="3200" b="1" dirty="0"/>
          </a:p>
        </p:txBody>
      </p:sp>
    </p:spTree>
    <p:extLst>
      <p:ext uri="{BB962C8B-B14F-4D97-AF65-F5344CB8AC3E}">
        <p14:creationId xmlns:p14="http://schemas.microsoft.com/office/powerpoint/2010/main" val="3538554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4746" y="93147"/>
            <a:ext cx="11816860" cy="6555641"/>
          </a:xfrm>
          <a:prstGeom prst="rect">
            <a:avLst/>
          </a:prstGeom>
        </p:spPr>
        <p:txBody>
          <a:bodyPr wrap="square">
            <a:spAutoFit/>
          </a:bodyPr>
          <a:lstStyle/>
          <a:p>
            <a:pPr marL="342900" indent="-342900">
              <a:buFont typeface="Arial" pitchFamily="34" charset="0"/>
              <a:buChar char="•"/>
            </a:pPr>
            <a:r>
              <a:rPr lang="en-US" sz="2800" dirty="0">
                <a:latin typeface="+mj-lt"/>
                <a:cs typeface="Times New Roman" panose="02020603050405020304" pitchFamily="18" charset="0"/>
              </a:rPr>
              <a:t>Recall that </a:t>
            </a:r>
            <a:r>
              <a:rPr lang="en-US" sz="2800" b="1" dirty="0">
                <a:solidFill>
                  <a:srgbClr val="FF0000"/>
                </a:solidFill>
                <a:latin typeface="+mj-lt"/>
                <a:cs typeface="Times New Roman" panose="02020603050405020304" pitchFamily="18" charset="0"/>
              </a:rPr>
              <a:t>temporal locality </a:t>
            </a:r>
            <a:r>
              <a:rPr lang="en-US" sz="2800" dirty="0">
                <a:latin typeface="+mj-lt"/>
                <a:cs typeface="Times New Roman" panose="02020603050405020304" pitchFamily="18" charset="0"/>
              </a:rPr>
              <a:t>means that the processor is likely to access a piece of data again soon if it has accessed that data recently. </a:t>
            </a:r>
            <a:endParaRPr lang="en-US" sz="2800" dirty="0" smtClean="0">
              <a:latin typeface="+mj-lt"/>
              <a:cs typeface="Times New Roman" panose="02020603050405020304" pitchFamily="18" charset="0"/>
            </a:endParaRPr>
          </a:p>
          <a:p>
            <a:pPr marL="342900" indent="-342900">
              <a:buFont typeface="Arial" pitchFamily="34" charset="0"/>
              <a:buChar char="•"/>
            </a:pPr>
            <a:endParaRPr lang="en-US" sz="2800" dirty="0">
              <a:latin typeface="+mj-lt"/>
              <a:cs typeface="Times New Roman" panose="02020603050405020304" pitchFamily="18" charset="0"/>
            </a:endParaRPr>
          </a:p>
          <a:p>
            <a:pPr marL="342900" indent="-342900">
              <a:buFont typeface="Arial" pitchFamily="34" charset="0"/>
              <a:buChar char="•"/>
            </a:pPr>
            <a:r>
              <a:rPr lang="en-US" sz="2800" dirty="0">
                <a:latin typeface="+mj-lt"/>
                <a:cs typeface="Times New Roman" panose="02020603050405020304" pitchFamily="18" charset="0"/>
              </a:rPr>
              <a:t>Therefore, when the processor loads or stores data that is not in the cache, the data is copied from main memory into the cache. </a:t>
            </a:r>
            <a:endParaRPr lang="en-US" sz="2800" dirty="0" smtClean="0">
              <a:latin typeface="+mj-lt"/>
              <a:cs typeface="Times New Roman" panose="02020603050405020304" pitchFamily="18" charset="0"/>
            </a:endParaRPr>
          </a:p>
          <a:p>
            <a:endParaRPr lang="en-US" sz="2800" dirty="0">
              <a:latin typeface="+mj-lt"/>
              <a:cs typeface="Times New Roman" panose="02020603050405020304" pitchFamily="18" charset="0"/>
            </a:endParaRPr>
          </a:p>
          <a:p>
            <a:pPr marL="342900" indent="-342900">
              <a:buFont typeface="Arial" pitchFamily="34" charset="0"/>
              <a:buChar char="•"/>
            </a:pPr>
            <a:r>
              <a:rPr lang="en-US" sz="2800" dirty="0">
                <a:latin typeface="+mj-lt"/>
                <a:cs typeface="Times New Roman" panose="02020603050405020304" pitchFamily="18" charset="0"/>
              </a:rPr>
              <a:t>Subsequent requests for that data </a:t>
            </a:r>
            <a:r>
              <a:rPr lang="en-US" sz="2800" b="1" dirty="0">
                <a:latin typeface="+mj-lt"/>
                <a:cs typeface="Times New Roman" panose="02020603050405020304" pitchFamily="18" charset="0"/>
              </a:rPr>
              <a:t>hit</a:t>
            </a:r>
            <a:r>
              <a:rPr lang="en-US" sz="2800" dirty="0">
                <a:latin typeface="+mj-lt"/>
                <a:cs typeface="Times New Roman" panose="02020603050405020304" pitchFamily="18" charset="0"/>
              </a:rPr>
              <a:t> in the </a:t>
            </a:r>
            <a:r>
              <a:rPr lang="en-US" sz="2800" dirty="0" smtClean="0">
                <a:latin typeface="+mj-lt"/>
                <a:cs typeface="Times New Roman" panose="02020603050405020304" pitchFamily="18" charset="0"/>
              </a:rPr>
              <a:t>cache.</a:t>
            </a:r>
          </a:p>
          <a:p>
            <a:pPr marL="342900" indent="-342900">
              <a:buFont typeface="Arial" pitchFamily="34" charset="0"/>
              <a:buChar char="•"/>
            </a:pPr>
            <a:endParaRPr lang="en-US" sz="2800" dirty="0">
              <a:latin typeface="+mj-lt"/>
              <a:cs typeface="Times New Roman" panose="02020603050405020304" pitchFamily="18" charset="0"/>
            </a:endParaRPr>
          </a:p>
          <a:p>
            <a:pPr marL="342900" indent="-342900">
              <a:buFont typeface="Arial" pitchFamily="34" charset="0"/>
              <a:buChar char="•"/>
            </a:pPr>
            <a:r>
              <a:rPr lang="en-US" sz="2800" dirty="0" smtClean="0">
                <a:latin typeface="+mj-lt"/>
                <a:cs typeface="Times New Roman" panose="02020603050405020304" pitchFamily="18" charset="0"/>
              </a:rPr>
              <a:t>Recall </a:t>
            </a:r>
            <a:r>
              <a:rPr lang="en-US" sz="2800" dirty="0">
                <a:latin typeface="+mj-lt"/>
                <a:cs typeface="Times New Roman" panose="02020603050405020304" pitchFamily="18" charset="0"/>
              </a:rPr>
              <a:t>that </a:t>
            </a:r>
            <a:r>
              <a:rPr lang="en-US" sz="2800" dirty="0">
                <a:solidFill>
                  <a:srgbClr val="FF0000"/>
                </a:solidFill>
                <a:latin typeface="+mj-lt"/>
                <a:cs typeface="Times New Roman" panose="02020603050405020304" pitchFamily="18" charset="0"/>
              </a:rPr>
              <a:t>spatial locality </a:t>
            </a:r>
            <a:r>
              <a:rPr lang="en-US" sz="2800" dirty="0">
                <a:latin typeface="+mj-lt"/>
                <a:cs typeface="Times New Roman" panose="02020603050405020304" pitchFamily="18" charset="0"/>
              </a:rPr>
              <a:t>means that, when the processor accesses a piece of data, it is also likely to access data in nearby memory </a:t>
            </a:r>
            <a:r>
              <a:rPr lang="en-US" sz="2800" dirty="0" smtClean="0">
                <a:latin typeface="+mj-lt"/>
                <a:cs typeface="Times New Roman" panose="02020603050405020304" pitchFamily="18" charset="0"/>
              </a:rPr>
              <a:t>locations.</a:t>
            </a:r>
          </a:p>
          <a:p>
            <a:pPr marL="342900" indent="-342900">
              <a:buFont typeface="Arial" pitchFamily="34" charset="0"/>
              <a:buChar char="•"/>
            </a:pPr>
            <a:endParaRPr lang="en-US" sz="2800" dirty="0">
              <a:latin typeface="+mj-lt"/>
              <a:cs typeface="Times New Roman" panose="02020603050405020304" pitchFamily="18" charset="0"/>
            </a:endParaRPr>
          </a:p>
          <a:p>
            <a:pPr marL="342900" indent="-342900">
              <a:buFont typeface="Arial" pitchFamily="34" charset="0"/>
              <a:buChar char="•"/>
            </a:pPr>
            <a:r>
              <a:rPr lang="en-US" sz="2800" dirty="0" smtClean="0">
                <a:latin typeface="+mj-lt"/>
                <a:cs typeface="Times New Roman" panose="02020603050405020304" pitchFamily="18" charset="0"/>
              </a:rPr>
              <a:t>Therefore</a:t>
            </a:r>
            <a:r>
              <a:rPr lang="en-US" sz="2800" dirty="0">
                <a:latin typeface="+mj-lt"/>
                <a:cs typeface="Times New Roman" panose="02020603050405020304" pitchFamily="18" charset="0"/>
              </a:rPr>
              <a:t>, when the </a:t>
            </a:r>
            <a:r>
              <a:rPr lang="en-US" sz="2800" b="1" dirty="0">
                <a:latin typeface="+mj-lt"/>
                <a:cs typeface="Times New Roman" panose="02020603050405020304" pitchFamily="18" charset="0"/>
              </a:rPr>
              <a:t>cache fetches </a:t>
            </a:r>
            <a:r>
              <a:rPr lang="en-US" sz="2800" dirty="0">
                <a:latin typeface="+mj-lt"/>
                <a:cs typeface="Times New Roman" panose="02020603050405020304" pitchFamily="18" charset="0"/>
              </a:rPr>
              <a:t>one word from memory, it may also fetch </a:t>
            </a:r>
            <a:r>
              <a:rPr lang="en-US" sz="2800" b="1" dirty="0">
                <a:latin typeface="+mj-lt"/>
                <a:cs typeface="Times New Roman" panose="02020603050405020304" pitchFamily="18" charset="0"/>
              </a:rPr>
              <a:t>several adjacent words</a:t>
            </a:r>
            <a:r>
              <a:rPr lang="en-US" sz="2800" dirty="0">
                <a:latin typeface="+mj-lt"/>
                <a:cs typeface="Times New Roman" panose="02020603050405020304" pitchFamily="18" charset="0"/>
              </a:rPr>
              <a:t>. </a:t>
            </a:r>
            <a:endParaRPr lang="en-US" sz="2800" dirty="0" smtClean="0">
              <a:latin typeface="+mj-lt"/>
              <a:cs typeface="Times New Roman" panose="02020603050405020304" pitchFamily="18" charset="0"/>
            </a:endParaRPr>
          </a:p>
          <a:p>
            <a:pPr marL="342900" indent="-342900">
              <a:buFont typeface="Arial" pitchFamily="34" charset="0"/>
              <a:buChar char="•"/>
            </a:pPr>
            <a:endParaRPr lang="en-US" sz="2800" dirty="0">
              <a:latin typeface="+mj-lt"/>
              <a:cs typeface="Times New Roman" panose="02020603050405020304" pitchFamily="18" charset="0"/>
            </a:endParaRPr>
          </a:p>
          <a:p>
            <a:pPr marL="342900" indent="-342900">
              <a:buFont typeface="Arial" pitchFamily="34" charset="0"/>
              <a:buChar char="•"/>
            </a:pPr>
            <a:r>
              <a:rPr lang="en-US" sz="2800" dirty="0" smtClean="0">
                <a:latin typeface="+mj-lt"/>
                <a:cs typeface="Times New Roman" panose="02020603050405020304" pitchFamily="18" charset="0"/>
              </a:rPr>
              <a:t>This </a:t>
            </a:r>
            <a:r>
              <a:rPr lang="en-US" sz="2800" dirty="0">
                <a:latin typeface="+mj-lt"/>
                <a:cs typeface="Times New Roman" panose="02020603050405020304" pitchFamily="18" charset="0"/>
              </a:rPr>
              <a:t>group of words is called a </a:t>
            </a:r>
            <a:r>
              <a:rPr lang="en-US" sz="2800" b="1" i="1" u="sng" dirty="0">
                <a:solidFill>
                  <a:srgbClr val="FF0000"/>
                </a:solidFill>
                <a:latin typeface="+mj-lt"/>
                <a:cs typeface="Times New Roman" panose="02020603050405020304" pitchFamily="18" charset="0"/>
              </a:rPr>
              <a:t>cache block or cache line</a:t>
            </a:r>
            <a:r>
              <a:rPr lang="en-US" sz="2800" dirty="0">
                <a:latin typeface="+mj-lt"/>
                <a:cs typeface="Times New Roman" panose="02020603050405020304" pitchFamily="18" charset="0"/>
              </a:rPr>
              <a:t>. </a:t>
            </a:r>
            <a:endParaRPr lang="en-IN" sz="2800" dirty="0">
              <a:latin typeface="+mj-lt"/>
              <a:cs typeface="Times New Roman" panose="02020603050405020304" pitchFamily="18" charset="0"/>
            </a:endParaRPr>
          </a:p>
        </p:txBody>
      </p:sp>
    </p:spTree>
    <p:extLst>
      <p:ext uri="{BB962C8B-B14F-4D97-AF65-F5344CB8AC3E}">
        <p14:creationId xmlns:p14="http://schemas.microsoft.com/office/powerpoint/2010/main" val="3538554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4746" y="93147"/>
            <a:ext cx="11816860" cy="6432530"/>
          </a:xfrm>
          <a:prstGeom prst="rect">
            <a:avLst/>
          </a:prstGeom>
        </p:spPr>
        <p:txBody>
          <a:bodyPr wrap="square">
            <a:spAutoFit/>
          </a:bodyPr>
          <a:lstStyle/>
          <a:p>
            <a:pPr marL="457200" indent="-457200">
              <a:buFont typeface="Arial" pitchFamily="34" charset="0"/>
              <a:buChar char="•"/>
            </a:pPr>
            <a:r>
              <a:rPr lang="en-US" sz="3200" dirty="0">
                <a:latin typeface="+mj-lt"/>
                <a:cs typeface="Times New Roman" panose="02020603050405020304" pitchFamily="18" charset="0"/>
              </a:rPr>
              <a:t>The </a:t>
            </a:r>
            <a:r>
              <a:rPr lang="en-US" sz="3200" b="1" dirty="0">
                <a:latin typeface="+mj-lt"/>
                <a:cs typeface="Times New Roman" panose="02020603050405020304" pitchFamily="18" charset="0"/>
              </a:rPr>
              <a:t>number of words in the cache block</a:t>
            </a:r>
            <a:r>
              <a:rPr lang="en-US" sz="3200" dirty="0">
                <a:latin typeface="+mj-lt"/>
                <a:cs typeface="Times New Roman" panose="02020603050405020304" pitchFamily="18" charset="0"/>
              </a:rPr>
              <a:t>, b, is called the </a:t>
            </a:r>
            <a:r>
              <a:rPr lang="en-US" sz="3200" b="1" i="1" u="sng" dirty="0">
                <a:solidFill>
                  <a:srgbClr val="FF0000"/>
                </a:solidFill>
                <a:latin typeface="+mj-lt"/>
                <a:cs typeface="Times New Roman" panose="02020603050405020304" pitchFamily="18" charset="0"/>
              </a:rPr>
              <a:t>block </a:t>
            </a:r>
            <a:r>
              <a:rPr lang="en-US" sz="3200" b="1" i="1" u="sng" dirty="0" smtClean="0">
                <a:solidFill>
                  <a:srgbClr val="FF0000"/>
                </a:solidFill>
                <a:latin typeface="+mj-lt"/>
                <a:cs typeface="Times New Roman" panose="02020603050405020304" pitchFamily="18" charset="0"/>
              </a:rPr>
              <a:t>size.</a:t>
            </a:r>
          </a:p>
          <a:p>
            <a:pPr marL="457200" indent="-457200">
              <a:buFont typeface="Arial" pitchFamily="34" charset="0"/>
              <a:buChar char="•"/>
            </a:pPr>
            <a:r>
              <a:rPr lang="en-US" sz="2800" b="1" dirty="0" smtClean="0">
                <a:solidFill>
                  <a:schemeClr val="accent1"/>
                </a:solidFill>
              </a:rPr>
              <a:t>Capacity </a:t>
            </a:r>
            <a:r>
              <a:rPr lang="en-US" sz="2800" b="1" dirty="0">
                <a:solidFill>
                  <a:schemeClr val="accent1"/>
                </a:solidFill>
              </a:rPr>
              <a:t>(</a:t>
            </a:r>
            <a:r>
              <a:rPr lang="en-US" sz="2800" b="1" i="1" dirty="0">
                <a:solidFill>
                  <a:schemeClr val="accent1"/>
                </a:solidFill>
              </a:rPr>
              <a:t>C</a:t>
            </a:r>
            <a:r>
              <a:rPr lang="en-US" sz="2800" b="1" dirty="0">
                <a:solidFill>
                  <a:schemeClr val="accent1"/>
                </a:solidFill>
              </a:rPr>
              <a:t>): </a:t>
            </a:r>
            <a:r>
              <a:rPr lang="en-US" sz="2800" dirty="0" smtClean="0"/>
              <a:t>number </a:t>
            </a:r>
            <a:r>
              <a:rPr lang="en-US" sz="2800" dirty="0"/>
              <a:t>of data bytes in </a:t>
            </a:r>
            <a:r>
              <a:rPr lang="en-US" sz="2800" dirty="0" smtClean="0"/>
              <a:t>cache</a:t>
            </a:r>
            <a:endParaRPr lang="en-US" sz="3200" b="1" i="1" u="sng" dirty="0" smtClean="0">
              <a:solidFill>
                <a:srgbClr val="FF0000"/>
              </a:solidFill>
              <a:latin typeface="+mj-lt"/>
              <a:cs typeface="Times New Roman" panose="02020603050405020304" pitchFamily="18" charset="0"/>
            </a:endParaRPr>
          </a:p>
          <a:p>
            <a:pPr marL="457200" indent="-457200">
              <a:buFont typeface="Arial" pitchFamily="34" charset="0"/>
              <a:buChar char="•"/>
            </a:pPr>
            <a:endParaRPr lang="en-US" sz="3200" dirty="0">
              <a:latin typeface="+mj-lt"/>
              <a:cs typeface="Times New Roman" panose="02020603050405020304" pitchFamily="18" charset="0"/>
            </a:endParaRPr>
          </a:p>
          <a:p>
            <a:pPr marL="457200" indent="-457200">
              <a:buFont typeface="Arial" pitchFamily="34" charset="0"/>
              <a:buChar char="•"/>
            </a:pPr>
            <a:r>
              <a:rPr lang="en-US" sz="3200" dirty="0" smtClean="0">
                <a:latin typeface="+mj-lt"/>
                <a:cs typeface="Times New Roman" panose="02020603050405020304" pitchFamily="18" charset="0"/>
              </a:rPr>
              <a:t>A </a:t>
            </a:r>
            <a:r>
              <a:rPr lang="en-US" sz="3200" dirty="0">
                <a:latin typeface="+mj-lt"/>
                <a:cs typeface="Times New Roman" panose="02020603050405020304" pitchFamily="18" charset="0"/>
              </a:rPr>
              <a:t>cache of capacity C </a:t>
            </a:r>
            <a:r>
              <a:rPr lang="en-US" sz="3200" dirty="0" smtClean="0">
                <a:latin typeface="+mj-lt"/>
                <a:cs typeface="Times New Roman" panose="02020603050405020304" pitchFamily="18" charset="0"/>
              </a:rPr>
              <a:t>contains </a:t>
            </a:r>
            <a:r>
              <a:rPr lang="en-US" sz="3200" b="1" dirty="0" smtClean="0">
                <a:latin typeface="+mj-lt"/>
                <a:cs typeface="Times New Roman" panose="02020603050405020304" pitchFamily="18" charset="0"/>
              </a:rPr>
              <a:t>(no: of blocks) </a:t>
            </a:r>
            <a:r>
              <a:rPr lang="en-US" sz="3200" b="1" dirty="0">
                <a:latin typeface="+mj-lt"/>
                <a:cs typeface="Times New Roman" panose="02020603050405020304" pitchFamily="18" charset="0"/>
              </a:rPr>
              <a:t>B = C / b blocks</a:t>
            </a:r>
            <a:r>
              <a:rPr lang="en-US" sz="3200" b="1" dirty="0" smtClean="0">
                <a:latin typeface="+mj-lt"/>
                <a:cs typeface="Times New Roman" panose="02020603050405020304" pitchFamily="18" charset="0"/>
              </a:rPr>
              <a:t>.</a:t>
            </a:r>
          </a:p>
          <a:p>
            <a:pPr marL="457200" indent="-457200">
              <a:buFont typeface="Arial" pitchFamily="34" charset="0"/>
              <a:buChar char="•"/>
            </a:pPr>
            <a:endParaRPr lang="en-US" sz="3200" dirty="0">
              <a:latin typeface="+mj-lt"/>
              <a:cs typeface="Times New Roman" panose="02020603050405020304" pitchFamily="18" charset="0"/>
            </a:endParaRPr>
          </a:p>
          <a:p>
            <a:pPr marL="457200" indent="-457200">
              <a:buFont typeface="Arial" pitchFamily="34" charset="0"/>
              <a:buChar char="•"/>
            </a:pPr>
            <a:r>
              <a:rPr lang="en-US" sz="3200" dirty="0">
                <a:latin typeface="+mj-lt"/>
                <a:cs typeface="Times New Roman" panose="02020603050405020304" pitchFamily="18" charset="0"/>
              </a:rPr>
              <a:t>The principles of temporal and spatial locality have been </a:t>
            </a:r>
            <a:r>
              <a:rPr lang="en-US" sz="3200" dirty="0" smtClean="0">
                <a:latin typeface="+mj-lt"/>
                <a:cs typeface="Times New Roman" panose="02020603050405020304" pitchFamily="18" charset="0"/>
              </a:rPr>
              <a:t>experimentally </a:t>
            </a:r>
            <a:r>
              <a:rPr lang="en-US" sz="3200" dirty="0">
                <a:latin typeface="+mj-lt"/>
                <a:cs typeface="Times New Roman" panose="02020603050405020304" pitchFamily="18" charset="0"/>
              </a:rPr>
              <a:t>verified in real programs</a:t>
            </a:r>
            <a:r>
              <a:rPr lang="en-US" sz="3200" dirty="0" smtClean="0">
                <a:latin typeface="+mj-lt"/>
                <a:cs typeface="Times New Roman" panose="02020603050405020304" pitchFamily="18" charset="0"/>
              </a:rPr>
              <a:t>.</a:t>
            </a:r>
          </a:p>
          <a:p>
            <a:pPr marL="457200" indent="-457200">
              <a:buFont typeface="Arial" pitchFamily="34" charset="0"/>
              <a:buChar char="•"/>
            </a:pPr>
            <a:endParaRPr lang="en-US" sz="3200" dirty="0">
              <a:latin typeface="+mj-lt"/>
              <a:cs typeface="Times New Roman" panose="02020603050405020304" pitchFamily="18" charset="0"/>
            </a:endParaRPr>
          </a:p>
          <a:p>
            <a:pPr marL="457200" indent="-457200">
              <a:buFont typeface="Arial" pitchFamily="34" charset="0"/>
              <a:buChar char="•"/>
            </a:pPr>
            <a:r>
              <a:rPr lang="en-US" sz="3200" dirty="0" smtClean="0">
                <a:latin typeface="+mj-lt"/>
                <a:cs typeface="Times New Roman" panose="02020603050405020304" pitchFamily="18" charset="0"/>
              </a:rPr>
              <a:t>If </a:t>
            </a:r>
            <a:r>
              <a:rPr lang="en-US" sz="3200" dirty="0">
                <a:latin typeface="+mj-lt"/>
                <a:cs typeface="Times New Roman" panose="02020603050405020304" pitchFamily="18" charset="0"/>
              </a:rPr>
              <a:t>a </a:t>
            </a:r>
            <a:r>
              <a:rPr lang="en-US" sz="3200" b="1" dirty="0">
                <a:latin typeface="+mj-lt"/>
                <a:cs typeface="Times New Roman" panose="02020603050405020304" pitchFamily="18" charset="0"/>
              </a:rPr>
              <a:t>variable is used in a program</a:t>
            </a:r>
            <a:r>
              <a:rPr lang="en-US" sz="3200" dirty="0">
                <a:latin typeface="+mj-lt"/>
                <a:cs typeface="Times New Roman" panose="02020603050405020304" pitchFamily="18" charset="0"/>
              </a:rPr>
              <a:t>, the same variable is likely to be used again, creating </a:t>
            </a:r>
            <a:r>
              <a:rPr lang="en-US" sz="3200" b="1" dirty="0">
                <a:latin typeface="+mj-lt"/>
                <a:cs typeface="Times New Roman" panose="02020603050405020304" pitchFamily="18" charset="0"/>
              </a:rPr>
              <a:t>temporal locality</a:t>
            </a:r>
            <a:r>
              <a:rPr lang="en-US" sz="3200" dirty="0">
                <a:latin typeface="+mj-lt"/>
                <a:cs typeface="Times New Roman" panose="02020603050405020304" pitchFamily="18" charset="0"/>
              </a:rPr>
              <a:t>. </a:t>
            </a:r>
            <a:endParaRPr lang="en-US" sz="3200" dirty="0" smtClean="0">
              <a:latin typeface="+mj-lt"/>
              <a:cs typeface="Times New Roman" panose="02020603050405020304" pitchFamily="18" charset="0"/>
            </a:endParaRPr>
          </a:p>
          <a:p>
            <a:pPr marL="457200" indent="-457200">
              <a:buFont typeface="Arial" pitchFamily="34" charset="0"/>
              <a:buChar char="•"/>
            </a:pPr>
            <a:endParaRPr lang="en-US" sz="3200" dirty="0">
              <a:latin typeface="+mj-lt"/>
              <a:cs typeface="Times New Roman" panose="02020603050405020304" pitchFamily="18" charset="0"/>
            </a:endParaRPr>
          </a:p>
          <a:p>
            <a:pPr marL="457200" indent="-457200">
              <a:buFont typeface="Arial" pitchFamily="34" charset="0"/>
              <a:buChar char="•"/>
            </a:pPr>
            <a:r>
              <a:rPr lang="en-US" sz="3200" dirty="0">
                <a:latin typeface="+mj-lt"/>
                <a:cs typeface="Times New Roman" panose="02020603050405020304" pitchFamily="18" charset="0"/>
              </a:rPr>
              <a:t>If an </a:t>
            </a:r>
            <a:r>
              <a:rPr lang="en-US" sz="3200" b="1" dirty="0">
                <a:latin typeface="+mj-lt"/>
                <a:cs typeface="Times New Roman" panose="02020603050405020304" pitchFamily="18" charset="0"/>
              </a:rPr>
              <a:t>element in an array </a:t>
            </a:r>
            <a:r>
              <a:rPr lang="en-US" sz="3200" dirty="0">
                <a:latin typeface="+mj-lt"/>
                <a:cs typeface="Times New Roman" panose="02020603050405020304" pitchFamily="18" charset="0"/>
              </a:rPr>
              <a:t>is used, </a:t>
            </a:r>
            <a:r>
              <a:rPr lang="en-US" sz="3200" b="1" dirty="0">
                <a:latin typeface="+mj-lt"/>
                <a:cs typeface="Times New Roman" panose="02020603050405020304" pitchFamily="18" charset="0"/>
              </a:rPr>
              <a:t>other elements in the same array </a:t>
            </a:r>
            <a:r>
              <a:rPr lang="en-US" sz="3200" dirty="0">
                <a:latin typeface="+mj-lt"/>
                <a:cs typeface="Times New Roman" panose="02020603050405020304" pitchFamily="18" charset="0"/>
              </a:rPr>
              <a:t>are also likely to be used, creating </a:t>
            </a:r>
            <a:r>
              <a:rPr lang="en-US" sz="3200" b="1" dirty="0">
                <a:latin typeface="+mj-lt"/>
                <a:cs typeface="Times New Roman" panose="02020603050405020304" pitchFamily="18" charset="0"/>
              </a:rPr>
              <a:t>spatial locality</a:t>
            </a:r>
            <a:endParaRPr lang="en-IN" sz="3200" b="1" dirty="0">
              <a:latin typeface="+mj-lt"/>
              <a:cs typeface="Times New Roman" panose="02020603050405020304" pitchFamily="18" charset="0"/>
            </a:endParaRPr>
          </a:p>
        </p:txBody>
      </p:sp>
    </p:spTree>
    <p:extLst>
      <p:ext uri="{BB962C8B-B14F-4D97-AF65-F5344CB8AC3E}">
        <p14:creationId xmlns:p14="http://schemas.microsoft.com/office/powerpoint/2010/main" val="3748202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cs typeface="Times New Roman" panose="02020603050405020304" pitchFamily="18" charset="0"/>
              </a:rPr>
              <a:t>How is Data Found?</a:t>
            </a:r>
            <a:endParaRPr lang="en-IN" b="1" dirty="0"/>
          </a:p>
        </p:txBody>
      </p:sp>
      <p:sp>
        <p:nvSpPr>
          <p:cNvPr id="4" name="Rectangle 3"/>
          <p:cNvSpPr/>
          <p:nvPr/>
        </p:nvSpPr>
        <p:spPr>
          <a:xfrm>
            <a:off x="-24285" y="599595"/>
            <a:ext cx="12174923" cy="5693866"/>
          </a:xfrm>
          <a:prstGeom prst="rect">
            <a:avLst/>
          </a:prstGeom>
        </p:spPr>
        <p:txBody>
          <a:bodyPr wrap="square">
            <a:spAutoFit/>
          </a:bodyPr>
          <a:lstStyle/>
          <a:p>
            <a:pPr marL="457200" indent="-457200">
              <a:buFont typeface="Arial" pitchFamily="34" charset="0"/>
              <a:buChar char="•"/>
            </a:pPr>
            <a:r>
              <a:rPr lang="en-US" sz="2800" dirty="0">
                <a:latin typeface="+mj-lt"/>
                <a:cs typeface="Times New Roman" panose="02020603050405020304" pitchFamily="18" charset="0"/>
              </a:rPr>
              <a:t>A cache is organized into </a:t>
            </a:r>
            <a:r>
              <a:rPr lang="en-US" sz="2800" b="1" dirty="0">
                <a:latin typeface="+mj-lt"/>
                <a:cs typeface="Times New Roman" panose="02020603050405020304" pitchFamily="18" charset="0"/>
              </a:rPr>
              <a:t>S sets</a:t>
            </a:r>
            <a:r>
              <a:rPr lang="en-US" sz="2800" dirty="0">
                <a:latin typeface="+mj-lt"/>
                <a:cs typeface="Times New Roman" panose="02020603050405020304" pitchFamily="18" charset="0"/>
              </a:rPr>
              <a:t>, each of which holds </a:t>
            </a:r>
            <a:r>
              <a:rPr lang="en-US" sz="2800" b="1" dirty="0">
                <a:latin typeface="+mj-lt"/>
                <a:cs typeface="Times New Roman" panose="02020603050405020304" pitchFamily="18" charset="0"/>
              </a:rPr>
              <a:t>one or more blocks </a:t>
            </a:r>
            <a:r>
              <a:rPr lang="en-US" sz="2800" dirty="0">
                <a:latin typeface="+mj-lt"/>
                <a:cs typeface="Times New Roman" panose="02020603050405020304" pitchFamily="18" charset="0"/>
              </a:rPr>
              <a:t>of data</a:t>
            </a:r>
            <a:r>
              <a:rPr lang="en-US" sz="2800" dirty="0" smtClean="0">
                <a:latin typeface="+mj-lt"/>
                <a:cs typeface="Times New Roman" panose="02020603050405020304" pitchFamily="18" charset="0"/>
              </a:rPr>
              <a:t>.</a:t>
            </a: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a:latin typeface="+mj-lt"/>
                <a:cs typeface="Times New Roman" panose="02020603050405020304" pitchFamily="18" charset="0"/>
              </a:rPr>
              <a:t> The relationship between the </a:t>
            </a:r>
            <a:r>
              <a:rPr lang="en-US" sz="2800" b="1" dirty="0">
                <a:latin typeface="+mj-lt"/>
                <a:cs typeface="Times New Roman" panose="02020603050405020304" pitchFamily="18" charset="0"/>
              </a:rPr>
              <a:t>address of data in main memory and the location of that data in the cache </a:t>
            </a:r>
            <a:r>
              <a:rPr lang="en-US" sz="2800" dirty="0">
                <a:latin typeface="+mj-lt"/>
                <a:cs typeface="Times New Roman" panose="02020603050405020304" pitchFamily="18" charset="0"/>
              </a:rPr>
              <a:t>is called the </a:t>
            </a:r>
            <a:r>
              <a:rPr lang="en-US" sz="2800" b="1" dirty="0">
                <a:solidFill>
                  <a:srgbClr val="FF0000"/>
                </a:solidFill>
                <a:latin typeface="+mj-lt"/>
                <a:cs typeface="Times New Roman" panose="02020603050405020304" pitchFamily="18" charset="0"/>
              </a:rPr>
              <a:t>mapping</a:t>
            </a:r>
            <a:r>
              <a:rPr lang="en-US" sz="2800" dirty="0" smtClean="0">
                <a:latin typeface="+mj-lt"/>
                <a:cs typeface="Times New Roman" panose="02020603050405020304" pitchFamily="18" charset="0"/>
              </a:rPr>
              <a:t>.</a:t>
            </a: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a:latin typeface="+mj-lt"/>
                <a:cs typeface="Times New Roman" panose="02020603050405020304" pitchFamily="18" charset="0"/>
              </a:rPr>
              <a:t>Each </a:t>
            </a:r>
            <a:r>
              <a:rPr lang="en-US" sz="2800" b="1" dirty="0">
                <a:latin typeface="+mj-lt"/>
                <a:cs typeface="Times New Roman" panose="02020603050405020304" pitchFamily="18" charset="0"/>
              </a:rPr>
              <a:t>memory address maps to exactly one </a:t>
            </a:r>
            <a:r>
              <a:rPr lang="en-US" sz="2800" dirty="0">
                <a:latin typeface="+mj-lt"/>
                <a:cs typeface="Times New Roman" panose="02020603050405020304" pitchFamily="18" charset="0"/>
              </a:rPr>
              <a:t>set in the cache. </a:t>
            </a:r>
            <a:endParaRPr lang="en-US" sz="2800" dirty="0" smtClean="0">
              <a:latin typeface="+mj-lt"/>
              <a:cs typeface="Times New Roman" panose="02020603050405020304" pitchFamily="18" charset="0"/>
            </a:endParaRP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Some </a:t>
            </a:r>
            <a:r>
              <a:rPr lang="en-US" sz="2800" dirty="0">
                <a:latin typeface="+mj-lt"/>
                <a:cs typeface="Times New Roman" panose="02020603050405020304" pitchFamily="18" charset="0"/>
              </a:rPr>
              <a:t>of the address bits are used to determine which cache set contains the data</a:t>
            </a:r>
            <a:r>
              <a:rPr lang="en-US" sz="2800" dirty="0" smtClean="0">
                <a:latin typeface="+mj-lt"/>
                <a:cs typeface="Times New Roman" panose="02020603050405020304" pitchFamily="18" charset="0"/>
              </a:rPr>
              <a:t>.</a:t>
            </a: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a:latin typeface="+mj-lt"/>
                <a:cs typeface="Times New Roman" panose="02020603050405020304" pitchFamily="18" charset="0"/>
              </a:rPr>
              <a:t>If the set contains more than one block, the data may be kept in any of the blocks in the </a:t>
            </a:r>
            <a:r>
              <a:rPr lang="en-US" sz="2800" dirty="0" smtClean="0">
                <a:latin typeface="+mj-lt"/>
                <a:cs typeface="Times New Roman" panose="02020603050405020304" pitchFamily="18" charset="0"/>
              </a:rPr>
              <a:t>set</a:t>
            </a:r>
          </a:p>
        </p:txBody>
      </p:sp>
    </p:spTree>
    <p:extLst>
      <p:ext uri="{BB962C8B-B14F-4D97-AF65-F5344CB8AC3E}">
        <p14:creationId xmlns:p14="http://schemas.microsoft.com/office/powerpoint/2010/main" val="3538554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cs typeface="Times New Roman" panose="02020603050405020304" pitchFamily="18" charset="0"/>
              </a:rPr>
              <a:t>How is Data Found?</a:t>
            </a:r>
            <a:endParaRPr lang="en-IN" b="1" dirty="0"/>
          </a:p>
        </p:txBody>
      </p:sp>
      <p:sp>
        <p:nvSpPr>
          <p:cNvPr id="4" name="Rectangle 3"/>
          <p:cNvSpPr/>
          <p:nvPr/>
        </p:nvSpPr>
        <p:spPr>
          <a:xfrm>
            <a:off x="-24285" y="444847"/>
            <a:ext cx="12174923" cy="5693866"/>
          </a:xfrm>
          <a:prstGeom prst="rect">
            <a:avLst/>
          </a:prstGeom>
        </p:spPr>
        <p:txBody>
          <a:bodyPr wrap="square">
            <a:spAutoFit/>
          </a:bodyPr>
          <a:lstStyle/>
          <a:p>
            <a:pPr marL="457200" indent="-457200">
              <a:buFont typeface="Arial" pitchFamily="34" charset="0"/>
              <a:buChar char="•"/>
            </a:pPr>
            <a:r>
              <a:rPr lang="en-US" sz="2800" dirty="0" smtClean="0">
                <a:latin typeface="+mj-lt"/>
                <a:cs typeface="Times New Roman" panose="02020603050405020304" pitchFamily="18" charset="0"/>
              </a:rPr>
              <a:t>Caches </a:t>
            </a:r>
            <a:r>
              <a:rPr lang="en-US" sz="2800" dirty="0">
                <a:latin typeface="+mj-lt"/>
                <a:cs typeface="Times New Roman" panose="02020603050405020304" pitchFamily="18" charset="0"/>
              </a:rPr>
              <a:t>are </a:t>
            </a:r>
            <a:r>
              <a:rPr lang="en-US" sz="2800" b="1" dirty="0">
                <a:latin typeface="+mj-lt"/>
                <a:cs typeface="Times New Roman" panose="02020603050405020304" pitchFamily="18" charset="0"/>
              </a:rPr>
              <a:t>categorized</a:t>
            </a:r>
            <a:r>
              <a:rPr lang="en-US" sz="2800" dirty="0">
                <a:latin typeface="+mj-lt"/>
                <a:cs typeface="Times New Roman" panose="02020603050405020304" pitchFamily="18" charset="0"/>
              </a:rPr>
              <a:t> based on the </a:t>
            </a:r>
            <a:r>
              <a:rPr lang="en-US" sz="2800" b="1" dirty="0">
                <a:latin typeface="+mj-lt"/>
                <a:cs typeface="Times New Roman" panose="02020603050405020304" pitchFamily="18" charset="0"/>
              </a:rPr>
              <a:t>number of blocks in a set. </a:t>
            </a:r>
            <a:endParaRPr lang="en-US" sz="2800" b="1" dirty="0" smtClean="0">
              <a:latin typeface="+mj-lt"/>
              <a:cs typeface="Times New Roman" panose="02020603050405020304" pitchFamily="18" charset="0"/>
            </a:endParaRPr>
          </a:p>
          <a:p>
            <a:pPr marL="457200" indent="-457200">
              <a:buFont typeface="Arial" pitchFamily="34" charset="0"/>
              <a:buChar char="•"/>
            </a:pPr>
            <a:endParaRPr lang="en-US" sz="2800" b="1" dirty="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In </a:t>
            </a:r>
            <a:r>
              <a:rPr lang="en-US" sz="2800" dirty="0">
                <a:latin typeface="+mj-lt"/>
                <a:cs typeface="Times New Roman" panose="02020603050405020304" pitchFamily="18" charset="0"/>
              </a:rPr>
              <a:t>a </a:t>
            </a:r>
            <a:r>
              <a:rPr lang="en-US" sz="2800" b="1" dirty="0">
                <a:solidFill>
                  <a:srgbClr val="FF0000"/>
                </a:solidFill>
                <a:latin typeface="+mj-lt"/>
                <a:cs typeface="Times New Roman" panose="02020603050405020304" pitchFamily="18" charset="0"/>
              </a:rPr>
              <a:t>direct mapped cache</a:t>
            </a:r>
            <a:r>
              <a:rPr lang="en-US" sz="2800" dirty="0">
                <a:latin typeface="+mj-lt"/>
                <a:cs typeface="Times New Roman" panose="02020603050405020304" pitchFamily="18" charset="0"/>
              </a:rPr>
              <a:t>, each set contains exactly </a:t>
            </a:r>
            <a:r>
              <a:rPr lang="en-US" sz="2800" b="1" dirty="0">
                <a:latin typeface="+mj-lt"/>
                <a:cs typeface="Times New Roman" panose="02020603050405020304" pitchFamily="18" charset="0"/>
              </a:rPr>
              <a:t>one block</a:t>
            </a:r>
            <a:r>
              <a:rPr lang="en-US" sz="2800" dirty="0">
                <a:latin typeface="+mj-lt"/>
                <a:cs typeface="Times New Roman" panose="02020603050405020304" pitchFamily="18" charset="0"/>
              </a:rPr>
              <a:t>, so the cache has S = B sets. </a:t>
            </a:r>
            <a:endParaRPr lang="en-US" sz="2800" dirty="0" smtClean="0">
              <a:latin typeface="+mj-lt"/>
              <a:cs typeface="Times New Roman" panose="02020603050405020304" pitchFamily="18" charset="0"/>
            </a:endParaRP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a:latin typeface="+mj-lt"/>
                <a:cs typeface="Times New Roman" panose="02020603050405020304" pitchFamily="18" charset="0"/>
              </a:rPr>
              <a:t>Thus, a particular main memory address </a:t>
            </a:r>
            <a:r>
              <a:rPr lang="en-US" sz="2800" b="1" dirty="0">
                <a:latin typeface="+mj-lt"/>
                <a:cs typeface="Times New Roman" panose="02020603050405020304" pitchFamily="18" charset="0"/>
              </a:rPr>
              <a:t>maps to a unique block in </a:t>
            </a:r>
            <a:r>
              <a:rPr lang="en-US" sz="2800" dirty="0">
                <a:latin typeface="+mj-lt"/>
                <a:cs typeface="Times New Roman" panose="02020603050405020304" pitchFamily="18" charset="0"/>
              </a:rPr>
              <a:t>the cache. </a:t>
            </a:r>
            <a:endParaRPr lang="en-US" sz="2800" dirty="0" smtClean="0">
              <a:latin typeface="+mj-lt"/>
              <a:cs typeface="Times New Roman" panose="02020603050405020304" pitchFamily="18" charset="0"/>
            </a:endParaRP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In </a:t>
            </a:r>
            <a:r>
              <a:rPr lang="en-US" sz="2800" dirty="0">
                <a:latin typeface="+mj-lt"/>
                <a:cs typeface="Times New Roman" panose="02020603050405020304" pitchFamily="18" charset="0"/>
              </a:rPr>
              <a:t>an </a:t>
            </a:r>
            <a:r>
              <a:rPr lang="en-US" sz="2800" b="1" dirty="0">
                <a:solidFill>
                  <a:srgbClr val="FF0000"/>
                </a:solidFill>
                <a:latin typeface="+mj-lt"/>
                <a:cs typeface="Times New Roman" panose="02020603050405020304" pitchFamily="18" charset="0"/>
              </a:rPr>
              <a:t>N-way set associative cache</a:t>
            </a:r>
            <a:r>
              <a:rPr lang="en-US" sz="2800" dirty="0">
                <a:latin typeface="+mj-lt"/>
                <a:cs typeface="Times New Roman" panose="02020603050405020304" pitchFamily="18" charset="0"/>
              </a:rPr>
              <a:t>, each set contains </a:t>
            </a:r>
            <a:r>
              <a:rPr lang="en-US" sz="2800" b="1" dirty="0">
                <a:latin typeface="+mj-lt"/>
                <a:cs typeface="Times New Roman" panose="02020603050405020304" pitchFamily="18" charset="0"/>
              </a:rPr>
              <a:t>N blocks. </a:t>
            </a:r>
            <a:endParaRPr lang="en-US" sz="2800" b="1" dirty="0" smtClean="0">
              <a:latin typeface="+mj-lt"/>
              <a:cs typeface="Times New Roman" panose="02020603050405020304" pitchFamily="18" charset="0"/>
            </a:endParaRP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The </a:t>
            </a:r>
            <a:r>
              <a:rPr lang="en-US" sz="2800" dirty="0">
                <a:latin typeface="+mj-lt"/>
                <a:cs typeface="Times New Roman" panose="02020603050405020304" pitchFamily="18" charset="0"/>
              </a:rPr>
              <a:t>address still maps to a unique set, with </a:t>
            </a:r>
            <a:r>
              <a:rPr lang="en-US" sz="2800" b="1" dirty="0">
                <a:solidFill>
                  <a:srgbClr val="FF0000"/>
                </a:solidFill>
                <a:latin typeface="+mj-lt"/>
                <a:cs typeface="Times New Roman" panose="02020603050405020304" pitchFamily="18" charset="0"/>
              </a:rPr>
              <a:t>S = B/N </a:t>
            </a:r>
            <a:r>
              <a:rPr lang="en-US" sz="2800" b="1" dirty="0" smtClean="0">
                <a:solidFill>
                  <a:srgbClr val="FF0000"/>
                </a:solidFill>
                <a:latin typeface="+mj-lt"/>
                <a:cs typeface="Times New Roman" panose="02020603050405020304" pitchFamily="18" charset="0"/>
              </a:rPr>
              <a:t>sets</a:t>
            </a:r>
          </a:p>
          <a:p>
            <a:pPr marL="457200" indent="-457200">
              <a:buFont typeface="Arial" pitchFamily="34" charset="0"/>
              <a:buChar char="•"/>
            </a:pPr>
            <a:endParaRPr lang="en-US" sz="2800" b="1" dirty="0">
              <a:solidFill>
                <a:srgbClr val="FF0000"/>
              </a:solidFill>
              <a:latin typeface="+mj-lt"/>
              <a:cs typeface="Times New Roman" panose="02020603050405020304" pitchFamily="18" charset="0"/>
            </a:endParaRPr>
          </a:p>
          <a:p>
            <a:pPr marL="457200" indent="-457200">
              <a:buFont typeface="Arial" pitchFamily="34" charset="0"/>
              <a:buChar char="•"/>
            </a:pPr>
            <a:r>
              <a:rPr lang="en-US" sz="2800" dirty="0">
                <a:latin typeface="+mj-lt"/>
                <a:cs typeface="Times New Roman" panose="02020603050405020304" pitchFamily="18" charset="0"/>
              </a:rPr>
              <a:t>But the data from that address can go in any of the N blocks in that set. </a:t>
            </a:r>
            <a:endParaRPr lang="en-US" sz="2800" dirty="0" smtClean="0">
              <a:latin typeface="+mj-lt"/>
              <a:cs typeface="Times New Roman" panose="02020603050405020304" pitchFamily="18" charset="0"/>
            </a:endParaRPr>
          </a:p>
          <a:p>
            <a:pPr marL="457200" indent="-457200">
              <a:buFont typeface="Arial" pitchFamily="34" charset="0"/>
              <a:buChar char="•"/>
            </a:pP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3838020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cs typeface="Times New Roman" panose="02020603050405020304" pitchFamily="18" charset="0"/>
              </a:rPr>
              <a:t>How is Data Found?</a:t>
            </a:r>
            <a:endParaRPr lang="en-IN" b="1" dirty="0"/>
          </a:p>
        </p:txBody>
      </p:sp>
      <p:sp>
        <p:nvSpPr>
          <p:cNvPr id="4" name="Rectangle 3"/>
          <p:cNvSpPr/>
          <p:nvPr/>
        </p:nvSpPr>
        <p:spPr>
          <a:xfrm>
            <a:off x="-24285" y="444847"/>
            <a:ext cx="12174923" cy="3108543"/>
          </a:xfrm>
          <a:prstGeom prst="rect">
            <a:avLst/>
          </a:prstGeom>
        </p:spPr>
        <p:txBody>
          <a:bodyPr wrap="square">
            <a:spAutoFit/>
          </a:bodyPr>
          <a:lstStyle/>
          <a:p>
            <a:pPr marL="457200" indent="-457200">
              <a:buFont typeface="Arial" pitchFamily="34" charset="0"/>
              <a:buChar char="•"/>
            </a:pPr>
            <a:r>
              <a:rPr lang="en-US" sz="2800" dirty="0" smtClean="0">
                <a:latin typeface="+mj-lt"/>
                <a:cs typeface="Times New Roman" panose="02020603050405020304" pitchFamily="18" charset="0"/>
              </a:rPr>
              <a:t>A </a:t>
            </a:r>
            <a:r>
              <a:rPr lang="en-US" sz="2800" b="1" dirty="0">
                <a:latin typeface="+mj-lt"/>
                <a:cs typeface="Times New Roman" panose="02020603050405020304" pitchFamily="18" charset="0"/>
              </a:rPr>
              <a:t>fully associative cache </a:t>
            </a:r>
            <a:r>
              <a:rPr lang="en-US" sz="2800" dirty="0">
                <a:latin typeface="+mj-lt"/>
                <a:cs typeface="Times New Roman" panose="02020603050405020304" pitchFamily="18" charset="0"/>
              </a:rPr>
              <a:t>has only </a:t>
            </a:r>
            <a:r>
              <a:rPr lang="en-US" sz="2800" b="1" dirty="0">
                <a:latin typeface="+mj-lt"/>
                <a:cs typeface="Times New Roman" panose="02020603050405020304" pitchFamily="18" charset="0"/>
              </a:rPr>
              <a:t>S = 1 set</a:t>
            </a:r>
            <a:r>
              <a:rPr lang="en-US" sz="2800" dirty="0">
                <a:latin typeface="+mj-lt"/>
                <a:cs typeface="Times New Roman" panose="02020603050405020304" pitchFamily="18" charset="0"/>
              </a:rPr>
              <a:t>. </a:t>
            </a:r>
            <a:endParaRPr lang="en-US" sz="2800" dirty="0" smtClean="0">
              <a:latin typeface="+mj-lt"/>
              <a:cs typeface="Times New Roman" panose="02020603050405020304" pitchFamily="18" charset="0"/>
            </a:endParaRP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Data </a:t>
            </a:r>
            <a:r>
              <a:rPr lang="en-US" sz="2800" dirty="0">
                <a:latin typeface="+mj-lt"/>
                <a:cs typeface="Times New Roman" panose="02020603050405020304" pitchFamily="18" charset="0"/>
              </a:rPr>
              <a:t>can go in any of the B blocks in the set. </a:t>
            </a:r>
            <a:endParaRPr lang="en-US" sz="2800" dirty="0" smtClean="0">
              <a:latin typeface="+mj-lt"/>
              <a:cs typeface="Times New Roman" panose="02020603050405020304" pitchFamily="18" charset="0"/>
            </a:endParaRPr>
          </a:p>
          <a:p>
            <a:pPr marL="457200" indent="-457200">
              <a:buFont typeface="Arial" pitchFamily="34" charset="0"/>
              <a:buChar char="•"/>
            </a:pPr>
            <a:endParaRPr lang="en-US" sz="2800" dirty="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Hence</a:t>
            </a:r>
            <a:r>
              <a:rPr lang="en-US" sz="2800" dirty="0">
                <a:latin typeface="+mj-lt"/>
                <a:cs typeface="Times New Roman" panose="02020603050405020304" pitchFamily="18" charset="0"/>
              </a:rPr>
              <a:t>, a fully associative cache is another name for a </a:t>
            </a:r>
            <a:r>
              <a:rPr lang="en-US" sz="2800" b="1" dirty="0">
                <a:solidFill>
                  <a:srgbClr val="FF0000"/>
                </a:solidFill>
                <a:latin typeface="+mj-lt"/>
                <a:cs typeface="Times New Roman" panose="02020603050405020304" pitchFamily="18" charset="0"/>
              </a:rPr>
              <a:t>B-way set associative cache.</a:t>
            </a:r>
            <a:endParaRPr lang="en-IN" sz="2800" b="1" dirty="0">
              <a:solidFill>
                <a:srgbClr val="FF0000"/>
              </a:solidFill>
              <a:latin typeface="+mj-lt"/>
              <a:cs typeface="Times New Roman" panose="02020603050405020304" pitchFamily="18" charset="0"/>
            </a:endParaRPr>
          </a:p>
          <a:p>
            <a:pPr marL="457200" indent="-457200">
              <a:buFont typeface="Arial" pitchFamily="34" charset="0"/>
              <a:buChar char="•"/>
            </a:pPr>
            <a:endParaRPr lang="en-IN" sz="2800" b="1" dirty="0">
              <a:solidFill>
                <a:srgbClr val="FF0000"/>
              </a:solidFill>
              <a:latin typeface="+mj-lt"/>
              <a:cs typeface="Times New Roman" panose="02020603050405020304" pitchFamily="18" charset="0"/>
            </a:endParaRPr>
          </a:p>
        </p:txBody>
      </p:sp>
    </p:spTree>
    <p:extLst>
      <p:ext uri="{BB962C8B-B14F-4D97-AF65-F5344CB8AC3E}">
        <p14:creationId xmlns:p14="http://schemas.microsoft.com/office/powerpoint/2010/main" val="1960338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Direct Mapped Cache</a:t>
            </a:r>
          </a:p>
        </p:txBody>
      </p:sp>
      <p:sp>
        <p:nvSpPr>
          <p:cNvPr id="4" name="Rectangle 3"/>
          <p:cNvSpPr/>
          <p:nvPr/>
        </p:nvSpPr>
        <p:spPr>
          <a:xfrm>
            <a:off x="-24285" y="444847"/>
            <a:ext cx="12174923" cy="5693866"/>
          </a:xfrm>
          <a:prstGeom prst="rect">
            <a:avLst/>
          </a:prstGeom>
        </p:spPr>
        <p:txBody>
          <a:bodyPr wrap="square">
            <a:spAutoFit/>
          </a:bodyPr>
          <a:lstStyle/>
          <a:p>
            <a:pPr marL="457200" indent="-457200">
              <a:buFont typeface="Arial" pitchFamily="34" charset="0"/>
              <a:buChar char="•"/>
            </a:pPr>
            <a:r>
              <a:rPr lang="en-US" sz="2800" dirty="0">
                <a:latin typeface="+mj-lt"/>
                <a:cs typeface="Times New Roman" panose="02020603050405020304" pitchFamily="18" charset="0"/>
              </a:rPr>
              <a:t>A direct mapped cache has </a:t>
            </a:r>
            <a:r>
              <a:rPr lang="en-US" sz="2800" b="1" dirty="0">
                <a:latin typeface="+mj-lt"/>
                <a:cs typeface="Times New Roman" panose="02020603050405020304" pitchFamily="18" charset="0"/>
              </a:rPr>
              <a:t>one block in each set</a:t>
            </a:r>
            <a:r>
              <a:rPr lang="en-US" sz="2800" dirty="0">
                <a:latin typeface="+mj-lt"/>
                <a:cs typeface="Times New Roman" panose="02020603050405020304" pitchFamily="18" charset="0"/>
              </a:rPr>
              <a:t>, so it is organized into </a:t>
            </a:r>
            <a:r>
              <a:rPr lang="en-US" sz="2800" b="1" dirty="0">
                <a:latin typeface="+mj-lt"/>
                <a:cs typeface="Times New Roman" panose="02020603050405020304" pitchFamily="18" charset="0"/>
              </a:rPr>
              <a:t>S = B </a:t>
            </a:r>
            <a:r>
              <a:rPr lang="en-US" sz="2800" dirty="0">
                <a:latin typeface="+mj-lt"/>
                <a:cs typeface="Times New Roman" panose="02020603050405020304" pitchFamily="18" charset="0"/>
              </a:rPr>
              <a:t>sets. </a:t>
            </a:r>
            <a:endParaRPr lang="en-US" sz="2800" dirty="0" smtClean="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To </a:t>
            </a:r>
            <a:r>
              <a:rPr lang="en-US" sz="2800" dirty="0">
                <a:latin typeface="+mj-lt"/>
                <a:cs typeface="Times New Roman" panose="02020603050405020304" pitchFamily="18" charset="0"/>
              </a:rPr>
              <a:t>understand the mapping of memory addresses onto cache blocks, imagine main memory as being mapped into </a:t>
            </a:r>
            <a:r>
              <a:rPr lang="en-US" sz="2800" b="1" dirty="0">
                <a:latin typeface="+mj-lt"/>
                <a:cs typeface="Times New Roman" panose="02020603050405020304" pitchFamily="18" charset="0"/>
              </a:rPr>
              <a:t>b-word blocks</a:t>
            </a:r>
            <a:r>
              <a:rPr lang="en-US" sz="2800" dirty="0">
                <a:latin typeface="+mj-lt"/>
                <a:cs typeface="Times New Roman" panose="02020603050405020304" pitchFamily="18" charset="0"/>
              </a:rPr>
              <a:t>, just as the cache is</a:t>
            </a:r>
            <a:r>
              <a:rPr lang="en-US" sz="2800" dirty="0" smtClean="0">
                <a:latin typeface="+mj-lt"/>
                <a:cs typeface="Times New Roman" panose="02020603050405020304" pitchFamily="18" charset="0"/>
              </a:rPr>
              <a:t>.</a:t>
            </a:r>
          </a:p>
          <a:p>
            <a:pPr marL="457200" indent="-457200">
              <a:buFont typeface="Arial" pitchFamily="34" charset="0"/>
              <a:buChar char="•"/>
            </a:pPr>
            <a:r>
              <a:rPr lang="en-US" sz="2800" dirty="0" smtClean="0">
                <a:latin typeface="+mj-lt"/>
                <a:cs typeface="Times New Roman" panose="02020603050405020304" pitchFamily="18" charset="0"/>
              </a:rPr>
              <a:t>An </a:t>
            </a:r>
            <a:r>
              <a:rPr lang="en-US" sz="2800" dirty="0">
                <a:latin typeface="+mj-lt"/>
                <a:cs typeface="Times New Roman" panose="02020603050405020304" pitchFamily="18" charset="0"/>
              </a:rPr>
              <a:t>address in </a:t>
            </a:r>
            <a:r>
              <a:rPr lang="en-US" sz="2800" b="1" dirty="0">
                <a:latin typeface="+mj-lt"/>
                <a:cs typeface="Times New Roman" panose="02020603050405020304" pitchFamily="18" charset="0"/>
              </a:rPr>
              <a:t>block 0 of main memory </a:t>
            </a:r>
            <a:r>
              <a:rPr lang="en-US" sz="2800" dirty="0">
                <a:latin typeface="+mj-lt"/>
                <a:cs typeface="Times New Roman" panose="02020603050405020304" pitchFamily="18" charset="0"/>
              </a:rPr>
              <a:t>maps </a:t>
            </a:r>
            <a:r>
              <a:rPr lang="en-US" sz="2800" b="1" dirty="0">
                <a:latin typeface="+mj-lt"/>
                <a:cs typeface="Times New Roman" panose="02020603050405020304" pitchFamily="18" charset="0"/>
              </a:rPr>
              <a:t>to set 0 </a:t>
            </a:r>
            <a:r>
              <a:rPr lang="en-US" sz="2800" dirty="0">
                <a:latin typeface="+mj-lt"/>
                <a:cs typeface="Times New Roman" panose="02020603050405020304" pitchFamily="18" charset="0"/>
              </a:rPr>
              <a:t>of the cache. </a:t>
            </a:r>
            <a:endParaRPr lang="en-US" sz="2800" dirty="0" smtClean="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An </a:t>
            </a:r>
            <a:r>
              <a:rPr lang="en-US" sz="2800" dirty="0">
                <a:latin typeface="+mj-lt"/>
                <a:cs typeface="Times New Roman" panose="02020603050405020304" pitchFamily="18" charset="0"/>
              </a:rPr>
              <a:t>address in block 1 of main memory maps to set 1 of the cache, and so forth until an address in </a:t>
            </a:r>
            <a:r>
              <a:rPr lang="en-US" sz="2800" b="1" dirty="0">
                <a:latin typeface="+mj-lt"/>
                <a:cs typeface="Times New Roman" panose="02020603050405020304" pitchFamily="18" charset="0"/>
              </a:rPr>
              <a:t>block B − 1 of main </a:t>
            </a:r>
            <a:r>
              <a:rPr lang="en-US" sz="2800" b="1" dirty="0" smtClean="0">
                <a:latin typeface="+mj-lt"/>
                <a:cs typeface="Times New Roman" panose="02020603050405020304" pitchFamily="18" charset="0"/>
              </a:rPr>
              <a:t>memory </a:t>
            </a:r>
            <a:r>
              <a:rPr lang="en-US" sz="2800" b="1" dirty="0">
                <a:latin typeface="+mj-lt"/>
                <a:cs typeface="Times New Roman" panose="02020603050405020304" pitchFamily="18" charset="0"/>
              </a:rPr>
              <a:t>maps to block B − 1 </a:t>
            </a:r>
            <a:r>
              <a:rPr lang="en-US" sz="2800" dirty="0">
                <a:latin typeface="+mj-lt"/>
                <a:cs typeface="Times New Roman" panose="02020603050405020304" pitchFamily="18" charset="0"/>
              </a:rPr>
              <a:t>of the cache.</a:t>
            </a:r>
          </a:p>
          <a:p>
            <a:pPr marL="457200" indent="-457200">
              <a:buFont typeface="Arial" pitchFamily="34" charset="0"/>
              <a:buChar char="•"/>
            </a:pPr>
            <a:r>
              <a:rPr lang="en-US" sz="2800" dirty="0">
                <a:latin typeface="+mj-lt"/>
                <a:cs typeface="Times New Roman" panose="02020603050405020304" pitchFamily="18" charset="0"/>
              </a:rPr>
              <a:t>There are no more blocks of the cache, so </a:t>
            </a:r>
            <a:r>
              <a:rPr lang="en-US" sz="2800" b="1" dirty="0">
                <a:latin typeface="+mj-lt"/>
                <a:cs typeface="Times New Roman" panose="02020603050405020304" pitchFamily="18" charset="0"/>
              </a:rPr>
              <a:t>the mapping wraps </a:t>
            </a:r>
            <a:r>
              <a:rPr lang="en-US" sz="2800" dirty="0">
                <a:latin typeface="+mj-lt"/>
                <a:cs typeface="Times New Roman" panose="02020603050405020304" pitchFamily="18" charset="0"/>
              </a:rPr>
              <a:t>around, such that </a:t>
            </a:r>
            <a:r>
              <a:rPr lang="en-US" sz="2800" b="1" dirty="0">
                <a:latin typeface="+mj-lt"/>
                <a:cs typeface="Times New Roman" panose="02020603050405020304" pitchFamily="18" charset="0"/>
              </a:rPr>
              <a:t>block B of main memory </a:t>
            </a:r>
            <a:r>
              <a:rPr lang="en-US" sz="2800" dirty="0">
                <a:latin typeface="+mj-lt"/>
                <a:cs typeface="Times New Roman" panose="02020603050405020304" pitchFamily="18" charset="0"/>
              </a:rPr>
              <a:t>maps to </a:t>
            </a:r>
            <a:r>
              <a:rPr lang="en-US" sz="2800" b="1" dirty="0">
                <a:latin typeface="+mj-lt"/>
                <a:cs typeface="Times New Roman" panose="02020603050405020304" pitchFamily="18" charset="0"/>
              </a:rPr>
              <a:t>block 0 </a:t>
            </a:r>
            <a:r>
              <a:rPr lang="en-US" sz="2800" dirty="0">
                <a:latin typeface="+mj-lt"/>
                <a:cs typeface="Times New Roman" panose="02020603050405020304" pitchFamily="18" charset="0"/>
              </a:rPr>
              <a:t>of the cache.</a:t>
            </a:r>
          </a:p>
          <a:p>
            <a:pPr marL="457200" indent="-457200">
              <a:buFont typeface="Arial" pitchFamily="34" charset="0"/>
              <a:buChar char="•"/>
            </a:pPr>
            <a:endParaRPr lang="en-US" sz="2800" dirty="0" smtClean="0">
              <a:latin typeface="+mj-lt"/>
              <a:cs typeface="Times New Roman" panose="02020603050405020304" pitchFamily="18" charset="0"/>
            </a:endParaRPr>
          </a:p>
          <a:p>
            <a:pPr marL="457200" indent="-457200">
              <a:buFont typeface="Arial" pitchFamily="34" charset="0"/>
              <a:buChar char="•"/>
            </a:pPr>
            <a:r>
              <a:rPr lang="en-US" sz="2800" dirty="0" smtClean="0">
                <a:latin typeface="+mj-lt"/>
                <a:cs typeface="Times New Roman" panose="02020603050405020304" pitchFamily="18" charset="0"/>
              </a:rPr>
              <a:t>This </a:t>
            </a:r>
            <a:r>
              <a:rPr lang="en-US" sz="2800" dirty="0">
                <a:latin typeface="+mj-lt"/>
                <a:cs typeface="Times New Roman" panose="02020603050405020304" pitchFamily="18" charset="0"/>
              </a:rPr>
              <a:t>mapping is illustrated in Figure 8.5 for a direct mapped cache with a capacity of eight words and a block size of one word</a:t>
            </a:r>
          </a:p>
        </p:txBody>
      </p:sp>
    </p:spTree>
    <p:extLst>
      <p:ext uri="{BB962C8B-B14F-4D97-AF65-F5344CB8AC3E}">
        <p14:creationId xmlns:p14="http://schemas.microsoft.com/office/powerpoint/2010/main" val="3364620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Direct Mapped Cache</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486" t="16071" r="13101" b="41965"/>
          <a:stretch/>
        </p:blipFill>
        <p:spPr bwMode="auto">
          <a:xfrm>
            <a:off x="0" y="598880"/>
            <a:ext cx="12194269" cy="5942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0290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Direct Mapped Cache</a:t>
            </a:r>
          </a:p>
        </p:txBody>
      </p:sp>
      <p:sp>
        <p:nvSpPr>
          <p:cNvPr id="4" name="Rectangle 3"/>
          <p:cNvSpPr/>
          <p:nvPr/>
        </p:nvSpPr>
        <p:spPr>
          <a:xfrm>
            <a:off x="168812" y="444847"/>
            <a:ext cx="11981826" cy="3539430"/>
          </a:xfrm>
          <a:prstGeom prst="rect">
            <a:avLst/>
          </a:prstGeom>
        </p:spPr>
        <p:txBody>
          <a:bodyPr wrap="square">
            <a:spAutoFit/>
          </a:bodyPr>
          <a:lstStyle/>
          <a:p>
            <a:r>
              <a:rPr lang="en-IN" sz="2800" b="1" dirty="0"/>
              <a:t>Example 8.4 </a:t>
            </a:r>
            <a:r>
              <a:rPr lang="en-IN" sz="2800" dirty="0"/>
              <a:t>CACHE FIELDS</a:t>
            </a:r>
          </a:p>
          <a:p>
            <a:r>
              <a:rPr lang="en-US" sz="2800" dirty="0"/>
              <a:t>To what cache set in Figure 8.5 does the word at address 0x00000014 map</a:t>
            </a:r>
            <a:r>
              <a:rPr lang="en-US" sz="2800" dirty="0" smtClean="0"/>
              <a:t>?</a:t>
            </a:r>
            <a:endParaRPr lang="en-US" sz="2800" dirty="0"/>
          </a:p>
          <a:p>
            <a:r>
              <a:rPr lang="en-US" sz="2800" dirty="0"/>
              <a:t>Name another address that maps to the same set</a:t>
            </a:r>
            <a:r>
              <a:rPr lang="en-US" sz="2800" dirty="0" smtClean="0"/>
              <a:t>.</a:t>
            </a:r>
          </a:p>
          <a:p>
            <a:endParaRPr lang="en-US" sz="2800" dirty="0"/>
          </a:p>
          <a:p>
            <a:endParaRPr lang="en-US" sz="2800" dirty="0"/>
          </a:p>
          <a:p>
            <a:r>
              <a:rPr lang="en-US" sz="2800" b="1" dirty="0" smtClean="0"/>
              <a:t>Solution:</a:t>
            </a:r>
            <a:r>
              <a:rPr lang="en-US" sz="2800" dirty="0" smtClean="0"/>
              <a:t> </a:t>
            </a:r>
            <a:r>
              <a:rPr lang="en-US" sz="2800" dirty="0"/>
              <a:t>The two least significant bits of the address are 00, because the address</a:t>
            </a:r>
          </a:p>
          <a:p>
            <a:r>
              <a:rPr lang="en-US" sz="2800" dirty="0"/>
              <a:t>is word aligned. The next three bits are 101, so the word maps to set 5. Words at</a:t>
            </a:r>
          </a:p>
          <a:p>
            <a:r>
              <a:rPr lang="en-US" sz="2800" dirty="0"/>
              <a:t>addresses 0x34, 0x54, 0x74, …, 0xFFFFFFF4 all map to this same set.</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4072779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444847"/>
            <a:ext cx="11981826" cy="3108543"/>
          </a:xfrm>
          <a:prstGeom prst="rect">
            <a:avLst/>
          </a:prstGeom>
        </p:spPr>
        <p:txBody>
          <a:bodyPr wrap="square">
            <a:spAutoFit/>
          </a:bodyPr>
          <a:lstStyle/>
          <a:p>
            <a:pPr marL="457200" indent="-457200">
              <a:buFont typeface="Arial" pitchFamily="34" charset="0"/>
              <a:buChar char="•"/>
            </a:pPr>
            <a:r>
              <a:rPr lang="en-US" sz="2800" dirty="0"/>
              <a:t>Because many addresses map to a single set, the cache must </a:t>
            </a:r>
            <a:r>
              <a:rPr lang="en-US" sz="2800" dirty="0" smtClean="0"/>
              <a:t>also keep </a:t>
            </a:r>
            <a:r>
              <a:rPr lang="en-US" sz="2800" dirty="0"/>
              <a:t>track of the address of the data actually contained in each </a:t>
            </a:r>
            <a:r>
              <a:rPr lang="en-US" sz="2800" dirty="0" smtClean="0"/>
              <a:t>set.</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The </a:t>
            </a:r>
            <a:r>
              <a:rPr lang="en-US" sz="2800" b="1" dirty="0"/>
              <a:t>least significant bits</a:t>
            </a:r>
            <a:r>
              <a:rPr lang="en-US" sz="2800" dirty="0"/>
              <a:t> of the address specify </a:t>
            </a:r>
            <a:r>
              <a:rPr lang="en-US" sz="2800" b="1" dirty="0"/>
              <a:t>which set holds the </a:t>
            </a:r>
            <a:r>
              <a:rPr lang="en-US" sz="2800" b="1" dirty="0" smtClean="0"/>
              <a:t>data</a:t>
            </a:r>
            <a:r>
              <a:rPr lang="en-US" sz="2800" dirty="0" smtClean="0"/>
              <a:t>. </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The </a:t>
            </a:r>
            <a:r>
              <a:rPr lang="en-US" sz="2800" dirty="0"/>
              <a:t>remaining most significant bits are called </a:t>
            </a:r>
            <a:r>
              <a:rPr lang="en-US" sz="2800" dirty="0" smtClean="0"/>
              <a:t>the </a:t>
            </a:r>
            <a:r>
              <a:rPr lang="en-IN" sz="2800" b="1" i="1" dirty="0"/>
              <a:t>tag</a:t>
            </a:r>
            <a:r>
              <a:rPr lang="en-IN" sz="2800" i="1" dirty="0"/>
              <a:t> </a:t>
            </a:r>
            <a:r>
              <a:rPr lang="en-IN" sz="2800" dirty="0"/>
              <a:t>and indicate </a:t>
            </a:r>
            <a:r>
              <a:rPr lang="en-IN" sz="2800" dirty="0" smtClean="0"/>
              <a:t>which </a:t>
            </a:r>
            <a:r>
              <a:rPr lang="en-US" sz="2800" dirty="0" smtClean="0"/>
              <a:t>of </a:t>
            </a:r>
            <a:r>
              <a:rPr lang="en-US" sz="2800" dirty="0"/>
              <a:t>the many possible addresses is held in that set.</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3346250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8748" t="50000" r="25037" b="38690"/>
          <a:stretch/>
        </p:blipFill>
        <p:spPr bwMode="auto">
          <a:xfrm>
            <a:off x="249422" y="644434"/>
            <a:ext cx="11623710" cy="4558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574" t="50000" r="52480" b="38690"/>
          <a:stretch/>
        </p:blipFill>
        <p:spPr bwMode="auto">
          <a:xfrm>
            <a:off x="4579256" y="5072988"/>
            <a:ext cx="3610598" cy="1536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4193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444847"/>
            <a:ext cx="11981826" cy="3970318"/>
          </a:xfrm>
          <a:prstGeom prst="rect">
            <a:avLst/>
          </a:prstGeom>
        </p:spPr>
        <p:txBody>
          <a:bodyPr wrap="square">
            <a:spAutoFit/>
          </a:bodyPr>
          <a:lstStyle/>
          <a:p>
            <a:pPr marL="457200" indent="-457200">
              <a:buFont typeface="Arial" pitchFamily="34" charset="0"/>
              <a:buChar char="•"/>
            </a:pPr>
            <a:r>
              <a:rPr lang="en-US" sz="2800" dirty="0"/>
              <a:t>T</a:t>
            </a:r>
            <a:r>
              <a:rPr lang="en-US" sz="2800" dirty="0" smtClean="0"/>
              <a:t>he </a:t>
            </a:r>
            <a:r>
              <a:rPr lang="en-US" sz="2800" dirty="0"/>
              <a:t>two least significant bits of the </a:t>
            </a:r>
            <a:r>
              <a:rPr lang="en-US" sz="2800" dirty="0" smtClean="0"/>
              <a:t>32-bit address </a:t>
            </a:r>
            <a:r>
              <a:rPr lang="en-US" sz="2800" dirty="0"/>
              <a:t>are called the </a:t>
            </a:r>
            <a:r>
              <a:rPr lang="en-US" sz="2800" b="1" i="1" dirty="0"/>
              <a:t>byte offset </a:t>
            </a:r>
            <a:r>
              <a:rPr lang="en-US" sz="2800" dirty="0"/>
              <a:t>because they indicate the byte </a:t>
            </a:r>
            <a:r>
              <a:rPr lang="en-US" sz="2800" dirty="0" smtClean="0"/>
              <a:t>within the </a:t>
            </a:r>
            <a:r>
              <a:rPr lang="en-US" sz="2800" dirty="0"/>
              <a:t>word. </a:t>
            </a:r>
            <a:endParaRPr lang="en-US" sz="2800" dirty="0" smtClean="0"/>
          </a:p>
          <a:p>
            <a:pPr marL="457200" indent="-457200">
              <a:buFont typeface="Arial" pitchFamily="34" charset="0"/>
              <a:buChar char="•"/>
            </a:pPr>
            <a:r>
              <a:rPr lang="en-US" sz="2800" dirty="0" smtClean="0"/>
              <a:t>The </a:t>
            </a:r>
            <a:r>
              <a:rPr lang="en-US" sz="2800" dirty="0"/>
              <a:t>next three bits are called the </a:t>
            </a:r>
            <a:r>
              <a:rPr lang="en-US" sz="2800" b="1" i="1" dirty="0"/>
              <a:t>set bits </a:t>
            </a:r>
            <a:r>
              <a:rPr lang="en-US" sz="2800" dirty="0"/>
              <a:t>because they </a:t>
            </a:r>
            <a:r>
              <a:rPr lang="en-US" sz="2800" dirty="0" smtClean="0"/>
              <a:t>indicate the </a:t>
            </a:r>
            <a:r>
              <a:rPr lang="en-US" sz="2800" dirty="0"/>
              <a:t>set to which the address maps</a:t>
            </a:r>
            <a:r>
              <a:rPr lang="en-US" sz="2800" dirty="0" smtClean="0"/>
              <a:t>.</a:t>
            </a:r>
          </a:p>
          <a:p>
            <a:pPr marL="457200" indent="-457200">
              <a:buFont typeface="Arial" pitchFamily="34" charset="0"/>
              <a:buChar char="•"/>
            </a:pPr>
            <a:r>
              <a:rPr lang="en-US" sz="2800" dirty="0"/>
              <a:t>The remaining </a:t>
            </a:r>
            <a:r>
              <a:rPr lang="en-US" sz="2800" b="1" dirty="0"/>
              <a:t>27 tag bits</a:t>
            </a:r>
            <a:r>
              <a:rPr lang="en-US" sz="2800" dirty="0"/>
              <a:t> indicate the memory address of </a:t>
            </a:r>
            <a:r>
              <a:rPr lang="en-US" sz="2800" dirty="0" smtClean="0"/>
              <a:t>the</a:t>
            </a:r>
            <a:r>
              <a:rPr lang="en-US" sz="2800" dirty="0">
                <a:latin typeface="+mj-lt"/>
                <a:cs typeface="Times New Roman" panose="02020603050405020304" pitchFamily="18" charset="0"/>
              </a:rPr>
              <a:t> </a:t>
            </a:r>
            <a:r>
              <a:rPr lang="en-US" sz="2800" dirty="0"/>
              <a:t>data stored in a given cache set</a:t>
            </a:r>
            <a:r>
              <a:rPr lang="en-US" sz="2800" dirty="0" smtClean="0"/>
              <a:t>.</a:t>
            </a:r>
          </a:p>
          <a:p>
            <a:pPr marL="457200" indent="-457200">
              <a:buFont typeface="Arial" pitchFamily="34" charset="0"/>
              <a:buChar char="•"/>
            </a:pPr>
            <a:endParaRPr lang="en-US" sz="2800" dirty="0"/>
          </a:p>
          <a:p>
            <a:r>
              <a:rPr lang="en-US" sz="2800" dirty="0"/>
              <a:t>Figure 8.6 shows the </a:t>
            </a:r>
            <a:r>
              <a:rPr lang="en-US" sz="2800" b="1" dirty="0"/>
              <a:t>cache fields </a:t>
            </a:r>
            <a:r>
              <a:rPr lang="en-US" sz="2800" b="1" dirty="0" smtClean="0"/>
              <a:t>for address </a:t>
            </a:r>
            <a:r>
              <a:rPr lang="en-US" sz="2800" b="1" dirty="0"/>
              <a:t>0xFFFFFFE4</a:t>
            </a:r>
            <a:r>
              <a:rPr lang="en-US" sz="2800" dirty="0"/>
              <a:t>. It maps to set 1 and its tag is all l’s.</a:t>
            </a:r>
            <a:endParaRPr lang="en-US" sz="2800" dirty="0" smtClean="0"/>
          </a:p>
        </p:txBody>
      </p:sp>
    </p:spTree>
    <p:extLst>
      <p:ext uri="{BB962C8B-B14F-4D97-AF65-F5344CB8AC3E}">
        <p14:creationId xmlns:p14="http://schemas.microsoft.com/office/powerpoint/2010/main" val="458875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444847"/>
            <a:ext cx="11981826" cy="3970318"/>
          </a:xfrm>
          <a:prstGeom prst="rect">
            <a:avLst/>
          </a:prstGeom>
        </p:spPr>
        <p:txBody>
          <a:bodyPr wrap="square">
            <a:spAutoFit/>
          </a:bodyPr>
          <a:lstStyle/>
          <a:p>
            <a:r>
              <a:rPr lang="en-IN" sz="2800" b="1" dirty="0"/>
              <a:t>Example 8.5 CACHE FIELDS</a:t>
            </a:r>
          </a:p>
          <a:p>
            <a:r>
              <a:rPr lang="en-US" sz="2800" dirty="0"/>
              <a:t>Find the number of set and tag bits for a direct mapped cache with 1024 (2</a:t>
            </a:r>
            <a:r>
              <a:rPr lang="en-US" sz="2800" baseline="30000" dirty="0"/>
              <a:t>10</a:t>
            </a:r>
            <a:r>
              <a:rPr lang="en-US" sz="2800" dirty="0"/>
              <a:t>)</a:t>
            </a:r>
          </a:p>
          <a:p>
            <a:r>
              <a:rPr lang="en-US" sz="2800" dirty="0"/>
              <a:t>sets and a one-word block size. The address size is 32 bits</a:t>
            </a:r>
            <a:r>
              <a:rPr lang="en-US" sz="2800" dirty="0" smtClean="0"/>
              <a:t>.</a:t>
            </a:r>
          </a:p>
          <a:p>
            <a:endParaRPr lang="en-US" sz="2800" dirty="0"/>
          </a:p>
          <a:p>
            <a:endParaRPr lang="en-US" sz="2800" dirty="0"/>
          </a:p>
          <a:p>
            <a:r>
              <a:rPr lang="en-US" sz="2800" b="1" dirty="0" smtClean="0"/>
              <a:t>Solution</a:t>
            </a:r>
          </a:p>
          <a:p>
            <a:r>
              <a:rPr lang="en-US" sz="2800" dirty="0" smtClean="0"/>
              <a:t>A </a:t>
            </a:r>
            <a:r>
              <a:rPr lang="en-US" sz="2800" dirty="0"/>
              <a:t>cache with 2</a:t>
            </a:r>
            <a:r>
              <a:rPr lang="en-US" sz="2800" baseline="30000" dirty="0"/>
              <a:t>10</a:t>
            </a:r>
            <a:r>
              <a:rPr lang="en-US" sz="2800" dirty="0"/>
              <a:t> sets requires log</a:t>
            </a:r>
            <a:r>
              <a:rPr lang="en-US" sz="2800" baseline="-25000" dirty="0"/>
              <a:t>2</a:t>
            </a:r>
            <a:r>
              <a:rPr lang="en-US" sz="2800" dirty="0"/>
              <a:t>(2</a:t>
            </a:r>
            <a:r>
              <a:rPr lang="en-US" sz="2800" baseline="30000" dirty="0"/>
              <a:t>10</a:t>
            </a:r>
            <a:r>
              <a:rPr lang="en-US" sz="2800" dirty="0"/>
              <a:t>) = 10 set bits. </a:t>
            </a:r>
            <a:endParaRPr lang="en-US" sz="2800" dirty="0" smtClean="0"/>
          </a:p>
          <a:p>
            <a:r>
              <a:rPr lang="en-US" sz="2800" dirty="0" smtClean="0"/>
              <a:t>The </a:t>
            </a:r>
            <a:r>
              <a:rPr lang="en-US" sz="2800" dirty="0"/>
              <a:t>two least </a:t>
            </a:r>
            <a:r>
              <a:rPr lang="en-US" sz="2800" dirty="0" smtClean="0"/>
              <a:t>significant bits </a:t>
            </a:r>
            <a:r>
              <a:rPr lang="en-US" sz="2800" dirty="0"/>
              <a:t>of the address are the byte offset, and the remaining 32 − 10 − 2 = </a:t>
            </a:r>
            <a:r>
              <a:rPr lang="en-US" sz="2800" dirty="0" smtClean="0"/>
              <a:t>20 </a:t>
            </a:r>
            <a:r>
              <a:rPr lang="en-IN" sz="2800" dirty="0" smtClean="0"/>
              <a:t>bits </a:t>
            </a:r>
            <a:r>
              <a:rPr lang="en-IN" sz="2800" dirty="0"/>
              <a:t>form the tag.</a:t>
            </a:r>
            <a:endParaRPr lang="en-US" sz="2800" dirty="0" smtClean="0"/>
          </a:p>
        </p:txBody>
      </p:sp>
    </p:spTree>
    <p:extLst>
      <p:ext uri="{BB962C8B-B14F-4D97-AF65-F5344CB8AC3E}">
        <p14:creationId xmlns:p14="http://schemas.microsoft.com/office/powerpoint/2010/main" val="22710939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444847"/>
            <a:ext cx="11981826" cy="6124754"/>
          </a:xfrm>
          <a:prstGeom prst="rect">
            <a:avLst/>
          </a:prstGeom>
        </p:spPr>
        <p:txBody>
          <a:bodyPr wrap="square">
            <a:spAutoFit/>
          </a:bodyPr>
          <a:lstStyle/>
          <a:p>
            <a:pPr marL="457200" indent="-457200">
              <a:buFont typeface="Arial" pitchFamily="34" charset="0"/>
              <a:buChar char="•"/>
            </a:pPr>
            <a:r>
              <a:rPr lang="en-US" sz="2800" dirty="0"/>
              <a:t>The cache uses a </a:t>
            </a:r>
            <a:r>
              <a:rPr lang="en-US" sz="2800" b="1" i="1" dirty="0"/>
              <a:t>valid bit </a:t>
            </a:r>
            <a:r>
              <a:rPr lang="en-US" sz="2800" dirty="0"/>
              <a:t>for each set to </a:t>
            </a:r>
            <a:r>
              <a:rPr lang="en-US" sz="2800" dirty="0" smtClean="0"/>
              <a:t>indicate whether </a:t>
            </a:r>
            <a:r>
              <a:rPr lang="en-US" sz="2800" dirty="0"/>
              <a:t>the set holds meaningful data. </a:t>
            </a:r>
            <a:endParaRPr lang="en-US" sz="2800" dirty="0" smtClean="0"/>
          </a:p>
          <a:p>
            <a:pPr marL="457200" indent="-457200">
              <a:buFont typeface="Arial" pitchFamily="34" charset="0"/>
              <a:buChar char="•"/>
            </a:pPr>
            <a:r>
              <a:rPr lang="en-US" sz="2800" dirty="0" smtClean="0"/>
              <a:t>If </a:t>
            </a:r>
            <a:r>
              <a:rPr lang="en-US" sz="2800" dirty="0"/>
              <a:t>the </a:t>
            </a:r>
            <a:r>
              <a:rPr lang="en-US" sz="2800" b="1" dirty="0"/>
              <a:t>valid bit is 0</a:t>
            </a:r>
            <a:r>
              <a:rPr lang="en-US" sz="2800" dirty="0"/>
              <a:t>, the </a:t>
            </a:r>
            <a:r>
              <a:rPr lang="en-US" sz="2800" dirty="0" smtClean="0"/>
              <a:t>contents </a:t>
            </a:r>
            <a:r>
              <a:rPr lang="en-IN" sz="2800" dirty="0" smtClean="0"/>
              <a:t>are </a:t>
            </a:r>
            <a:r>
              <a:rPr lang="en-IN" sz="2800" b="1" dirty="0" smtClean="0"/>
              <a:t>meaningless.</a:t>
            </a:r>
          </a:p>
          <a:p>
            <a:pPr marL="457200" indent="-457200">
              <a:buFont typeface="Arial" pitchFamily="34" charset="0"/>
              <a:buChar char="•"/>
            </a:pPr>
            <a:endParaRPr lang="en-IN" sz="2800" b="1" dirty="0"/>
          </a:p>
          <a:p>
            <a:pPr marL="457200" indent="-457200">
              <a:buFont typeface="Arial" pitchFamily="34" charset="0"/>
              <a:buChar char="•"/>
            </a:pPr>
            <a:r>
              <a:rPr lang="en-US" sz="2800" dirty="0" smtClean="0"/>
              <a:t>Figure </a:t>
            </a:r>
            <a:r>
              <a:rPr lang="en-US" sz="2800" dirty="0"/>
              <a:t>8.7 shows the hardware for the direct mapped cache </a:t>
            </a:r>
            <a:r>
              <a:rPr lang="en-US" sz="2800" dirty="0" smtClean="0"/>
              <a:t>of </a:t>
            </a:r>
            <a:r>
              <a:rPr lang="en-IN" sz="2800" dirty="0" smtClean="0"/>
              <a:t>Figure </a:t>
            </a:r>
            <a:r>
              <a:rPr lang="en-IN" sz="2800" dirty="0"/>
              <a:t>8.5</a:t>
            </a:r>
            <a:r>
              <a:rPr lang="en-IN" sz="2800" dirty="0" smtClean="0"/>
              <a:t>. </a:t>
            </a:r>
          </a:p>
          <a:p>
            <a:pPr marL="457200" indent="-457200">
              <a:buFont typeface="Arial" pitchFamily="34" charset="0"/>
              <a:buChar char="•"/>
            </a:pPr>
            <a:endParaRPr lang="en-IN" sz="2800" dirty="0"/>
          </a:p>
          <a:p>
            <a:pPr marL="457200" indent="-457200">
              <a:buFont typeface="Arial" pitchFamily="34" charset="0"/>
              <a:buChar char="•"/>
            </a:pPr>
            <a:r>
              <a:rPr lang="en-US" sz="2800" dirty="0" smtClean="0"/>
              <a:t>The </a:t>
            </a:r>
            <a:r>
              <a:rPr lang="en-US" sz="2800" dirty="0"/>
              <a:t>cache is constructed as an eight-entry SRAM. </a:t>
            </a:r>
            <a:endParaRPr lang="en-US" sz="2800" dirty="0" smtClean="0"/>
          </a:p>
          <a:p>
            <a:pPr marL="457200" indent="-457200">
              <a:buFont typeface="Arial" pitchFamily="34" charset="0"/>
              <a:buChar char="•"/>
            </a:pPr>
            <a:r>
              <a:rPr lang="en-US" sz="2800" dirty="0" smtClean="0"/>
              <a:t>Each entry, or </a:t>
            </a:r>
            <a:r>
              <a:rPr lang="en-US" sz="2800" dirty="0"/>
              <a:t>set, contains one line consisting of 32 bits of data, 27 bits of </a:t>
            </a:r>
            <a:r>
              <a:rPr lang="en-US" sz="2800" dirty="0" smtClean="0"/>
              <a:t>tag, and </a:t>
            </a:r>
            <a:r>
              <a:rPr lang="en-US" sz="2800" dirty="0"/>
              <a:t>1 valid bit. </a:t>
            </a:r>
            <a:endParaRPr lang="en-US" sz="2800" dirty="0" smtClean="0"/>
          </a:p>
          <a:p>
            <a:pPr marL="457200" indent="-457200">
              <a:buFont typeface="Arial" pitchFamily="34" charset="0"/>
              <a:buChar char="•"/>
            </a:pPr>
            <a:r>
              <a:rPr lang="en-US" sz="2800" dirty="0" smtClean="0"/>
              <a:t>The </a:t>
            </a:r>
            <a:r>
              <a:rPr lang="en-US" sz="2800" dirty="0"/>
              <a:t>cache is accessed using the 32-bit address. </a:t>
            </a:r>
            <a:endParaRPr lang="en-US" sz="2800" dirty="0" smtClean="0"/>
          </a:p>
          <a:p>
            <a:pPr marL="457200" indent="-457200">
              <a:buFont typeface="Arial" pitchFamily="34" charset="0"/>
              <a:buChar char="•"/>
            </a:pPr>
            <a:r>
              <a:rPr lang="en-US" sz="2800" dirty="0" smtClean="0"/>
              <a:t>The two least </a:t>
            </a:r>
            <a:r>
              <a:rPr lang="en-US" sz="2800" dirty="0"/>
              <a:t>significant bits, the byte offset bits, are ignored for word </a:t>
            </a:r>
            <a:r>
              <a:rPr lang="en-US" sz="2800" dirty="0" smtClean="0"/>
              <a:t>accesses.</a:t>
            </a:r>
          </a:p>
          <a:p>
            <a:pPr marL="457200" indent="-457200">
              <a:buFont typeface="Arial" pitchFamily="34" charset="0"/>
              <a:buChar char="•"/>
            </a:pPr>
            <a:r>
              <a:rPr lang="en-US" sz="2800" dirty="0" smtClean="0"/>
              <a:t>The </a:t>
            </a:r>
            <a:r>
              <a:rPr lang="en-US" sz="2800" dirty="0"/>
              <a:t>next three bits, the set bits, specify the entry or set in the </a:t>
            </a:r>
            <a:r>
              <a:rPr lang="en-US" sz="2800" dirty="0" smtClean="0"/>
              <a:t>cache.</a:t>
            </a:r>
          </a:p>
          <a:p>
            <a:pPr marL="457200" indent="-457200">
              <a:buFont typeface="Arial" pitchFamily="34" charset="0"/>
              <a:buChar char="•"/>
            </a:pPr>
            <a:r>
              <a:rPr lang="en-US" sz="2800" dirty="0" smtClean="0"/>
              <a:t>A </a:t>
            </a:r>
            <a:r>
              <a:rPr lang="en-US" sz="2800" dirty="0"/>
              <a:t>load instruction reads the specified entry from the cache and </a:t>
            </a:r>
            <a:r>
              <a:rPr lang="en-US" sz="2800" dirty="0" smtClean="0"/>
              <a:t>checks </a:t>
            </a:r>
            <a:r>
              <a:rPr lang="en-US" sz="2800" dirty="0"/>
              <a:t>the tag and valid bits.</a:t>
            </a:r>
            <a:endParaRPr lang="en-US" sz="2800" b="1" dirty="0" smtClean="0"/>
          </a:p>
        </p:txBody>
      </p:sp>
    </p:spTree>
    <p:extLst>
      <p:ext uri="{BB962C8B-B14F-4D97-AF65-F5344CB8AC3E}">
        <p14:creationId xmlns:p14="http://schemas.microsoft.com/office/powerpoint/2010/main" val="1960980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444847"/>
            <a:ext cx="11981826" cy="2246769"/>
          </a:xfrm>
          <a:prstGeom prst="rect">
            <a:avLst/>
          </a:prstGeom>
        </p:spPr>
        <p:txBody>
          <a:bodyPr wrap="square">
            <a:spAutoFit/>
          </a:bodyPr>
          <a:lstStyle/>
          <a:p>
            <a:pPr marL="457200" indent="-457200">
              <a:buFont typeface="Arial" pitchFamily="34" charset="0"/>
              <a:buChar char="•"/>
            </a:pPr>
            <a:r>
              <a:rPr lang="en-US" sz="2800" dirty="0"/>
              <a:t>If the tag matches the most significant 27 bits </a:t>
            </a:r>
            <a:r>
              <a:rPr lang="en-US" sz="2800" dirty="0" smtClean="0"/>
              <a:t>of the </a:t>
            </a:r>
            <a:r>
              <a:rPr lang="en-US" sz="2800" dirty="0"/>
              <a:t>requested address and the valid bit is 1, the cache hits and the data </a:t>
            </a:r>
            <a:r>
              <a:rPr lang="en-US" sz="2800" dirty="0" smtClean="0"/>
              <a:t>is returned </a:t>
            </a:r>
            <a:r>
              <a:rPr lang="en-US" sz="2800" dirty="0"/>
              <a:t>to the </a:t>
            </a:r>
            <a:r>
              <a:rPr lang="en-US" sz="2800" dirty="0" smtClean="0"/>
              <a:t>processor. </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Otherwise</a:t>
            </a:r>
            <a:r>
              <a:rPr lang="en-US" sz="2800" dirty="0"/>
              <a:t>, the cache misses and the </a:t>
            </a:r>
            <a:r>
              <a:rPr lang="en-US" sz="2800" dirty="0" smtClean="0"/>
              <a:t>memory system </a:t>
            </a:r>
            <a:r>
              <a:rPr lang="en-US" sz="2800" dirty="0"/>
              <a:t>must fetch the data from main memory.</a:t>
            </a:r>
            <a:endParaRPr lang="en-US" sz="2800" b="1" dirty="0" smtClean="0"/>
          </a:p>
        </p:txBody>
      </p:sp>
    </p:spTree>
    <p:extLst>
      <p:ext uri="{BB962C8B-B14F-4D97-AF65-F5344CB8AC3E}">
        <p14:creationId xmlns:p14="http://schemas.microsoft.com/office/powerpoint/2010/main" val="1427371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8306" t="31939" r="17740" b="25335"/>
          <a:stretch/>
        </p:blipFill>
        <p:spPr bwMode="auto">
          <a:xfrm>
            <a:off x="239151" y="112540"/>
            <a:ext cx="9166596" cy="6485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345" t="52592" r="53459" b="39361"/>
          <a:stretch/>
        </p:blipFill>
        <p:spPr bwMode="auto">
          <a:xfrm>
            <a:off x="8085350" y="5270250"/>
            <a:ext cx="4310744"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47363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135358"/>
            <a:ext cx="11981826" cy="2246769"/>
          </a:xfrm>
          <a:prstGeom prst="rect">
            <a:avLst/>
          </a:prstGeom>
        </p:spPr>
        <p:txBody>
          <a:bodyPr wrap="square">
            <a:spAutoFit/>
          </a:bodyPr>
          <a:lstStyle/>
          <a:p>
            <a:r>
              <a:rPr lang="en-US" sz="2800" b="1" dirty="0"/>
              <a:t>Example 8.6 TEMPORAL LOCALITY WITH A DIRECT MAPPED CACHE</a:t>
            </a:r>
          </a:p>
          <a:p>
            <a:pPr marL="457200" indent="-457200">
              <a:buFont typeface="Arial" pitchFamily="34" charset="0"/>
              <a:buChar char="•"/>
            </a:pPr>
            <a:r>
              <a:rPr lang="en-US" sz="2800" dirty="0"/>
              <a:t>Loops are a common source of temporal and spatial locality in applications. </a:t>
            </a:r>
            <a:r>
              <a:rPr lang="en-US" sz="2800" dirty="0" smtClean="0"/>
              <a:t>Using the </a:t>
            </a:r>
            <a:r>
              <a:rPr lang="en-US" sz="2800" dirty="0"/>
              <a:t>eight-entry cache of Figure 8.7, show the contents of the cache after </a:t>
            </a:r>
            <a:r>
              <a:rPr lang="en-US" sz="2800" dirty="0" smtClean="0"/>
              <a:t> executing the </a:t>
            </a:r>
            <a:r>
              <a:rPr lang="en-US" sz="2800" dirty="0"/>
              <a:t>following silly loop in RISC-V assembly code. Assume that the cache is </a:t>
            </a:r>
            <a:r>
              <a:rPr lang="en-US" sz="2800" dirty="0" smtClean="0"/>
              <a:t>initially empty</a:t>
            </a:r>
            <a:r>
              <a:rPr lang="en-US" sz="2800" dirty="0"/>
              <a:t>. What is the miss rate?</a:t>
            </a:r>
            <a:endParaRPr lang="en-US" sz="2800" b="1" dirty="0" smtClean="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572" t="57308" r="50000" b="16667"/>
          <a:stretch/>
        </p:blipFill>
        <p:spPr bwMode="auto">
          <a:xfrm>
            <a:off x="2857527" y="2382127"/>
            <a:ext cx="4331063" cy="4392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6637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135358"/>
            <a:ext cx="11981826" cy="4832092"/>
          </a:xfrm>
          <a:prstGeom prst="rect">
            <a:avLst/>
          </a:prstGeom>
        </p:spPr>
        <p:txBody>
          <a:bodyPr wrap="square">
            <a:spAutoFit/>
          </a:bodyPr>
          <a:lstStyle/>
          <a:p>
            <a:r>
              <a:rPr lang="en-US" sz="2800" b="1" dirty="0" smtClean="0"/>
              <a:t>Solution:  </a:t>
            </a:r>
            <a:r>
              <a:rPr lang="en-US" sz="2800" dirty="0"/>
              <a:t>The program contains a loop that repeats for </a:t>
            </a:r>
            <a:r>
              <a:rPr lang="en-US" sz="2800" b="1" dirty="0"/>
              <a:t>five iterations</a:t>
            </a:r>
            <a:r>
              <a:rPr lang="en-US" sz="2800" dirty="0"/>
              <a:t>. </a:t>
            </a:r>
            <a:endParaRPr lang="en-US" sz="2800" dirty="0" smtClean="0"/>
          </a:p>
          <a:p>
            <a:r>
              <a:rPr lang="en-US" sz="2800" dirty="0" smtClean="0"/>
              <a:t>Each iteration </a:t>
            </a:r>
            <a:r>
              <a:rPr lang="en-US" sz="2800" dirty="0"/>
              <a:t>involves </a:t>
            </a:r>
            <a:r>
              <a:rPr lang="en-US" sz="2800" b="1" dirty="0"/>
              <a:t>three memory </a:t>
            </a:r>
            <a:r>
              <a:rPr lang="en-US" sz="2800" dirty="0"/>
              <a:t>accesses (loads), resulting in </a:t>
            </a:r>
            <a:r>
              <a:rPr lang="en-US" sz="2800" b="1" dirty="0"/>
              <a:t>15 total </a:t>
            </a:r>
            <a:r>
              <a:rPr lang="en-US" sz="2800" b="1" dirty="0" smtClean="0"/>
              <a:t>memory accesses</a:t>
            </a:r>
            <a:r>
              <a:rPr lang="en-US" sz="2800" dirty="0"/>
              <a:t>. </a:t>
            </a:r>
            <a:endParaRPr lang="en-US" sz="2800" dirty="0" smtClean="0"/>
          </a:p>
          <a:p>
            <a:r>
              <a:rPr lang="en-US" sz="2800" dirty="0" smtClean="0"/>
              <a:t>The </a:t>
            </a:r>
            <a:r>
              <a:rPr lang="en-US" sz="2800" b="1" dirty="0"/>
              <a:t>first time the loop executes, the cache is empty </a:t>
            </a:r>
            <a:r>
              <a:rPr lang="en-US" sz="2800" dirty="0"/>
              <a:t>and the data </a:t>
            </a:r>
            <a:r>
              <a:rPr lang="en-US" sz="2800" dirty="0" smtClean="0"/>
              <a:t>must be </a:t>
            </a:r>
            <a:r>
              <a:rPr lang="en-US" sz="2800" dirty="0"/>
              <a:t>fetched from main memory locations 0x4, 0xC, and 0x8 into cache sets 1, </a:t>
            </a:r>
            <a:r>
              <a:rPr lang="en-US" sz="2800" dirty="0" smtClean="0"/>
              <a:t>3, and </a:t>
            </a:r>
            <a:r>
              <a:rPr lang="en-US" sz="2800" dirty="0"/>
              <a:t>2, respectively. </a:t>
            </a:r>
            <a:endParaRPr lang="en-US" sz="2800" dirty="0" smtClean="0"/>
          </a:p>
          <a:p>
            <a:r>
              <a:rPr lang="en-US" sz="2800" dirty="0" smtClean="0"/>
              <a:t>However</a:t>
            </a:r>
            <a:r>
              <a:rPr lang="en-US" sz="2800" dirty="0"/>
              <a:t>, the next four times the loop executes, the data </a:t>
            </a:r>
            <a:r>
              <a:rPr lang="en-US" sz="2800" dirty="0" smtClean="0"/>
              <a:t>is found </a:t>
            </a:r>
            <a:r>
              <a:rPr lang="en-US" sz="2800" dirty="0"/>
              <a:t>in the cache. Figure 8.8 shows the contents of the cache during the </a:t>
            </a:r>
            <a:r>
              <a:rPr lang="en-US" sz="2800" dirty="0" smtClean="0"/>
              <a:t>last request </a:t>
            </a:r>
            <a:r>
              <a:rPr lang="en-US" sz="2800" dirty="0"/>
              <a:t>to memory address 0x4. </a:t>
            </a:r>
            <a:endParaRPr lang="en-US" sz="2800" dirty="0" smtClean="0"/>
          </a:p>
          <a:p>
            <a:r>
              <a:rPr lang="en-US" sz="2800" dirty="0" smtClean="0"/>
              <a:t>The </a:t>
            </a:r>
            <a:r>
              <a:rPr lang="en-US" sz="2800" dirty="0"/>
              <a:t>tags are all 0 because the upper 27 bits </a:t>
            </a:r>
            <a:r>
              <a:rPr lang="en-US" sz="2800" dirty="0" smtClean="0"/>
              <a:t>of the </a:t>
            </a:r>
            <a:r>
              <a:rPr lang="en-US" sz="2800" dirty="0"/>
              <a:t>addresses are 0. </a:t>
            </a:r>
            <a:endParaRPr lang="en-US" sz="2800" dirty="0" smtClean="0"/>
          </a:p>
          <a:p>
            <a:r>
              <a:rPr lang="en-US" sz="2800" b="1" dirty="0" smtClean="0">
                <a:solidFill>
                  <a:srgbClr val="FF0000"/>
                </a:solidFill>
              </a:rPr>
              <a:t>The </a:t>
            </a:r>
            <a:r>
              <a:rPr lang="en-US" sz="2800" b="1" dirty="0">
                <a:solidFill>
                  <a:srgbClr val="FF0000"/>
                </a:solidFill>
              </a:rPr>
              <a:t>miss rate is 3/15 = 20%.</a:t>
            </a:r>
            <a:endParaRPr lang="en-US" sz="2800" b="1" dirty="0" smtClean="0">
              <a:solidFill>
                <a:srgbClr val="FF0000"/>
              </a:solidFill>
            </a:endParaRPr>
          </a:p>
        </p:txBody>
      </p:sp>
    </p:spTree>
    <p:extLst>
      <p:ext uri="{BB962C8B-B14F-4D97-AF65-F5344CB8AC3E}">
        <p14:creationId xmlns:p14="http://schemas.microsoft.com/office/powerpoint/2010/main" val="2247806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1146" t="38924" r="33160" b="37659"/>
          <a:stretch/>
        </p:blipFill>
        <p:spPr bwMode="auto">
          <a:xfrm>
            <a:off x="815925" y="379828"/>
            <a:ext cx="9945860" cy="509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3294" t="48388" r="13076" b="45853"/>
          <a:stretch/>
        </p:blipFill>
        <p:spPr bwMode="auto">
          <a:xfrm>
            <a:off x="2993070" y="5557404"/>
            <a:ext cx="5326456" cy="1265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7274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135358"/>
            <a:ext cx="11981826" cy="3539430"/>
          </a:xfrm>
          <a:prstGeom prst="rect">
            <a:avLst/>
          </a:prstGeom>
        </p:spPr>
        <p:txBody>
          <a:bodyPr wrap="square">
            <a:spAutoFit/>
          </a:bodyPr>
          <a:lstStyle/>
          <a:p>
            <a:pPr marL="457200" indent="-457200">
              <a:buFont typeface="Arial" pitchFamily="34" charset="0"/>
              <a:buChar char="•"/>
            </a:pPr>
            <a:r>
              <a:rPr lang="en-US" sz="2800" dirty="0"/>
              <a:t>When two recently accessed addresses map to the same cache block, </a:t>
            </a:r>
            <a:r>
              <a:rPr lang="en-US" sz="2800" dirty="0" smtClean="0"/>
              <a:t>a </a:t>
            </a:r>
            <a:r>
              <a:rPr lang="en-US" sz="2800" b="1" i="1" dirty="0" smtClean="0">
                <a:solidFill>
                  <a:srgbClr val="FF0000"/>
                </a:solidFill>
              </a:rPr>
              <a:t>conflict</a:t>
            </a:r>
            <a:r>
              <a:rPr lang="en-US" sz="2800" i="1" dirty="0" smtClean="0"/>
              <a:t> </a:t>
            </a:r>
            <a:r>
              <a:rPr lang="en-US" sz="2800" dirty="0"/>
              <a:t>occurs, and the most recently accessed address </a:t>
            </a:r>
            <a:r>
              <a:rPr lang="en-US" sz="2800" b="1" i="1" dirty="0"/>
              <a:t>evicts</a:t>
            </a:r>
            <a:r>
              <a:rPr lang="en-US" sz="2800" i="1" dirty="0"/>
              <a:t> </a:t>
            </a:r>
            <a:r>
              <a:rPr lang="en-US" sz="2800" dirty="0"/>
              <a:t>the </a:t>
            </a:r>
            <a:r>
              <a:rPr lang="en-US" sz="2800" dirty="0" smtClean="0"/>
              <a:t>previous one </a:t>
            </a:r>
            <a:r>
              <a:rPr lang="en-US" sz="2800" dirty="0"/>
              <a:t>from the block.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Direct </a:t>
            </a:r>
            <a:r>
              <a:rPr lang="en-US" sz="2800" dirty="0"/>
              <a:t>mapped caches have only one block in </a:t>
            </a:r>
            <a:r>
              <a:rPr lang="en-US" sz="2800" dirty="0" smtClean="0"/>
              <a:t>each </a:t>
            </a:r>
            <a:r>
              <a:rPr lang="en-US" sz="2800" dirty="0"/>
              <a:t>set, so </a:t>
            </a:r>
            <a:r>
              <a:rPr lang="en-US" sz="2800" b="1" dirty="0"/>
              <a:t>two addresses that map to the same set always cause a </a:t>
            </a:r>
            <a:r>
              <a:rPr lang="en-US" sz="2800" b="1" dirty="0" smtClean="0"/>
              <a:t>conflict. </a:t>
            </a:r>
          </a:p>
          <a:p>
            <a:pPr marL="457200" indent="-457200">
              <a:buFont typeface="Arial" pitchFamily="34" charset="0"/>
              <a:buChar char="•"/>
            </a:pPr>
            <a:endParaRPr lang="en-US" sz="2800" dirty="0"/>
          </a:p>
          <a:p>
            <a:pPr marL="457200" indent="-457200">
              <a:buFont typeface="Arial" pitchFamily="34" charset="0"/>
              <a:buChar char="•"/>
            </a:pPr>
            <a:r>
              <a:rPr lang="en-IN" sz="2800" dirty="0" smtClean="0"/>
              <a:t>Example </a:t>
            </a:r>
            <a:r>
              <a:rPr lang="en-IN" sz="2800" dirty="0"/>
              <a:t>8.7 illustrates conflicts.</a:t>
            </a:r>
            <a:endParaRPr lang="en-US" sz="2800" b="1" dirty="0" smtClean="0">
              <a:solidFill>
                <a:srgbClr val="FF0000"/>
              </a:solidFill>
            </a:endParaRPr>
          </a:p>
        </p:txBody>
      </p:sp>
    </p:spTree>
    <p:extLst>
      <p:ext uri="{BB962C8B-B14F-4D97-AF65-F5344CB8AC3E}">
        <p14:creationId xmlns:p14="http://schemas.microsoft.com/office/powerpoint/2010/main" val="20597215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135358"/>
            <a:ext cx="11981826" cy="1384995"/>
          </a:xfrm>
          <a:prstGeom prst="rect">
            <a:avLst/>
          </a:prstGeom>
        </p:spPr>
        <p:txBody>
          <a:bodyPr wrap="square">
            <a:spAutoFit/>
          </a:bodyPr>
          <a:lstStyle/>
          <a:p>
            <a:r>
              <a:rPr lang="en-US" sz="2800" b="1" dirty="0"/>
              <a:t>Example 8.7 CACHE BLOCK CONFLICT</a:t>
            </a:r>
          </a:p>
          <a:p>
            <a:r>
              <a:rPr lang="en-US" sz="2800" dirty="0"/>
              <a:t>What is the miss rate when the following loop is executed on the eight-word direct</a:t>
            </a:r>
          </a:p>
          <a:p>
            <a:r>
              <a:rPr lang="en-US" sz="2800" dirty="0"/>
              <a:t>mapped cache from Figure </a:t>
            </a:r>
            <a:r>
              <a:rPr lang="en-US" sz="2800" dirty="0" smtClean="0"/>
              <a:t>8.7 ? </a:t>
            </a:r>
            <a:r>
              <a:rPr lang="en-US" sz="2800" dirty="0"/>
              <a:t>Assume that the cache is initially empty.</a:t>
            </a:r>
            <a:endParaRPr lang="en-US" sz="2800" b="1" dirty="0" smtClean="0">
              <a:solidFill>
                <a:srgbClr val="FF0000"/>
              </a:solidFill>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972" t="31944" r="36861" b="46428"/>
          <a:stretch/>
        </p:blipFill>
        <p:spPr bwMode="auto">
          <a:xfrm>
            <a:off x="2690071" y="1727200"/>
            <a:ext cx="5660572" cy="4858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6894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135358"/>
            <a:ext cx="11981826" cy="3539430"/>
          </a:xfrm>
          <a:prstGeom prst="rect">
            <a:avLst/>
          </a:prstGeom>
        </p:spPr>
        <p:txBody>
          <a:bodyPr wrap="square">
            <a:spAutoFit/>
          </a:bodyPr>
          <a:lstStyle/>
          <a:p>
            <a:r>
              <a:rPr lang="en-US" sz="2800" b="1" dirty="0" smtClean="0"/>
              <a:t>Solution:</a:t>
            </a:r>
            <a:r>
              <a:rPr lang="en-US" sz="2800" dirty="0" smtClean="0"/>
              <a:t> </a:t>
            </a:r>
            <a:r>
              <a:rPr lang="en-US" sz="2800" dirty="0"/>
              <a:t>Memory addresses 0x4 and 0x24 both map to set 1. </a:t>
            </a:r>
            <a:endParaRPr lang="en-US" sz="2800" dirty="0" smtClean="0"/>
          </a:p>
          <a:p>
            <a:r>
              <a:rPr lang="en-US" sz="2800" dirty="0" smtClean="0"/>
              <a:t>During </a:t>
            </a:r>
            <a:r>
              <a:rPr lang="en-US" sz="2800" dirty="0"/>
              <a:t>the </a:t>
            </a:r>
            <a:r>
              <a:rPr lang="en-US" sz="2800" dirty="0" smtClean="0"/>
              <a:t>initial execution </a:t>
            </a:r>
            <a:r>
              <a:rPr lang="en-US" sz="2800" dirty="0"/>
              <a:t>of the loop, data at address 0x4 is loaded into set 1 of the cache.</a:t>
            </a:r>
          </a:p>
          <a:p>
            <a:r>
              <a:rPr lang="en-US" sz="2800" dirty="0"/>
              <a:t>Then, data at address 0x24 is loaded into set 1, evicting the data from address</a:t>
            </a:r>
          </a:p>
          <a:p>
            <a:r>
              <a:rPr lang="en-US" sz="2800" dirty="0"/>
              <a:t>0x4. </a:t>
            </a:r>
            <a:endParaRPr lang="en-US" sz="2800" dirty="0" smtClean="0"/>
          </a:p>
          <a:p>
            <a:r>
              <a:rPr lang="en-US" sz="2800" dirty="0" smtClean="0"/>
              <a:t>Upon </a:t>
            </a:r>
            <a:r>
              <a:rPr lang="en-US" sz="2800" dirty="0"/>
              <a:t>the second execution of the loop, the pattern repeats and the cache</a:t>
            </a:r>
          </a:p>
          <a:p>
            <a:r>
              <a:rPr lang="en-US" sz="2800" dirty="0"/>
              <a:t>must </a:t>
            </a:r>
            <a:r>
              <a:rPr lang="en-US" sz="2800" dirty="0" err="1"/>
              <a:t>refetch</a:t>
            </a:r>
            <a:r>
              <a:rPr lang="en-US" sz="2800" dirty="0"/>
              <a:t> data at address 0x4, evicting data from address 0x24. </a:t>
            </a:r>
            <a:endParaRPr lang="en-US" sz="2800" dirty="0" smtClean="0"/>
          </a:p>
          <a:p>
            <a:r>
              <a:rPr lang="en-US" sz="2800" dirty="0" smtClean="0"/>
              <a:t>The two addresses </a:t>
            </a:r>
            <a:r>
              <a:rPr lang="en-US" sz="2800" dirty="0"/>
              <a:t>conflict and the miss rate is 100%.</a:t>
            </a:r>
            <a:endParaRPr lang="en-US" sz="2800" b="1" dirty="0" smtClean="0">
              <a:solidFill>
                <a:srgbClr val="FF0000"/>
              </a:solidFill>
            </a:endParaRPr>
          </a:p>
        </p:txBody>
      </p:sp>
    </p:spTree>
    <p:extLst>
      <p:ext uri="{BB962C8B-B14F-4D97-AF65-F5344CB8AC3E}">
        <p14:creationId xmlns:p14="http://schemas.microsoft.com/office/powerpoint/2010/main" val="3393466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err="1"/>
              <a:t>Multiway</a:t>
            </a:r>
            <a:r>
              <a:rPr lang="en-IN" b="1" dirty="0"/>
              <a:t> Set Associative Cache: 532</a:t>
            </a:r>
          </a:p>
        </p:txBody>
      </p:sp>
      <p:sp>
        <p:nvSpPr>
          <p:cNvPr id="4" name="Rectangle 3"/>
          <p:cNvSpPr/>
          <p:nvPr/>
        </p:nvSpPr>
        <p:spPr>
          <a:xfrm>
            <a:off x="168812" y="543323"/>
            <a:ext cx="11981826" cy="4401205"/>
          </a:xfrm>
          <a:prstGeom prst="rect">
            <a:avLst/>
          </a:prstGeom>
        </p:spPr>
        <p:txBody>
          <a:bodyPr wrap="square">
            <a:spAutoFit/>
          </a:bodyPr>
          <a:lstStyle/>
          <a:p>
            <a:pPr marL="457200" indent="-457200">
              <a:buFont typeface="Arial" pitchFamily="34" charset="0"/>
              <a:buChar char="•"/>
            </a:pPr>
            <a:r>
              <a:rPr lang="en-US" sz="2800" dirty="0"/>
              <a:t>An </a:t>
            </a:r>
            <a:r>
              <a:rPr lang="en-US" sz="2800" b="1" i="1" dirty="0">
                <a:solidFill>
                  <a:srgbClr val="FF0000"/>
                </a:solidFill>
              </a:rPr>
              <a:t>N-way set associative </a:t>
            </a:r>
            <a:r>
              <a:rPr lang="en-US" sz="2800" b="1" dirty="0">
                <a:solidFill>
                  <a:srgbClr val="FF0000"/>
                </a:solidFill>
              </a:rPr>
              <a:t>cache </a:t>
            </a:r>
            <a:r>
              <a:rPr lang="en-US" sz="2800" b="1" dirty="0"/>
              <a:t>reduces conflict</a:t>
            </a:r>
            <a:r>
              <a:rPr lang="en-US" sz="2800" dirty="0"/>
              <a:t>s by providing </a:t>
            </a:r>
            <a:r>
              <a:rPr lang="en-US" sz="2800" b="1" i="1" dirty="0"/>
              <a:t>N </a:t>
            </a:r>
            <a:r>
              <a:rPr lang="en-US" sz="2800" b="1" dirty="0" smtClean="0"/>
              <a:t>blocks in </a:t>
            </a:r>
            <a:r>
              <a:rPr lang="en-US" sz="2800" b="1" dirty="0"/>
              <a:t>each set </a:t>
            </a:r>
            <a:r>
              <a:rPr lang="en-US" sz="2800" dirty="0"/>
              <a:t>where data mapping to that set might be </a:t>
            </a:r>
            <a:r>
              <a:rPr lang="en-US" sz="2800" dirty="0" smtClean="0"/>
              <a:t>found.</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Each </a:t>
            </a:r>
            <a:r>
              <a:rPr lang="en-US" sz="2800" b="1" dirty="0" smtClean="0"/>
              <a:t>memory address </a:t>
            </a:r>
            <a:r>
              <a:rPr lang="en-US" sz="2800" b="1" dirty="0"/>
              <a:t>still maps to a specific se</a:t>
            </a:r>
            <a:r>
              <a:rPr lang="en-US" sz="2800" dirty="0"/>
              <a:t>t, but it can map to any one of the </a:t>
            </a:r>
            <a:r>
              <a:rPr lang="en-US" sz="2800" i="1" dirty="0"/>
              <a:t>N </a:t>
            </a:r>
            <a:r>
              <a:rPr lang="en-US" sz="2800" dirty="0" smtClean="0"/>
              <a:t>blocks </a:t>
            </a:r>
            <a:r>
              <a:rPr lang="en-US" sz="2800" dirty="0"/>
              <a:t>in the set.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Hence</a:t>
            </a:r>
            <a:r>
              <a:rPr lang="en-US" sz="2800" dirty="0"/>
              <a:t>, a </a:t>
            </a:r>
            <a:r>
              <a:rPr lang="en-US" sz="2800" b="1" dirty="0"/>
              <a:t>direct mapped cache </a:t>
            </a:r>
            <a:r>
              <a:rPr lang="en-US" sz="2800" dirty="0"/>
              <a:t>is another name for a </a:t>
            </a:r>
            <a:r>
              <a:rPr lang="en-US" sz="2800" b="1" dirty="0"/>
              <a:t>one-way </a:t>
            </a:r>
            <a:r>
              <a:rPr lang="en-US" sz="2800" b="1" dirty="0" smtClean="0"/>
              <a:t>set associative </a:t>
            </a:r>
            <a:r>
              <a:rPr lang="en-US" sz="2800" b="1" dirty="0"/>
              <a:t>cache. </a:t>
            </a:r>
            <a:endParaRPr lang="en-US" sz="2800" b="1"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b="1" i="1" dirty="0" smtClean="0"/>
              <a:t>N</a:t>
            </a:r>
            <a:r>
              <a:rPr lang="en-US" sz="2800" i="1" dirty="0" smtClean="0"/>
              <a:t> </a:t>
            </a:r>
            <a:r>
              <a:rPr lang="en-US" sz="2800" dirty="0"/>
              <a:t>is also called the </a:t>
            </a:r>
            <a:r>
              <a:rPr lang="en-US" sz="2800" b="1" i="1" dirty="0"/>
              <a:t>degree of associativity </a:t>
            </a:r>
            <a:r>
              <a:rPr lang="en-US" sz="2800" dirty="0"/>
              <a:t>of the cache.</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25260730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20117" r="15776" b="36914"/>
          <a:stretch/>
        </p:blipFill>
        <p:spPr bwMode="auto">
          <a:xfrm>
            <a:off x="21627" y="0"/>
            <a:ext cx="9634971" cy="6801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2797" t="37109" r="55673" b="56250"/>
          <a:stretch/>
        </p:blipFill>
        <p:spPr bwMode="auto">
          <a:xfrm>
            <a:off x="9485169" y="2886226"/>
            <a:ext cx="2681689" cy="868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0851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543323"/>
            <a:ext cx="11981826" cy="5262979"/>
          </a:xfrm>
          <a:prstGeom prst="rect">
            <a:avLst/>
          </a:prstGeom>
        </p:spPr>
        <p:txBody>
          <a:bodyPr wrap="square">
            <a:spAutoFit/>
          </a:bodyPr>
          <a:lstStyle/>
          <a:p>
            <a:pPr marL="457200" indent="-457200">
              <a:buFont typeface="Arial" pitchFamily="34" charset="0"/>
              <a:buChar char="•"/>
            </a:pPr>
            <a:r>
              <a:rPr lang="en-US" sz="2800" dirty="0"/>
              <a:t>Figure 8.9 shows the hardware for a </a:t>
            </a:r>
            <a:r>
              <a:rPr lang="en-US" sz="2800" i="1" dirty="0"/>
              <a:t>C </a:t>
            </a:r>
            <a:r>
              <a:rPr lang="en-US" sz="2800" dirty="0"/>
              <a:t>= 8-word, </a:t>
            </a:r>
            <a:r>
              <a:rPr lang="en-US" sz="2800" i="1" dirty="0"/>
              <a:t>N </a:t>
            </a:r>
            <a:r>
              <a:rPr lang="en-US" sz="2800" dirty="0"/>
              <a:t>= </a:t>
            </a:r>
            <a:r>
              <a:rPr lang="en-US" sz="2800" b="1" dirty="0"/>
              <a:t>2-way </a:t>
            </a:r>
            <a:r>
              <a:rPr lang="en-US" sz="2800" b="1" dirty="0" smtClean="0"/>
              <a:t>set associative </a:t>
            </a:r>
            <a:r>
              <a:rPr lang="en-US" sz="2800" b="1" dirty="0"/>
              <a:t>cache. </a:t>
            </a:r>
            <a:endParaRPr lang="en-US" sz="2800" b="1" dirty="0" smtClean="0"/>
          </a:p>
          <a:p>
            <a:pPr marL="457200" indent="-457200">
              <a:buFont typeface="Arial" pitchFamily="34" charset="0"/>
              <a:buChar char="•"/>
            </a:pPr>
            <a:r>
              <a:rPr lang="en-US" sz="2800" dirty="0" smtClean="0"/>
              <a:t>The </a:t>
            </a:r>
            <a:r>
              <a:rPr lang="en-US" sz="2800" dirty="0"/>
              <a:t>cache now has only </a:t>
            </a:r>
            <a:r>
              <a:rPr lang="en-US" sz="2800" i="1" dirty="0"/>
              <a:t>S </a:t>
            </a:r>
            <a:r>
              <a:rPr lang="en-US" sz="2800" dirty="0"/>
              <a:t>= 4 sets rather than 8.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Thus, only </a:t>
            </a:r>
            <a:r>
              <a:rPr lang="en-US" sz="2800" dirty="0"/>
              <a:t>log24 = 2 set bits rather than 3 are used to select the set. </a:t>
            </a:r>
            <a:endParaRPr lang="en-US" sz="2800" dirty="0" smtClean="0"/>
          </a:p>
          <a:p>
            <a:pPr marL="457200" indent="-457200">
              <a:buFont typeface="Arial" pitchFamily="34" charset="0"/>
              <a:buChar char="•"/>
            </a:pPr>
            <a:r>
              <a:rPr lang="en-US" sz="2800" dirty="0" smtClean="0"/>
              <a:t>The tag increases </a:t>
            </a:r>
            <a:r>
              <a:rPr lang="en-US" sz="2800" dirty="0"/>
              <a:t>from 27 to 28 bits.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Each </a:t>
            </a:r>
            <a:r>
              <a:rPr lang="en-US" sz="2800" b="1" dirty="0"/>
              <a:t>set contains two </a:t>
            </a:r>
            <a:r>
              <a:rPr lang="en-US" sz="2800" b="1" i="1" dirty="0"/>
              <a:t>ways </a:t>
            </a:r>
            <a:r>
              <a:rPr lang="en-US" sz="2800" b="1" dirty="0"/>
              <a:t>or degrees </a:t>
            </a:r>
            <a:r>
              <a:rPr lang="en-US" sz="2800" b="1" dirty="0" smtClean="0"/>
              <a:t>of associativity</a:t>
            </a:r>
            <a:r>
              <a:rPr lang="en-US" sz="2800" b="1" dirty="0"/>
              <a:t>. </a:t>
            </a:r>
            <a:endParaRPr lang="en-US" sz="2800" b="1" dirty="0" smtClean="0"/>
          </a:p>
          <a:p>
            <a:pPr marL="457200" indent="-457200">
              <a:buFont typeface="Arial" pitchFamily="34" charset="0"/>
              <a:buChar char="•"/>
            </a:pPr>
            <a:r>
              <a:rPr lang="en-US" sz="2800" dirty="0" smtClean="0"/>
              <a:t>Each </a:t>
            </a:r>
            <a:r>
              <a:rPr lang="en-US" sz="2800" dirty="0"/>
              <a:t>way consists of a data block and the valid and </a:t>
            </a:r>
            <a:r>
              <a:rPr lang="en-US" sz="2800" dirty="0" smtClean="0"/>
              <a:t>tag bits</a:t>
            </a:r>
            <a:r>
              <a:rPr lang="en-US" sz="2800" dirty="0"/>
              <a:t>. </a:t>
            </a:r>
            <a:endParaRPr lang="en-US" sz="2800" dirty="0" smtClean="0"/>
          </a:p>
          <a:p>
            <a:pPr marL="457200" indent="-457200">
              <a:buFont typeface="Arial" pitchFamily="34" charset="0"/>
              <a:buChar char="•"/>
            </a:pPr>
            <a:r>
              <a:rPr lang="en-US" sz="2800" dirty="0" smtClean="0"/>
              <a:t>The </a:t>
            </a:r>
            <a:r>
              <a:rPr lang="en-US" sz="2800" dirty="0">
                <a:solidFill>
                  <a:srgbClr val="FF0000"/>
                </a:solidFill>
              </a:rPr>
              <a:t>cache reads blocks from both ways</a:t>
            </a:r>
            <a:r>
              <a:rPr lang="en-US" sz="2800" dirty="0"/>
              <a:t> in the selected set </a:t>
            </a:r>
            <a:r>
              <a:rPr lang="en-US" sz="2800" dirty="0" smtClean="0"/>
              <a:t>and checks </a:t>
            </a:r>
            <a:r>
              <a:rPr lang="en-US" sz="2800" dirty="0"/>
              <a:t>the tags and valid bits for a hit. </a:t>
            </a:r>
            <a:endParaRPr lang="en-US" sz="2800" dirty="0" smtClean="0"/>
          </a:p>
          <a:p>
            <a:pPr marL="457200" indent="-457200">
              <a:buFont typeface="Arial" pitchFamily="34" charset="0"/>
              <a:buChar char="•"/>
            </a:pPr>
            <a:r>
              <a:rPr lang="en-US" sz="2800" dirty="0" smtClean="0"/>
              <a:t>If </a:t>
            </a:r>
            <a:r>
              <a:rPr lang="en-US" sz="2800" dirty="0"/>
              <a:t>a hit occurs in one of the </a:t>
            </a:r>
            <a:r>
              <a:rPr lang="en-US" sz="2800" dirty="0" smtClean="0"/>
              <a:t>ways, a </a:t>
            </a:r>
            <a:r>
              <a:rPr lang="en-US" sz="2800" dirty="0"/>
              <a:t>multiplexer selects data from that way.</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21450017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543323"/>
            <a:ext cx="11981826" cy="3539430"/>
          </a:xfrm>
          <a:prstGeom prst="rect">
            <a:avLst/>
          </a:prstGeom>
        </p:spPr>
        <p:txBody>
          <a:bodyPr wrap="square">
            <a:spAutoFit/>
          </a:bodyPr>
          <a:lstStyle/>
          <a:p>
            <a:pPr marL="457200" indent="-457200">
              <a:buFont typeface="Arial" pitchFamily="34" charset="0"/>
              <a:buChar char="•"/>
            </a:pPr>
            <a:r>
              <a:rPr lang="en-US" sz="2800" dirty="0"/>
              <a:t>Set associative caches generally have </a:t>
            </a:r>
            <a:r>
              <a:rPr lang="en-US" sz="2800" b="1" dirty="0"/>
              <a:t>lower miss rates than </a:t>
            </a:r>
            <a:r>
              <a:rPr lang="en-US" sz="2800" b="1" dirty="0" smtClean="0"/>
              <a:t>direct mapped </a:t>
            </a:r>
            <a:r>
              <a:rPr lang="en-US" sz="2800" dirty="0"/>
              <a:t>caches of the </a:t>
            </a:r>
            <a:r>
              <a:rPr lang="en-US" sz="2800" b="1" dirty="0"/>
              <a:t>same capacity </a:t>
            </a:r>
            <a:r>
              <a:rPr lang="en-US" sz="2800" dirty="0"/>
              <a:t>because they have fewer conflicts</a:t>
            </a:r>
            <a:r>
              <a:rPr lang="en-US" sz="2800" dirty="0" smtClean="0"/>
              <a:t>.</a:t>
            </a:r>
          </a:p>
          <a:p>
            <a:pPr marL="457200" indent="-457200">
              <a:buFont typeface="Arial" pitchFamily="34" charset="0"/>
              <a:buChar char="•"/>
            </a:pPr>
            <a:endParaRPr lang="en-US" sz="2800" dirty="0"/>
          </a:p>
          <a:p>
            <a:pPr marL="457200" indent="-457200">
              <a:buFont typeface="Arial" pitchFamily="34" charset="0"/>
              <a:buChar char="•"/>
            </a:pPr>
            <a:r>
              <a:rPr lang="en-US" sz="2800" dirty="0"/>
              <a:t>However, set associative caches are usually </a:t>
            </a:r>
            <a:r>
              <a:rPr lang="en-US" sz="2800" b="1" dirty="0"/>
              <a:t>slower</a:t>
            </a:r>
            <a:r>
              <a:rPr lang="en-US" sz="2800" dirty="0"/>
              <a:t> and somewhat </a:t>
            </a:r>
            <a:r>
              <a:rPr lang="en-US" sz="2800" dirty="0" smtClean="0"/>
              <a:t>more </a:t>
            </a:r>
            <a:r>
              <a:rPr lang="en-US" sz="2800" b="1" dirty="0" smtClean="0"/>
              <a:t>expensive</a:t>
            </a:r>
            <a:r>
              <a:rPr lang="en-US" sz="2800" dirty="0" smtClean="0"/>
              <a:t> </a:t>
            </a:r>
            <a:r>
              <a:rPr lang="en-US" sz="2800" dirty="0"/>
              <a:t>to build because of the </a:t>
            </a:r>
            <a:r>
              <a:rPr lang="en-US" sz="2800" b="1" dirty="0"/>
              <a:t>output multiplexer </a:t>
            </a:r>
            <a:r>
              <a:rPr lang="en-US" sz="2800" dirty="0"/>
              <a:t>and </a:t>
            </a:r>
            <a:r>
              <a:rPr lang="en-US" sz="2800" dirty="0" smtClean="0"/>
              <a:t>additional </a:t>
            </a:r>
            <a:r>
              <a:rPr lang="en-US" sz="2800" b="1" dirty="0" smtClean="0"/>
              <a:t>comparators</a:t>
            </a:r>
            <a:r>
              <a:rPr lang="en-US" sz="2800" dirty="0"/>
              <a: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They </a:t>
            </a:r>
            <a:r>
              <a:rPr lang="en-US" sz="2800" dirty="0"/>
              <a:t>also raise the question of </a:t>
            </a:r>
            <a:r>
              <a:rPr lang="en-US" sz="2800" b="1" dirty="0">
                <a:solidFill>
                  <a:srgbClr val="FF0000"/>
                </a:solidFill>
              </a:rPr>
              <a:t>which way to replace </a:t>
            </a:r>
            <a:r>
              <a:rPr lang="en-US" sz="2800" dirty="0" smtClean="0"/>
              <a:t>when </a:t>
            </a:r>
            <a:r>
              <a:rPr lang="en-IN" sz="2800" dirty="0" smtClean="0"/>
              <a:t>both </a:t>
            </a:r>
            <a:r>
              <a:rPr lang="en-IN" sz="2800" dirty="0"/>
              <a:t>ways are full</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42516596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Fully Associative Cache</a:t>
            </a:r>
            <a:r>
              <a:rPr lang="en-IN" b="1" dirty="0" smtClean="0"/>
              <a:t>: 533</a:t>
            </a:r>
            <a:endParaRPr lang="en-IN" b="1" dirty="0"/>
          </a:p>
        </p:txBody>
      </p:sp>
      <p:sp>
        <p:nvSpPr>
          <p:cNvPr id="4" name="Rectangle 3"/>
          <p:cNvSpPr/>
          <p:nvPr/>
        </p:nvSpPr>
        <p:spPr>
          <a:xfrm>
            <a:off x="168812" y="543323"/>
            <a:ext cx="11981826" cy="5262979"/>
          </a:xfrm>
          <a:prstGeom prst="rect">
            <a:avLst/>
          </a:prstGeom>
        </p:spPr>
        <p:txBody>
          <a:bodyPr wrap="square">
            <a:spAutoFit/>
          </a:bodyPr>
          <a:lstStyle/>
          <a:p>
            <a:pPr marL="457200" indent="-457200">
              <a:buFont typeface="Arial" pitchFamily="34" charset="0"/>
              <a:buChar char="•"/>
            </a:pPr>
            <a:r>
              <a:rPr lang="en-US" sz="2800" dirty="0"/>
              <a:t>A </a:t>
            </a:r>
            <a:r>
              <a:rPr lang="en-US" sz="2800" b="1" i="1" dirty="0"/>
              <a:t>fully associative </a:t>
            </a:r>
            <a:r>
              <a:rPr lang="en-US" sz="2800" b="1" dirty="0"/>
              <a:t>cache</a:t>
            </a:r>
            <a:r>
              <a:rPr lang="en-US" sz="2800" dirty="0"/>
              <a:t> contains a </a:t>
            </a:r>
            <a:r>
              <a:rPr lang="en-US" sz="2800" b="1" dirty="0"/>
              <a:t>single set with </a:t>
            </a:r>
            <a:r>
              <a:rPr lang="en-US" sz="2800" b="1" i="1" dirty="0"/>
              <a:t>B </a:t>
            </a:r>
            <a:r>
              <a:rPr lang="en-US" sz="2800" b="1" dirty="0"/>
              <a:t>ways</a:t>
            </a:r>
            <a:r>
              <a:rPr lang="en-US" sz="2800" dirty="0"/>
              <a:t>, where </a:t>
            </a:r>
            <a:r>
              <a:rPr lang="en-US" sz="2800" i="1" dirty="0"/>
              <a:t>B </a:t>
            </a:r>
            <a:r>
              <a:rPr lang="en-US" sz="2800" dirty="0"/>
              <a:t>is </a:t>
            </a:r>
            <a:r>
              <a:rPr lang="en-US" sz="2800" dirty="0" smtClean="0"/>
              <a:t>the number </a:t>
            </a:r>
            <a:r>
              <a:rPr lang="en-US" sz="2800" dirty="0"/>
              <a:t>of blocks.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A </a:t>
            </a:r>
            <a:r>
              <a:rPr lang="en-US" sz="2800" dirty="0"/>
              <a:t>memory address can map to a block in any of </a:t>
            </a:r>
            <a:r>
              <a:rPr lang="en-US" sz="2800" dirty="0" smtClean="0"/>
              <a:t>these ways</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A </a:t>
            </a:r>
            <a:r>
              <a:rPr lang="en-US" sz="2800" dirty="0"/>
              <a:t>fully associative cache is another name for </a:t>
            </a:r>
            <a:r>
              <a:rPr lang="en-US" sz="2800" b="1" dirty="0"/>
              <a:t>a </a:t>
            </a:r>
            <a:r>
              <a:rPr lang="en-US" sz="2800" b="1" i="1" dirty="0"/>
              <a:t>B</a:t>
            </a:r>
            <a:r>
              <a:rPr lang="en-US" sz="2800" b="1" dirty="0"/>
              <a:t>-way set </a:t>
            </a:r>
            <a:r>
              <a:rPr lang="en-US" sz="2800" b="1" dirty="0" smtClean="0"/>
              <a:t>associative </a:t>
            </a:r>
            <a:r>
              <a:rPr lang="en-IN" sz="2800" b="1" dirty="0" smtClean="0"/>
              <a:t>cache </a:t>
            </a:r>
            <a:r>
              <a:rPr lang="en-IN" sz="2800" b="1" dirty="0"/>
              <a:t>with one </a:t>
            </a:r>
            <a:r>
              <a:rPr lang="en-IN" sz="2800" b="1" dirty="0" smtClean="0"/>
              <a:t>set.</a:t>
            </a:r>
          </a:p>
          <a:p>
            <a:pPr marL="457200" indent="-457200">
              <a:buFont typeface="Arial" pitchFamily="34" charset="0"/>
              <a:buChar char="•"/>
            </a:pPr>
            <a:endParaRPr lang="en-IN" sz="2800" dirty="0"/>
          </a:p>
          <a:p>
            <a:pPr marL="457200" indent="-457200">
              <a:buFont typeface="Arial" pitchFamily="34" charset="0"/>
              <a:buChar char="•"/>
            </a:pPr>
            <a:r>
              <a:rPr lang="en-US" sz="2800" dirty="0" smtClean="0"/>
              <a:t>Figure </a:t>
            </a:r>
            <a:r>
              <a:rPr lang="en-US" sz="2800" dirty="0"/>
              <a:t>8.11 shows </a:t>
            </a:r>
            <a:r>
              <a:rPr lang="en-US" sz="2800" dirty="0" smtClean="0"/>
              <a:t>a </a:t>
            </a:r>
            <a:r>
              <a:rPr lang="en-US" sz="2800" dirty="0"/>
              <a:t>fully associative cache </a:t>
            </a:r>
            <a:r>
              <a:rPr lang="en-US" sz="2800" dirty="0" smtClean="0"/>
              <a:t>with eight </a:t>
            </a:r>
            <a:r>
              <a:rPr lang="en-US" sz="2800" dirty="0"/>
              <a:t>blocks.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Upon </a:t>
            </a:r>
            <a:r>
              <a:rPr lang="en-US" sz="2800" dirty="0"/>
              <a:t>a data request, </a:t>
            </a:r>
            <a:r>
              <a:rPr lang="en-US" sz="2800" b="1" dirty="0"/>
              <a:t>eight tag comparisons </a:t>
            </a:r>
            <a:r>
              <a:rPr lang="en-US" sz="2800" dirty="0"/>
              <a:t>(not </a:t>
            </a:r>
            <a:r>
              <a:rPr lang="en-US" sz="2800" dirty="0" smtClean="0"/>
              <a:t>shown) must </a:t>
            </a:r>
            <a:r>
              <a:rPr lang="en-US" sz="2800" dirty="0"/>
              <a:t>be made because the data could be in any block. Similarly, an 8:1</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3253428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543323"/>
            <a:ext cx="11981826" cy="3539430"/>
          </a:xfrm>
          <a:prstGeom prst="rect">
            <a:avLst/>
          </a:prstGeom>
        </p:spPr>
        <p:txBody>
          <a:bodyPr wrap="square">
            <a:spAutoFit/>
          </a:bodyPr>
          <a:lstStyle/>
          <a:p>
            <a:pPr marL="457200" indent="-457200">
              <a:buFont typeface="Arial" pitchFamily="34" charset="0"/>
              <a:buChar char="•"/>
            </a:pPr>
            <a:r>
              <a:rPr lang="en-US" sz="2800" dirty="0" smtClean="0"/>
              <a:t>Similarly</a:t>
            </a:r>
            <a:r>
              <a:rPr lang="en-US" sz="2800" dirty="0"/>
              <a:t>, an </a:t>
            </a:r>
            <a:r>
              <a:rPr lang="en-US" sz="2800" b="1" dirty="0" smtClean="0"/>
              <a:t>8:1</a:t>
            </a:r>
            <a:r>
              <a:rPr lang="en-US" sz="2800" b="1" dirty="0"/>
              <a:t>multiplexer</a:t>
            </a:r>
            <a:r>
              <a:rPr lang="en-US" sz="2800" dirty="0"/>
              <a:t> chooses the proper data if a hit occurs.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Fully associative caches </a:t>
            </a:r>
            <a:r>
              <a:rPr lang="en-US" sz="2800" dirty="0"/>
              <a:t>tend to have the </a:t>
            </a:r>
            <a:r>
              <a:rPr lang="en-US" sz="2800" b="1" dirty="0"/>
              <a:t>fewest conflict misses </a:t>
            </a:r>
            <a:r>
              <a:rPr lang="en-US" sz="2800" dirty="0"/>
              <a:t>for a given cache </a:t>
            </a:r>
            <a:r>
              <a:rPr lang="en-US" sz="2800" dirty="0" smtClean="0"/>
              <a:t>capacity, but </a:t>
            </a:r>
            <a:r>
              <a:rPr lang="en-US" sz="2800" dirty="0"/>
              <a:t>they require </a:t>
            </a:r>
            <a:r>
              <a:rPr lang="en-US" sz="2800" dirty="0">
                <a:solidFill>
                  <a:srgbClr val="FF0000"/>
                </a:solidFill>
              </a:rPr>
              <a:t>more hardware for additional tag comparisons. </a:t>
            </a:r>
            <a:endParaRPr lang="en-US" sz="2800" dirty="0" smtClean="0">
              <a:solidFill>
                <a:srgbClr val="FF0000"/>
              </a:solidFill>
            </a:endParaRPr>
          </a:p>
          <a:p>
            <a:pPr marL="457200" indent="-457200">
              <a:buFont typeface="Arial" pitchFamily="34" charset="0"/>
              <a:buChar char="•"/>
            </a:pPr>
            <a:endParaRPr lang="en-US" sz="2800" dirty="0"/>
          </a:p>
          <a:p>
            <a:pPr marL="457200" indent="-457200">
              <a:buFont typeface="Arial" pitchFamily="34" charset="0"/>
              <a:buChar char="•"/>
            </a:pPr>
            <a:r>
              <a:rPr lang="en-US" sz="2800" dirty="0" smtClean="0"/>
              <a:t>They are </a:t>
            </a:r>
            <a:r>
              <a:rPr lang="en-US" sz="2800" dirty="0"/>
              <a:t>best </a:t>
            </a:r>
            <a:r>
              <a:rPr lang="en-US" sz="2800" b="1" dirty="0"/>
              <a:t>suited</a:t>
            </a:r>
            <a:r>
              <a:rPr lang="en-US" sz="2800" dirty="0"/>
              <a:t> to relatively </a:t>
            </a:r>
            <a:r>
              <a:rPr lang="en-US" sz="2800" b="1" dirty="0"/>
              <a:t>small caches </a:t>
            </a:r>
            <a:r>
              <a:rPr lang="en-US" sz="2800" dirty="0"/>
              <a:t>because of the large number </a:t>
            </a:r>
            <a:r>
              <a:rPr lang="en-US" sz="2800" dirty="0" smtClean="0"/>
              <a:t>of </a:t>
            </a:r>
            <a:r>
              <a:rPr lang="en-IN" sz="2800" dirty="0" smtClean="0"/>
              <a:t>comparators</a:t>
            </a:r>
            <a:r>
              <a:rPr lang="en-IN" sz="2800" dirty="0"/>
              <a:t>.</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2440338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8626" t="38500" r="14058" b="46934"/>
          <a:stretch/>
        </p:blipFill>
        <p:spPr bwMode="auto">
          <a:xfrm>
            <a:off x="263237" y="1399310"/>
            <a:ext cx="11526972" cy="199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07819" y="4602126"/>
            <a:ext cx="11236036" cy="1077218"/>
          </a:xfrm>
          <a:prstGeom prst="rect">
            <a:avLst/>
          </a:prstGeom>
        </p:spPr>
        <p:txBody>
          <a:bodyPr wrap="square">
            <a:spAutoFit/>
          </a:bodyPr>
          <a:lstStyle/>
          <a:p>
            <a:r>
              <a:rPr lang="en-US" sz="3200" dirty="0"/>
              <a:t>The time required to load the missing block </a:t>
            </a:r>
            <a:r>
              <a:rPr lang="en-US" sz="3200" dirty="0" smtClean="0"/>
              <a:t>into the </a:t>
            </a:r>
            <a:r>
              <a:rPr lang="en-US" sz="3200" dirty="0"/>
              <a:t>cache is called the </a:t>
            </a:r>
            <a:r>
              <a:rPr lang="en-US" sz="3200" b="1" i="1" dirty="0">
                <a:solidFill>
                  <a:srgbClr val="FF0000"/>
                </a:solidFill>
              </a:rPr>
              <a:t>miss penalty</a:t>
            </a:r>
            <a:r>
              <a:rPr lang="en-US" sz="3200" b="1" dirty="0">
                <a:solidFill>
                  <a:srgbClr val="FF0000"/>
                </a:solidFill>
              </a:rPr>
              <a:t>.</a:t>
            </a:r>
            <a:endParaRPr lang="en-IN" sz="3200" b="1" dirty="0">
              <a:solidFill>
                <a:srgbClr val="FF0000"/>
              </a:solidFill>
            </a:endParaRPr>
          </a:p>
        </p:txBody>
      </p:sp>
    </p:spTree>
    <p:extLst>
      <p:ext uri="{BB962C8B-B14F-4D97-AF65-F5344CB8AC3E}">
        <p14:creationId xmlns:p14="http://schemas.microsoft.com/office/powerpoint/2010/main" val="971516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smtClean="0"/>
              <a:t>CACHE REPLACEMENT</a:t>
            </a:r>
            <a:endParaRPr lang="en-IN" b="1" dirty="0"/>
          </a:p>
        </p:txBody>
      </p:sp>
      <p:sp>
        <p:nvSpPr>
          <p:cNvPr id="4" name="Rectangle 3"/>
          <p:cNvSpPr/>
          <p:nvPr/>
        </p:nvSpPr>
        <p:spPr>
          <a:xfrm>
            <a:off x="168812" y="543323"/>
            <a:ext cx="11981826" cy="5693866"/>
          </a:xfrm>
          <a:prstGeom prst="rect">
            <a:avLst/>
          </a:prstGeom>
        </p:spPr>
        <p:txBody>
          <a:bodyPr wrap="square">
            <a:spAutoFit/>
          </a:bodyPr>
          <a:lstStyle/>
          <a:p>
            <a:pPr marL="457200" indent="-457200">
              <a:buFont typeface="Arial" pitchFamily="34" charset="0"/>
              <a:buChar char="•"/>
            </a:pPr>
            <a:r>
              <a:rPr lang="en-US" sz="2800" dirty="0"/>
              <a:t>In a direct mapped cache, each address maps to a unique block </a:t>
            </a:r>
            <a:r>
              <a:rPr lang="en-US" sz="2800" dirty="0" smtClean="0"/>
              <a:t>and set</a:t>
            </a:r>
            <a:r>
              <a:rPr lang="en-US" sz="2800" dirty="0"/>
              <a: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If </a:t>
            </a:r>
            <a:r>
              <a:rPr lang="en-US" sz="2800" dirty="0"/>
              <a:t>a set is full when new data must be loaded, </a:t>
            </a:r>
            <a:r>
              <a:rPr lang="en-US" sz="2800" b="1" dirty="0"/>
              <a:t>the block in that </a:t>
            </a:r>
            <a:r>
              <a:rPr lang="en-US" sz="2800" b="1" dirty="0" smtClean="0"/>
              <a:t>set is </a:t>
            </a:r>
            <a:r>
              <a:rPr lang="en-US" sz="2800" b="1" dirty="0"/>
              <a:t>replaced with the new data. </a:t>
            </a:r>
            <a:endParaRPr lang="en-US" sz="2800" b="1"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In </a:t>
            </a:r>
            <a:r>
              <a:rPr lang="en-US" sz="2800" dirty="0"/>
              <a:t>set associative and fully </a:t>
            </a:r>
            <a:r>
              <a:rPr lang="en-US" sz="2800" dirty="0" smtClean="0"/>
              <a:t>associative caches</a:t>
            </a:r>
            <a:r>
              <a:rPr lang="en-US" sz="2800" dirty="0"/>
              <a:t>, the cache must choose which block to evict when a cache set </a:t>
            </a:r>
            <a:r>
              <a:rPr lang="en-US" sz="2800" dirty="0" smtClean="0"/>
              <a:t>is full</a:t>
            </a:r>
            <a:r>
              <a:rPr lang="en-US" sz="2800" dirty="0"/>
              <a: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The </a:t>
            </a:r>
            <a:r>
              <a:rPr lang="en-US" sz="2800" dirty="0"/>
              <a:t>principle of temporal locality suggests that the best choice </a:t>
            </a:r>
            <a:r>
              <a:rPr lang="en-US" sz="2800" dirty="0" smtClean="0"/>
              <a:t>is to </a:t>
            </a:r>
            <a:r>
              <a:rPr lang="en-US" sz="2800" dirty="0"/>
              <a:t>evict the least recently used block </a:t>
            </a:r>
            <a:r>
              <a:rPr lang="en-US" sz="2800" dirty="0" smtClean="0"/>
              <a:t>.</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Hence</a:t>
            </a:r>
            <a:r>
              <a:rPr lang="en-US" sz="2800" dirty="0"/>
              <a:t>, most associative caches have a </a:t>
            </a:r>
            <a:r>
              <a:rPr lang="en-US" sz="2800" b="1" i="1" dirty="0"/>
              <a:t>least recently </a:t>
            </a:r>
            <a:r>
              <a:rPr lang="en-US" sz="2800" b="1" i="1" dirty="0" smtClean="0"/>
              <a:t>used </a:t>
            </a:r>
            <a:r>
              <a:rPr lang="en-IN" sz="2800" b="1" dirty="0" smtClean="0"/>
              <a:t>(</a:t>
            </a:r>
            <a:r>
              <a:rPr lang="en-IN" sz="2800" b="1" i="1" dirty="0" smtClean="0"/>
              <a:t>LRU</a:t>
            </a:r>
            <a:r>
              <a:rPr lang="en-IN" sz="2800" b="1" dirty="0"/>
              <a:t>) replacement policy.</a:t>
            </a:r>
            <a:endParaRPr lang="en-US" sz="2800" b="1" dirty="0">
              <a:latin typeface="+mj-lt"/>
              <a:cs typeface="Times New Roman" panose="02020603050405020304" pitchFamily="18" charset="0"/>
            </a:endParaRPr>
          </a:p>
        </p:txBody>
      </p:sp>
    </p:spTree>
    <p:extLst>
      <p:ext uri="{BB962C8B-B14F-4D97-AF65-F5344CB8AC3E}">
        <p14:creationId xmlns:p14="http://schemas.microsoft.com/office/powerpoint/2010/main" val="23691875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210814"/>
            <a:ext cx="11981826" cy="6294031"/>
          </a:xfrm>
          <a:prstGeom prst="rect">
            <a:avLst/>
          </a:prstGeom>
        </p:spPr>
        <p:txBody>
          <a:bodyPr wrap="square">
            <a:spAutoFit/>
          </a:bodyPr>
          <a:lstStyle/>
          <a:p>
            <a:pPr marL="457200" indent="-457200">
              <a:buFont typeface="Arial" pitchFamily="34" charset="0"/>
              <a:buChar char="•"/>
            </a:pPr>
            <a:r>
              <a:rPr lang="en-US" sz="2800" dirty="0"/>
              <a:t>In </a:t>
            </a:r>
            <a:r>
              <a:rPr lang="en-US" sz="2800" b="1" dirty="0"/>
              <a:t>a two-way set associative cache</a:t>
            </a:r>
            <a:r>
              <a:rPr lang="en-US" sz="2800" dirty="0"/>
              <a:t>, a </a:t>
            </a:r>
            <a:r>
              <a:rPr lang="en-US" sz="2800" b="1" i="1" dirty="0"/>
              <a:t>use bit</a:t>
            </a:r>
            <a:r>
              <a:rPr lang="en-US" sz="2800" b="1" dirty="0"/>
              <a:t>, </a:t>
            </a:r>
            <a:r>
              <a:rPr lang="en-US" sz="2800" b="1" i="1" dirty="0"/>
              <a:t>U</a:t>
            </a:r>
            <a:r>
              <a:rPr lang="en-US" sz="2800" b="1" dirty="0"/>
              <a:t>, </a:t>
            </a:r>
            <a:r>
              <a:rPr lang="en-US" sz="2800" dirty="0"/>
              <a:t>indicates </a:t>
            </a:r>
            <a:r>
              <a:rPr lang="en-US" sz="2800" dirty="0" smtClean="0"/>
              <a:t>which way </a:t>
            </a:r>
            <a:r>
              <a:rPr lang="en-US" sz="2800" dirty="0"/>
              <a:t>within a set was </a:t>
            </a:r>
            <a:r>
              <a:rPr lang="en-US" sz="2800" dirty="0">
                <a:solidFill>
                  <a:srgbClr val="FF0000"/>
                </a:solidFill>
              </a:rPr>
              <a:t>least recently used</a:t>
            </a:r>
            <a:r>
              <a:rPr lang="en-US" sz="2800" dirty="0"/>
              <a:t>. </a:t>
            </a:r>
            <a:endParaRPr lang="en-US" sz="2800" dirty="0" smtClean="0"/>
          </a:p>
          <a:p>
            <a:pPr marL="457200" indent="-457200">
              <a:buFont typeface="Arial" pitchFamily="34" charset="0"/>
              <a:buChar char="•"/>
            </a:pPr>
            <a:r>
              <a:rPr lang="en-US" sz="1100" dirty="0"/>
              <a:t> </a:t>
            </a:r>
            <a:r>
              <a:rPr lang="en-US" sz="1100" dirty="0" smtClean="0"/>
              <a:t>    </a:t>
            </a:r>
          </a:p>
          <a:p>
            <a:pPr marL="457200" indent="-457200">
              <a:buFont typeface="Arial" pitchFamily="34" charset="0"/>
              <a:buChar char="•"/>
            </a:pPr>
            <a:r>
              <a:rPr lang="en-US" sz="2800" dirty="0" smtClean="0"/>
              <a:t>Each </a:t>
            </a:r>
            <a:r>
              <a:rPr lang="en-US" sz="2800" dirty="0"/>
              <a:t>time one of the </a:t>
            </a:r>
            <a:r>
              <a:rPr lang="en-US" sz="2800" dirty="0" smtClean="0"/>
              <a:t>ways is </a:t>
            </a:r>
            <a:r>
              <a:rPr lang="en-US" sz="2800" dirty="0"/>
              <a:t>used, </a:t>
            </a:r>
            <a:r>
              <a:rPr lang="en-US" sz="2800" i="1" dirty="0"/>
              <a:t>U </a:t>
            </a:r>
            <a:r>
              <a:rPr lang="en-US" sz="2800" dirty="0"/>
              <a:t>is adjusted to indicate the other way.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For </a:t>
            </a:r>
            <a:r>
              <a:rPr lang="en-US" sz="2800" b="1" dirty="0"/>
              <a:t>set </a:t>
            </a:r>
            <a:r>
              <a:rPr lang="en-US" sz="2800" b="1" dirty="0" smtClean="0"/>
              <a:t>associative caches </a:t>
            </a:r>
            <a:r>
              <a:rPr lang="en-US" sz="2800" b="1" dirty="0"/>
              <a:t>with more than two ways</a:t>
            </a:r>
            <a:r>
              <a:rPr lang="en-US" sz="2800" dirty="0"/>
              <a:t>, tracking the least recently used </a:t>
            </a:r>
            <a:r>
              <a:rPr lang="en-US" sz="2800" dirty="0" smtClean="0"/>
              <a:t>way becomes </a:t>
            </a:r>
            <a:r>
              <a:rPr lang="en-US" sz="2800" dirty="0"/>
              <a:t>complicated.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To </a:t>
            </a:r>
            <a:r>
              <a:rPr lang="en-US" sz="2800" dirty="0"/>
              <a:t>simplify the problem, the </a:t>
            </a:r>
            <a:r>
              <a:rPr lang="en-US" sz="2800" b="1" dirty="0"/>
              <a:t>ways are </a:t>
            </a:r>
            <a:r>
              <a:rPr lang="en-US" sz="2800" b="1" dirty="0" smtClean="0"/>
              <a:t>often divided </a:t>
            </a:r>
            <a:r>
              <a:rPr lang="en-US" sz="2800" b="1" dirty="0"/>
              <a:t>into two groups </a:t>
            </a:r>
            <a:r>
              <a:rPr lang="en-US" sz="2800" dirty="0"/>
              <a:t>and </a:t>
            </a:r>
            <a:r>
              <a:rPr lang="en-US" sz="2800" i="1" dirty="0"/>
              <a:t>U </a:t>
            </a:r>
            <a:r>
              <a:rPr lang="en-US" sz="2800" dirty="0"/>
              <a:t>indicates which </a:t>
            </a:r>
            <a:r>
              <a:rPr lang="en-US" sz="2800" i="1" dirty="0"/>
              <a:t>group </a:t>
            </a:r>
            <a:r>
              <a:rPr lang="en-US" sz="2800" dirty="0"/>
              <a:t>of ways was </a:t>
            </a:r>
            <a:r>
              <a:rPr lang="en-US" sz="2800" dirty="0" smtClean="0"/>
              <a:t>least </a:t>
            </a:r>
            <a:r>
              <a:rPr lang="en-IN" sz="2800" dirty="0" smtClean="0"/>
              <a:t>recently </a:t>
            </a:r>
            <a:r>
              <a:rPr lang="en-IN" sz="2800" dirty="0"/>
              <a:t>used</a:t>
            </a:r>
            <a:r>
              <a:rPr lang="en-IN" sz="2800" dirty="0" smtClean="0"/>
              <a:t>.</a:t>
            </a:r>
            <a:r>
              <a:rPr lang="en-US" sz="2800" dirty="0"/>
              <a: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Upon </a:t>
            </a:r>
            <a:r>
              <a:rPr lang="en-US" sz="2800" dirty="0"/>
              <a:t>replacement, the new block </a:t>
            </a:r>
            <a:r>
              <a:rPr lang="en-US" sz="2800" b="1" dirty="0">
                <a:solidFill>
                  <a:srgbClr val="FF0000"/>
                </a:solidFill>
              </a:rPr>
              <a:t>replaces a </a:t>
            </a:r>
            <a:r>
              <a:rPr lang="en-US" sz="2800" b="1" dirty="0" smtClean="0">
                <a:solidFill>
                  <a:srgbClr val="FF0000"/>
                </a:solidFill>
              </a:rPr>
              <a:t>random block</a:t>
            </a:r>
            <a:r>
              <a:rPr lang="en-US" sz="2800" dirty="0" smtClean="0"/>
              <a:t> </a:t>
            </a:r>
            <a:r>
              <a:rPr lang="en-US" sz="2800" dirty="0"/>
              <a:t>within the least recently used group.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Such </a:t>
            </a:r>
            <a:r>
              <a:rPr lang="en-US" sz="2800" dirty="0"/>
              <a:t>a policy is </a:t>
            </a:r>
            <a:r>
              <a:rPr lang="en-US" sz="2800" dirty="0" smtClean="0"/>
              <a:t>called </a:t>
            </a:r>
            <a:r>
              <a:rPr lang="en-US" sz="2800" b="1" i="1" dirty="0" smtClean="0">
                <a:solidFill>
                  <a:srgbClr val="FF0000"/>
                </a:solidFill>
              </a:rPr>
              <a:t>pseudo-LRU</a:t>
            </a:r>
            <a:r>
              <a:rPr lang="en-US" sz="2800" i="1" dirty="0" smtClean="0"/>
              <a:t> </a:t>
            </a:r>
            <a:r>
              <a:rPr lang="en-US" sz="2800" dirty="0"/>
              <a:t>and is good enough in practice.</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20278053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210814"/>
            <a:ext cx="11981826" cy="5262979"/>
          </a:xfrm>
          <a:prstGeom prst="rect">
            <a:avLst/>
          </a:prstGeom>
        </p:spPr>
        <p:txBody>
          <a:bodyPr wrap="square">
            <a:spAutoFit/>
          </a:bodyPr>
          <a:lstStyle/>
          <a:p>
            <a:r>
              <a:rPr lang="en-IN" sz="2800" dirty="0"/>
              <a:t>Example 8.10 LRU </a:t>
            </a:r>
            <a:r>
              <a:rPr lang="en-IN" sz="2800" dirty="0" smtClean="0"/>
              <a:t>REPLACEMENT</a:t>
            </a:r>
          </a:p>
          <a:p>
            <a:endParaRPr lang="en-IN" sz="2800" dirty="0"/>
          </a:p>
          <a:p>
            <a:r>
              <a:rPr lang="en-US" sz="2800" dirty="0"/>
              <a:t>Show the contents of an eight-word two-way set associative cache after executing</a:t>
            </a:r>
          </a:p>
          <a:p>
            <a:r>
              <a:rPr lang="en-US" sz="2800" dirty="0"/>
              <a:t>the following code. Assume LRU replacement, a block size of one word, and an</a:t>
            </a:r>
          </a:p>
          <a:p>
            <a:r>
              <a:rPr lang="en-IN" sz="2800" dirty="0"/>
              <a:t>initially empty cache.</a:t>
            </a:r>
          </a:p>
          <a:p>
            <a:pPr lvl="4"/>
            <a:endParaRPr lang="en-IN" sz="2800" dirty="0" smtClean="0"/>
          </a:p>
          <a:p>
            <a:pPr lvl="4"/>
            <a:r>
              <a:rPr lang="en-IN" sz="2800" dirty="0" err="1" smtClean="0"/>
              <a:t>addi</a:t>
            </a:r>
            <a:r>
              <a:rPr lang="en-IN" sz="2800" dirty="0" smtClean="0"/>
              <a:t> </a:t>
            </a:r>
            <a:r>
              <a:rPr lang="en-IN" sz="2800" dirty="0"/>
              <a:t>t0, zero, 0</a:t>
            </a:r>
          </a:p>
          <a:p>
            <a:pPr lvl="4"/>
            <a:r>
              <a:rPr lang="en-IN" sz="2800" dirty="0" err="1"/>
              <a:t>lw</a:t>
            </a:r>
            <a:r>
              <a:rPr lang="en-IN" sz="2800" dirty="0"/>
              <a:t> s1, 0x4(t0)</a:t>
            </a:r>
          </a:p>
          <a:p>
            <a:pPr lvl="4"/>
            <a:r>
              <a:rPr lang="en-IN" sz="2800" dirty="0" err="1"/>
              <a:t>lw</a:t>
            </a:r>
            <a:r>
              <a:rPr lang="en-IN" sz="2800" dirty="0"/>
              <a:t> s2, 0x24(t0)</a:t>
            </a:r>
          </a:p>
          <a:p>
            <a:pPr lvl="4"/>
            <a:r>
              <a:rPr lang="en-IN" sz="2800" dirty="0" err="1"/>
              <a:t>lw</a:t>
            </a:r>
            <a:r>
              <a:rPr lang="en-IN" sz="2800" dirty="0"/>
              <a:t> s3, 0x54(t0</a:t>
            </a:r>
            <a:r>
              <a:rPr lang="en-IN" sz="2800" dirty="0" smtClean="0"/>
              <a:t>)</a:t>
            </a:r>
          </a:p>
          <a:p>
            <a:pPr lvl="4"/>
            <a:endParaRPr lang="en-IN" sz="2800" dirty="0">
              <a:latin typeface="+mj-lt"/>
              <a:cs typeface="Times New Roman" panose="02020603050405020304" pitchFamily="18" charset="0"/>
            </a:endParaRPr>
          </a:p>
          <a:p>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38695541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210814"/>
            <a:ext cx="11981826" cy="5262979"/>
          </a:xfrm>
          <a:prstGeom prst="rect">
            <a:avLst/>
          </a:prstGeom>
        </p:spPr>
        <p:txBody>
          <a:bodyPr wrap="square">
            <a:spAutoFit/>
          </a:bodyPr>
          <a:lstStyle/>
          <a:p>
            <a:pPr lvl="4"/>
            <a:endParaRPr lang="en-IN" sz="2800" dirty="0">
              <a:latin typeface="+mj-lt"/>
              <a:cs typeface="Times New Roman" panose="02020603050405020304" pitchFamily="18" charset="0"/>
            </a:endParaRPr>
          </a:p>
          <a:p>
            <a:r>
              <a:rPr lang="en-US" sz="2800" b="1" dirty="0" smtClean="0"/>
              <a:t>Solution:</a:t>
            </a:r>
          </a:p>
          <a:p>
            <a:endParaRPr lang="en-US" sz="2800" dirty="0" smtClean="0"/>
          </a:p>
          <a:p>
            <a:r>
              <a:rPr lang="en-US" sz="2800" dirty="0" smtClean="0"/>
              <a:t>The </a:t>
            </a:r>
            <a:r>
              <a:rPr lang="en-US" sz="2800" dirty="0"/>
              <a:t>first two instructions load data from memory addresses 0x4 and</a:t>
            </a:r>
          </a:p>
          <a:p>
            <a:r>
              <a:rPr lang="en-US" sz="2800" dirty="0"/>
              <a:t>0x24 into set 1 of the cache, shown in Figure 8.15(a). </a:t>
            </a:r>
            <a:endParaRPr lang="en-US" sz="2800" dirty="0" smtClean="0"/>
          </a:p>
          <a:p>
            <a:endParaRPr lang="en-US" sz="2800" i="1" dirty="0"/>
          </a:p>
          <a:p>
            <a:r>
              <a:rPr lang="en-US" sz="2800" i="1" dirty="0" smtClean="0"/>
              <a:t>U </a:t>
            </a:r>
            <a:r>
              <a:rPr lang="en-US" sz="2800" dirty="0"/>
              <a:t>= 0 indicates that </a:t>
            </a:r>
            <a:r>
              <a:rPr lang="en-US" sz="2800" dirty="0" smtClean="0"/>
              <a:t>data in </a:t>
            </a:r>
            <a:r>
              <a:rPr lang="en-US" sz="2800" dirty="0"/>
              <a:t>way 0 was the least recently used. </a:t>
            </a:r>
            <a:endParaRPr lang="en-US" sz="2800" dirty="0" smtClean="0"/>
          </a:p>
          <a:p>
            <a:endParaRPr lang="en-US" sz="2800" dirty="0"/>
          </a:p>
          <a:p>
            <a:r>
              <a:rPr lang="en-US" sz="2800" dirty="0" smtClean="0"/>
              <a:t>The </a:t>
            </a:r>
            <a:r>
              <a:rPr lang="en-US" sz="2800" dirty="0"/>
              <a:t>next memory access, to address </a:t>
            </a:r>
            <a:r>
              <a:rPr lang="en-US" sz="2800" dirty="0" smtClean="0"/>
              <a:t>0x54, also </a:t>
            </a:r>
            <a:r>
              <a:rPr lang="en-US" sz="2800" dirty="0"/>
              <a:t>maps to set 1 and replaces the least recently used data in way 0, as </a:t>
            </a:r>
            <a:r>
              <a:rPr lang="en-US" sz="2800" dirty="0" smtClean="0"/>
              <a:t>shown in </a:t>
            </a:r>
            <a:r>
              <a:rPr lang="en-US" sz="2800" dirty="0"/>
              <a:t>Figure 8.15(b). </a:t>
            </a:r>
            <a:endParaRPr lang="en-US" sz="2800" dirty="0" smtClean="0"/>
          </a:p>
          <a:p>
            <a:endParaRPr lang="en-US" sz="2800" dirty="0"/>
          </a:p>
          <a:p>
            <a:r>
              <a:rPr lang="en-US" sz="2800" dirty="0" smtClean="0"/>
              <a:t>The </a:t>
            </a:r>
            <a:r>
              <a:rPr lang="en-US" sz="2800" dirty="0"/>
              <a:t>use bit </a:t>
            </a:r>
            <a:r>
              <a:rPr lang="en-US" sz="2800" i="1" dirty="0"/>
              <a:t>U </a:t>
            </a:r>
            <a:r>
              <a:rPr lang="en-US" sz="2800" dirty="0"/>
              <a:t>is set to 1 to indicate that data in way 1 </a:t>
            </a:r>
            <a:r>
              <a:rPr lang="en-US" sz="2800" dirty="0" smtClean="0"/>
              <a:t>was </a:t>
            </a:r>
            <a:r>
              <a:rPr lang="en-IN" sz="2800" dirty="0" smtClean="0"/>
              <a:t>the </a:t>
            </a:r>
            <a:r>
              <a:rPr lang="en-IN" sz="2800" dirty="0"/>
              <a:t>least recently used.</a:t>
            </a:r>
            <a:endParaRPr lang="en-US" sz="2800" dirty="0">
              <a:latin typeface="+mj-lt"/>
              <a:cs typeface="Times New Roman" panose="02020603050405020304" pitchFamily="18" charset="0"/>
            </a:endParaRPr>
          </a:p>
        </p:txBody>
      </p:sp>
    </p:spTree>
    <p:extLst>
      <p:ext uri="{BB962C8B-B14F-4D97-AF65-F5344CB8AC3E}">
        <p14:creationId xmlns:p14="http://schemas.microsoft.com/office/powerpoint/2010/main" val="389331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995" t="26136" r="32810" b="39962"/>
          <a:stretch/>
        </p:blipFill>
        <p:spPr bwMode="auto">
          <a:xfrm>
            <a:off x="221673" y="166253"/>
            <a:ext cx="8908472" cy="6482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72361" t="40246" r="12945" b="53125"/>
          <a:stretch/>
        </p:blipFill>
        <p:spPr bwMode="auto">
          <a:xfrm>
            <a:off x="8575964" y="3164889"/>
            <a:ext cx="3636099" cy="922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64953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Multiple-Level </a:t>
            </a:r>
            <a:r>
              <a:rPr lang="en-IN" b="1" dirty="0" smtClean="0"/>
              <a:t>Caches: 538</a:t>
            </a:r>
            <a:endParaRPr lang="en-IN" b="1" dirty="0"/>
          </a:p>
        </p:txBody>
      </p:sp>
      <p:sp>
        <p:nvSpPr>
          <p:cNvPr id="4" name="Rectangle 3"/>
          <p:cNvSpPr/>
          <p:nvPr/>
        </p:nvSpPr>
        <p:spPr>
          <a:xfrm>
            <a:off x="0" y="543322"/>
            <a:ext cx="11981826" cy="6124754"/>
          </a:xfrm>
          <a:prstGeom prst="rect">
            <a:avLst/>
          </a:prstGeom>
        </p:spPr>
        <p:txBody>
          <a:bodyPr wrap="square">
            <a:spAutoFit/>
          </a:bodyPr>
          <a:lstStyle/>
          <a:p>
            <a:pPr marL="457200" indent="-457200">
              <a:buFont typeface="Arial" pitchFamily="34" charset="0"/>
              <a:buChar char="•"/>
            </a:pPr>
            <a:r>
              <a:rPr lang="en-US" sz="2800" dirty="0"/>
              <a:t>Modern systems use </a:t>
            </a:r>
            <a:r>
              <a:rPr lang="en-US" sz="2800" b="1" dirty="0">
                <a:solidFill>
                  <a:srgbClr val="FF0000"/>
                </a:solidFill>
              </a:rPr>
              <a:t>multiple levels </a:t>
            </a:r>
            <a:r>
              <a:rPr lang="en-US" sz="2800" dirty="0"/>
              <a:t>of caches to </a:t>
            </a:r>
            <a:r>
              <a:rPr lang="en-US" sz="2800" b="1" dirty="0">
                <a:solidFill>
                  <a:srgbClr val="FF0000"/>
                </a:solidFill>
              </a:rPr>
              <a:t>decrease memory </a:t>
            </a:r>
            <a:r>
              <a:rPr lang="en-US" sz="2800" b="1" dirty="0" smtClean="0">
                <a:solidFill>
                  <a:srgbClr val="FF0000"/>
                </a:solidFill>
              </a:rPr>
              <a:t>access </a:t>
            </a:r>
            <a:r>
              <a:rPr lang="en-IN" sz="2800" b="1" dirty="0" smtClean="0">
                <a:solidFill>
                  <a:srgbClr val="FF0000"/>
                </a:solidFill>
              </a:rPr>
              <a:t>time.</a:t>
            </a:r>
          </a:p>
          <a:p>
            <a:pPr marL="457200" indent="-457200">
              <a:buFont typeface="Arial" pitchFamily="34" charset="0"/>
              <a:buChar char="•"/>
            </a:pPr>
            <a:endParaRPr lang="en-US" sz="2800" dirty="0" smtClean="0"/>
          </a:p>
          <a:p>
            <a:pPr marL="457200" indent="-457200">
              <a:buFont typeface="Arial" pitchFamily="34" charset="0"/>
              <a:buChar char="•"/>
            </a:pPr>
            <a:r>
              <a:rPr lang="en-US" sz="2800" b="1" dirty="0" smtClean="0">
                <a:solidFill>
                  <a:srgbClr val="FF0000"/>
                </a:solidFill>
              </a:rPr>
              <a:t>Large </a:t>
            </a:r>
            <a:r>
              <a:rPr lang="en-US" sz="2800" b="1" dirty="0">
                <a:solidFill>
                  <a:srgbClr val="FF0000"/>
                </a:solidFill>
              </a:rPr>
              <a:t>caches </a:t>
            </a:r>
            <a:r>
              <a:rPr lang="en-US" sz="2800" dirty="0"/>
              <a:t>are beneficial because they are more likely to hold </a:t>
            </a:r>
            <a:r>
              <a:rPr lang="en-US" sz="2800" dirty="0" smtClean="0"/>
              <a:t>data of </a:t>
            </a:r>
            <a:r>
              <a:rPr lang="en-US" sz="2800" dirty="0"/>
              <a:t>interest and, therefore, have lower miss rates.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However</a:t>
            </a:r>
            <a:r>
              <a:rPr lang="en-US" sz="2800" dirty="0"/>
              <a:t>, large </a:t>
            </a:r>
            <a:r>
              <a:rPr lang="en-US" sz="2800" dirty="0" smtClean="0"/>
              <a:t>caches tend </a:t>
            </a:r>
            <a:r>
              <a:rPr lang="en-US" sz="2800" dirty="0"/>
              <a:t>to be </a:t>
            </a:r>
            <a:r>
              <a:rPr lang="en-US" sz="2800" b="1" dirty="0">
                <a:solidFill>
                  <a:srgbClr val="FF0000"/>
                </a:solidFill>
              </a:rPr>
              <a:t>slower than small ones. </a:t>
            </a:r>
            <a:endParaRPr lang="en-US" sz="2800" b="1" dirty="0" smtClean="0">
              <a:solidFill>
                <a:srgbClr val="FF0000"/>
              </a:solidFill>
            </a:endParaRPr>
          </a:p>
          <a:p>
            <a:pPr marL="457200" indent="-457200">
              <a:buFont typeface="Arial" pitchFamily="34" charset="0"/>
              <a:buChar char="•"/>
            </a:pPr>
            <a:endParaRPr lang="en-US" sz="2800" dirty="0"/>
          </a:p>
          <a:p>
            <a:pPr marL="457200" indent="-457200">
              <a:buFont typeface="Arial" pitchFamily="34" charset="0"/>
              <a:buChar char="•"/>
            </a:pPr>
            <a:r>
              <a:rPr lang="en-US" sz="2800" dirty="0" smtClean="0"/>
              <a:t>Modern </a:t>
            </a:r>
            <a:r>
              <a:rPr lang="en-US" sz="2800" dirty="0"/>
              <a:t>systems often use at </a:t>
            </a:r>
            <a:r>
              <a:rPr lang="en-US" sz="2800" dirty="0" smtClean="0"/>
              <a:t>least </a:t>
            </a:r>
            <a:r>
              <a:rPr lang="en-US" sz="2800" b="1" dirty="0" smtClean="0">
                <a:solidFill>
                  <a:srgbClr val="FF0000"/>
                </a:solidFill>
              </a:rPr>
              <a:t>two </a:t>
            </a:r>
            <a:r>
              <a:rPr lang="en-US" sz="2800" b="1" dirty="0">
                <a:solidFill>
                  <a:srgbClr val="FF0000"/>
                </a:solidFill>
              </a:rPr>
              <a:t>levels of caches</a:t>
            </a:r>
            <a:r>
              <a:rPr lang="en-US" sz="2800" dirty="0"/>
              <a:t>, as shown in Figure 8.16.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b="1" dirty="0"/>
              <a:t>first-level (L1) cache </a:t>
            </a:r>
            <a:r>
              <a:rPr lang="en-US" sz="2800" b="1" dirty="0" smtClean="0"/>
              <a:t>is small </a:t>
            </a:r>
            <a:r>
              <a:rPr lang="en-US" sz="2800" dirty="0"/>
              <a:t>enough to provide a one- or two-cycle access time. </a:t>
            </a:r>
            <a:endParaRPr lang="en-US" sz="2800" dirty="0" smtClean="0"/>
          </a:p>
          <a:p>
            <a:endParaRPr lang="en-US" sz="2800" dirty="0"/>
          </a:p>
        </p:txBody>
      </p:sp>
    </p:spTree>
    <p:extLst>
      <p:ext uri="{BB962C8B-B14F-4D97-AF65-F5344CB8AC3E}">
        <p14:creationId xmlns:p14="http://schemas.microsoft.com/office/powerpoint/2010/main" val="10441885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43322"/>
            <a:ext cx="11981826" cy="4832092"/>
          </a:xfrm>
          <a:prstGeom prst="rect">
            <a:avLst/>
          </a:prstGeom>
        </p:spPr>
        <p:txBody>
          <a:bodyPr wrap="square">
            <a:spAutoFit/>
          </a:bodyPr>
          <a:lstStyle/>
          <a:p>
            <a:pPr marL="457200" indent="-457200">
              <a:buFont typeface="Arial" pitchFamily="34" charset="0"/>
              <a:buChar char="•"/>
            </a:pPr>
            <a:r>
              <a:rPr lang="en-US" sz="2800" dirty="0" smtClean="0"/>
              <a:t>The </a:t>
            </a:r>
            <a:r>
              <a:rPr lang="en-US" sz="2800" b="1" dirty="0" smtClean="0"/>
              <a:t>second-level (L2)</a:t>
            </a:r>
            <a:r>
              <a:rPr lang="en-US" sz="2800" dirty="0" smtClean="0"/>
              <a:t> cache is also built from SRAM but is </a:t>
            </a:r>
            <a:r>
              <a:rPr lang="en-US" sz="2800" b="1" dirty="0" smtClean="0"/>
              <a:t>larger—and</a:t>
            </a:r>
            <a:r>
              <a:rPr lang="en-US" sz="2800" dirty="0" smtClean="0"/>
              <a:t>, therefore, slower—than the L1 cache. </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The processor first looks for the data in the L1 cache. </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If the L1 cache misses, the processor looks in the L2 cache.</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If the L2 cache misses, the processor fetches the data from main memory.</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Many modern systems add even </a:t>
            </a:r>
            <a:r>
              <a:rPr lang="en-US" sz="2800" b="1" dirty="0" smtClean="0"/>
              <a:t>more levels of cache </a:t>
            </a:r>
            <a:r>
              <a:rPr lang="en-US" sz="2800" dirty="0" smtClean="0"/>
              <a:t>to the memory hierarchy because </a:t>
            </a:r>
            <a:r>
              <a:rPr lang="en-US" sz="2800" b="1" dirty="0" smtClean="0"/>
              <a:t>accessing main memory is so slow.</a:t>
            </a:r>
            <a:endParaRPr lang="en-US" sz="2800" b="1" dirty="0">
              <a:latin typeface="+mj-lt"/>
              <a:cs typeface="Times New Roman" panose="02020603050405020304" pitchFamily="18" charset="0"/>
            </a:endParaRPr>
          </a:p>
        </p:txBody>
      </p:sp>
    </p:spTree>
    <p:extLst>
      <p:ext uri="{BB962C8B-B14F-4D97-AF65-F5344CB8AC3E}">
        <p14:creationId xmlns:p14="http://schemas.microsoft.com/office/powerpoint/2010/main" val="29246190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3455" t="26758" r="24598" b="43554"/>
          <a:stretch/>
        </p:blipFill>
        <p:spPr bwMode="auto">
          <a:xfrm>
            <a:off x="201322" y="1036082"/>
            <a:ext cx="11811145" cy="4699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45792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43322"/>
            <a:ext cx="11981826" cy="3108543"/>
          </a:xfrm>
          <a:prstGeom prst="rect">
            <a:avLst/>
          </a:prstGeom>
        </p:spPr>
        <p:txBody>
          <a:bodyPr wrap="square">
            <a:spAutoFit/>
          </a:bodyPr>
          <a:lstStyle/>
          <a:p>
            <a:r>
              <a:rPr lang="en-US" sz="2800" dirty="0"/>
              <a:t>Example 8.11 SYSTEM WITH AN L2 </a:t>
            </a:r>
            <a:r>
              <a:rPr lang="en-US" sz="2800" dirty="0" smtClean="0"/>
              <a:t>CACHE</a:t>
            </a:r>
          </a:p>
          <a:p>
            <a:endParaRPr lang="en-US" sz="2800" dirty="0"/>
          </a:p>
          <a:p>
            <a:r>
              <a:rPr lang="en-US" sz="2800" dirty="0"/>
              <a:t>Use the system of Figure 8.16 with access times of 1, 10, and 100 cycles for the</a:t>
            </a:r>
          </a:p>
          <a:p>
            <a:r>
              <a:rPr lang="en-US" sz="2800" dirty="0"/>
              <a:t>L1 cache, L2 cache, and main memory, respectively. Assume that the L1 and L2</a:t>
            </a:r>
          </a:p>
          <a:p>
            <a:r>
              <a:rPr lang="en-US" sz="2800" dirty="0"/>
              <a:t>caches have miss rates of 5% and 20%, respectively. Specifically, of the 5% of</a:t>
            </a:r>
          </a:p>
          <a:p>
            <a:r>
              <a:rPr lang="en-US" sz="2800" dirty="0"/>
              <a:t>accesses that miss the L1 cache, 20% of those also miss the L2 cache. What is</a:t>
            </a:r>
          </a:p>
          <a:p>
            <a:r>
              <a:rPr lang="en-US" sz="2800" dirty="0"/>
              <a:t>the average memory access time (</a:t>
            </a:r>
            <a:r>
              <a:rPr lang="en-US" sz="2800" i="1" dirty="0"/>
              <a:t>AMAT</a:t>
            </a:r>
            <a:r>
              <a:rPr lang="en-US" sz="2800" dirty="0"/>
              <a:t>)?</a:t>
            </a:r>
            <a:endParaRPr lang="en-US" sz="2800" b="1" dirty="0">
              <a:latin typeface="+mj-lt"/>
              <a:cs typeface="Times New Roman" panose="02020603050405020304" pitchFamily="18" charset="0"/>
            </a:endParaRPr>
          </a:p>
        </p:txBody>
      </p:sp>
    </p:spTree>
    <p:extLst>
      <p:ext uri="{BB962C8B-B14F-4D97-AF65-F5344CB8AC3E}">
        <p14:creationId xmlns:p14="http://schemas.microsoft.com/office/powerpoint/2010/main" val="37421018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995"/>
            <a:ext cx="11981826" cy="6986528"/>
          </a:xfrm>
          <a:prstGeom prst="rect">
            <a:avLst/>
          </a:prstGeom>
        </p:spPr>
        <p:txBody>
          <a:bodyPr wrap="square">
            <a:spAutoFit/>
          </a:bodyPr>
          <a:lstStyle/>
          <a:p>
            <a:r>
              <a:rPr lang="en-US" sz="2800" b="1" dirty="0" smtClean="0"/>
              <a:t>Solution: </a:t>
            </a:r>
          </a:p>
          <a:p>
            <a:r>
              <a:rPr lang="en-US" sz="2800" dirty="0" smtClean="0"/>
              <a:t>Each </a:t>
            </a:r>
            <a:r>
              <a:rPr lang="en-US" sz="2800" dirty="0"/>
              <a:t>memory access checks the L1 cache. </a:t>
            </a:r>
            <a:endParaRPr lang="en-US" sz="2800" dirty="0" smtClean="0"/>
          </a:p>
          <a:p>
            <a:endParaRPr lang="en-US" sz="2800" dirty="0" smtClean="0"/>
          </a:p>
          <a:p>
            <a:r>
              <a:rPr lang="en-US" sz="2800" dirty="0" smtClean="0"/>
              <a:t>When </a:t>
            </a:r>
            <a:r>
              <a:rPr lang="en-US" sz="2800" dirty="0"/>
              <a:t>the L1 cache </a:t>
            </a:r>
            <a:r>
              <a:rPr lang="en-US" sz="2800" dirty="0" smtClean="0"/>
              <a:t>misses (5</a:t>
            </a:r>
            <a:r>
              <a:rPr lang="en-US" sz="2800" dirty="0"/>
              <a:t>% of the time), </a:t>
            </a:r>
            <a:r>
              <a:rPr lang="en-US" sz="2800" dirty="0" smtClean="0"/>
              <a:t> the </a:t>
            </a:r>
            <a:r>
              <a:rPr lang="en-US" sz="2800" dirty="0"/>
              <a:t>processor checks the L2 cache. </a:t>
            </a:r>
            <a:endParaRPr lang="en-US" sz="2800" dirty="0" smtClean="0"/>
          </a:p>
          <a:p>
            <a:endParaRPr lang="en-US" sz="2800" dirty="0"/>
          </a:p>
          <a:p>
            <a:r>
              <a:rPr lang="en-US" sz="2800" dirty="0" smtClean="0"/>
              <a:t>When </a:t>
            </a:r>
            <a:r>
              <a:rPr lang="en-US" sz="2800" dirty="0"/>
              <a:t>the L2 cache </a:t>
            </a:r>
            <a:r>
              <a:rPr lang="en-US" sz="2800" dirty="0" smtClean="0"/>
              <a:t>misses (20</a:t>
            </a:r>
            <a:r>
              <a:rPr lang="en-US" sz="2800" dirty="0"/>
              <a:t>% of the time), the processor fetches the data from main memory. </a:t>
            </a:r>
            <a:endParaRPr lang="en-US" sz="2800" dirty="0" smtClean="0"/>
          </a:p>
          <a:p>
            <a:endParaRPr lang="en-US" sz="2800" dirty="0" smtClean="0"/>
          </a:p>
          <a:p>
            <a:r>
              <a:rPr lang="en-US" sz="2800" dirty="0" smtClean="0"/>
              <a:t>Using Equation </a:t>
            </a:r>
            <a:r>
              <a:rPr lang="en-US" sz="2800" dirty="0"/>
              <a:t>8.2, we calculate the average memory access time as follows: </a:t>
            </a:r>
            <a:endParaRPr lang="en-US" sz="2800" dirty="0" smtClean="0"/>
          </a:p>
          <a:p>
            <a:r>
              <a:rPr lang="en-US" sz="2800" dirty="0" smtClean="0"/>
              <a:t>1 </a:t>
            </a:r>
            <a:r>
              <a:rPr lang="en-US" sz="2800" dirty="0"/>
              <a:t>cycle </a:t>
            </a:r>
            <a:r>
              <a:rPr lang="en-US" sz="2800" dirty="0" smtClean="0"/>
              <a:t>+ </a:t>
            </a:r>
            <a:r>
              <a:rPr lang="fr-FR" sz="2800" dirty="0" smtClean="0"/>
              <a:t>0.05[10 </a:t>
            </a:r>
            <a:r>
              <a:rPr lang="fr-FR" sz="2800" dirty="0"/>
              <a:t>cycles + 0.2(100 cycles)] = 2.5 cycles</a:t>
            </a:r>
            <a:r>
              <a:rPr lang="fr-FR" sz="2800" dirty="0" smtClean="0"/>
              <a:t>.</a:t>
            </a:r>
          </a:p>
          <a:p>
            <a:endParaRPr lang="fr-FR" sz="2800" dirty="0"/>
          </a:p>
          <a:p>
            <a:r>
              <a:rPr lang="en-US" sz="2800" dirty="0"/>
              <a:t>The L2 miss rate is high because it receives only the “hard” memory accesses, those</a:t>
            </a:r>
          </a:p>
          <a:p>
            <a:r>
              <a:rPr lang="en-US" sz="2800" dirty="0"/>
              <a:t>that miss in the L1 cache. </a:t>
            </a:r>
            <a:endParaRPr lang="en-US" sz="2800" dirty="0" smtClean="0"/>
          </a:p>
          <a:p>
            <a:endParaRPr lang="en-US" sz="2800" dirty="0"/>
          </a:p>
          <a:p>
            <a:r>
              <a:rPr lang="en-US" sz="2800" dirty="0" smtClean="0"/>
              <a:t>If </a:t>
            </a:r>
            <a:r>
              <a:rPr lang="en-US" sz="2800" dirty="0"/>
              <a:t>all accesses went directly to the L2 cache, the L2 miss</a:t>
            </a:r>
          </a:p>
          <a:p>
            <a:r>
              <a:rPr lang="en-US" sz="2800" dirty="0"/>
              <a:t>rate would be about 1%.</a:t>
            </a:r>
            <a:endParaRPr lang="en-US" sz="2800" b="1" dirty="0">
              <a:latin typeface="+mj-lt"/>
              <a:cs typeface="Times New Roman" panose="02020603050405020304" pitchFamily="18" charset="0"/>
            </a:endParaRPr>
          </a:p>
        </p:txBody>
      </p:sp>
    </p:spTree>
    <p:extLst>
      <p:ext uri="{BB962C8B-B14F-4D97-AF65-F5344CB8AC3E}">
        <p14:creationId xmlns:p14="http://schemas.microsoft.com/office/powerpoint/2010/main" val="37312507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Reducing Miss Rate</a:t>
            </a:r>
            <a:r>
              <a:rPr lang="en-IN" b="1" dirty="0" smtClean="0"/>
              <a:t>: 539</a:t>
            </a:r>
            <a:endParaRPr lang="en-IN" b="1" dirty="0"/>
          </a:p>
        </p:txBody>
      </p:sp>
      <p:sp>
        <p:nvSpPr>
          <p:cNvPr id="4" name="Rectangle 3"/>
          <p:cNvSpPr/>
          <p:nvPr/>
        </p:nvSpPr>
        <p:spPr>
          <a:xfrm>
            <a:off x="138544" y="543322"/>
            <a:ext cx="11843281" cy="6186309"/>
          </a:xfrm>
          <a:prstGeom prst="rect">
            <a:avLst/>
          </a:prstGeom>
        </p:spPr>
        <p:txBody>
          <a:bodyPr wrap="square">
            <a:spAutoFit/>
          </a:bodyPr>
          <a:lstStyle/>
          <a:p>
            <a:pPr marL="457200" indent="-457200">
              <a:buFont typeface="Arial" pitchFamily="34" charset="0"/>
              <a:buChar char="•"/>
            </a:pPr>
            <a:r>
              <a:rPr lang="en-US" sz="2800" dirty="0"/>
              <a:t>Cache misses can be reduced by </a:t>
            </a:r>
            <a:r>
              <a:rPr lang="en-US" sz="2800" dirty="0" smtClean="0"/>
              <a:t>changing </a:t>
            </a:r>
          </a:p>
          <a:p>
            <a:pPr marL="2286000" lvl="4" indent="-457200">
              <a:buFont typeface="Arial" pitchFamily="34" charset="0"/>
              <a:buChar char="•"/>
            </a:pPr>
            <a:r>
              <a:rPr lang="en-US" sz="2800" b="1" dirty="0" smtClean="0"/>
              <a:t>capacity</a:t>
            </a:r>
            <a:r>
              <a:rPr lang="en-US" sz="2800" b="1" dirty="0"/>
              <a:t>, </a:t>
            </a:r>
            <a:endParaRPr lang="en-US" sz="2800" b="1" dirty="0" smtClean="0"/>
          </a:p>
          <a:p>
            <a:pPr marL="2286000" lvl="4" indent="-457200">
              <a:buFont typeface="Arial" pitchFamily="34" charset="0"/>
              <a:buChar char="•"/>
            </a:pPr>
            <a:r>
              <a:rPr lang="en-US" sz="2800" b="1" dirty="0" smtClean="0"/>
              <a:t>block </a:t>
            </a:r>
            <a:r>
              <a:rPr lang="en-US" sz="2800" b="1" dirty="0"/>
              <a:t>size, and/or</a:t>
            </a:r>
          </a:p>
          <a:p>
            <a:pPr marL="2286000" lvl="4" indent="-457200">
              <a:buFont typeface="Arial" pitchFamily="34" charset="0"/>
              <a:buChar char="•"/>
            </a:pPr>
            <a:r>
              <a:rPr lang="en-US" sz="2800" b="1" dirty="0"/>
              <a:t>associativity. </a:t>
            </a:r>
            <a:endParaRPr lang="en-US" sz="2800" b="1" dirty="0" smtClean="0"/>
          </a:p>
          <a:p>
            <a:pPr marL="457200" indent="-457200">
              <a:buFont typeface="Arial" pitchFamily="34" charset="0"/>
              <a:buChar char="•"/>
            </a:pPr>
            <a:r>
              <a:rPr lang="en-US" sz="2800" dirty="0" smtClean="0"/>
              <a:t>The </a:t>
            </a:r>
            <a:r>
              <a:rPr lang="en-US" sz="2800" dirty="0"/>
              <a:t>first step to reducing the miss rate is to understand </a:t>
            </a:r>
            <a:r>
              <a:rPr lang="en-US" sz="2800" dirty="0" smtClean="0"/>
              <a:t>the causes </a:t>
            </a:r>
            <a:r>
              <a:rPr lang="en-US" sz="2800" dirty="0"/>
              <a:t>of the misses</a:t>
            </a:r>
            <a:r>
              <a:rPr lang="en-US" sz="2800" dirty="0" smtClean="0"/>
              <a:t>.</a:t>
            </a:r>
          </a:p>
          <a:p>
            <a:pPr marL="457200" indent="-457200">
              <a:buFont typeface="Arial" pitchFamily="34" charset="0"/>
              <a:buChar char="•"/>
            </a:pPr>
            <a:r>
              <a:rPr lang="en-US" sz="2800" dirty="0" smtClean="0"/>
              <a:t>The </a:t>
            </a:r>
            <a:r>
              <a:rPr lang="en-US" sz="2800" dirty="0">
                <a:solidFill>
                  <a:srgbClr val="FF0000"/>
                </a:solidFill>
              </a:rPr>
              <a:t>misses can be classified as </a:t>
            </a:r>
            <a:r>
              <a:rPr lang="en-US" sz="2800" b="1" dirty="0"/>
              <a:t>compulsory, </a:t>
            </a:r>
            <a:r>
              <a:rPr lang="en-US" sz="2800" b="1" dirty="0" smtClean="0"/>
              <a:t>capacity, and </a:t>
            </a:r>
            <a:r>
              <a:rPr lang="en-US" sz="2800" b="1" dirty="0"/>
              <a:t>conflict. </a:t>
            </a:r>
            <a:endParaRPr lang="en-US" sz="2800" b="1" dirty="0" smtClean="0"/>
          </a:p>
          <a:p>
            <a:pPr marL="457200" indent="-457200">
              <a:buFont typeface="Arial" pitchFamily="34" charset="0"/>
              <a:buChar char="•"/>
            </a:pPr>
            <a:endParaRPr lang="en-US" sz="2000" dirty="0" smtClean="0"/>
          </a:p>
          <a:p>
            <a:pPr marL="457200" indent="-457200">
              <a:buFont typeface="Arial" pitchFamily="34" charset="0"/>
              <a:buChar char="•"/>
            </a:pPr>
            <a:r>
              <a:rPr lang="en-US" sz="2800" dirty="0" smtClean="0"/>
              <a:t>The </a:t>
            </a:r>
            <a:r>
              <a:rPr lang="en-US" sz="2800" b="1" dirty="0">
                <a:solidFill>
                  <a:srgbClr val="FF0000"/>
                </a:solidFill>
              </a:rPr>
              <a:t>first request to a cache block </a:t>
            </a:r>
            <a:r>
              <a:rPr lang="en-US" sz="2800" dirty="0"/>
              <a:t>is called a </a:t>
            </a:r>
            <a:r>
              <a:rPr lang="en-US" sz="2800" b="1" i="1" dirty="0" smtClean="0"/>
              <a:t>compulsory miss</a:t>
            </a:r>
            <a:r>
              <a:rPr lang="en-US" sz="2800" b="1" dirty="0"/>
              <a:t>, </a:t>
            </a:r>
            <a:r>
              <a:rPr lang="en-US" sz="2800" dirty="0"/>
              <a:t>because the block must be read from memory regardless of </a:t>
            </a:r>
            <a:r>
              <a:rPr lang="en-US" sz="2800" dirty="0" smtClean="0"/>
              <a:t>the cache </a:t>
            </a:r>
            <a:r>
              <a:rPr lang="en-US" sz="2800" dirty="0"/>
              <a:t>design. </a:t>
            </a:r>
            <a:endParaRPr lang="en-US" sz="2800" dirty="0" smtClean="0"/>
          </a:p>
          <a:p>
            <a:pPr marL="457200" indent="-457200">
              <a:buFont typeface="Arial" pitchFamily="34" charset="0"/>
              <a:buChar char="•"/>
            </a:pPr>
            <a:endParaRPr lang="en-US" sz="2000" b="1" i="1" dirty="0" smtClean="0"/>
          </a:p>
          <a:p>
            <a:pPr marL="457200" indent="-457200">
              <a:buFont typeface="Arial" pitchFamily="34" charset="0"/>
              <a:buChar char="•"/>
            </a:pPr>
            <a:r>
              <a:rPr lang="en-US" sz="2800" b="1" i="1" dirty="0" smtClean="0"/>
              <a:t>Capacity </a:t>
            </a:r>
            <a:r>
              <a:rPr lang="en-US" sz="2800" b="1" i="1" dirty="0"/>
              <a:t>misses </a:t>
            </a:r>
            <a:r>
              <a:rPr lang="en-US" sz="2800" dirty="0"/>
              <a:t>occur when the </a:t>
            </a:r>
            <a:r>
              <a:rPr lang="en-US" sz="2800" b="1" dirty="0">
                <a:solidFill>
                  <a:srgbClr val="FF0000"/>
                </a:solidFill>
              </a:rPr>
              <a:t>cache is too small to </a:t>
            </a:r>
            <a:r>
              <a:rPr lang="en-US" sz="2800" b="1" dirty="0" smtClean="0">
                <a:solidFill>
                  <a:srgbClr val="FF0000"/>
                </a:solidFill>
              </a:rPr>
              <a:t>hold all </a:t>
            </a:r>
            <a:r>
              <a:rPr lang="en-US" sz="2800" b="1" dirty="0">
                <a:solidFill>
                  <a:srgbClr val="FF0000"/>
                </a:solidFill>
              </a:rPr>
              <a:t>concurrently </a:t>
            </a:r>
            <a:r>
              <a:rPr lang="en-US" sz="2800" dirty="0"/>
              <a:t>used data. </a:t>
            </a:r>
            <a:endParaRPr lang="en-US" sz="2800" dirty="0" smtClean="0"/>
          </a:p>
          <a:p>
            <a:pPr marL="457200" indent="-457200">
              <a:buFont typeface="Arial" pitchFamily="34" charset="0"/>
              <a:buChar char="•"/>
            </a:pPr>
            <a:endParaRPr lang="en-US" sz="2000" b="1" i="1" dirty="0" smtClean="0"/>
          </a:p>
          <a:p>
            <a:pPr marL="457200" indent="-457200">
              <a:buFont typeface="Arial" pitchFamily="34" charset="0"/>
              <a:buChar char="•"/>
            </a:pPr>
            <a:r>
              <a:rPr lang="en-US" sz="2800" b="1" i="1" dirty="0" smtClean="0"/>
              <a:t>Conflict </a:t>
            </a:r>
            <a:r>
              <a:rPr lang="en-US" sz="2800" b="1" i="1" dirty="0"/>
              <a:t>misses </a:t>
            </a:r>
            <a:r>
              <a:rPr lang="en-US" sz="2800" dirty="0"/>
              <a:t>are caused </a:t>
            </a:r>
            <a:r>
              <a:rPr lang="en-US" sz="2800" b="1" dirty="0"/>
              <a:t>when </a:t>
            </a:r>
            <a:r>
              <a:rPr lang="en-US" sz="2800" b="1" dirty="0" smtClean="0"/>
              <a:t>several addresses </a:t>
            </a:r>
            <a:r>
              <a:rPr lang="en-US" sz="2800" b="1" dirty="0"/>
              <a:t>map to the same set </a:t>
            </a:r>
            <a:r>
              <a:rPr lang="en-US" sz="2800" dirty="0"/>
              <a:t>and evict blocks that are still needed.</a:t>
            </a:r>
          </a:p>
        </p:txBody>
      </p:sp>
    </p:spTree>
    <p:extLst>
      <p:ext uri="{BB962C8B-B14F-4D97-AF65-F5344CB8AC3E}">
        <p14:creationId xmlns:p14="http://schemas.microsoft.com/office/powerpoint/2010/main" val="22437940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5262979"/>
          </a:xfrm>
          <a:prstGeom prst="rect">
            <a:avLst/>
          </a:prstGeom>
        </p:spPr>
        <p:txBody>
          <a:bodyPr wrap="square">
            <a:spAutoFit/>
          </a:bodyPr>
          <a:lstStyle/>
          <a:p>
            <a:pPr marL="457200" indent="-457200">
              <a:buFont typeface="Arial" pitchFamily="34" charset="0"/>
              <a:buChar char="•"/>
            </a:pPr>
            <a:r>
              <a:rPr lang="en-US" sz="2800" dirty="0" smtClean="0"/>
              <a:t>Increasing </a:t>
            </a:r>
            <a:r>
              <a:rPr lang="en-US" sz="2800" dirty="0"/>
              <a:t>cache </a:t>
            </a:r>
            <a:r>
              <a:rPr lang="en-US" sz="2800" b="1" dirty="0"/>
              <a:t>capacity can reduce conflict </a:t>
            </a:r>
            <a:r>
              <a:rPr lang="en-US" sz="2800" b="1" dirty="0" smtClean="0"/>
              <a:t>and </a:t>
            </a:r>
            <a:r>
              <a:rPr lang="en-IN" sz="2800" b="1" dirty="0" smtClean="0"/>
              <a:t>capacity misses.</a:t>
            </a:r>
          </a:p>
          <a:p>
            <a:pPr marL="457200" indent="-457200">
              <a:buFont typeface="Arial" pitchFamily="34" charset="0"/>
              <a:buChar char="•"/>
            </a:pPr>
            <a:endParaRPr lang="en-IN" sz="2800" dirty="0" smtClean="0"/>
          </a:p>
          <a:p>
            <a:pPr marL="457200" indent="-457200">
              <a:buFont typeface="Arial" pitchFamily="34" charset="0"/>
              <a:buChar char="•"/>
            </a:pPr>
            <a:r>
              <a:rPr lang="en-US" sz="2800" b="1" dirty="0"/>
              <a:t>I</a:t>
            </a:r>
            <a:r>
              <a:rPr lang="en-US" sz="2800" b="1" dirty="0" smtClean="0"/>
              <a:t>ncreasing </a:t>
            </a:r>
            <a:r>
              <a:rPr lang="en-US" sz="2800" b="1" dirty="0"/>
              <a:t>block size </a:t>
            </a:r>
            <a:r>
              <a:rPr lang="en-US" sz="2800" dirty="0"/>
              <a:t>could reduce </a:t>
            </a:r>
            <a:r>
              <a:rPr lang="en-US" sz="2800" b="1" dirty="0"/>
              <a:t>compulsory misses </a:t>
            </a:r>
            <a:r>
              <a:rPr lang="en-US" sz="2800" dirty="0"/>
              <a:t>(due to </a:t>
            </a:r>
            <a:r>
              <a:rPr lang="en-US" sz="2800" dirty="0" smtClean="0"/>
              <a:t>spatial </a:t>
            </a:r>
            <a:r>
              <a:rPr lang="en-IN" sz="2800" dirty="0" smtClean="0"/>
              <a:t>locality)</a:t>
            </a:r>
          </a:p>
          <a:p>
            <a:pPr marL="457200" indent="-457200">
              <a:buFont typeface="Arial" pitchFamily="34" charset="0"/>
              <a:buChar char="•"/>
            </a:pPr>
            <a:endParaRPr lang="en-IN" sz="2800" dirty="0" smtClean="0"/>
          </a:p>
          <a:p>
            <a:pPr marL="457200" indent="-457200">
              <a:buFont typeface="Arial" pitchFamily="34" charset="0"/>
              <a:buChar char="•"/>
            </a:pPr>
            <a:r>
              <a:rPr lang="en-US" sz="2800" dirty="0"/>
              <a:t>when </a:t>
            </a:r>
            <a:r>
              <a:rPr lang="en-US" sz="2800" b="1" dirty="0"/>
              <a:t>cache size increases, capacity misses decrease. </a:t>
            </a:r>
            <a:endParaRPr lang="en-US" sz="2800" b="1" dirty="0" smtClean="0"/>
          </a:p>
          <a:p>
            <a:pPr marL="457200" indent="-457200">
              <a:buFont typeface="Arial" pitchFamily="34" charset="0"/>
              <a:buChar char="•"/>
            </a:pPr>
            <a:endParaRPr lang="en-US" sz="2800" b="1" dirty="0"/>
          </a:p>
          <a:p>
            <a:pPr marL="457200" indent="-457200">
              <a:buFont typeface="Arial" pitchFamily="34" charset="0"/>
              <a:buChar char="•"/>
            </a:pPr>
            <a:r>
              <a:rPr lang="en-US" sz="2800" b="1" dirty="0" smtClean="0"/>
              <a:t>Increased associativity</a:t>
            </a:r>
            <a:r>
              <a:rPr lang="en-US" sz="2800" b="1" dirty="0"/>
              <a:t>, </a:t>
            </a:r>
            <a:r>
              <a:rPr lang="en-US" sz="2800" dirty="0"/>
              <a:t>especially for small caches, </a:t>
            </a:r>
            <a:r>
              <a:rPr lang="en-US" sz="2800" b="1" dirty="0"/>
              <a:t>decreases the number of </a:t>
            </a:r>
            <a:r>
              <a:rPr lang="en-US" sz="2800" b="1" dirty="0" smtClean="0"/>
              <a:t>conflict misses</a:t>
            </a:r>
            <a:r>
              <a:rPr lang="en-US" sz="2800" dirty="0" smtClean="0"/>
              <a:t>. </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Increasing </a:t>
            </a:r>
            <a:r>
              <a:rPr lang="en-US" sz="2800" dirty="0"/>
              <a:t>associativity </a:t>
            </a:r>
            <a:r>
              <a:rPr lang="en-US" sz="2800" dirty="0" smtClean="0"/>
              <a:t>beyond four </a:t>
            </a:r>
            <a:r>
              <a:rPr lang="en-US" sz="2800" dirty="0"/>
              <a:t>or eight ways provides only small decreases in miss rate.</a:t>
            </a:r>
          </a:p>
        </p:txBody>
      </p:sp>
    </p:spTree>
    <p:extLst>
      <p:ext uri="{BB962C8B-B14F-4D97-AF65-F5344CB8AC3E}">
        <p14:creationId xmlns:p14="http://schemas.microsoft.com/office/powerpoint/2010/main" val="2048557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256" t="24744" r="24978" b="21039"/>
          <a:stretch/>
        </p:blipFill>
        <p:spPr bwMode="auto">
          <a:xfrm>
            <a:off x="342900" y="548553"/>
            <a:ext cx="8468591" cy="6036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4795" t="41333" r="9964" b="49751"/>
          <a:stretch/>
        </p:blipFill>
        <p:spPr bwMode="auto">
          <a:xfrm>
            <a:off x="8936183" y="1911928"/>
            <a:ext cx="3117272" cy="1025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76321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3" y="14684"/>
            <a:ext cx="11843281" cy="1815882"/>
          </a:xfrm>
          <a:prstGeom prst="rect">
            <a:avLst/>
          </a:prstGeom>
        </p:spPr>
        <p:txBody>
          <a:bodyPr wrap="square">
            <a:spAutoFit/>
          </a:bodyPr>
          <a:lstStyle/>
          <a:p>
            <a:pPr marL="457200" indent="-457200">
              <a:buFont typeface="Arial" pitchFamily="34" charset="0"/>
              <a:buChar char="•"/>
            </a:pPr>
            <a:r>
              <a:rPr lang="en-US" sz="2800" dirty="0"/>
              <a:t>M</a:t>
            </a:r>
            <a:r>
              <a:rPr lang="en-US" sz="2800" dirty="0" smtClean="0"/>
              <a:t>iss </a:t>
            </a:r>
            <a:r>
              <a:rPr lang="en-US" sz="2800" dirty="0"/>
              <a:t>rate can also be </a:t>
            </a:r>
            <a:r>
              <a:rPr lang="en-US" sz="2800" b="1" dirty="0"/>
              <a:t>decreased by using larger </a:t>
            </a:r>
            <a:r>
              <a:rPr lang="en-US" sz="2800" b="1" dirty="0" smtClean="0"/>
              <a:t>block sizes </a:t>
            </a:r>
            <a:r>
              <a:rPr lang="en-US" sz="2800" dirty="0"/>
              <a:t>that take advantage of spatial locality. </a:t>
            </a:r>
            <a:endParaRPr lang="en-US" sz="2800" dirty="0" smtClean="0"/>
          </a:p>
          <a:p>
            <a:pPr marL="457200" indent="-457200">
              <a:buFont typeface="Arial" pitchFamily="34" charset="0"/>
              <a:buChar char="•"/>
            </a:pPr>
            <a:r>
              <a:rPr lang="en-US" sz="2800" dirty="0" smtClean="0"/>
              <a:t>But </a:t>
            </a:r>
            <a:r>
              <a:rPr lang="en-US" sz="2800" dirty="0"/>
              <a:t>as block size </a:t>
            </a:r>
            <a:r>
              <a:rPr lang="en-US" sz="2800" dirty="0" smtClean="0"/>
              <a:t>increases, the </a:t>
            </a:r>
            <a:r>
              <a:rPr lang="en-US" sz="2800" b="1" dirty="0"/>
              <a:t>number of sets in a fixed-size cache decreases</a:t>
            </a:r>
            <a:r>
              <a:rPr lang="en-US" sz="2800" dirty="0"/>
              <a:t>, increasing the </a:t>
            </a:r>
            <a:r>
              <a:rPr lang="en-US" sz="2800" dirty="0" smtClean="0"/>
              <a:t>probability </a:t>
            </a:r>
            <a:r>
              <a:rPr lang="en-IN" sz="2800" dirty="0" smtClean="0"/>
              <a:t>of </a:t>
            </a:r>
            <a:r>
              <a:rPr lang="en-IN" sz="2800" b="1" dirty="0"/>
              <a:t>conflicts</a:t>
            </a:r>
            <a:r>
              <a:rPr lang="en-IN" sz="2800" dirty="0"/>
              <a:t>.</a:t>
            </a:r>
            <a:endParaRPr lang="en-US" sz="2800"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7548" t="10743" r="11822" b="48632"/>
          <a:stretch/>
        </p:blipFill>
        <p:spPr bwMode="auto">
          <a:xfrm>
            <a:off x="1323542" y="1830565"/>
            <a:ext cx="8970385" cy="504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66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smtClean="0"/>
              <a:t>WRITE POLICY: 540</a:t>
            </a:r>
            <a:endParaRPr lang="en-IN" b="1" dirty="0"/>
          </a:p>
        </p:txBody>
      </p:sp>
      <p:sp>
        <p:nvSpPr>
          <p:cNvPr id="4" name="Rectangle 3"/>
          <p:cNvSpPr/>
          <p:nvPr/>
        </p:nvSpPr>
        <p:spPr>
          <a:xfrm>
            <a:off x="138544" y="543322"/>
            <a:ext cx="11843281" cy="5262979"/>
          </a:xfrm>
          <a:prstGeom prst="rect">
            <a:avLst/>
          </a:prstGeom>
        </p:spPr>
        <p:txBody>
          <a:bodyPr wrap="square">
            <a:spAutoFit/>
          </a:bodyPr>
          <a:lstStyle/>
          <a:p>
            <a:pPr marL="457200" indent="-457200">
              <a:buFont typeface="Arial" pitchFamily="34" charset="0"/>
              <a:buChar char="•"/>
            </a:pPr>
            <a:r>
              <a:rPr lang="en-US" sz="2800" dirty="0"/>
              <a:t>Upon a memory store, </a:t>
            </a:r>
            <a:r>
              <a:rPr lang="en-US" sz="2800" dirty="0" smtClean="0"/>
              <a:t>the processor </a:t>
            </a:r>
            <a:r>
              <a:rPr lang="en-US" sz="2800" b="1" dirty="0"/>
              <a:t>checks the cache</a:t>
            </a:r>
            <a:r>
              <a:rPr lang="en-US" sz="2800" dirty="0"/>
              <a: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If </a:t>
            </a:r>
            <a:r>
              <a:rPr lang="en-US" sz="2800" dirty="0"/>
              <a:t>the </a:t>
            </a:r>
            <a:r>
              <a:rPr lang="en-US" sz="2800" b="1" dirty="0"/>
              <a:t>cache misses, </a:t>
            </a:r>
            <a:r>
              <a:rPr lang="en-US" sz="2800" dirty="0"/>
              <a:t>the cache block is </a:t>
            </a:r>
            <a:r>
              <a:rPr lang="en-US" sz="2800" dirty="0" smtClean="0"/>
              <a:t>fetched from </a:t>
            </a:r>
            <a:r>
              <a:rPr lang="en-US" sz="2800" dirty="0"/>
              <a:t>main memory into the cache, and then the appropriate word in </a:t>
            </a:r>
            <a:r>
              <a:rPr lang="en-US" sz="2800" dirty="0" smtClean="0"/>
              <a:t>the cache </a:t>
            </a:r>
            <a:r>
              <a:rPr lang="en-US" sz="2800" dirty="0"/>
              <a:t>block is written.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If </a:t>
            </a:r>
            <a:r>
              <a:rPr lang="en-US" sz="2800" dirty="0"/>
              <a:t>the </a:t>
            </a:r>
            <a:r>
              <a:rPr lang="en-US" sz="2800" b="1" dirty="0"/>
              <a:t>cache hits</a:t>
            </a:r>
            <a:r>
              <a:rPr lang="en-US" sz="2800" dirty="0"/>
              <a:t>, the word is simply written to </a:t>
            </a:r>
            <a:r>
              <a:rPr lang="en-US" sz="2800" dirty="0" smtClean="0"/>
              <a:t>the </a:t>
            </a:r>
            <a:r>
              <a:rPr lang="en-IN" sz="2800" dirty="0" smtClean="0"/>
              <a:t>cache </a:t>
            </a:r>
            <a:r>
              <a:rPr lang="en-IN" sz="2800" dirty="0"/>
              <a:t>block</a:t>
            </a:r>
            <a:r>
              <a:rPr lang="en-IN" sz="2800" dirty="0" smtClean="0"/>
              <a:t>.</a:t>
            </a:r>
          </a:p>
          <a:p>
            <a:pPr marL="457200" indent="-457200">
              <a:buFont typeface="Arial" pitchFamily="34" charset="0"/>
              <a:buChar char="•"/>
            </a:pPr>
            <a:endParaRPr lang="en-IN" sz="2800" dirty="0" smtClean="0"/>
          </a:p>
          <a:p>
            <a:pPr marL="457200" indent="-457200">
              <a:buFont typeface="Arial" pitchFamily="34" charset="0"/>
              <a:buChar char="•"/>
            </a:pPr>
            <a:r>
              <a:rPr lang="en-US" sz="2800" dirty="0"/>
              <a:t>Caches are classified as either </a:t>
            </a:r>
            <a:r>
              <a:rPr lang="en-US" sz="2800" b="1" dirty="0">
                <a:solidFill>
                  <a:srgbClr val="FF0000"/>
                </a:solidFill>
              </a:rPr>
              <a:t>write-through </a:t>
            </a:r>
            <a:r>
              <a:rPr lang="en-US" sz="2800" b="1" dirty="0"/>
              <a:t>or</a:t>
            </a:r>
            <a:r>
              <a:rPr lang="en-US" sz="2800" b="1" dirty="0">
                <a:solidFill>
                  <a:srgbClr val="FF0000"/>
                </a:solidFill>
              </a:rPr>
              <a:t> write-back</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In </a:t>
            </a:r>
            <a:r>
              <a:rPr lang="en-US" sz="2800" dirty="0"/>
              <a:t>a </a:t>
            </a:r>
            <a:r>
              <a:rPr lang="en-US" sz="2800" b="1" i="1" dirty="0" smtClean="0"/>
              <a:t>write-through</a:t>
            </a:r>
            <a:r>
              <a:rPr lang="en-US" sz="2800" i="1" dirty="0" smtClean="0"/>
              <a:t> </a:t>
            </a:r>
            <a:r>
              <a:rPr lang="en-US" sz="2800" dirty="0" smtClean="0"/>
              <a:t>cache</a:t>
            </a:r>
            <a:r>
              <a:rPr lang="en-US" sz="2800" dirty="0"/>
              <a:t>, the data written to a cache block is simultaneously </a:t>
            </a:r>
            <a:r>
              <a:rPr lang="en-US" sz="2800" dirty="0" smtClean="0"/>
              <a:t>written to </a:t>
            </a:r>
            <a:r>
              <a:rPr lang="en-US" sz="2800" dirty="0"/>
              <a:t>main memory. </a:t>
            </a:r>
            <a:endParaRPr lang="en-US" sz="2800" dirty="0" smtClean="0"/>
          </a:p>
          <a:p>
            <a:pPr marL="457200" indent="-457200">
              <a:buFont typeface="Arial" pitchFamily="34" charset="0"/>
              <a:buChar char="•"/>
            </a:pPr>
            <a:endParaRPr lang="en-US" sz="2800" dirty="0"/>
          </a:p>
        </p:txBody>
      </p:sp>
    </p:spTree>
    <p:extLst>
      <p:ext uri="{BB962C8B-B14F-4D97-AF65-F5344CB8AC3E}">
        <p14:creationId xmlns:p14="http://schemas.microsoft.com/office/powerpoint/2010/main" val="26072591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5262979"/>
          </a:xfrm>
          <a:prstGeom prst="rect">
            <a:avLst/>
          </a:prstGeom>
        </p:spPr>
        <p:txBody>
          <a:bodyPr wrap="square">
            <a:spAutoFit/>
          </a:bodyPr>
          <a:lstStyle/>
          <a:p>
            <a:pPr marL="457200" indent="-457200">
              <a:buFont typeface="Arial" pitchFamily="34" charset="0"/>
              <a:buChar char="•"/>
            </a:pPr>
            <a:r>
              <a:rPr lang="en-US" sz="2800" dirty="0" smtClean="0"/>
              <a:t>In a </a:t>
            </a:r>
            <a:r>
              <a:rPr lang="en-US" sz="2800" b="1" i="1" dirty="0" smtClean="0"/>
              <a:t>write-back</a:t>
            </a:r>
            <a:r>
              <a:rPr lang="en-US" sz="2800" i="1" dirty="0" smtClean="0"/>
              <a:t> </a:t>
            </a:r>
            <a:r>
              <a:rPr lang="en-US" sz="2800" dirty="0" smtClean="0"/>
              <a:t>cache, a </a:t>
            </a:r>
            <a:r>
              <a:rPr lang="en-US" sz="2800" i="1" dirty="0" smtClean="0"/>
              <a:t>dirty bit </a:t>
            </a:r>
            <a:r>
              <a:rPr lang="en-US" sz="2800" dirty="0" smtClean="0"/>
              <a:t>(</a:t>
            </a:r>
            <a:r>
              <a:rPr lang="en-US" sz="2800" i="1" dirty="0" smtClean="0"/>
              <a:t>D</a:t>
            </a:r>
            <a:r>
              <a:rPr lang="en-US" sz="2800" dirty="0" smtClean="0"/>
              <a:t>) is associated with each cache block. </a:t>
            </a:r>
          </a:p>
          <a:p>
            <a:pPr marL="457200" indent="-457200">
              <a:buFont typeface="Arial" pitchFamily="34" charset="0"/>
              <a:buChar char="•"/>
            </a:pPr>
            <a:endParaRPr lang="en-US" sz="2800" i="1" dirty="0"/>
          </a:p>
          <a:p>
            <a:pPr marL="457200" indent="-457200">
              <a:buFont typeface="Arial" pitchFamily="34" charset="0"/>
              <a:buChar char="•"/>
            </a:pPr>
            <a:r>
              <a:rPr lang="en-US" sz="2800" b="1" i="1" dirty="0" smtClean="0"/>
              <a:t>D </a:t>
            </a:r>
            <a:r>
              <a:rPr lang="en-US" sz="2800" b="1" dirty="0" smtClean="0"/>
              <a:t>is 1 </a:t>
            </a:r>
            <a:r>
              <a:rPr lang="en-US" sz="2800" dirty="0" smtClean="0"/>
              <a:t>when the cache block has been </a:t>
            </a:r>
            <a:r>
              <a:rPr lang="en-US" sz="2800" b="1" dirty="0" smtClean="0"/>
              <a:t>written</a:t>
            </a:r>
            <a:r>
              <a:rPr lang="en-US" sz="2800" dirty="0" smtClean="0"/>
              <a:t> and 0 otherwise. </a:t>
            </a:r>
          </a:p>
          <a:p>
            <a:pPr marL="457200" indent="-457200">
              <a:buFont typeface="Arial" pitchFamily="34" charset="0"/>
              <a:buChar char="•"/>
            </a:pPr>
            <a:endParaRPr lang="en-US" sz="2800" dirty="0"/>
          </a:p>
          <a:p>
            <a:pPr marL="457200" indent="-457200">
              <a:buFont typeface="Arial" pitchFamily="34" charset="0"/>
              <a:buChar char="•"/>
            </a:pPr>
            <a:r>
              <a:rPr lang="en-US" sz="2800" b="1" dirty="0" smtClean="0"/>
              <a:t>Dirty cache blocks are written back</a:t>
            </a:r>
            <a:r>
              <a:rPr lang="en-US" sz="2800" dirty="0" smtClean="0"/>
              <a:t> to main memory only when they are </a:t>
            </a:r>
            <a:r>
              <a:rPr lang="en-US" sz="2800" b="1" dirty="0" smtClean="0"/>
              <a:t>evicted</a:t>
            </a:r>
            <a:r>
              <a:rPr lang="en-US" sz="2800" dirty="0" smtClean="0"/>
              <a:t> from the cache. </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A </a:t>
            </a:r>
            <a:r>
              <a:rPr lang="en-US" sz="2800" b="1" dirty="0" smtClean="0"/>
              <a:t>write-through cache </a:t>
            </a:r>
            <a:r>
              <a:rPr lang="en-US" sz="2800" dirty="0" smtClean="0"/>
              <a:t>requires no dirty bit but usually requires </a:t>
            </a:r>
            <a:r>
              <a:rPr lang="en-US" sz="2800" b="1" dirty="0" smtClean="0"/>
              <a:t>more main memory writes </a:t>
            </a:r>
            <a:r>
              <a:rPr lang="en-US" sz="2800" dirty="0" smtClean="0"/>
              <a:t>than a write-back cache. </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Modern caches are usually write-back because </a:t>
            </a:r>
            <a:r>
              <a:rPr lang="en-US" sz="2800" b="1" dirty="0" smtClean="0"/>
              <a:t>main memory access time is so large.</a:t>
            </a:r>
            <a:endParaRPr lang="en-US" sz="2800" b="1" dirty="0"/>
          </a:p>
        </p:txBody>
      </p:sp>
    </p:spTree>
    <p:extLst>
      <p:ext uri="{BB962C8B-B14F-4D97-AF65-F5344CB8AC3E}">
        <p14:creationId xmlns:p14="http://schemas.microsoft.com/office/powerpoint/2010/main" val="7741536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4832092"/>
          </a:xfrm>
          <a:prstGeom prst="rect">
            <a:avLst/>
          </a:prstGeom>
        </p:spPr>
        <p:txBody>
          <a:bodyPr wrap="square">
            <a:spAutoFit/>
          </a:bodyPr>
          <a:lstStyle/>
          <a:p>
            <a:r>
              <a:rPr lang="en-US" sz="2800" b="1" dirty="0"/>
              <a:t>Example 8.12 WRITE-THROUGH VERSUS WRITE-BACK</a:t>
            </a:r>
          </a:p>
          <a:p>
            <a:endParaRPr lang="en-US" sz="2800" dirty="0" smtClean="0"/>
          </a:p>
          <a:p>
            <a:r>
              <a:rPr lang="en-US" sz="2800" dirty="0" smtClean="0"/>
              <a:t>Suppose </a:t>
            </a:r>
            <a:r>
              <a:rPr lang="en-US" sz="2800" dirty="0"/>
              <a:t>a cache has a block size of four words. How many main memory </a:t>
            </a:r>
            <a:r>
              <a:rPr lang="en-US" sz="2800" dirty="0" smtClean="0"/>
              <a:t>accesses are </a:t>
            </a:r>
            <a:r>
              <a:rPr lang="en-US" sz="2800" dirty="0"/>
              <a:t>required by the following code when using each write policy: write-through </a:t>
            </a:r>
            <a:r>
              <a:rPr lang="en-US" sz="2800" dirty="0" smtClean="0"/>
              <a:t>or </a:t>
            </a:r>
            <a:r>
              <a:rPr lang="en-IN" sz="2800" dirty="0" smtClean="0"/>
              <a:t>write-back</a:t>
            </a:r>
            <a:r>
              <a:rPr lang="en-IN" sz="2800" dirty="0"/>
              <a:t>?</a:t>
            </a:r>
          </a:p>
          <a:p>
            <a:endParaRPr lang="en-IN" sz="2800" dirty="0" smtClean="0"/>
          </a:p>
          <a:p>
            <a:pPr lvl="3"/>
            <a:r>
              <a:rPr lang="en-IN" sz="2800" dirty="0" err="1" smtClean="0"/>
              <a:t>addi</a:t>
            </a:r>
            <a:r>
              <a:rPr lang="en-IN" sz="2800" dirty="0" smtClean="0"/>
              <a:t> </a:t>
            </a:r>
            <a:r>
              <a:rPr lang="en-IN" sz="2800" dirty="0"/>
              <a:t>t5, zero, 0</a:t>
            </a:r>
          </a:p>
          <a:p>
            <a:pPr lvl="3"/>
            <a:r>
              <a:rPr lang="en-IN" sz="2800" dirty="0" err="1"/>
              <a:t>sw</a:t>
            </a:r>
            <a:r>
              <a:rPr lang="en-IN" sz="2800" dirty="0"/>
              <a:t> t1, 0(t5)</a:t>
            </a:r>
          </a:p>
          <a:p>
            <a:pPr lvl="3"/>
            <a:r>
              <a:rPr lang="en-IN" sz="2800" dirty="0" err="1"/>
              <a:t>sw</a:t>
            </a:r>
            <a:r>
              <a:rPr lang="en-IN" sz="2800" dirty="0"/>
              <a:t> t2, 12(t5)</a:t>
            </a:r>
          </a:p>
          <a:p>
            <a:pPr lvl="3"/>
            <a:r>
              <a:rPr lang="en-IN" sz="2800" dirty="0" err="1"/>
              <a:t>sw</a:t>
            </a:r>
            <a:r>
              <a:rPr lang="en-IN" sz="2800" dirty="0"/>
              <a:t> t3, 8(t5)</a:t>
            </a:r>
          </a:p>
          <a:p>
            <a:pPr lvl="3"/>
            <a:r>
              <a:rPr lang="en-IN" sz="2800" dirty="0" err="1"/>
              <a:t>sw</a:t>
            </a:r>
            <a:r>
              <a:rPr lang="en-IN" sz="2800" dirty="0"/>
              <a:t> t4, 4(t5)</a:t>
            </a:r>
            <a:endParaRPr lang="en-US" sz="2800" b="1" dirty="0"/>
          </a:p>
        </p:txBody>
      </p:sp>
    </p:spTree>
    <p:extLst>
      <p:ext uri="{BB962C8B-B14F-4D97-AF65-F5344CB8AC3E}">
        <p14:creationId xmlns:p14="http://schemas.microsoft.com/office/powerpoint/2010/main" val="4611470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2677656"/>
          </a:xfrm>
          <a:prstGeom prst="rect">
            <a:avLst/>
          </a:prstGeom>
        </p:spPr>
        <p:txBody>
          <a:bodyPr wrap="square">
            <a:spAutoFit/>
          </a:bodyPr>
          <a:lstStyle/>
          <a:p>
            <a:r>
              <a:rPr lang="en-US" sz="2800" b="1" dirty="0" smtClean="0"/>
              <a:t>Solution:</a:t>
            </a:r>
            <a:r>
              <a:rPr lang="en-US" sz="2800" dirty="0" smtClean="0"/>
              <a:t> </a:t>
            </a:r>
          </a:p>
          <a:p>
            <a:endParaRPr lang="en-US" sz="2800" dirty="0"/>
          </a:p>
          <a:p>
            <a:r>
              <a:rPr lang="en-US" sz="2800" dirty="0" smtClean="0"/>
              <a:t>All </a:t>
            </a:r>
            <a:r>
              <a:rPr lang="en-US" sz="2800" dirty="0"/>
              <a:t>four store instructions write to the same cache block. With a </a:t>
            </a:r>
            <a:r>
              <a:rPr lang="en-US" sz="2800" dirty="0" smtClean="0"/>
              <a:t>write-through</a:t>
            </a:r>
            <a:endParaRPr lang="en-US" sz="2800" dirty="0"/>
          </a:p>
          <a:p>
            <a:r>
              <a:rPr lang="en-US" sz="2800" dirty="0"/>
              <a:t>cache, each store instruction writes a word to main memory, </a:t>
            </a:r>
            <a:r>
              <a:rPr lang="en-US" sz="2800" dirty="0" smtClean="0"/>
              <a:t>requiring four </a:t>
            </a:r>
            <a:r>
              <a:rPr lang="en-US" sz="2800" dirty="0"/>
              <a:t>main memory writes. A write-back policy requires only one main </a:t>
            </a:r>
            <a:r>
              <a:rPr lang="en-US" sz="2800" dirty="0" smtClean="0"/>
              <a:t>memory access</a:t>
            </a:r>
            <a:r>
              <a:rPr lang="en-US" sz="2800" dirty="0"/>
              <a:t>, when the dirty cache block is evicted.</a:t>
            </a:r>
            <a:endParaRPr lang="en-US" sz="2800" b="1" dirty="0"/>
          </a:p>
        </p:txBody>
      </p:sp>
    </p:spTree>
    <p:extLst>
      <p:ext uri="{BB962C8B-B14F-4D97-AF65-F5344CB8AC3E}">
        <p14:creationId xmlns:p14="http://schemas.microsoft.com/office/powerpoint/2010/main" val="161937866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01287BC-E095-6371-89C6-F8754C9233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xmlns="" id="{10B08ADB-CB14-F8CD-91BE-0C79230364AA}"/>
              </a:ext>
              <a:ext uri="{C183D7F6-B498-43B3-948B-1728B52AA6E4}">
                <adec:decorative xmlns:adec="http://schemas.microsoft.com/office/drawing/2017/decorative" xmlns="" val="1"/>
              </a:ext>
            </a:extLst>
          </p:cNvPr>
          <p:cNvPicPr>
            <a:picLocks noChangeAspect="1"/>
          </p:cNvPicPr>
          <p:nvPr/>
        </p:nvPicPr>
        <p:blipFill rotWithShape="1">
          <a:blip r:embed="rId3">
            <a:extLst>
              <a:ext uri="{28A0092B-C50C-407E-A947-70E740481C1C}">
                <a14:useLocalDpi xmlns:a14="http://schemas.microsoft.com/office/drawing/2010/main" val="0"/>
              </a:ext>
            </a:extLst>
          </a:blip>
          <a:srcRect b="-1"/>
          <a:stretch/>
        </p:blipFill>
        <p:spPr>
          <a:xfrm>
            <a:off x="-8622" y="10"/>
            <a:ext cx="6096000" cy="6857990"/>
          </a:xfrm>
          <a:prstGeom prst="rect">
            <a:avLst/>
          </a:prstGeom>
        </p:spPr>
      </p:pic>
      <p:sp>
        <p:nvSpPr>
          <p:cNvPr id="2" name="Title 1">
            <a:extLst>
              <a:ext uri="{FF2B5EF4-FFF2-40B4-BE49-F238E27FC236}">
                <a16:creationId xmlns:a16="http://schemas.microsoft.com/office/drawing/2014/main" xmlns="" id="{ED03D57D-D18C-BB8E-BB0F-704E05CA65ED}"/>
              </a:ext>
            </a:extLst>
          </p:cNvPr>
          <p:cNvSpPr>
            <a:spLocks noGrp="1"/>
          </p:cNvSpPr>
          <p:nvPr>
            <p:ph type="title"/>
          </p:nvPr>
        </p:nvSpPr>
        <p:spPr>
          <a:xfrm>
            <a:off x="6900492" y="609599"/>
            <a:ext cx="4815257" cy="1019175"/>
          </a:xfrm>
        </p:spPr>
        <p:txBody>
          <a:bodyPr anchor="b">
            <a:normAutofit/>
          </a:bodyPr>
          <a:lstStyle/>
          <a:p>
            <a:pPr algn="l"/>
            <a:r>
              <a:rPr lang="en-IN" sz="4000" dirty="0"/>
              <a:t>Virtual Memory -</a:t>
            </a:r>
            <a:endParaRPr lang="en-US" sz="4000" dirty="0"/>
          </a:p>
        </p:txBody>
      </p:sp>
      <p:sp>
        <p:nvSpPr>
          <p:cNvPr id="24" name="Content Placeholder 2">
            <a:extLst>
              <a:ext uri="{FF2B5EF4-FFF2-40B4-BE49-F238E27FC236}">
                <a16:creationId xmlns:a16="http://schemas.microsoft.com/office/drawing/2014/main" xmlns="" id="{5733DD74-E373-7CE4-E807-34940BF640F6}"/>
              </a:ext>
            </a:extLst>
          </p:cNvPr>
          <p:cNvSpPr>
            <a:spLocks noGrp="1"/>
          </p:cNvSpPr>
          <p:nvPr>
            <p:ph idx="1"/>
          </p:nvPr>
        </p:nvSpPr>
        <p:spPr>
          <a:xfrm>
            <a:off x="6900493" y="1732449"/>
            <a:ext cx="4403596" cy="4058751"/>
          </a:xfrm>
        </p:spPr>
        <p:txBody>
          <a:bodyPr anchor="t">
            <a:normAutofit/>
          </a:bodyPr>
          <a:lstStyle/>
          <a:p>
            <a:r>
              <a:rPr lang="en-IN" sz="2400" dirty="0" smtClean="0"/>
              <a:t>Address </a:t>
            </a:r>
            <a:r>
              <a:rPr lang="en-IN" sz="2400" dirty="0"/>
              <a:t>Translation</a:t>
            </a:r>
            <a:r>
              <a:rPr lang="en-IN" sz="2400" dirty="0" smtClean="0"/>
              <a:t>;</a:t>
            </a:r>
            <a:endParaRPr lang="en-IN" sz="2400" dirty="0"/>
          </a:p>
          <a:p>
            <a:r>
              <a:rPr lang="en-US" sz="2400" dirty="0"/>
              <a:t>Page Table; </a:t>
            </a:r>
            <a:endParaRPr lang="en-US" sz="2400" dirty="0" smtClean="0"/>
          </a:p>
          <a:p>
            <a:r>
              <a:rPr lang="en-US" sz="2400" dirty="0" smtClean="0"/>
              <a:t>Translation </a:t>
            </a:r>
            <a:r>
              <a:rPr lang="en-US" sz="2400" dirty="0" err="1"/>
              <a:t>Lookaside</a:t>
            </a:r>
            <a:r>
              <a:rPr lang="en-US" sz="2400" dirty="0"/>
              <a:t> Buffer; </a:t>
            </a:r>
            <a:endParaRPr lang="en-US" sz="2400" dirty="0" smtClean="0"/>
          </a:p>
          <a:p>
            <a:r>
              <a:rPr lang="en-US" sz="2400" dirty="0" smtClean="0"/>
              <a:t>Memory </a:t>
            </a:r>
            <a:r>
              <a:rPr lang="en-US" sz="2400" dirty="0"/>
              <a:t>Protection.</a:t>
            </a:r>
          </a:p>
        </p:txBody>
      </p:sp>
    </p:spTree>
    <p:extLst>
      <p:ext uri="{BB962C8B-B14F-4D97-AF65-F5344CB8AC3E}">
        <p14:creationId xmlns:p14="http://schemas.microsoft.com/office/powerpoint/2010/main" val="19515293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VIRTUAL MEMORY</a:t>
            </a:r>
            <a:r>
              <a:rPr lang="en-IN" b="1" dirty="0" smtClean="0"/>
              <a:t>: 541</a:t>
            </a:r>
            <a:endParaRPr lang="en-IN" b="1" dirty="0"/>
          </a:p>
        </p:txBody>
      </p:sp>
      <p:sp>
        <p:nvSpPr>
          <p:cNvPr id="4" name="Rectangle 3"/>
          <p:cNvSpPr/>
          <p:nvPr/>
        </p:nvSpPr>
        <p:spPr>
          <a:xfrm>
            <a:off x="138544" y="543322"/>
            <a:ext cx="11843281" cy="4832092"/>
          </a:xfrm>
          <a:prstGeom prst="rect">
            <a:avLst/>
          </a:prstGeom>
        </p:spPr>
        <p:txBody>
          <a:bodyPr wrap="square">
            <a:spAutoFit/>
          </a:bodyPr>
          <a:lstStyle/>
          <a:p>
            <a:pPr marL="457200" indent="-457200">
              <a:buFont typeface="Arial" pitchFamily="34" charset="0"/>
              <a:buChar char="•"/>
            </a:pPr>
            <a:r>
              <a:rPr lang="en-US" sz="2800" dirty="0" smtClean="0"/>
              <a:t>Give the </a:t>
            </a:r>
            <a:r>
              <a:rPr lang="en-US" sz="2800" dirty="0" err="1" smtClean="0"/>
              <a:t>illution</a:t>
            </a:r>
            <a:r>
              <a:rPr lang="en-US" sz="2800" dirty="0" smtClean="0"/>
              <a:t> of bigger memory.</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Most </a:t>
            </a:r>
            <a:r>
              <a:rPr lang="en-US" sz="2800" dirty="0"/>
              <a:t>modern computer systems use a </a:t>
            </a:r>
            <a:r>
              <a:rPr lang="en-US" sz="2800" b="1" i="1" dirty="0"/>
              <a:t>hard drive </a:t>
            </a:r>
            <a:r>
              <a:rPr lang="en-US" sz="2800" dirty="0"/>
              <a:t>made of </a:t>
            </a:r>
            <a:r>
              <a:rPr lang="en-US" sz="2800" b="1" dirty="0" smtClean="0">
                <a:solidFill>
                  <a:srgbClr val="FF0000"/>
                </a:solidFill>
              </a:rPr>
              <a:t>magnetic or </a:t>
            </a:r>
            <a:r>
              <a:rPr lang="en-US" sz="2800" b="1" dirty="0">
                <a:solidFill>
                  <a:srgbClr val="FF0000"/>
                </a:solidFill>
              </a:rPr>
              <a:t>solid-state storage</a:t>
            </a:r>
            <a:r>
              <a:rPr lang="en-US" sz="2800" dirty="0"/>
              <a:t> as the </a:t>
            </a:r>
            <a:r>
              <a:rPr lang="en-US" sz="2800" b="1" dirty="0">
                <a:solidFill>
                  <a:srgbClr val="FF0000"/>
                </a:solidFill>
              </a:rPr>
              <a:t>lowest level </a:t>
            </a:r>
            <a:r>
              <a:rPr lang="en-US" sz="2800" dirty="0"/>
              <a:t>in the memory </a:t>
            </a:r>
            <a:r>
              <a:rPr lang="en-US" sz="2800" dirty="0" smtClean="0"/>
              <a:t>hierarchy.</a:t>
            </a:r>
          </a:p>
          <a:p>
            <a:endParaRPr lang="en-US" sz="2800" dirty="0" smtClean="0"/>
          </a:p>
          <a:p>
            <a:pPr marL="457200" indent="-457200">
              <a:buFont typeface="Arial" pitchFamily="34" charset="0"/>
              <a:buChar char="•"/>
            </a:pPr>
            <a:r>
              <a:rPr lang="en-US" sz="2800" dirty="0"/>
              <a:t>Compared with the ideal large, fast, cheap memory, a </a:t>
            </a:r>
            <a:r>
              <a:rPr lang="en-US" sz="2800" b="1" dirty="0" smtClean="0"/>
              <a:t>hard drive </a:t>
            </a:r>
            <a:r>
              <a:rPr lang="en-US" sz="2800" b="1" dirty="0"/>
              <a:t>is large </a:t>
            </a:r>
            <a:r>
              <a:rPr lang="en-US" sz="2800" dirty="0"/>
              <a:t>and </a:t>
            </a:r>
            <a:r>
              <a:rPr lang="en-US" sz="2800" b="1" dirty="0"/>
              <a:t>cheap but </a:t>
            </a:r>
            <a:r>
              <a:rPr lang="en-US" sz="2800" b="1" dirty="0">
                <a:solidFill>
                  <a:srgbClr val="FF0000"/>
                </a:solidFill>
              </a:rPr>
              <a:t>terribly slow. </a:t>
            </a:r>
            <a:endParaRPr lang="en-US" sz="2800" b="1" dirty="0" smtClean="0">
              <a:solidFill>
                <a:srgbClr val="FF0000"/>
              </a:solidFill>
            </a:endParaRPr>
          </a:p>
          <a:p>
            <a:endParaRPr lang="en-US" sz="2800" b="1" dirty="0" smtClean="0">
              <a:solidFill>
                <a:srgbClr val="FF0000"/>
              </a:solidFill>
            </a:endParaRPr>
          </a:p>
          <a:p>
            <a:pPr marL="457200" indent="-457200">
              <a:buFont typeface="Arial" pitchFamily="34" charset="0"/>
              <a:buChar char="•"/>
            </a:pPr>
            <a:r>
              <a:rPr lang="en-US" sz="2800" dirty="0" smtClean="0"/>
              <a:t>It </a:t>
            </a:r>
            <a:r>
              <a:rPr lang="en-US" sz="2800" dirty="0"/>
              <a:t>provides a much </a:t>
            </a:r>
            <a:r>
              <a:rPr lang="en-US" sz="2800" b="1" dirty="0" smtClean="0"/>
              <a:t>larger capacity </a:t>
            </a:r>
            <a:r>
              <a:rPr lang="en-US" sz="2800" dirty="0"/>
              <a:t>than is possible with a cost-effective main memory (DRAM</a:t>
            </a:r>
            <a:r>
              <a:rPr lang="en-US" sz="2800" dirty="0" smtClean="0"/>
              <a:t>).</a:t>
            </a:r>
          </a:p>
          <a:p>
            <a:pPr marL="457200" indent="-457200">
              <a:buFont typeface="Arial" pitchFamily="34" charset="0"/>
              <a:buChar char="•"/>
            </a:pPr>
            <a:endParaRPr lang="en-US"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583" y="4796453"/>
            <a:ext cx="8113713"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806562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220" y="0"/>
            <a:ext cx="4668479" cy="434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80220" y="4918587"/>
            <a:ext cx="4940709" cy="1384995"/>
          </a:xfrm>
          <a:prstGeom prst="rect">
            <a:avLst/>
          </a:prstGeom>
        </p:spPr>
        <p:txBody>
          <a:bodyPr wrap="square">
            <a:spAutoFit/>
          </a:bodyPr>
          <a:lstStyle/>
          <a:p>
            <a:r>
              <a:rPr lang="en-US" sz="2800" dirty="0"/>
              <a:t>Figure 8.19 shows a hard drive made of </a:t>
            </a:r>
            <a:r>
              <a:rPr lang="en-US" sz="2800" b="1" dirty="0"/>
              <a:t>magnetic storage</a:t>
            </a:r>
            <a:r>
              <a:rPr lang="en-US" sz="2800" dirty="0"/>
              <a:t>, </a:t>
            </a:r>
            <a:r>
              <a:rPr lang="en-US" sz="2800" dirty="0" smtClean="0"/>
              <a:t>also </a:t>
            </a:r>
            <a:r>
              <a:rPr lang="en-IN" sz="2800" dirty="0" smtClean="0"/>
              <a:t>called </a:t>
            </a:r>
            <a:r>
              <a:rPr lang="en-IN" sz="2800" b="1" dirty="0"/>
              <a:t>a </a:t>
            </a:r>
            <a:r>
              <a:rPr lang="en-IN" sz="2800" b="1" i="1" dirty="0"/>
              <a:t>hard </a:t>
            </a:r>
            <a:r>
              <a:rPr lang="en-IN" sz="2800" b="1" i="1" dirty="0" smtClean="0"/>
              <a:t>disk</a:t>
            </a:r>
            <a:endParaRPr lang="en-IN" sz="2800" b="1"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5690" y="59709"/>
            <a:ext cx="2520194" cy="4858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331324" y="5426418"/>
            <a:ext cx="1753172" cy="369332"/>
          </a:xfrm>
          <a:prstGeom prst="rect">
            <a:avLst/>
          </a:prstGeom>
        </p:spPr>
        <p:txBody>
          <a:bodyPr wrap="none">
            <a:spAutoFit/>
          </a:bodyPr>
          <a:lstStyle/>
          <a:p>
            <a:pPr marL="342900" indent="-342900">
              <a:spcBef>
                <a:spcPct val="20000"/>
              </a:spcBef>
            </a:pPr>
            <a:r>
              <a:rPr lang="en-US" b="1" dirty="0">
                <a:solidFill>
                  <a:srgbClr val="0070C0"/>
                </a:solidFill>
                <a:cs typeface="Arial" charset="0"/>
              </a:rPr>
              <a:t>Solid State Drive</a:t>
            </a:r>
          </a:p>
        </p:txBody>
      </p:sp>
    </p:spTree>
    <p:extLst>
      <p:ext uri="{BB962C8B-B14F-4D97-AF65-F5344CB8AC3E}">
        <p14:creationId xmlns:p14="http://schemas.microsoft.com/office/powerpoint/2010/main" val="351557842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5262979"/>
          </a:xfrm>
          <a:prstGeom prst="rect">
            <a:avLst/>
          </a:prstGeom>
        </p:spPr>
        <p:txBody>
          <a:bodyPr wrap="square">
            <a:spAutoFit/>
          </a:bodyPr>
          <a:lstStyle/>
          <a:p>
            <a:pPr marL="457200" indent="-457200">
              <a:buFont typeface="Arial" pitchFamily="34" charset="0"/>
              <a:buChar char="•"/>
            </a:pPr>
            <a:r>
              <a:rPr lang="en-US" sz="2800" dirty="0"/>
              <a:t>T</a:t>
            </a:r>
            <a:r>
              <a:rPr lang="en-US" sz="2800" dirty="0" smtClean="0"/>
              <a:t>he </a:t>
            </a:r>
            <a:r>
              <a:rPr lang="en-US" sz="2800" dirty="0"/>
              <a:t>hard disk contains </a:t>
            </a:r>
            <a:r>
              <a:rPr lang="en-US" sz="2800" b="1" dirty="0"/>
              <a:t>one or more rigid disks </a:t>
            </a:r>
            <a:r>
              <a:rPr lang="en-US" sz="2800" dirty="0"/>
              <a:t>or </a:t>
            </a:r>
            <a:r>
              <a:rPr lang="en-US" sz="2800" i="1" dirty="0"/>
              <a:t>platters</a:t>
            </a:r>
            <a:r>
              <a:rPr lang="en-US" sz="2800" dirty="0"/>
              <a:t>, each </a:t>
            </a:r>
            <a:r>
              <a:rPr lang="en-US" sz="2800" dirty="0" smtClean="0"/>
              <a:t>of which </a:t>
            </a:r>
            <a:r>
              <a:rPr lang="en-US" sz="2800" dirty="0"/>
              <a:t>has a </a:t>
            </a:r>
            <a:r>
              <a:rPr lang="en-US" sz="2800" b="1" i="1" dirty="0"/>
              <a:t>read/write head</a:t>
            </a:r>
            <a:r>
              <a:rPr lang="en-US" sz="2800" i="1" dirty="0"/>
              <a:t> </a:t>
            </a:r>
            <a:r>
              <a:rPr lang="en-US" sz="2800" dirty="0"/>
              <a:t>on the end of a long triangular arm.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b="1" dirty="0" smtClean="0"/>
              <a:t>head </a:t>
            </a:r>
            <a:r>
              <a:rPr lang="en-US" sz="2800" b="1" dirty="0"/>
              <a:t>moves to the correct location</a:t>
            </a:r>
            <a:r>
              <a:rPr lang="en-US" sz="2800" dirty="0"/>
              <a:t> on the disk and </a:t>
            </a:r>
            <a:r>
              <a:rPr lang="en-US" sz="2800" b="1" dirty="0"/>
              <a:t>reads or </a:t>
            </a:r>
            <a:r>
              <a:rPr lang="en-US" sz="2800" b="1" dirty="0" smtClean="0"/>
              <a:t>writes data </a:t>
            </a:r>
            <a:r>
              <a:rPr lang="en-US" sz="2800" b="1" dirty="0"/>
              <a:t>magnetically</a:t>
            </a:r>
            <a:r>
              <a:rPr lang="en-US" sz="2800" dirty="0"/>
              <a:t> as the disk rotates beneath it.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head takes </a:t>
            </a:r>
            <a:r>
              <a:rPr lang="en-US" sz="2800" dirty="0" smtClean="0"/>
              <a:t>several milliseconds </a:t>
            </a:r>
            <a:r>
              <a:rPr lang="en-US" sz="2800" dirty="0"/>
              <a:t>to </a:t>
            </a:r>
            <a:r>
              <a:rPr lang="en-US" sz="2800" i="1" dirty="0"/>
              <a:t>seek </a:t>
            </a:r>
            <a:r>
              <a:rPr lang="en-US" sz="2800" dirty="0"/>
              <a:t>the correct location on the disk, which is fast </a:t>
            </a:r>
            <a:r>
              <a:rPr lang="en-US" sz="2800" dirty="0" smtClean="0"/>
              <a:t>from a </a:t>
            </a:r>
            <a:r>
              <a:rPr lang="en-US" sz="2800" dirty="0"/>
              <a:t>human perspective but </a:t>
            </a:r>
            <a:r>
              <a:rPr lang="en-US" sz="2800" b="1" dirty="0"/>
              <a:t>millions of times slower than the processor</a:t>
            </a:r>
            <a:r>
              <a:rPr lang="en-US" sz="2800" b="1" dirty="0" smtClean="0"/>
              <a:t>.</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Hard </a:t>
            </a:r>
            <a:r>
              <a:rPr lang="en-US" sz="2800" dirty="0"/>
              <a:t>disk drives are increasingly being replaced by </a:t>
            </a:r>
            <a:r>
              <a:rPr lang="en-US" sz="2800" b="1" dirty="0">
                <a:solidFill>
                  <a:srgbClr val="FF0000"/>
                </a:solidFill>
              </a:rPr>
              <a:t>solid-state </a:t>
            </a:r>
            <a:r>
              <a:rPr lang="en-US" sz="2800" b="1" dirty="0" smtClean="0">
                <a:solidFill>
                  <a:srgbClr val="FF0000"/>
                </a:solidFill>
              </a:rPr>
              <a:t>drives </a:t>
            </a:r>
            <a:r>
              <a:rPr lang="en-US" sz="2800" dirty="0" smtClean="0"/>
              <a:t>because </a:t>
            </a:r>
            <a:r>
              <a:rPr lang="en-US" sz="2800" b="1" dirty="0"/>
              <a:t>reading is </a:t>
            </a:r>
            <a:r>
              <a:rPr lang="en-US" sz="2800" b="1" dirty="0" smtClean="0"/>
              <a:t>faster </a:t>
            </a:r>
            <a:r>
              <a:rPr lang="en-US" sz="2800" dirty="0" smtClean="0"/>
              <a:t>and they are </a:t>
            </a:r>
            <a:r>
              <a:rPr lang="en-US" sz="2800" b="1" dirty="0"/>
              <a:t>not as </a:t>
            </a:r>
            <a:r>
              <a:rPr lang="en-US" sz="2800" b="1" dirty="0" smtClean="0"/>
              <a:t>subject </a:t>
            </a:r>
            <a:r>
              <a:rPr lang="en-US" sz="2800" b="1" dirty="0"/>
              <a:t>to mechanical failures</a:t>
            </a:r>
            <a:r>
              <a:rPr lang="en-US" sz="2800" dirty="0"/>
              <a:t>.</a:t>
            </a:r>
            <a:endParaRPr lang="en-US" sz="2800" b="1" dirty="0"/>
          </a:p>
        </p:txBody>
      </p:sp>
    </p:spTree>
    <p:extLst>
      <p:ext uri="{BB962C8B-B14F-4D97-AF65-F5344CB8AC3E}">
        <p14:creationId xmlns:p14="http://schemas.microsoft.com/office/powerpoint/2010/main" val="157582332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5693866"/>
          </a:xfrm>
          <a:prstGeom prst="rect">
            <a:avLst/>
          </a:prstGeom>
        </p:spPr>
        <p:txBody>
          <a:bodyPr wrap="square">
            <a:spAutoFit/>
          </a:bodyPr>
          <a:lstStyle/>
          <a:p>
            <a:pPr marL="457200" indent="-457200">
              <a:buFont typeface="Arial" pitchFamily="34" charset="0"/>
              <a:buChar char="•"/>
            </a:pPr>
            <a:r>
              <a:rPr lang="en-IN" sz="2800" dirty="0"/>
              <a:t>A computer with </a:t>
            </a:r>
            <a:r>
              <a:rPr lang="en-IN" sz="2800" dirty="0" smtClean="0"/>
              <a:t>only </a:t>
            </a:r>
            <a:r>
              <a:rPr lang="en-US" sz="2800" b="1" dirty="0" smtClean="0"/>
              <a:t>16 </a:t>
            </a:r>
            <a:r>
              <a:rPr lang="en-US" sz="2800" b="1" dirty="0" err="1"/>
              <a:t>GiB</a:t>
            </a:r>
            <a:r>
              <a:rPr lang="en-US" sz="2800" b="1" dirty="0"/>
              <a:t> of DRAM</a:t>
            </a:r>
            <a:r>
              <a:rPr lang="en-US" sz="2800" dirty="0"/>
              <a:t>, for example, could effectively provide </a:t>
            </a:r>
            <a:r>
              <a:rPr lang="en-US" sz="2800" b="1" dirty="0"/>
              <a:t>128 </a:t>
            </a:r>
            <a:r>
              <a:rPr lang="en-US" sz="2800" b="1" dirty="0" err="1"/>
              <a:t>GiB</a:t>
            </a:r>
            <a:r>
              <a:rPr lang="en-US" sz="2800" b="1" dirty="0"/>
              <a:t> </a:t>
            </a:r>
            <a:r>
              <a:rPr lang="en-US" sz="2800" b="1" dirty="0" smtClean="0"/>
              <a:t>of memory </a:t>
            </a:r>
            <a:r>
              <a:rPr lang="en-US" sz="2800" dirty="0"/>
              <a:t>using the </a:t>
            </a:r>
            <a:r>
              <a:rPr lang="en-US" sz="2800" b="1" dirty="0"/>
              <a:t>hard drive</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This </a:t>
            </a:r>
            <a:r>
              <a:rPr lang="en-US" sz="2800" dirty="0"/>
              <a:t>larger </a:t>
            </a:r>
            <a:r>
              <a:rPr lang="en-US" sz="2800" b="1" dirty="0"/>
              <a:t>128 </a:t>
            </a:r>
            <a:r>
              <a:rPr lang="en-US" sz="2800" b="1" dirty="0" err="1"/>
              <a:t>GiB</a:t>
            </a:r>
            <a:r>
              <a:rPr lang="en-US" sz="2800" b="1" dirty="0"/>
              <a:t> memory </a:t>
            </a:r>
            <a:r>
              <a:rPr lang="en-US" sz="2800" dirty="0"/>
              <a:t>is called </a:t>
            </a:r>
            <a:r>
              <a:rPr lang="en-US" sz="2800" b="1" i="1" dirty="0" smtClean="0">
                <a:solidFill>
                  <a:srgbClr val="FF0000"/>
                </a:solidFill>
              </a:rPr>
              <a:t>virtual memory</a:t>
            </a:r>
            <a:r>
              <a:rPr lang="en-US" sz="2800" dirty="0"/>
              <a:t>, and the smaller </a:t>
            </a:r>
            <a:r>
              <a:rPr lang="en-US" sz="2800" b="1" dirty="0"/>
              <a:t>16 </a:t>
            </a:r>
            <a:r>
              <a:rPr lang="en-US" sz="2800" b="1" dirty="0" err="1"/>
              <a:t>GiB</a:t>
            </a:r>
            <a:r>
              <a:rPr lang="en-US" sz="2800" b="1" dirty="0"/>
              <a:t> main memory </a:t>
            </a:r>
            <a:r>
              <a:rPr lang="en-US" sz="2800" dirty="0"/>
              <a:t>is called </a:t>
            </a:r>
            <a:r>
              <a:rPr lang="en-US" sz="2800" b="1" i="1" dirty="0" smtClean="0">
                <a:solidFill>
                  <a:srgbClr val="FF0000"/>
                </a:solidFill>
              </a:rPr>
              <a:t>physical </a:t>
            </a:r>
            <a:r>
              <a:rPr lang="en-IN" sz="2800" b="1" i="1" dirty="0">
                <a:solidFill>
                  <a:srgbClr val="FF0000"/>
                </a:solidFill>
              </a:rPr>
              <a:t>memory</a:t>
            </a:r>
            <a:r>
              <a:rPr lang="en-IN" sz="2800" dirty="0" smtClean="0"/>
              <a:t>.</a:t>
            </a:r>
          </a:p>
          <a:p>
            <a:pPr marL="457200" indent="-457200">
              <a:buFont typeface="Arial" pitchFamily="34" charset="0"/>
              <a:buChar char="•"/>
            </a:pPr>
            <a:endParaRPr lang="en-IN" sz="2800" b="1" dirty="0"/>
          </a:p>
          <a:p>
            <a:pPr marL="457200" indent="-457200">
              <a:buFont typeface="Arial" pitchFamily="34" charset="0"/>
              <a:buChar char="•"/>
            </a:pPr>
            <a:r>
              <a:rPr lang="en-US" sz="2800" dirty="0"/>
              <a:t>Programs can </a:t>
            </a:r>
            <a:r>
              <a:rPr lang="en-US" sz="2800" b="1" dirty="0"/>
              <a:t>access data anywhere in virtual memory</a:t>
            </a:r>
            <a:r>
              <a:rPr lang="en-US" sz="2800" dirty="0"/>
              <a:t>, so they </a:t>
            </a:r>
            <a:r>
              <a:rPr lang="en-US" sz="2800" dirty="0" smtClean="0"/>
              <a:t>must use </a:t>
            </a:r>
            <a:r>
              <a:rPr lang="en-US" sz="2800" b="1" i="1" dirty="0">
                <a:solidFill>
                  <a:srgbClr val="FF0000"/>
                </a:solidFill>
              </a:rPr>
              <a:t>virtual addresses </a:t>
            </a:r>
            <a:r>
              <a:rPr lang="en-US" sz="2800" dirty="0"/>
              <a:t>that specify the </a:t>
            </a:r>
            <a:r>
              <a:rPr lang="en-US" sz="2800" b="1" dirty="0"/>
              <a:t>location in virtual memory. </a:t>
            </a:r>
            <a:endParaRPr lang="en-US" sz="2800" b="1"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b="1" dirty="0" smtClean="0"/>
              <a:t>physical </a:t>
            </a:r>
            <a:r>
              <a:rPr lang="en-US" sz="2800" b="1" dirty="0"/>
              <a:t>memory holds a subset of most recently accessed virtual memory</a:t>
            </a:r>
            <a:r>
              <a:rPr lang="en-US" sz="2800" b="1" dirty="0" smtClean="0"/>
              <a:t>.</a:t>
            </a:r>
          </a:p>
          <a:p>
            <a:pPr marL="457200" indent="-457200">
              <a:buFont typeface="Arial" pitchFamily="34" charset="0"/>
              <a:buChar char="•"/>
            </a:pPr>
            <a:endParaRPr lang="en-US" sz="2800" b="1" dirty="0"/>
          </a:p>
          <a:p>
            <a:pPr marL="457200" indent="-457200">
              <a:buFont typeface="Arial" pitchFamily="34" charset="0"/>
              <a:buChar char="•"/>
            </a:pPr>
            <a:r>
              <a:rPr lang="en-US" sz="2800" dirty="0"/>
              <a:t>In this way, </a:t>
            </a:r>
            <a:r>
              <a:rPr lang="en-US" sz="2800" b="1" dirty="0">
                <a:solidFill>
                  <a:srgbClr val="FF0000"/>
                </a:solidFill>
              </a:rPr>
              <a:t>physical memory acts as a cache </a:t>
            </a:r>
            <a:r>
              <a:rPr lang="en-US" sz="2800" dirty="0"/>
              <a:t>for virtual memory.</a:t>
            </a:r>
            <a:endParaRPr lang="en-US" sz="2800" b="1" dirty="0"/>
          </a:p>
        </p:txBody>
      </p:sp>
    </p:spTree>
    <p:extLst>
      <p:ext uri="{BB962C8B-B14F-4D97-AF65-F5344CB8AC3E}">
        <p14:creationId xmlns:p14="http://schemas.microsoft.com/office/powerpoint/2010/main" val="117054742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3292" y="189361"/>
            <a:ext cx="11843281" cy="4832092"/>
          </a:xfrm>
          <a:prstGeom prst="rect">
            <a:avLst/>
          </a:prstGeom>
        </p:spPr>
        <p:txBody>
          <a:bodyPr wrap="square">
            <a:spAutoFit/>
          </a:bodyPr>
          <a:lstStyle/>
          <a:p>
            <a:pPr marL="457200" indent="-457200">
              <a:buFont typeface="Arial" pitchFamily="34" charset="0"/>
              <a:buChar char="•"/>
            </a:pPr>
            <a:r>
              <a:rPr lang="en-US" sz="2800" b="1" dirty="0" smtClean="0"/>
              <a:t>Virtual </a:t>
            </a:r>
            <a:r>
              <a:rPr lang="en-US" sz="2800" b="1" dirty="0"/>
              <a:t>memory is divided into </a:t>
            </a:r>
            <a:r>
              <a:rPr lang="en-US" sz="2800" b="1" i="1" dirty="0">
                <a:solidFill>
                  <a:srgbClr val="FF0000"/>
                </a:solidFill>
              </a:rPr>
              <a:t>virtual pages</a:t>
            </a:r>
            <a:r>
              <a:rPr lang="en-US" sz="2800" b="1" dirty="0">
                <a:solidFill>
                  <a:srgbClr val="FF0000"/>
                </a:solidFill>
              </a:rPr>
              <a:t>, </a:t>
            </a:r>
            <a:r>
              <a:rPr lang="en-US" sz="2800" dirty="0" smtClean="0"/>
              <a:t>typically 4 </a:t>
            </a:r>
            <a:r>
              <a:rPr lang="en-US" sz="2800" dirty="0" err="1"/>
              <a:t>KiB</a:t>
            </a:r>
            <a:r>
              <a:rPr lang="en-US" sz="2800" dirty="0"/>
              <a:t> in size.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b="1" dirty="0" smtClean="0"/>
              <a:t>Physical </a:t>
            </a:r>
            <a:r>
              <a:rPr lang="en-US" sz="2800" b="1" dirty="0"/>
              <a:t>memory is likewise divided into </a:t>
            </a:r>
            <a:r>
              <a:rPr lang="en-US" sz="2800" b="1" i="1" dirty="0">
                <a:solidFill>
                  <a:srgbClr val="FF0000"/>
                </a:solidFill>
              </a:rPr>
              <a:t>physical </a:t>
            </a:r>
            <a:r>
              <a:rPr lang="en-US" sz="2800" b="1" i="1" dirty="0" smtClean="0">
                <a:solidFill>
                  <a:srgbClr val="FF0000"/>
                </a:solidFill>
              </a:rPr>
              <a:t>pages </a:t>
            </a:r>
            <a:r>
              <a:rPr lang="en-US" sz="2800" b="1" dirty="0" smtClean="0"/>
              <a:t>of </a:t>
            </a:r>
            <a:r>
              <a:rPr lang="en-US" sz="2800" b="1" dirty="0"/>
              <a:t>the same size.</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A </a:t>
            </a:r>
            <a:r>
              <a:rPr lang="en-US" sz="2800" dirty="0"/>
              <a:t>virtual page may be located in physical </a:t>
            </a:r>
            <a:r>
              <a:rPr lang="en-US" sz="2800" dirty="0" smtClean="0"/>
              <a:t>memory (DRAM</a:t>
            </a:r>
            <a:r>
              <a:rPr lang="en-US" sz="2800" dirty="0"/>
              <a:t>) or on the hard </a:t>
            </a:r>
            <a:r>
              <a:rPr lang="en-US" sz="2800" dirty="0" smtClean="0"/>
              <a:t>drive. </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For </a:t>
            </a:r>
            <a:r>
              <a:rPr lang="en-US" sz="2800" dirty="0"/>
              <a:t>example, Figure 8.20 shows a </a:t>
            </a:r>
            <a:r>
              <a:rPr lang="en-US" sz="2800" dirty="0" smtClean="0"/>
              <a:t>virtual memory </a:t>
            </a:r>
            <a:r>
              <a:rPr lang="en-US" sz="2800" dirty="0"/>
              <a:t>that is larger than physical memory.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rectangles </a:t>
            </a:r>
            <a:r>
              <a:rPr lang="en-US" sz="2800" dirty="0" smtClean="0"/>
              <a:t>indicate pages</a:t>
            </a:r>
            <a:r>
              <a:rPr lang="en-US" sz="2800" dirty="0"/>
              <a:t>. </a:t>
            </a:r>
            <a:endParaRPr lang="en-US" sz="2800" dirty="0" smtClean="0"/>
          </a:p>
        </p:txBody>
      </p:sp>
    </p:spTree>
    <p:extLst>
      <p:ext uri="{BB962C8B-B14F-4D97-AF65-F5344CB8AC3E}">
        <p14:creationId xmlns:p14="http://schemas.microsoft.com/office/powerpoint/2010/main" val="246232109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3292" y="189361"/>
            <a:ext cx="11843281" cy="3970318"/>
          </a:xfrm>
          <a:prstGeom prst="rect">
            <a:avLst/>
          </a:prstGeom>
        </p:spPr>
        <p:txBody>
          <a:bodyPr wrap="square">
            <a:spAutoFit/>
          </a:bodyPr>
          <a:lstStyle/>
          <a:p>
            <a:pPr marL="457200" indent="-457200">
              <a:buFont typeface="Arial" pitchFamily="34" charset="0"/>
              <a:buChar char="•"/>
            </a:pPr>
            <a:r>
              <a:rPr lang="en-US" sz="2800" dirty="0" smtClean="0"/>
              <a:t>Some </a:t>
            </a:r>
            <a:r>
              <a:rPr lang="en-US" sz="2800" dirty="0"/>
              <a:t>virtual pages are present in physical memory, and </a:t>
            </a:r>
            <a:r>
              <a:rPr lang="en-US" sz="2800" dirty="0" smtClean="0"/>
              <a:t>some are </a:t>
            </a:r>
            <a:r>
              <a:rPr lang="en-US" sz="2800" dirty="0"/>
              <a:t>located on the hard drive.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b="1" dirty="0" smtClean="0"/>
              <a:t>The </a:t>
            </a:r>
            <a:r>
              <a:rPr lang="en-US" sz="2800" b="1" dirty="0"/>
              <a:t>process of determining the </a:t>
            </a:r>
            <a:r>
              <a:rPr lang="en-US" sz="2800" b="1" dirty="0" smtClean="0"/>
              <a:t>physical </a:t>
            </a:r>
            <a:r>
              <a:rPr lang="en-US" sz="2800" b="1" dirty="0"/>
              <a:t>address from the virtual address is called </a:t>
            </a:r>
            <a:r>
              <a:rPr lang="en-US" sz="2800" b="1" i="1" dirty="0">
                <a:solidFill>
                  <a:srgbClr val="FF0000"/>
                </a:solidFill>
              </a:rPr>
              <a:t>address translation</a:t>
            </a:r>
            <a:r>
              <a:rPr lang="en-US" sz="2800" b="1" dirty="0" smtClean="0"/>
              <a:t>. </a:t>
            </a:r>
          </a:p>
          <a:p>
            <a:pPr marL="457200" indent="-457200">
              <a:buFont typeface="Arial" pitchFamily="34" charset="0"/>
              <a:buChar char="•"/>
            </a:pPr>
            <a:endParaRPr lang="en-US" sz="2800" b="1" dirty="0"/>
          </a:p>
          <a:p>
            <a:pPr marL="457200" indent="-457200">
              <a:buFont typeface="Arial" pitchFamily="34" charset="0"/>
              <a:buChar char="•"/>
            </a:pPr>
            <a:r>
              <a:rPr lang="en-IN" sz="2800" b="1" dirty="0" smtClean="0"/>
              <a:t>If the </a:t>
            </a:r>
            <a:r>
              <a:rPr lang="en-US" sz="2800" b="1" dirty="0" smtClean="0"/>
              <a:t>processor </a:t>
            </a:r>
            <a:r>
              <a:rPr lang="en-US" sz="2800" b="1" dirty="0"/>
              <a:t>attempts to access a virtual address that is not in </a:t>
            </a:r>
            <a:r>
              <a:rPr lang="en-US" sz="2800" b="1" dirty="0" smtClean="0"/>
              <a:t>physical memory</a:t>
            </a:r>
            <a:r>
              <a:rPr lang="en-US" sz="2800" b="1" dirty="0"/>
              <a:t>, a </a:t>
            </a:r>
            <a:r>
              <a:rPr lang="en-US" sz="2800" b="1" i="1" dirty="0">
                <a:solidFill>
                  <a:srgbClr val="FF0000"/>
                </a:solidFill>
              </a:rPr>
              <a:t>page fault </a:t>
            </a:r>
            <a:r>
              <a:rPr lang="en-US" sz="2800" b="1" dirty="0"/>
              <a:t>occurs </a:t>
            </a:r>
            <a:r>
              <a:rPr lang="en-US" sz="2800" dirty="0"/>
              <a:t>and the operating system (OS) loads </a:t>
            </a:r>
            <a:r>
              <a:rPr lang="en-US" sz="2800" dirty="0" smtClean="0"/>
              <a:t>the page </a:t>
            </a:r>
            <a:r>
              <a:rPr lang="en-US" sz="2800" dirty="0"/>
              <a:t>from the hard drive into physical memory.</a:t>
            </a:r>
            <a:endParaRPr lang="en-US" sz="2800" b="1" dirty="0"/>
          </a:p>
        </p:txBody>
      </p:sp>
    </p:spTree>
    <p:extLst>
      <p:ext uri="{BB962C8B-B14F-4D97-AF65-F5344CB8AC3E}">
        <p14:creationId xmlns:p14="http://schemas.microsoft.com/office/powerpoint/2010/main" val="245444585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5390" t="25632" r="11579" b="17085"/>
          <a:stretch/>
        </p:blipFill>
        <p:spPr bwMode="auto">
          <a:xfrm>
            <a:off x="516193" y="73743"/>
            <a:ext cx="11105536" cy="6744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248261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5693866"/>
          </a:xfrm>
          <a:prstGeom prst="rect">
            <a:avLst/>
          </a:prstGeom>
        </p:spPr>
        <p:txBody>
          <a:bodyPr wrap="square">
            <a:spAutoFit/>
          </a:bodyPr>
          <a:lstStyle/>
          <a:p>
            <a:pPr marL="457200" indent="-457200">
              <a:buFont typeface="Arial" pitchFamily="34" charset="0"/>
              <a:buChar char="•"/>
            </a:pPr>
            <a:r>
              <a:rPr lang="en-US" sz="2800" dirty="0"/>
              <a:t>To avoid page faults caused by conflicts, </a:t>
            </a:r>
            <a:r>
              <a:rPr lang="en-US" sz="2800" b="1" dirty="0"/>
              <a:t>any virtual page can </a:t>
            </a:r>
            <a:r>
              <a:rPr lang="en-US" sz="2800" b="1" dirty="0" smtClean="0"/>
              <a:t>map to </a:t>
            </a:r>
            <a:r>
              <a:rPr lang="en-US" sz="2800" b="1" dirty="0"/>
              <a:t>any physical page. </a:t>
            </a:r>
            <a:endParaRPr lang="en-US" sz="2800" b="1"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In </a:t>
            </a:r>
            <a:r>
              <a:rPr lang="en-US" sz="2800" dirty="0"/>
              <a:t>other words, </a:t>
            </a:r>
            <a:r>
              <a:rPr lang="en-US" sz="2800" b="1" dirty="0">
                <a:solidFill>
                  <a:srgbClr val="FF0000"/>
                </a:solidFill>
              </a:rPr>
              <a:t>physical memory behaves as a </a:t>
            </a:r>
            <a:r>
              <a:rPr lang="en-US" sz="2800" b="1" dirty="0" smtClean="0">
                <a:solidFill>
                  <a:srgbClr val="FF0000"/>
                </a:solidFill>
              </a:rPr>
              <a:t>fully associative </a:t>
            </a:r>
            <a:r>
              <a:rPr lang="en-US" sz="2800" b="1" dirty="0">
                <a:solidFill>
                  <a:srgbClr val="FF0000"/>
                </a:solidFill>
              </a:rPr>
              <a:t>cache for virtual memory. </a:t>
            </a:r>
            <a:endParaRPr lang="en-US" sz="2800" b="1" dirty="0" smtClean="0">
              <a:solidFill>
                <a:srgbClr val="FF0000"/>
              </a:solidFill>
            </a:endParaRPr>
          </a:p>
          <a:p>
            <a:pPr marL="457200" indent="-457200">
              <a:buFont typeface="Arial" pitchFamily="34" charset="0"/>
              <a:buChar char="•"/>
            </a:pPr>
            <a:endParaRPr lang="en-US" sz="2800" dirty="0"/>
          </a:p>
          <a:p>
            <a:pPr marL="457200" indent="-457200">
              <a:buFont typeface="Arial" pitchFamily="34" charset="0"/>
              <a:buChar char="•"/>
            </a:pPr>
            <a:r>
              <a:rPr lang="en-US" sz="2800" dirty="0" smtClean="0"/>
              <a:t>In </a:t>
            </a:r>
            <a:r>
              <a:rPr lang="en-US" sz="2800" dirty="0"/>
              <a:t>a </a:t>
            </a:r>
            <a:r>
              <a:rPr lang="en-US" sz="2800" b="1" dirty="0"/>
              <a:t>conventional fully </a:t>
            </a:r>
            <a:r>
              <a:rPr lang="en-US" sz="2800" b="1" dirty="0" smtClean="0"/>
              <a:t>associative cache</a:t>
            </a:r>
            <a:r>
              <a:rPr lang="en-US" sz="2800" dirty="0"/>
              <a:t>, every cache block has a </a:t>
            </a:r>
            <a:r>
              <a:rPr lang="en-US" sz="2800" b="1" dirty="0"/>
              <a:t>comparator</a:t>
            </a:r>
            <a:r>
              <a:rPr lang="en-US" sz="2800" dirty="0"/>
              <a:t> that checks the most </a:t>
            </a:r>
            <a:r>
              <a:rPr lang="en-US" sz="2800" dirty="0" smtClean="0"/>
              <a:t>significant address </a:t>
            </a:r>
            <a:r>
              <a:rPr lang="en-US" sz="2800" dirty="0"/>
              <a:t>bits against a </a:t>
            </a:r>
            <a:r>
              <a:rPr lang="en-US" sz="2800" b="1" dirty="0"/>
              <a:t>tag</a:t>
            </a:r>
            <a:r>
              <a:rPr lang="en-US" sz="2800" dirty="0"/>
              <a:t> to determine whether the request hits </a:t>
            </a:r>
            <a:r>
              <a:rPr lang="en-US" sz="2800" dirty="0" smtClean="0"/>
              <a:t>in the </a:t>
            </a:r>
            <a:r>
              <a:rPr lang="en-US" sz="2800" dirty="0"/>
              <a:t>block.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In </a:t>
            </a:r>
            <a:r>
              <a:rPr lang="en-US" sz="2800" dirty="0"/>
              <a:t>an analogous virtual memory system, </a:t>
            </a:r>
            <a:r>
              <a:rPr lang="en-US" sz="2800" b="1" dirty="0"/>
              <a:t>each physical </a:t>
            </a:r>
            <a:r>
              <a:rPr lang="en-US" sz="2800" b="1" dirty="0" smtClean="0"/>
              <a:t>page </a:t>
            </a:r>
            <a:r>
              <a:rPr lang="en-US" sz="2800" dirty="0" smtClean="0"/>
              <a:t>would </a:t>
            </a:r>
            <a:r>
              <a:rPr lang="en-US" sz="2800" dirty="0"/>
              <a:t>need a </a:t>
            </a:r>
            <a:r>
              <a:rPr lang="en-US" sz="2800" b="1" dirty="0"/>
              <a:t>comparato</a:t>
            </a:r>
            <a:r>
              <a:rPr lang="en-US" sz="2800" dirty="0"/>
              <a:t>r to check the </a:t>
            </a:r>
            <a:r>
              <a:rPr lang="en-US" sz="2800" b="1" dirty="0"/>
              <a:t>most significant virtual </a:t>
            </a:r>
            <a:r>
              <a:rPr lang="en-US" sz="2800" b="1" dirty="0" smtClean="0"/>
              <a:t>address bits </a:t>
            </a:r>
            <a:r>
              <a:rPr lang="en-US" sz="2800" dirty="0"/>
              <a:t>against a </a:t>
            </a:r>
            <a:r>
              <a:rPr lang="en-US" sz="2800" b="1" dirty="0"/>
              <a:t>tag</a:t>
            </a:r>
            <a:r>
              <a:rPr lang="en-US" sz="2800" dirty="0"/>
              <a:t> to determine whether the virtual page maps to </a:t>
            </a:r>
            <a:r>
              <a:rPr lang="en-US" sz="2800" dirty="0" smtClean="0"/>
              <a:t>that </a:t>
            </a:r>
            <a:r>
              <a:rPr lang="en-IN" sz="2800" dirty="0" smtClean="0"/>
              <a:t>physical page. </a:t>
            </a:r>
            <a:endParaRPr lang="en-US" sz="2800" b="1" dirty="0"/>
          </a:p>
        </p:txBody>
      </p:sp>
    </p:spTree>
    <p:extLst>
      <p:ext uri="{BB962C8B-B14F-4D97-AF65-F5344CB8AC3E}">
        <p14:creationId xmlns:p14="http://schemas.microsoft.com/office/powerpoint/2010/main" val="409867095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0"/>
            <a:ext cx="11843281" cy="6986528"/>
          </a:xfrm>
          <a:prstGeom prst="rect">
            <a:avLst/>
          </a:prstGeom>
        </p:spPr>
        <p:txBody>
          <a:bodyPr wrap="square">
            <a:spAutoFit/>
          </a:bodyPr>
          <a:lstStyle/>
          <a:p>
            <a:pPr marL="457200" indent="-457200">
              <a:buFont typeface="Arial" pitchFamily="34" charset="0"/>
              <a:buChar char="•"/>
            </a:pPr>
            <a:r>
              <a:rPr lang="en-US" sz="2800" dirty="0"/>
              <a:t>A realistic virtual memory system has </a:t>
            </a:r>
            <a:r>
              <a:rPr lang="en-US" sz="2800" dirty="0">
                <a:solidFill>
                  <a:srgbClr val="FF0000"/>
                </a:solidFill>
              </a:rPr>
              <a:t>so many physical pages </a:t>
            </a:r>
            <a:r>
              <a:rPr lang="en-US" sz="2800" dirty="0" smtClean="0"/>
              <a:t>that providing </a:t>
            </a:r>
            <a:r>
              <a:rPr lang="en-US" sz="2800" dirty="0"/>
              <a:t>a </a:t>
            </a:r>
            <a:r>
              <a:rPr lang="en-US" sz="2800" dirty="0">
                <a:solidFill>
                  <a:srgbClr val="FF0000"/>
                </a:solidFill>
              </a:rPr>
              <a:t>comparato</a:t>
            </a:r>
            <a:r>
              <a:rPr lang="en-US" sz="2800" dirty="0"/>
              <a:t>r for each page would be excessively </a:t>
            </a:r>
            <a:r>
              <a:rPr lang="en-US" sz="2800" dirty="0">
                <a:solidFill>
                  <a:srgbClr val="FF0000"/>
                </a:solidFill>
              </a:rPr>
              <a:t>expensive</a:t>
            </a:r>
            <a:r>
              <a:rPr lang="en-US" sz="2800" dirty="0" smtClean="0">
                <a:solidFill>
                  <a:srgbClr val="FF0000"/>
                </a:solidFill>
              </a:rPr>
              <a:t>.</a:t>
            </a:r>
          </a:p>
          <a:p>
            <a:endParaRPr lang="en-US" sz="2800" dirty="0"/>
          </a:p>
          <a:p>
            <a:pPr marL="457200" indent="-457200">
              <a:buFont typeface="Arial" pitchFamily="34" charset="0"/>
              <a:buChar char="•"/>
            </a:pPr>
            <a:r>
              <a:rPr lang="en-US" sz="2800" dirty="0"/>
              <a:t>Instead, the virtual memory system uses a </a:t>
            </a:r>
            <a:r>
              <a:rPr lang="en-US" sz="2800" b="1" dirty="0">
                <a:solidFill>
                  <a:srgbClr val="FF0000"/>
                </a:solidFill>
              </a:rPr>
              <a:t>page table to perform </a:t>
            </a:r>
            <a:r>
              <a:rPr lang="en-US" sz="2800" b="1" dirty="0" smtClean="0">
                <a:solidFill>
                  <a:srgbClr val="FF0000"/>
                </a:solidFill>
              </a:rPr>
              <a:t>address translation</a:t>
            </a:r>
            <a:r>
              <a:rPr lang="en-US" sz="2800" b="1" dirty="0">
                <a:solidFill>
                  <a:srgbClr val="FF0000"/>
                </a:solidFill>
              </a:rPr>
              <a:t>. </a:t>
            </a:r>
            <a:endParaRPr lang="en-US" sz="2800" b="1" dirty="0" smtClean="0">
              <a:solidFill>
                <a:srgbClr val="FF0000"/>
              </a:solidFill>
            </a:endParaRPr>
          </a:p>
          <a:p>
            <a:pPr marL="457200" indent="-457200">
              <a:buFont typeface="Arial" pitchFamily="34" charset="0"/>
              <a:buChar char="•"/>
            </a:pPr>
            <a:endParaRPr lang="en-US" sz="2800" dirty="0"/>
          </a:p>
          <a:p>
            <a:pPr marL="457200" indent="-457200">
              <a:buFont typeface="Arial" pitchFamily="34" charset="0"/>
              <a:buChar char="•"/>
            </a:pPr>
            <a:r>
              <a:rPr lang="en-US" sz="2800" dirty="0" smtClean="0"/>
              <a:t>A </a:t>
            </a:r>
            <a:r>
              <a:rPr lang="en-US" sz="2800" b="1" dirty="0">
                <a:solidFill>
                  <a:srgbClr val="FF0000"/>
                </a:solidFill>
              </a:rPr>
              <a:t>page table contains an entry for each virtual page</a:t>
            </a:r>
            <a:r>
              <a:rPr lang="en-US" sz="2800" dirty="0"/>
              <a:t>, </a:t>
            </a:r>
            <a:r>
              <a:rPr lang="en-US" sz="2800" dirty="0" smtClean="0"/>
              <a:t>indicating its </a:t>
            </a:r>
            <a:r>
              <a:rPr lang="en-US" sz="2800" dirty="0"/>
              <a:t>location in physical memory or that it is on the hard drive.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Each </a:t>
            </a:r>
            <a:r>
              <a:rPr lang="en-US" sz="2800" b="1" dirty="0" smtClean="0"/>
              <a:t>load </a:t>
            </a:r>
            <a:r>
              <a:rPr lang="en-US" sz="2800" b="1" dirty="0"/>
              <a:t>or store instruction requires a page table access </a:t>
            </a:r>
            <a:r>
              <a:rPr lang="en-US" sz="2800" dirty="0"/>
              <a:t>followed by a </a:t>
            </a:r>
            <a:r>
              <a:rPr lang="en-US" sz="2800" dirty="0" smtClean="0"/>
              <a:t>physical memory </a:t>
            </a:r>
            <a:r>
              <a:rPr lang="en-US" sz="2800" dirty="0"/>
              <a:t>access.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b="1" dirty="0"/>
              <a:t>page table access translates</a:t>
            </a:r>
            <a:r>
              <a:rPr lang="en-US" sz="2800" dirty="0"/>
              <a:t> the </a:t>
            </a:r>
            <a:r>
              <a:rPr lang="en-US" sz="2800" b="1" dirty="0"/>
              <a:t>virtual </a:t>
            </a:r>
            <a:r>
              <a:rPr lang="en-US" sz="2800" b="1" dirty="0" smtClean="0"/>
              <a:t>address </a:t>
            </a:r>
            <a:r>
              <a:rPr lang="en-US" sz="2800" dirty="0"/>
              <a:t>used by the program to a </a:t>
            </a:r>
            <a:r>
              <a:rPr lang="en-US" sz="2800" b="1" dirty="0"/>
              <a:t>physical address. </a:t>
            </a:r>
            <a:endParaRPr lang="en-US" sz="2800" b="1" dirty="0" smtClean="0"/>
          </a:p>
          <a:p>
            <a:pPr marL="457200" indent="-457200">
              <a:buFont typeface="Arial" pitchFamily="34" charset="0"/>
              <a:buChar char="•"/>
            </a:pPr>
            <a:endParaRPr lang="en-US" sz="2800" b="1" dirty="0"/>
          </a:p>
          <a:p>
            <a:pPr marL="457200" indent="-457200">
              <a:buFont typeface="Arial" pitchFamily="34" charset="0"/>
              <a:buChar char="•"/>
            </a:pPr>
            <a:r>
              <a:rPr lang="en-US" sz="2800" dirty="0" smtClean="0"/>
              <a:t>The </a:t>
            </a:r>
            <a:r>
              <a:rPr lang="en-US" sz="2800" dirty="0"/>
              <a:t>physical address is </a:t>
            </a:r>
            <a:r>
              <a:rPr lang="en-US" sz="2800" dirty="0" smtClean="0"/>
              <a:t>then used </a:t>
            </a:r>
            <a:r>
              <a:rPr lang="en-US" sz="2800" dirty="0"/>
              <a:t>to actually read or write the data.</a:t>
            </a:r>
            <a:endParaRPr lang="en-US" sz="2800" b="1" dirty="0"/>
          </a:p>
        </p:txBody>
      </p:sp>
    </p:spTree>
    <p:extLst>
      <p:ext uri="{BB962C8B-B14F-4D97-AF65-F5344CB8AC3E}">
        <p14:creationId xmlns:p14="http://schemas.microsoft.com/office/powerpoint/2010/main" val="357863944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3108543"/>
          </a:xfrm>
          <a:prstGeom prst="rect">
            <a:avLst/>
          </a:prstGeom>
        </p:spPr>
        <p:txBody>
          <a:bodyPr wrap="square">
            <a:spAutoFit/>
          </a:bodyPr>
          <a:lstStyle/>
          <a:p>
            <a:pPr marL="457200" indent="-457200">
              <a:buFont typeface="Arial" pitchFamily="34" charset="0"/>
              <a:buChar char="•"/>
            </a:pPr>
            <a:r>
              <a:rPr lang="en-US" sz="2800" dirty="0"/>
              <a:t>The </a:t>
            </a:r>
            <a:r>
              <a:rPr lang="en-US" sz="2800" b="1" dirty="0"/>
              <a:t>page tab</a:t>
            </a:r>
            <a:r>
              <a:rPr lang="en-US" sz="2800" dirty="0"/>
              <a:t>le is usually so large that it is </a:t>
            </a:r>
            <a:r>
              <a:rPr lang="en-US" sz="2800" b="1" dirty="0"/>
              <a:t>located in physical memory</a:t>
            </a:r>
            <a:r>
              <a:rPr lang="en-US" sz="2800" b="1" dirty="0" smtClean="0"/>
              <a:t>.</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Hence</a:t>
            </a:r>
            <a:r>
              <a:rPr lang="en-US" sz="2800" dirty="0"/>
              <a:t>, each load or store involves </a:t>
            </a:r>
            <a:r>
              <a:rPr lang="en-US" sz="2800" b="1" dirty="0">
                <a:solidFill>
                  <a:srgbClr val="FF0000"/>
                </a:solidFill>
              </a:rPr>
              <a:t>two physical memory accesses</a:t>
            </a:r>
            <a:r>
              <a:rPr lang="en-US" sz="2800" dirty="0"/>
              <a:t>: </a:t>
            </a:r>
            <a:r>
              <a:rPr lang="en-US" sz="2800" dirty="0" smtClean="0"/>
              <a:t>a page </a:t>
            </a:r>
            <a:r>
              <a:rPr lang="en-US" sz="2800" b="1" dirty="0"/>
              <a:t>table access and a data access</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To </a:t>
            </a:r>
            <a:r>
              <a:rPr lang="en-US" sz="2800" dirty="0"/>
              <a:t>speed up address translation, </a:t>
            </a:r>
            <a:r>
              <a:rPr lang="en-US" sz="2800" dirty="0" smtClean="0"/>
              <a:t>a </a:t>
            </a:r>
            <a:r>
              <a:rPr lang="en-US" sz="2800" b="1" dirty="0" smtClean="0">
                <a:solidFill>
                  <a:srgbClr val="FF0000"/>
                </a:solidFill>
              </a:rPr>
              <a:t>translation </a:t>
            </a:r>
            <a:r>
              <a:rPr lang="en-US" sz="2800" b="1" dirty="0" err="1">
                <a:solidFill>
                  <a:srgbClr val="FF0000"/>
                </a:solidFill>
              </a:rPr>
              <a:t>lookaside</a:t>
            </a:r>
            <a:r>
              <a:rPr lang="en-US" sz="2800" b="1" dirty="0">
                <a:solidFill>
                  <a:srgbClr val="FF0000"/>
                </a:solidFill>
              </a:rPr>
              <a:t> buffer (TLB) </a:t>
            </a:r>
            <a:r>
              <a:rPr lang="en-US" sz="2800" dirty="0"/>
              <a:t>caches the most commonly used </a:t>
            </a:r>
            <a:r>
              <a:rPr lang="en-US" sz="2800" dirty="0" smtClean="0"/>
              <a:t>page </a:t>
            </a:r>
            <a:r>
              <a:rPr lang="en-IN" sz="2800" dirty="0" smtClean="0"/>
              <a:t>table </a:t>
            </a:r>
            <a:r>
              <a:rPr lang="en-IN" sz="2800" dirty="0"/>
              <a:t>entries.</a:t>
            </a:r>
            <a:endParaRPr lang="en-US" sz="2800" b="1" dirty="0"/>
          </a:p>
        </p:txBody>
      </p:sp>
    </p:spTree>
    <p:extLst>
      <p:ext uri="{BB962C8B-B14F-4D97-AF65-F5344CB8AC3E}">
        <p14:creationId xmlns:p14="http://schemas.microsoft.com/office/powerpoint/2010/main" val="367102221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Address </a:t>
            </a:r>
            <a:r>
              <a:rPr lang="en-IN" b="1" dirty="0" smtClean="0"/>
              <a:t>Translation: 544</a:t>
            </a:r>
            <a:endParaRPr lang="en-IN" b="1" dirty="0"/>
          </a:p>
        </p:txBody>
      </p:sp>
      <p:sp>
        <p:nvSpPr>
          <p:cNvPr id="4" name="Rectangle 3"/>
          <p:cNvSpPr/>
          <p:nvPr/>
        </p:nvSpPr>
        <p:spPr>
          <a:xfrm>
            <a:off x="138544" y="543322"/>
            <a:ext cx="11843281" cy="6124754"/>
          </a:xfrm>
          <a:prstGeom prst="rect">
            <a:avLst/>
          </a:prstGeom>
        </p:spPr>
        <p:txBody>
          <a:bodyPr wrap="square">
            <a:spAutoFit/>
          </a:bodyPr>
          <a:lstStyle/>
          <a:p>
            <a:pPr marL="457200" indent="-457200">
              <a:buFont typeface="Arial" pitchFamily="34" charset="0"/>
              <a:buChar char="•"/>
            </a:pPr>
            <a:r>
              <a:rPr lang="en-US" sz="2800" dirty="0"/>
              <a:t>In a system with virtual memory, </a:t>
            </a:r>
            <a:r>
              <a:rPr lang="en-US" sz="2800" b="1" dirty="0"/>
              <a:t>programs use virtual addresses </a:t>
            </a:r>
            <a:r>
              <a:rPr lang="en-US" sz="2800" dirty="0"/>
              <a:t>so </a:t>
            </a:r>
            <a:r>
              <a:rPr lang="en-US" sz="2800" dirty="0" smtClean="0"/>
              <a:t>that they </a:t>
            </a:r>
            <a:r>
              <a:rPr lang="en-US" sz="2800" dirty="0"/>
              <a:t>can access a large memory.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The </a:t>
            </a:r>
            <a:r>
              <a:rPr lang="en-US" sz="2800" dirty="0"/>
              <a:t>computer must </a:t>
            </a:r>
            <a:r>
              <a:rPr lang="en-US" sz="2800" b="1" dirty="0"/>
              <a:t>translate these </a:t>
            </a:r>
            <a:r>
              <a:rPr lang="en-US" sz="2800" b="1" dirty="0" smtClean="0"/>
              <a:t>virtual addresses </a:t>
            </a:r>
            <a:r>
              <a:rPr lang="en-US" sz="2800" b="1" dirty="0"/>
              <a:t>to either find the address in physical memory</a:t>
            </a:r>
            <a:r>
              <a:rPr lang="en-US" sz="2800" dirty="0"/>
              <a:t> or </a:t>
            </a:r>
            <a:r>
              <a:rPr lang="en-US" sz="2800" b="1" dirty="0">
                <a:solidFill>
                  <a:srgbClr val="FF0000"/>
                </a:solidFill>
              </a:rPr>
              <a:t>take </a:t>
            </a:r>
            <a:r>
              <a:rPr lang="en-US" sz="2800" b="1" dirty="0" smtClean="0">
                <a:solidFill>
                  <a:srgbClr val="FF0000"/>
                </a:solidFill>
              </a:rPr>
              <a:t>a page </a:t>
            </a:r>
            <a:r>
              <a:rPr lang="en-US" sz="2800" b="1" dirty="0">
                <a:solidFill>
                  <a:srgbClr val="FF0000"/>
                </a:solidFill>
              </a:rPr>
              <a:t>fault and fetch the data from the hard </a:t>
            </a:r>
            <a:r>
              <a:rPr lang="en-US" sz="2800" b="1" dirty="0" smtClean="0">
                <a:solidFill>
                  <a:srgbClr val="FF0000"/>
                </a:solidFill>
              </a:rPr>
              <a:t>drive.</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Virtual </a:t>
            </a:r>
            <a:r>
              <a:rPr lang="en-US" sz="2800" dirty="0"/>
              <a:t>memory and physical memory are </a:t>
            </a:r>
            <a:r>
              <a:rPr lang="en-US" sz="2800" b="1" dirty="0"/>
              <a:t>divided </a:t>
            </a:r>
            <a:r>
              <a:rPr lang="en-US" sz="2800" b="1" dirty="0" smtClean="0"/>
              <a:t>into pages</a:t>
            </a:r>
            <a:r>
              <a:rPr lang="en-US" sz="2800" b="1" dirty="0"/>
              <a:t>. </a:t>
            </a:r>
            <a:endParaRPr lang="en-US" sz="2800" b="1" dirty="0" smtClean="0"/>
          </a:p>
          <a:p>
            <a:pPr marL="457200" indent="-457200">
              <a:buFont typeface="Arial" pitchFamily="34" charset="0"/>
              <a:buChar char="•"/>
            </a:pPr>
            <a:endParaRPr lang="en-US" sz="2800" dirty="0"/>
          </a:p>
          <a:p>
            <a:pPr marL="457200" indent="-457200">
              <a:buFont typeface="Arial" pitchFamily="34" charset="0"/>
              <a:buChar char="•"/>
            </a:pPr>
            <a:r>
              <a:rPr lang="en-US" sz="2800" b="1" dirty="0" smtClean="0"/>
              <a:t>The </a:t>
            </a:r>
            <a:r>
              <a:rPr lang="en-US" sz="2800" b="1" dirty="0"/>
              <a:t>most significant bits</a:t>
            </a:r>
            <a:r>
              <a:rPr lang="en-US" sz="2800" dirty="0"/>
              <a:t> of the </a:t>
            </a:r>
            <a:r>
              <a:rPr lang="en-US" sz="2800" b="1" dirty="0"/>
              <a:t>virtual or physical address</a:t>
            </a:r>
            <a:r>
              <a:rPr lang="en-US" sz="2800" dirty="0"/>
              <a:t> </a:t>
            </a:r>
            <a:r>
              <a:rPr lang="en-US" sz="2800" dirty="0" smtClean="0"/>
              <a:t>specify the </a:t>
            </a:r>
            <a:r>
              <a:rPr lang="en-US" sz="2800" dirty="0"/>
              <a:t>virtual or physical </a:t>
            </a:r>
            <a:r>
              <a:rPr lang="en-US" sz="2800" b="1" i="1" dirty="0">
                <a:solidFill>
                  <a:srgbClr val="FF0000"/>
                </a:solidFill>
              </a:rPr>
              <a:t>page number</a:t>
            </a:r>
            <a:r>
              <a:rPr lang="en-US" sz="2800" b="1" dirty="0">
                <a:solidFill>
                  <a:srgbClr val="FF0000"/>
                </a:solidFill>
              </a:rPr>
              <a:t>. </a:t>
            </a:r>
            <a:endParaRPr lang="en-US" sz="2800" b="1" dirty="0" smtClean="0">
              <a:solidFill>
                <a:srgbClr val="FF0000"/>
              </a:solidFill>
            </a:endParaRPr>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b="1" dirty="0"/>
              <a:t>least significant bits </a:t>
            </a:r>
            <a:r>
              <a:rPr lang="en-US" sz="2800" dirty="0"/>
              <a:t>specify </a:t>
            </a:r>
            <a:r>
              <a:rPr lang="en-US" sz="2800" dirty="0" smtClean="0"/>
              <a:t>the </a:t>
            </a:r>
            <a:r>
              <a:rPr lang="en-US" sz="2800" b="1" dirty="0" smtClean="0"/>
              <a:t>word </a:t>
            </a:r>
            <a:r>
              <a:rPr lang="en-US" sz="2800" b="1" dirty="0"/>
              <a:t>within the page </a:t>
            </a:r>
            <a:r>
              <a:rPr lang="en-US" sz="2800" dirty="0"/>
              <a:t>and are called the </a:t>
            </a:r>
            <a:r>
              <a:rPr lang="en-US" sz="2800" i="1" dirty="0">
                <a:solidFill>
                  <a:srgbClr val="FF0000"/>
                </a:solidFill>
              </a:rPr>
              <a:t>page offset</a:t>
            </a:r>
            <a:r>
              <a:rPr lang="en-US" sz="2800" dirty="0"/>
              <a:t>.</a:t>
            </a:r>
          </a:p>
        </p:txBody>
      </p:sp>
    </p:spTree>
    <p:extLst>
      <p:ext uri="{BB962C8B-B14F-4D97-AF65-F5344CB8AC3E}">
        <p14:creationId xmlns:p14="http://schemas.microsoft.com/office/powerpoint/2010/main" val="362457697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4832092"/>
          </a:xfrm>
          <a:prstGeom prst="rect">
            <a:avLst/>
          </a:prstGeom>
        </p:spPr>
        <p:txBody>
          <a:bodyPr wrap="square">
            <a:spAutoFit/>
          </a:bodyPr>
          <a:lstStyle/>
          <a:p>
            <a:pPr marL="457200" indent="-457200">
              <a:buFont typeface="Arial" pitchFamily="34" charset="0"/>
              <a:buChar char="•"/>
            </a:pPr>
            <a:r>
              <a:rPr lang="en-US" sz="2800" dirty="0"/>
              <a:t>Figure 8.21 illustrates the </a:t>
            </a:r>
            <a:r>
              <a:rPr lang="en-US" sz="2800" b="1" dirty="0"/>
              <a:t>page organization </a:t>
            </a:r>
            <a:r>
              <a:rPr lang="en-US" sz="2800" dirty="0"/>
              <a:t>of a virtual </a:t>
            </a:r>
            <a:r>
              <a:rPr lang="en-US" sz="2800" dirty="0" smtClean="0"/>
              <a:t>memory system </a:t>
            </a:r>
            <a:r>
              <a:rPr lang="en-US" sz="2800" dirty="0"/>
              <a:t>with 2 </a:t>
            </a:r>
            <a:r>
              <a:rPr lang="en-US" sz="2800" dirty="0" err="1"/>
              <a:t>GiB</a:t>
            </a:r>
            <a:r>
              <a:rPr lang="en-US" sz="2800" dirty="0"/>
              <a:t> of virtual memory and 128 </a:t>
            </a:r>
            <a:r>
              <a:rPr lang="en-US" sz="2800" dirty="0" err="1"/>
              <a:t>MiB</a:t>
            </a:r>
            <a:r>
              <a:rPr lang="en-US" sz="2800" dirty="0"/>
              <a:t> of physical </a:t>
            </a:r>
            <a:r>
              <a:rPr lang="en-US" sz="2800" dirty="0" smtClean="0"/>
              <a:t>memory divided </a:t>
            </a:r>
            <a:r>
              <a:rPr lang="en-US" sz="2800" dirty="0"/>
              <a:t>into 4 </a:t>
            </a:r>
            <a:r>
              <a:rPr lang="en-US" sz="2800" dirty="0" err="1"/>
              <a:t>KiB</a:t>
            </a:r>
            <a:r>
              <a:rPr lang="en-US" sz="2800" dirty="0"/>
              <a:t> pages.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MIPS </a:t>
            </a:r>
            <a:r>
              <a:rPr lang="en-US" sz="2800" dirty="0"/>
              <a:t>accommodates 32-bit addresses.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With a 2 </a:t>
            </a:r>
            <a:r>
              <a:rPr lang="en-US" sz="2800" dirty="0" err="1"/>
              <a:t>GiB</a:t>
            </a:r>
            <a:r>
              <a:rPr lang="en-US" sz="2800" dirty="0"/>
              <a:t> = 2</a:t>
            </a:r>
            <a:r>
              <a:rPr lang="en-US" sz="2800" baseline="30000" dirty="0"/>
              <a:t>31</a:t>
            </a:r>
            <a:r>
              <a:rPr lang="en-US" sz="2800" dirty="0"/>
              <a:t>-byte virtual memory, only the least significant 31 </a:t>
            </a:r>
            <a:r>
              <a:rPr lang="en-US" sz="2800" dirty="0" smtClean="0"/>
              <a:t>virtual address </a:t>
            </a:r>
            <a:r>
              <a:rPr lang="en-US" sz="2800" dirty="0"/>
              <a:t>bits are used; the </a:t>
            </a:r>
            <a:r>
              <a:rPr lang="en-US" sz="2800" dirty="0" smtClean="0"/>
              <a:t>32 </a:t>
            </a:r>
            <a:r>
              <a:rPr lang="en-US" sz="2800" dirty="0" err="1" smtClean="0"/>
              <a:t>nd</a:t>
            </a:r>
            <a:r>
              <a:rPr lang="en-US" sz="2800" dirty="0" smtClean="0"/>
              <a:t> </a:t>
            </a:r>
            <a:r>
              <a:rPr lang="en-US" sz="2800" dirty="0"/>
              <a:t>bit is always 0.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Similarly</a:t>
            </a:r>
            <a:r>
              <a:rPr lang="en-US" sz="2800" dirty="0"/>
              <a:t>, with a 128 </a:t>
            </a:r>
            <a:r>
              <a:rPr lang="en-US" sz="2800" dirty="0" err="1"/>
              <a:t>MiB</a:t>
            </a:r>
            <a:r>
              <a:rPr lang="en-US" sz="2800" dirty="0"/>
              <a:t> </a:t>
            </a:r>
            <a:r>
              <a:rPr lang="en-US" sz="2800" dirty="0" smtClean="0"/>
              <a:t>= 2</a:t>
            </a:r>
            <a:r>
              <a:rPr lang="en-US" sz="2800" baseline="30000" dirty="0" smtClean="0"/>
              <a:t>27</a:t>
            </a:r>
            <a:r>
              <a:rPr lang="en-US" sz="2800" dirty="0" smtClean="0"/>
              <a:t>-byte </a:t>
            </a:r>
            <a:r>
              <a:rPr lang="en-US" sz="2800" dirty="0"/>
              <a:t>physical memory, only the least significant 27 physical </a:t>
            </a:r>
            <a:r>
              <a:rPr lang="en-US" sz="2800" dirty="0" smtClean="0"/>
              <a:t>address bits </a:t>
            </a:r>
            <a:r>
              <a:rPr lang="en-US" sz="2800" dirty="0"/>
              <a:t>are used; the upper 5 bits are always 0.</a:t>
            </a:r>
          </a:p>
        </p:txBody>
      </p:sp>
    </p:spTree>
    <p:extLst>
      <p:ext uri="{BB962C8B-B14F-4D97-AF65-F5344CB8AC3E}">
        <p14:creationId xmlns:p14="http://schemas.microsoft.com/office/powerpoint/2010/main" val="40919903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609" t="17291" r="15315" b="41354"/>
          <a:stretch/>
        </p:blipFill>
        <p:spPr bwMode="auto">
          <a:xfrm>
            <a:off x="1460094" y="0"/>
            <a:ext cx="9436888" cy="6081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917" t="34149" r="52068" b="60352"/>
          <a:stretch/>
        </p:blipFill>
        <p:spPr bwMode="auto">
          <a:xfrm>
            <a:off x="4003147" y="5998660"/>
            <a:ext cx="4173794" cy="859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92853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3108543"/>
          </a:xfrm>
          <a:prstGeom prst="rect">
            <a:avLst/>
          </a:prstGeom>
        </p:spPr>
        <p:txBody>
          <a:bodyPr wrap="square">
            <a:spAutoFit/>
          </a:bodyPr>
          <a:lstStyle/>
          <a:p>
            <a:pPr marL="457200" indent="-457200">
              <a:buFont typeface="Arial" pitchFamily="34" charset="0"/>
              <a:buChar char="•"/>
            </a:pPr>
            <a:r>
              <a:rPr lang="en-US" sz="2800" dirty="0"/>
              <a:t>Because the page size is </a:t>
            </a:r>
            <a:r>
              <a:rPr lang="en-US" sz="2800" b="1" dirty="0"/>
              <a:t>4 </a:t>
            </a:r>
            <a:r>
              <a:rPr lang="en-US" sz="2800" b="1" dirty="0" err="1"/>
              <a:t>KiB</a:t>
            </a:r>
            <a:r>
              <a:rPr lang="en-US" sz="2800" b="1" dirty="0"/>
              <a:t> = 2</a:t>
            </a:r>
            <a:r>
              <a:rPr lang="en-US" sz="2800" b="1" baseline="30000" dirty="0"/>
              <a:t>12</a:t>
            </a:r>
            <a:r>
              <a:rPr lang="en-US" sz="2800" b="1" dirty="0"/>
              <a:t> </a:t>
            </a:r>
            <a:r>
              <a:rPr lang="en-US" sz="2800" dirty="0"/>
              <a:t>bytes, there are </a:t>
            </a:r>
            <a:r>
              <a:rPr lang="en-US" sz="2800" b="1" dirty="0"/>
              <a:t>2</a:t>
            </a:r>
            <a:r>
              <a:rPr lang="en-US" sz="2800" b="1" baseline="30000" dirty="0"/>
              <a:t>31</a:t>
            </a:r>
            <a:r>
              <a:rPr lang="en-US" sz="2800" b="1" dirty="0"/>
              <a:t>/2</a:t>
            </a:r>
            <a:r>
              <a:rPr lang="en-US" sz="2800" b="1" baseline="30000" dirty="0"/>
              <a:t>12</a:t>
            </a:r>
            <a:r>
              <a:rPr lang="en-US" sz="2800" dirty="0"/>
              <a:t> = 2</a:t>
            </a:r>
            <a:r>
              <a:rPr lang="en-US" sz="2800" baseline="30000" dirty="0"/>
              <a:t>19</a:t>
            </a:r>
            <a:r>
              <a:rPr lang="en-US" sz="2800" dirty="0"/>
              <a:t> </a:t>
            </a:r>
            <a:r>
              <a:rPr lang="en-US" sz="2800" dirty="0" smtClean="0"/>
              <a:t>virtual pages </a:t>
            </a:r>
            <a:r>
              <a:rPr lang="en-US" sz="2800" dirty="0"/>
              <a:t>and </a:t>
            </a:r>
            <a:r>
              <a:rPr lang="en-US" sz="2800" b="1" dirty="0"/>
              <a:t>2</a:t>
            </a:r>
            <a:r>
              <a:rPr lang="en-US" sz="2800" b="1" baseline="30000" dirty="0"/>
              <a:t>27</a:t>
            </a:r>
            <a:r>
              <a:rPr lang="en-US" sz="2800" b="1" dirty="0"/>
              <a:t>/2</a:t>
            </a:r>
            <a:r>
              <a:rPr lang="en-US" sz="2800" b="1" baseline="30000" dirty="0"/>
              <a:t>12</a:t>
            </a:r>
            <a:r>
              <a:rPr lang="en-US" sz="2800" dirty="0"/>
              <a:t> = 2</a:t>
            </a:r>
            <a:r>
              <a:rPr lang="en-US" sz="2800" baseline="30000" dirty="0"/>
              <a:t>15</a:t>
            </a:r>
            <a:r>
              <a:rPr lang="en-US" sz="2800" dirty="0"/>
              <a:t> physical pages.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Thus</a:t>
            </a:r>
            <a:r>
              <a:rPr lang="en-US" sz="2800" dirty="0"/>
              <a:t>, the virtual and </a:t>
            </a:r>
            <a:r>
              <a:rPr lang="en-US" sz="2800" dirty="0" smtClean="0"/>
              <a:t>physical page </a:t>
            </a:r>
            <a:r>
              <a:rPr lang="en-US" sz="2800" dirty="0"/>
              <a:t>numbers are 19 and 15 bits, respectively</a:t>
            </a:r>
            <a:r>
              <a:rPr lang="en-US" sz="2800" dirty="0" smtClean="0"/>
              <a:t>.</a:t>
            </a:r>
          </a:p>
          <a:p>
            <a:r>
              <a:rPr lang="en-US" sz="2800" dirty="0" smtClean="0"/>
              <a:t> </a:t>
            </a:r>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The </a:t>
            </a:r>
            <a:r>
              <a:rPr lang="en-US" sz="2800" dirty="0"/>
              <a:t>rest of </a:t>
            </a:r>
            <a:r>
              <a:rPr lang="en-US" sz="2800" dirty="0" smtClean="0"/>
              <a:t>the virtual </a:t>
            </a:r>
            <a:r>
              <a:rPr lang="en-US" sz="2800" dirty="0"/>
              <a:t>pages are kept on the hard drive.</a:t>
            </a:r>
          </a:p>
        </p:txBody>
      </p:sp>
    </p:spTree>
    <p:extLst>
      <p:ext uri="{BB962C8B-B14F-4D97-AF65-F5344CB8AC3E}">
        <p14:creationId xmlns:p14="http://schemas.microsoft.com/office/powerpoint/2010/main" val="16932405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2053456" cy="4832092"/>
          </a:xfrm>
          <a:prstGeom prst="rect">
            <a:avLst/>
          </a:prstGeom>
        </p:spPr>
        <p:txBody>
          <a:bodyPr wrap="square">
            <a:spAutoFit/>
          </a:bodyPr>
          <a:lstStyle/>
          <a:p>
            <a:pPr marL="457200" indent="-457200">
              <a:buFont typeface="Arial" pitchFamily="34" charset="0"/>
              <a:buChar char="•"/>
            </a:pPr>
            <a:r>
              <a:rPr lang="en-US" sz="2800" dirty="0"/>
              <a:t>Figure 8.21 shows virtual page 5 mapping to physical page 1, </a:t>
            </a:r>
            <a:r>
              <a:rPr lang="en-US" sz="2800" dirty="0" smtClean="0"/>
              <a:t>virtual page </a:t>
            </a:r>
            <a:r>
              <a:rPr lang="en-US" sz="2800" dirty="0"/>
              <a:t>0x7FFFC mapping to physical page 0x7FFE, and so forth.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For example, </a:t>
            </a:r>
            <a:r>
              <a:rPr lang="en-US" sz="2800" b="1" dirty="0" smtClean="0"/>
              <a:t>virtual </a:t>
            </a:r>
            <a:r>
              <a:rPr lang="en-US" sz="2800" b="1" dirty="0"/>
              <a:t>address 0x53F8 </a:t>
            </a:r>
            <a:r>
              <a:rPr lang="en-US" sz="2800" dirty="0"/>
              <a:t>(an offset of 0x3F8 within virtual page </a:t>
            </a:r>
            <a:r>
              <a:rPr lang="en-US" sz="2800" dirty="0" smtClean="0"/>
              <a:t>5) maps </a:t>
            </a:r>
            <a:r>
              <a:rPr lang="en-US" sz="2800" dirty="0"/>
              <a:t>to </a:t>
            </a:r>
            <a:r>
              <a:rPr lang="en-US" sz="2800" b="1" dirty="0"/>
              <a:t>physical address 0x13F8 </a:t>
            </a:r>
            <a:r>
              <a:rPr lang="en-US" sz="2800" dirty="0"/>
              <a:t>(an offset of 0x3F8 within </a:t>
            </a:r>
            <a:r>
              <a:rPr lang="en-US" sz="2800" dirty="0" smtClean="0"/>
              <a:t>physical page </a:t>
            </a:r>
            <a:r>
              <a:rPr lang="en-US" sz="2800" dirty="0"/>
              <a:t>1</a:t>
            </a:r>
            <a:r>
              <a:rPr lang="en-US" sz="2800" dirty="0" smtClean="0"/>
              <a:t>).</a:t>
            </a:r>
          </a:p>
          <a:p>
            <a:r>
              <a:rPr lang="en-US" sz="2800" dirty="0" smtClean="0"/>
              <a:t> </a:t>
            </a:r>
          </a:p>
          <a:p>
            <a:pPr marL="457200" indent="-457200">
              <a:buFont typeface="Arial" pitchFamily="34" charset="0"/>
              <a:buChar char="•"/>
            </a:pPr>
            <a:r>
              <a:rPr lang="en-US" sz="2800" dirty="0" smtClean="0"/>
              <a:t>The </a:t>
            </a:r>
            <a:r>
              <a:rPr lang="en-US" sz="2800" b="1" dirty="0"/>
              <a:t>least significant 12 bits of the virtual and physical </a:t>
            </a:r>
            <a:r>
              <a:rPr lang="en-US" sz="2800" b="1" dirty="0" smtClean="0"/>
              <a:t>addresses are </a:t>
            </a:r>
            <a:r>
              <a:rPr lang="en-US" sz="2800" b="1" dirty="0"/>
              <a:t>the sam</a:t>
            </a:r>
            <a:r>
              <a:rPr lang="en-US" sz="2800" dirty="0"/>
              <a:t>e (0x3F8) and specify the page offset within the virtual </a:t>
            </a:r>
            <a:r>
              <a:rPr lang="en-US" sz="2800" dirty="0" smtClean="0"/>
              <a:t>and physical </a:t>
            </a:r>
            <a:r>
              <a:rPr lang="en-US" sz="2800" dirty="0"/>
              <a:t>pages.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Only </a:t>
            </a:r>
            <a:r>
              <a:rPr lang="en-US" sz="2800" b="1" dirty="0">
                <a:solidFill>
                  <a:srgbClr val="FF0000"/>
                </a:solidFill>
              </a:rPr>
              <a:t>the page number needs to be translated </a:t>
            </a:r>
            <a:r>
              <a:rPr lang="en-US" sz="2800" dirty="0"/>
              <a:t>to </a:t>
            </a:r>
            <a:r>
              <a:rPr lang="en-US" sz="2800" dirty="0" smtClean="0"/>
              <a:t>obtain the </a:t>
            </a:r>
            <a:r>
              <a:rPr lang="en-US" sz="2800" dirty="0"/>
              <a:t>physical address from the virtual address.</a:t>
            </a:r>
          </a:p>
        </p:txBody>
      </p:sp>
    </p:spTree>
    <p:extLst>
      <p:ext uri="{BB962C8B-B14F-4D97-AF65-F5344CB8AC3E}">
        <p14:creationId xmlns:p14="http://schemas.microsoft.com/office/powerpoint/2010/main" val="16390831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4401205"/>
          </a:xfrm>
          <a:prstGeom prst="rect">
            <a:avLst/>
          </a:prstGeom>
        </p:spPr>
        <p:txBody>
          <a:bodyPr wrap="square">
            <a:spAutoFit/>
          </a:bodyPr>
          <a:lstStyle/>
          <a:p>
            <a:pPr marL="457200" indent="-457200">
              <a:buFont typeface="Arial" pitchFamily="34" charset="0"/>
              <a:buChar char="•"/>
            </a:pPr>
            <a:r>
              <a:rPr lang="en-US" sz="2800" dirty="0"/>
              <a:t>Figure 8.22 illustrates the translation of a virtual address to a </a:t>
            </a:r>
            <a:r>
              <a:rPr lang="en-US" sz="2800" dirty="0" smtClean="0"/>
              <a:t>physical address</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least significant 12 bits indicate the page offset </a:t>
            </a:r>
            <a:r>
              <a:rPr lang="en-US" sz="2800" dirty="0" smtClean="0"/>
              <a:t>and require </a:t>
            </a:r>
            <a:r>
              <a:rPr lang="en-US" sz="2800" dirty="0"/>
              <a:t>no translation</a:t>
            </a:r>
            <a:r>
              <a:rPr lang="en-US" sz="2800" dirty="0" smtClean="0"/>
              <a:t>.</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upper 19 bits of the virtual address </a:t>
            </a:r>
            <a:r>
              <a:rPr lang="en-US" sz="2800" dirty="0" smtClean="0"/>
              <a:t>specify the </a:t>
            </a:r>
            <a:r>
              <a:rPr lang="en-US" sz="2800" i="1" dirty="0"/>
              <a:t>virtual page number </a:t>
            </a:r>
            <a:r>
              <a:rPr lang="en-US" sz="2800" dirty="0"/>
              <a:t>(</a:t>
            </a:r>
            <a:r>
              <a:rPr lang="en-US" sz="2800" i="1" dirty="0"/>
              <a:t>VPN</a:t>
            </a:r>
            <a:r>
              <a:rPr lang="en-US" sz="2800" dirty="0"/>
              <a:t>) and are translated to a 15-bit </a:t>
            </a:r>
            <a:r>
              <a:rPr lang="en-US" sz="2800" i="1" dirty="0" smtClean="0"/>
              <a:t>physical page </a:t>
            </a:r>
            <a:r>
              <a:rPr lang="en-US" sz="2800" i="1" dirty="0"/>
              <a:t>number </a:t>
            </a:r>
            <a:r>
              <a:rPr lang="en-US" sz="2800" dirty="0"/>
              <a:t>(</a:t>
            </a:r>
            <a:r>
              <a:rPr lang="en-US" sz="2800" i="1" dirty="0"/>
              <a:t>PPN</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next two sections describe how page </a:t>
            </a:r>
            <a:r>
              <a:rPr lang="en-US" sz="2800" dirty="0" smtClean="0"/>
              <a:t>tables and </a:t>
            </a:r>
            <a:r>
              <a:rPr lang="en-US" sz="2800" dirty="0"/>
              <a:t>TLBs are used to perform this address translation.</a:t>
            </a:r>
          </a:p>
        </p:txBody>
      </p:sp>
    </p:spTree>
    <p:extLst>
      <p:ext uri="{BB962C8B-B14F-4D97-AF65-F5344CB8AC3E}">
        <p14:creationId xmlns:p14="http://schemas.microsoft.com/office/powerpoint/2010/main" val="15028539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6045" t="47597" r="36762" b="31298"/>
          <a:stretch/>
        </p:blipFill>
        <p:spPr bwMode="auto">
          <a:xfrm>
            <a:off x="191729" y="368710"/>
            <a:ext cx="8270229" cy="5707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2877" t="55674" r="15116" b="37113"/>
          <a:stretch/>
        </p:blipFill>
        <p:spPr bwMode="auto">
          <a:xfrm>
            <a:off x="8275320" y="2712720"/>
            <a:ext cx="3794759" cy="128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31919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5874" t="45875" r="27803" b="29575"/>
          <a:stretch/>
        </p:blipFill>
        <p:spPr bwMode="auto">
          <a:xfrm>
            <a:off x="221224" y="958627"/>
            <a:ext cx="11759905" cy="4468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64698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The Page Table</a:t>
            </a:r>
            <a:r>
              <a:rPr lang="en-IN" b="1" dirty="0" smtClean="0"/>
              <a:t>: 545</a:t>
            </a:r>
            <a:endParaRPr lang="en-IN" b="1" dirty="0"/>
          </a:p>
        </p:txBody>
      </p:sp>
      <p:sp>
        <p:nvSpPr>
          <p:cNvPr id="4" name="Rectangle 3"/>
          <p:cNvSpPr/>
          <p:nvPr/>
        </p:nvSpPr>
        <p:spPr>
          <a:xfrm>
            <a:off x="138544" y="543322"/>
            <a:ext cx="11843281" cy="6124754"/>
          </a:xfrm>
          <a:prstGeom prst="rect">
            <a:avLst/>
          </a:prstGeom>
        </p:spPr>
        <p:txBody>
          <a:bodyPr wrap="square">
            <a:spAutoFit/>
          </a:bodyPr>
          <a:lstStyle/>
          <a:p>
            <a:pPr marL="457200" indent="-457200">
              <a:buFont typeface="Arial" pitchFamily="34" charset="0"/>
              <a:buChar char="•"/>
            </a:pPr>
            <a:r>
              <a:rPr lang="en-US" sz="2800" dirty="0"/>
              <a:t>The processor uses a </a:t>
            </a:r>
            <a:r>
              <a:rPr lang="en-US" sz="2800" b="1" i="1" dirty="0"/>
              <a:t>page table </a:t>
            </a:r>
            <a:r>
              <a:rPr lang="en-US" sz="2800" dirty="0"/>
              <a:t>to </a:t>
            </a:r>
            <a:r>
              <a:rPr lang="en-US" sz="2800" b="1" dirty="0">
                <a:solidFill>
                  <a:srgbClr val="FF0000"/>
                </a:solidFill>
              </a:rPr>
              <a:t>translate virtual addresses to </a:t>
            </a:r>
            <a:r>
              <a:rPr lang="en-US" sz="2800" b="1" dirty="0" smtClean="0">
                <a:solidFill>
                  <a:srgbClr val="FF0000"/>
                </a:solidFill>
              </a:rPr>
              <a:t>physical addresses</a:t>
            </a:r>
            <a:r>
              <a:rPr lang="en-US" sz="2800" b="1" dirty="0">
                <a:solidFill>
                  <a:srgbClr val="FF0000"/>
                </a:solidFill>
              </a:rPr>
              <a:t>. </a:t>
            </a:r>
            <a:endParaRPr lang="en-US" sz="2800" b="1" dirty="0" smtClean="0">
              <a:solidFill>
                <a:srgbClr val="FF0000"/>
              </a:solidFill>
            </a:endParaRPr>
          </a:p>
          <a:p>
            <a:endParaRPr lang="en-US" sz="2800" b="1" dirty="0" smtClean="0">
              <a:solidFill>
                <a:srgbClr val="FF0000"/>
              </a:solidFill>
            </a:endParaRPr>
          </a:p>
          <a:p>
            <a:pPr marL="457200" indent="-457200">
              <a:buFont typeface="Arial" pitchFamily="34" charset="0"/>
              <a:buChar char="•"/>
            </a:pPr>
            <a:r>
              <a:rPr lang="en-US" sz="2800" dirty="0" smtClean="0"/>
              <a:t>The </a:t>
            </a:r>
            <a:r>
              <a:rPr lang="en-US" sz="2800" dirty="0"/>
              <a:t>page table contains </a:t>
            </a:r>
            <a:r>
              <a:rPr lang="en-US" sz="2800" b="1" dirty="0"/>
              <a:t>an entry for each virtual page</a:t>
            </a:r>
            <a:r>
              <a:rPr lang="en-US" sz="2800" dirty="0"/>
              <a:t>. </a:t>
            </a:r>
            <a:endParaRPr lang="en-US" sz="2800" dirty="0" smtClean="0"/>
          </a:p>
          <a:p>
            <a:endParaRPr lang="en-US" sz="2800" dirty="0" smtClean="0"/>
          </a:p>
          <a:p>
            <a:pPr marL="457200" indent="-457200">
              <a:buFont typeface="Arial" pitchFamily="34" charset="0"/>
              <a:buChar char="•"/>
            </a:pPr>
            <a:r>
              <a:rPr lang="en-US" sz="2800" dirty="0" smtClean="0"/>
              <a:t>This entry </a:t>
            </a:r>
            <a:r>
              <a:rPr lang="en-US" sz="2800" dirty="0"/>
              <a:t>contains a </a:t>
            </a:r>
            <a:r>
              <a:rPr lang="en-US" sz="2800" b="1" dirty="0">
                <a:solidFill>
                  <a:srgbClr val="FF0000"/>
                </a:solidFill>
              </a:rPr>
              <a:t>physical page number </a:t>
            </a:r>
            <a:r>
              <a:rPr lang="en-US" sz="2800" dirty="0"/>
              <a:t>and </a:t>
            </a:r>
            <a:r>
              <a:rPr lang="en-US" sz="2800" b="1" dirty="0">
                <a:solidFill>
                  <a:srgbClr val="FF0000"/>
                </a:solidFill>
              </a:rPr>
              <a:t>a valid bit. </a:t>
            </a:r>
            <a:endParaRPr lang="en-US" sz="2800" b="1" dirty="0" smtClean="0">
              <a:solidFill>
                <a:srgbClr val="FF0000"/>
              </a:solidFill>
            </a:endParaRPr>
          </a:p>
          <a:p>
            <a:endParaRPr lang="en-US" sz="2800" dirty="0" smtClean="0"/>
          </a:p>
          <a:p>
            <a:pPr marL="457200" indent="-457200">
              <a:buFont typeface="Arial" pitchFamily="34" charset="0"/>
              <a:buChar char="•"/>
            </a:pPr>
            <a:r>
              <a:rPr lang="en-US" sz="2800" b="1" dirty="0" smtClean="0"/>
              <a:t>If </a:t>
            </a:r>
            <a:r>
              <a:rPr lang="en-US" sz="2800" b="1" dirty="0"/>
              <a:t>the valid </a:t>
            </a:r>
            <a:r>
              <a:rPr lang="en-US" sz="2800" b="1" dirty="0" smtClean="0"/>
              <a:t>bit </a:t>
            </a:r>
            <a:r>
              <a:rPr lang="en-US" sz="2800" b="1" dirty="0"/>
              <a:t>is 1</a:t>
            </a:r>
            <a:r>
              <a:rPr lang="en-US" sz="2800" dirty="0"/>
              <a:t>, </a:t>
            </a:r>
            <a:r>
              <a:rPr lang="en-US" sz="2800" b="1" dirty="0">
                <a:solidFill>
                  <a:srgbClr val="FF0000"/>
                </a:solidFill>
              </a:rPr>
              <a:t>the virtual page maps to the physical page </a:t>
            </a:r>
            <a:r>
              <a:rPr lang="en-US" sz="2800" dirty="0"/>
              <a:t>specified in the entry</a:t>
            </a:r>
            <a:r>
              <a:rPr lang="en-US" sz="2800" dirty="0" smtClean="0"/>
              <a:t>.</a:t>
            </a:r>
          </a:p>
          <a:p>
            <a:endParaRPr lang="en-US" sz="2800" dirty="0"/>
          </a:p>
          <a:p>
            <a:pPr marL="457200" indent="-457200">
              <a:buFont typeface="Arial" pitchFamily="34" charset="0"/>
              <a:buChar char="•"/>
            </a:pPr>
            <a:r>
              <a:rPr lang="en-US" sz="2800" b="1" dirty="0"/>
              <a:t>Otherwise,</a:t>
            </a:r>
            <a:r>
              <a:rPr lang="en-US" sz="2800" dirty="0"/>
              <a:t> the virtual page is found on the hard drive</a:t>
            </a:r>
            <a:r>
              <a:rPr lang="en-US" sz="2800" dirty="0" smtClean="0"/>
              <a:t>.</a:t>
            </a:r>
          </a:p>
          <a:p>
            <a:endParaRPr lang="en-US" sz="2800" dirty="0" smtClean="0"/>
          </a:p>
          <a:p>
            <a:pPr marL="457200" indent="-457200">
              <a:buFont typeface="Arial" pitchFamily="34" charset="0"/>
              <a:buChar char="•"/>
            </a:pPr>
            <a:r>
              <a:rPr lang="en-US" sz="2800" dirty="0"/>
              <a:t>Because the page table is so large, it is </a:t>
            </a:r>
            <a:r>
              <a:rPr lang="en-US" sz="2800" b="1" dirty="0"/>
              <a:t>stored in physical memory</a:t>
            </a:r>
            <a:r>
              <a:rPr lang="en-US" sz="2800" b="1" dirty="0" smtClean="0"/>
              <a:t>.</a:t>
            </a:r>
          </a:p>
          <a:p>
            <a:endParaRPr lang="en-US" sz="2800" b="1" dirty="0"/>
          </a:p>
        </p:txBody>
      </p:sp>
    </p:spTree>
    <p:extLst>
      <p:ext uri="{BB962C8B-B14F-4D97-AF65-F5344CB8AC3E}">
        <p14:creationId xmlns:p14="http://schemas.microsoft.com/office/powerpoint/2010/main" val="305728831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The Page Table</a:t>
            </a:r>
            <a:r>
              <a:rPr lang="en-IN" b="1" dirty="0" smtClean="0"/>
              <a:t>: 545</a:t>
            </a:r>
            <a:endParaRPr lang="en-IN" b="1" dirty="0"/>
          </a:p>
        </p:txBody>
      </p:sp>
      <p:sp>
        <p:nvSpPr>
          <p:cNvPr id="4" name="Rectangle 3"/>
          <p:cNvSpPr/>
          <p:nvPr/>
        </p:nvSpPr>
        <p:spPr>
          <a:xfrm>
            <a:off x="138544" y="543322"/>
            <a:ext cx="11843281" cy="3970318"/>
          </a:xfrm>
          <a:prstGeom prst="rect">
            <a:avLst/>
          </a:prstGeom>
        </p:spPr>
        <p:txBody>
          <a:bodyPr wrap="square">
            <a:spAutoFit/>
          </a:bodyPr>
          <a:lstStyle/>
          <a:p>
            <a:pPr marL="457200" indent="-457200">
              <a:buFont typeface="Arial" pitchFamily="34" charset="0"/>
              <a:buChar char="•"/>
            </a:pPr>
            <a:r>
              <a:rPr lang="en-US" sz="2800" dirty="0" smtClean="0"/>
              <a:t>Let </a:t>
            </a:r>
            <a:r>
              <a:rPr lang="en-US" sz="2800" dirty="0"/>
              <a:t>us assume </a:t>
            </a:r>
            <a:r>
              <a:rPr lang="en-US" sz="2800" dirty="0" smtClean="0"/>
              <a:t>that </a:t>
            </a:r>
            <a:r>
              <a:rPr lang="en-US" sz="2800" dirty="0"/>
              <a:t>it is stored as a contiguous array, as shown </a:t>
            </a:r>
            <a:r>
              <a:rPr lang="en-US" sz="2800" dirty="0" smtClean="0"/>
              <a:t>in Figure </a:t>
            </a:r>
            <a:r>
              <a:rPr lang="en-US" sz="2800" dirty="0"/>
              <a:t>8.23.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This </a:t>
            </a:r>
            <a:r>
              <a:rPr lang="en-US" sz="2800" dirty="0"/>
              <a:t>page table contains the mapping of the memory </a:t>
            </a:r>
            <a:r>
              <a:rPr lang="en-US" sz="2800" dirty="0" smtClean="0"/>
              <a:t>system of </a:t>
            </a:r>
            <a:r>
              <a:rPr lang="en-US" sz="2800" dirty="0"/>
              <a:t>Figure 8.21.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b="1" dirty="0"/>
              <a:t>page table is indexed with the virtual page </a:t>
            </a:r>
            <a:r>
              <a:rPr lang="en-US" sz="2800" b="1" dirty="0" smtClean="0"/>
              <a:t>number </a:t>
            </a:r>
            <a:r>
              <a:rPr lang="en-US" sz="2800" dirty="0" smtClean="0"/>
              <a:t>(VPN</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For </a:t>
            </a:r>
            <a:r>
              <a:rPr lang="en-US" sz="2800" dirty="0"/>
              <a:t>example, entry 5 specifies that virtual page 5 maps to </a:t>
            </a:r>
            <a:r>
              <a:rPr lang="en-US" sz="2800" dirty="0" smtClean="0"/>
              <a:t>physical page </a:t>
            </a:r>
            <a:r>
              <a:rPr lang="en-US" sz="2800" dirty="0"/>
              <a:t>1</a:t>
            </a:r>
            <a:r>
              <a:rPr lang="en-US" sz="2800" dirty="0" smtClean="0"/>
              <a:t>.</a:t>
            </a:r>
          </a:p>
          <a:p>
            <a:pPr marL="457200" indent="-457200">
              <a:buFont typeface="Arial" pitchFamily="34" charset="0"/>
              <a:buChar char="•"/>
            </a:pPr>
            <a:endParaRPr lang="en-US" sz="2800" dirty="0"/>
          </a:p>
          <a:p>
            <a:pPr marL="457200" indent="-457200">
              <a:buFont typeface="Arial" pitchFamily="34" charset="0"/>
              <a:buChar char="•"/>
            </a:pPr>
            <a:r>
              <a:rPr lang="en-US" sz="2800" dirty="0" smtClean="0"/>
              <a:t> </a:t>
            </a:r>
            <a:r>
              <a:rPr lang="en-US" sz="2800" dirty="0"/>
              <a:t>Entry 6 is invalid (</a:t>
            </a:r>
            <a:r>
              <a:rPr lang="en-US" sz="2800" i="1" dirty="0"/>
              <a:t>V </a:t>
            </a:r>
            <a:r>
              <a:rPr lang="en-US" sz="2800" dirty="0"/>
              <a:t>= 0), so virtual page 6 is located on </a:t>
            </a:r>
            <a:r>
              <a:rPr lang="en-US" sz="2800" dirty="0" smtClean="0"/>
              <a:t>the </a:t>
            </a:r>
            <a:r>
              <a:rPr lang="en-IN" sz="2800" dirty="0" smtClean="0"/>
              <a:t>hard </a:t>
            </a:r>
            <a:r>
              <a:rPr lang="en-IN" sz="2800" dirty="0"/>
              <a:t>drive.</a:t>
            </a:r>
            <a:endParaRPr lang="en-US" sz="2800" dirty="0"/>
          </a:p>
        </p:txBody>
      </p:sp>
    </p:spTree>
    <p:extLst>
      <p:ext uri="{BB962C8B-B14F-4D97-AF65-F5344CB8AC3E}">
        <p14:creationId xmlns:p14="http://schemas.microsoft.com/office/powerpoint/2010/main" val="15486794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484" t="32523" r="51776" b="16654"/>
          <a:stretch/>
        </p:blipFill>
        <p:spPr bwMode="auto">
          <a:xfrm>
            <a:off x="3543415" y="17791"/>
            <a:ext cx="3753235" cy="6813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67915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The Page Table</a:t>
            </a:r>
            <a:r>
              <a:rPr lang="en-IN" b="1" dirty="0" smtClean="0"/>
              <a:t>: 545</a:t>
            </a:r>
            <a:endParaRPr lang="en-IN" b="1" dirty="0"/>
          </a:p>
        </p:txBody>
      </p:sp>
      <p:sp>
        <p:nvSpPr>
          <p:cNvPr id="4" name="Rectangle 3"/>
          <p:cNvSpPr/>
          <p:nvPr/>
        </p:nvSpPr>
        <p:spPr>
          <a:xfrm>
            <a:off x="138544" y="543322"/>
            <a:ext cx="11843281" cy="5693866"/>
          </a:xfrm>
          <a:prstGeom prst="rect">
            <a:avLst/>
          </a:prstGeom>
        </p:spPr>
        <p:txBody>
          <a:bodyPr wrap="square">
            <a:spAutoFit/>
          </a:bodyPr>
          <a:lstStyle/>
          <a:p>
            <a:pPr marL="457200" indent="-457200">
              <a:buFont typeface="Arial" pitchFamily="34" charset="0"/>
              <a:buChar char="•"/>
            </a:pPr>
            <a:r>
              <a:rPr lang="en-US" sz="2800" dirty="0"/>
              <a:t>The page table </a:t>
            </a:r>
            <a:r>
              <a:rPr lang="en-US" sz="2800" b="1" dirty="0"/>
              <a:t>can be stored anywhere in physical memory </a:t>
            </a:r>
            <a:r>
              <a:rPr lang="en-US" sz="2800" dirty="0"/>
              <a:t>at </a:t>
            </a:r>
            <a:r>
              <a:rPr lang="en-US" sz="2800" dirty="0" smtClean="0"/>
              <a:t>the discretion </a:t>
            </a:r>
            <a:r>
              <a:rPr lang="en-US" sz="2800" dirty="0"/>
              <a:t>of the OS.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processor typically uses a dedicated </a:t>
            </a:r>
            <a:r>
              <a:rPr lang="en-US" sz="2800" dirty="0" smtClean="0"/>
              <a:t>register, called </a:t>
            </a:r>
            <a:r>
              <a:rPr lang="en-US" sz="2800" dirty="0"/>
              <a:t>the </a:t>
            </a:r>
            <a:r>
              <a:rPr lang="en-US" sz="2800" b="1" i="1" dirty="0"/>
              <a:t>page table register</a:t>
            </a:r>
            <a:r>
              <a:rPr lang="en-US" sz="2800" b="1" dirty="0"/>
              <a:t>, </a:t>
            </a:r>
            <a:r>
              <a:rPr lang="en-US" sz="2800" dirty="0"/>
              <a:t>to store the </a:t>
            </a:r>
            <a:r>
              <a:rPr lang="en-US" sz="2800" b="1" dirty="0"/>
              <a:t>base address of the page </a:t>
            </a:r>
            <a:r>
              <a:rPr lang="en-US" sz="2800" b="1" dirty="0" smtClean="0"/>
              <a:t>table </a:t>
            </a:r>
            <a:r>
              <a:rPr lang="en-IN" sz="2800" dirty="0" smtClean="0"/>
              <a:t>in </a:t>
            </a:r>
            <a:r>
              <a:rPr lang="en-IN" sz="2800" dirty="0"/>
              <a:t>physical memory</a:t>
            </a:r>
            <a:r>
              <a:rPr lang="en-IN" sz="2800" dirty="0" smtClean="0"/>
              <a:t>.</a:t>
            </a:r>
          </a:p>
          <a:p>
            <a:pPr marL="457200" indent="-457200">
              <a:buFont typeface="Arial" pitchFamily="34" charset="0"/>
              <a:buChar char="•"/>
            </a:pPr>
            <a:endParaRPr lang="en-IN" sz="2800" dirty="0" smtClean="0"/>
          </a:p>
          <a:p>
            <a:pPr marL="457200" indent="-457200">
              <a:buFont typeface="Arial" pitchFamily="34" charset="0"/>
              <a:buChar char="•"/>
            </a:pPr>
            <a:r>
              <a:rPr lang="en-US" sz="2800" dirty="0"/>
              <a:t>To perform a load or store, the processor must </a:t>
            </a:r>
            <a:r>
              <a:rPr lang="en-US" sz="2800" b="1" dirty="0"/>
              <a:t>first translate </a:t>
            </a:r>
            <a:r>
              <a:rPr lang="en-US" sz="2800" b="1" dirty="0" smtClean="0"/>
              <a:t>the virtual </a:t>
            </a:r>
            <a:r>
              <a:rPr lang="en-US" sz="2800" b="1" dirty="0"/>
              <a:t>address to a physical addres</a:t>
            </a:r>
            <a:r>
              <a:rPr lang="en-US" sz="2800" dirty="0"/>
              <a:t>s and then access the data at </a:t>
            </a:r>
            <a:r>
              <a:rPr lang="en-US" sz="2800" dirty="0" smtClean="0"/>
              <a:t>that physical </a:t>
            </a:r>
            <a:r>
              <a:rPr lang="en-US" sz="2800" dirty="0"/>
              <a:t>address.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processor </a:t>
            </a:r>
            <a:r>
              <a:rPr lang="en-US" sz="2800" b="1" dirty="0"/>
              <a:t>extracts the virtual page number </a:t>
            </a:r>
            <a:r>
              <a:rPr lang="en-US" sz="2800" dirty="0" smtClean="0"/>
              <a:t>from the </a:t>
            </a:r>
            <a:r>
              <a:rPr lang="en-US" sz="2800" dirty="0"/>
              <a:t>virtual address and </a:t>
            </a:r>
            <a:r>
              <a:rPr lang="en-US" sz="2800" b="1" dirty="0"/>
              <a:t>adds it to the page table register </a:t>
            </a:r>
            <a:r>
              <a:rPr lang="en-US" sz="2800" dirty="0"/>
              <a:t>to find </a:t>
            </a:r>
            <a:r>
              <a:rPr lang="en-US" sz="2800" dirty="0" smtClean="0"/>
              <a:t>the </a:t>
            </a:r>
            <a:r>
              <a:rPr lang="en-US" sz="2800" b="1" dirty="0" smtClean="0"/>
              <a:t>physical </a:t>
            </a:r>
            <a:r>
              <a:rPr lang="en-US" sz="2800" b="1" dirty="0"/>
              <a:t>address of the page table entry. </a:t>
            </a:r>
            <a:endParaRPr lang="en-US" sz="2800" b="1" dirty="0" smtClean="0"/>
          </a:p>
        </p:txBody>
      </p:sp>
    </p:spTree>
    <p:extLst>
      <p:ext uri="{BB962C8B-B14F-4D97-AF65-F5344CB8AC3E}">
        <p14:creationId xmlns:p14="http://schemas.microsoft.com/office/powerpoint/2010/main" val="170442582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The Page Table</a:t>
            </a:r>
            <a:r>
              <a:rPr lang="en-IN" b="1" dirty="0" smtClean="0"/>
              <a:t>: 545</a:t>
            </a:r>
            <a:endParaRPr lang="en-IN" b="1" dirty="0"/>
          </a:p>
        </p:txBody>
      </p:sp>
      <p:sp>
        <p:nvSpPr>
          <p:cNvPr id="4" name="Rectangle 3"/>
          <p:cNvSpPr/>
          <p:nvPr/>
        </p:nvSpPr>
        <p:spPr>
          <a:xfrm>
            <a:off x="138544" y="543322"/>
            <a:ext cx="11843281" cy="4832092"/>
          </a:xfrm>
          <a:prstGeom prst="rect">
            <a:avLst/>
          </a:prstGeom>
        </p:spPr>
        <p:txBody>
          <a:bodyPr wrap="square">
            <a:spAutoFit/>
          </a:bodyPr>
          <a:lstStyle/>
          <a:p>
            <a:pPr marL="457200" indent="-457200">
              <a:buFont typeface="Arial" pitchFamily="34" charset="0"/>
              <a:buChar char="•"/>
            </a:pPr>
            <a:r>
              <a:rPr lang="en-US" sz="2800" dirty="0" smtClean="0"/>
              <a:t>The </a:t>
            </a:r>
            <a:r>
              <a:rPr lang="en-US" sz="2800" dirty="0"/>
              <a:t>processor then </a:t>
            </a:r>
            <a:r>
              <a:rPr lang="en-US" sz="2800" b="1" dirty="0"/>
              <a:t>reads </a:t>
            </a:r>
            <a:r>
              <a:rPr lang="en-US" sz="2800" b="1" dirty="0" smtClean="0"/>
              <a:t>this page </a:t>
            </a:r>
            <a:r>
              <a:rPr lang="en-US" sz="2800" b="1" dirty="0"/>
              <a:t>table entry </a:t>
            </a:r>
            <a:r>
              <a:rPr lang="en-US" sz="2800" dirty="0"/>
              <a:t>from physical memory to obtain the </a:t>
            </a:r>
            <a:r>
              <a:rPr lang="en-US" sz="2800" b="1" dirty="0"/>
              <a:t>physical </a:t>
            </a:r>
            <a:r>
              <a:rPr lang="en-US" sz="2800" b="1" dirty="0" smtClean="0"/>
              <a:t>page number</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If </a:t>
            </a:r>
            <a:r>
              <a:rPr lang="en-US" sz="2800" dirty="0"/>
              <a:t>the </a:t>
            </a:r>
            <a:r>
              <a:rPr lang="en-US" sz="2800" b="1" dirty="0"/>
              <a:t>entry is valid</a:t>
            </a:r>
            <a:r>
              <a:rPr lang="en-US" sz="2800" dirty="0"/>
              <a:t>, it </a:t>
            </a:r>
            <a:r>
              <a:rPr lang="en-US" sz="2800" b="1" dirty="0"/>
              <a:t>merges this physical page number </a:t>
            </a:r>
            <a:r>
              <a:rPr lang="en-US" sz="2800" dirty="0" smtClean="0"/>
              <a:t>with the </a:t>
            </a:r>
            <a:r>
              <a:rPr lang="en-US" sz="2800" b="1" dirty="0"/>
              <a:t>page offset</a:t>
            </a:r>
            <a:r>
              <a:rPr lang="en-US" sz="2800" dirty="0"/>
              <a:t> </a:t>
            </a:r>
            <a:r>
              <a:rPr lang="en-US" sz="2800" dirty="0">
                <a:solidFill>
                  <a:srgbClr val="FF0000"/>
                </a:solidFill>
              </a:rPr>
              <a:t>to create the </a:t>
            </a:r>
            <a:r>
              <a:rPr lang="en-US" sz="2800" b="1" dirty="0">
                <a:solidFill>
                  <a:srgbClr val="FF0000"/>
                </a:solidFill>
              </a:rPr>
              <a:t>physical address. </a:t>
            </a:r>
            <a:endParaRPr lang="en-US" sz="2800" b="1" dirty="0" smtClean="0">
              <a:solidFill>
                <a:srgbClr val="FF0000"/>
              </a:solidFill>
            </a:endParaRPr>
          </a:p>
          <a:p>
            <a:pPr marL="457200" indent="-457200">
              <a:buFont typeface="Arial" pitchFamily="34" charset="0"/>
              <a:buChar char="•"/>
            </a:pPr>
            <a:endParaRPr lang="en-US" sz="2800" dirty="0">
              <a:solidFill>
                <a:srgbClr val="FF0000"/>
              </a:solidFill>
            </a:endParaRPr>
          </a:p>
          <a:p>
            <a:pPr marL="457200" indent="-457200">
              <a:buFont typeface="Arial" pitchFamily="34" charset="0"/>
              <a:buChar char="•"/>
            </a:pPr>
            <a:r>
              <a:rPr lang="en-US" sz="2800" dirty="0" smtClean="0"/>
              <a:t>Finally</a:t>
            </a:r>
            <a:r>
              <a:rPr lang="en-US" sz="2800" dirty="0"/>
              <a:t>, it reads or </a:t>
            </a:r>
            <a:r>
              <a:rPr lang="en-US" sz="2800" dirty="0" smtClean="0"/>
              <a:t>writes data </a:t>
            </a:r>
            <a:r>
              <a:rPr lang="en-US" sz="2800" dirty="0"/>
              <a:t>at this physical address.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Because </a:t>
            </a:r>
            <a:r>
              <a:rPr lang="en-US" sz="2800" dirty="0"/>
              <a:t>the page table is stored in </a:t>
            </a:r>
            <a:r>
              <a:rPr lang="en-US" sz="2800" dirty="0" smtClean="0"/>
              <a:t>physical memory</a:t>
            </a:r>
            <a:r>
              <a:rPr lang="en-US" sz="2800" dirty="0"/>
              <a:t>, </a:t>
            </a:r>
            <a:r>
              <a:rPr lang="en-US" sz="2800" b="1" dirty="0"/>
              <a:t>each load or store involves </a:t>
            </a:r>
            <a:r>
              <a:rPr lang="en-US" sz="2800" b="1" dirty="0">
                <a:solidFill>
                  <a:srgbClr val="FF0000"/>
                </a:solidFill>
              </a:rPr>
              <a:t>two physical memory accesses</a:t>
            </a:r>
            <a:r>
              <a:rPr lang="en-US" sz="2800" b="1" dirty="0"/>
              <a:t>.</a:t>
            </a:r>
            <a:endParaRPr lang="en-IN" sz="2800" b="1" dirty="0"/>
          </a:p>
          <a:p>
            <a:pPr marL="457200" indent="-457200">
              <a:buFont typeface="Arial" pitchFamily="34" charset="0"/>
              <a:buChar char="•"/>
            </a:pPr>
            <a:endParaRPr lang="en-US" sz="2800" dirty="0"/>
          </a:p>
        </p:txBody>
      </p:sp>
    </p:spTree>
    <p:extLst>
      <p:ext uri="{BB962C8B-B14F-4D97-AF65-F5344CB8AC3E}">
        <p14:creationId xmlns:p14="http://schemas.microsoft.com/office/powerpoint/2010/main" val="354240791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3" y="71374"/>
            <a:ext cx="11843281" cy="2246769"/>
          </a:xfrm>
          <a:prstGeom prst="rect">
            <a:avLst/>
          </a:prstGeom>
        </p:spPr>
        <p:txBody>
          <a:bodyPr wrap="square">
            <a:spAutoFit/>
          </a:bodyPr>
          <a:lstStyle/>
          <a:p>
            <a:r>
              <a:rPr lang="en-US" sz="2800" dirty="0"/>
              <a:t>Example 8.14 </a:t>
            </a:r>
            <a:endParaRPr lang="en-US" sz="2800" dirty="0" smtClean="0"/>
          </a:p>
          <a:p>
            <a:r>
              <a:rPr lang="en-US" sz="2800" dirty="0" smtClean="0"/>
              <a:t>USING </a:t>
            </a:r>
            <a:r>
              <a:rPr lang="en-US" sz="2800" dirty="0"/>
              <a:t>THE PAGE TABLE TO PERFORM </a:t>
            </a:r>
            <a:r>
              <a:rPr lang="en-US" sz="2800" dirty="0" smtClean="0"/>
              <a:t>ADDRESS </a:t>
            </a:r>
            <a:r>
              <a:rPr lang="en-IN" sz="2800" dirty="0" smtClean="0"/>
              <a:t>TRANSLATION</a:t>
            </a:r>
          </a:p>
          <a:p>
            <a:endParaRPr lang="en-IN" sz="2800" dirty="0"/>
          </a:p>
          <a:p>
            <a:r>
              <a:rPr lang="en-US" sz="2800" dirty="0"/>
              <a:t>Find the physical address of virtual address 0x247C using the page table shown</a:t>
            </a:r>
          </a:p>
          <a:p>
            <a:r>
              <a:rPr lang="en-IN" sz="2800" dirty="0"/>
              <a:t>in Figure 8.23.</a:t>
            </a:r>
            <a:endParaRPr lang="en-US" sz="2800" dirty="0"/>
          </a:p>
        </p:txBody>
      </p:sp>
    </p:spTree>
    <p:extLst>
      <p:ext uri="{BB962C8B-B14F-4D97-AF65-F5344CB8AC3E}">
        <p14:creationId xmlns:p14="http://schemas.microsoft.com/office/powerpoint/2010/main" val="13313956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3" y="71374"/>
            <a:ext cx="11843281" cy="4832092"/>
          </a:xfrm>
          <a:prstGeom prst="rect">
            <a:avLst/>
          </a:prstGeom>
        </p:spPr>
        <p:txBody>
          <a:bodyPr wrap="square">
            <a:spAutoFit/>
          </a:bodyPr>
          <a:lstStyle/>
          <a:p>
            <a:r>
              <a:rPr lang="en-US" sz="2800" b="1" dirty="0" smtClean="0"/>
              <a:t>Solution:</a:t>
            </a:r>
          </a:p>
          <a:p>
            <a:endParaRPr lang="en-US" sz="2800" b="1" dirty="0"/>
          </a:p>
          <a:p>
            <a:r>
              <a:rPr lang="en-US" sz="2800" dirty="0" smtClean="0"/>
              <a:t>Figure </a:t>
            </a:r>
            <a:r>
              <a:rPr lang="en-US" sz="2800" dirty="0"/>
              <a:t>8.24 shows the virtual address to physical address translation for</a:t>
            </a:r>
          </a:p>
          <a:p>
            <a:r>
              <a:rPr lang="en-US" sz="2800" dirty="0"/>
              <a:t>virtual address 0x247C. </a:t>
            </a:r>
            <a:endParaRPr lang="en-US" sz="2800" dirty="0" smtClean="0"/>
          </a:p>
          <a:p>
            <a:r>
              <a:rPr lang="en-US" sz="2800" dirty="0" smtClean="0"/>
              <a:t>The </a:t>
            </a:r>
            <a:r>
              <a:rPr lang="en-US" sz="2800" dirty="0"/>
              <a:t>12-bit page offset requires no translation. </a:t>
            </a:r>
            <a:endParaRPr lang="en-US" sz="2800" dirty="0" smtClean="0"/>
          </a:p>
          <a:p>
            <a:r>
              <a:rPr lang="en-US" sz="2800" dirty="0" smtClean="0"/>
              <a:t>The remaining 19 </a:t>
            </a:r>
            <a:r>
              <a:rPr lang="en-US" sz="2800" dirty="0"/>
              <a:t>bits of the virtual address are the virtual page number, 0x2, and give </a:t>
            </a:r>
            <a:r>
              <a:rPr lang="en-US" sz="2800" dirty="0" smtClean="0"/>
              <a:t>the index </a:t>
            </a:r>
            <a:r>
              <a:rPr lang="en-US" sz="2800" dirty="0"/>
              <a:t>into the page table. </a:t>
            </a:r>
            <a:endParaRPr lang="en-US" sz="2800" dirty="0" smtClean="0"/>
          </a:p>
          <a:p>
            <a:r>
              <a:rPr lang="en-US" sz="2800" dirty="0" smtClean="0"/>
              <a:t>The </a:t>
            </a:r>
            <a:r>
              <a:rPr lang="en-US" sz="2800" dirty="0"/>
              <a:t>page table maps virtual page 0x2 to physical </a:t>
            </a:r>
            <a:r>
              <a:rPr lang="en-US" sz="2800" dirty="0" smtClean="0"/>
              <a:t>page 0x7FFF</a:t>
            </a:r>
            <a:r>
              <a:rPr lang="en-US" sz="2800" dirty="0"/>
              <a:t>. </a:t>
            </a:r>
            <a:endParaRPr lang="en-US" sz="2800" dirty="0" smtClean="0"/>
          </a:p>
          <a:p>
            <a:r>
              <a:rPr lang="en-US" sz="2800" dirty="0" smtClean="0"/>
              <a:t>So</a:t>
            </a:r>
            <a:r>
              <a:rPr lang="en-US" sz="2800" dirty="0"/>
              <a:t>, virtual address 0x247C maps to physical address 0x7FFF47C. </a:t>
            </a:r>
            <a:endParaRPr lang="en-US" sz="2800" dirty="0" smtClean="0"/>
          </a:p>
          <a:p>
            <a:r>
              <a:rPr lang="en-US" sz="2800" dirty="0" smtClean="0"/>
              <a:t>The </a:t>
            </a:r>
            <a:r>
              <a:rPr lang="en-US" sz="2800" dirty="0"/>
              <a:t>least significant 12 bits are the same in both the physical and the virtual address.</a:t>
            </a:r>
          </a:p>
        </p:txBody>
      </p:sp>
    </p:spTree>
    <p:extLst>
      <p:ext uri="{BB962C8B-B14F-4D97-AF65-F5344CB8AC3E}">
        <p14:creationId xmlns:p14="http://schemas.microsoft.com/office/powerpoint/2010/main" val="372085016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485" t="21755" r="20053" b="25698"/>
          <a:stretch/>
        </p:blipFill>
        <p:spPr bwMode="auto">
          <a:xfrm>
            <a:off x="575186" y="280219"/>
            <a:ext cx="10471356" cy="6517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30979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The Page Table</a:t>
            </a:r>
            <a:r>
              <a:rPr lang="en-IN" b="1" dirty="0" smtClean="0"/>
              <a:t>: 545</a:t>
            </a:r>
            <a:endParaRPr lang="en-IN" b="1" dirty="0"/>
          </a:p>
        </p:txBody>
      </p:sp>
      <p:sp>
        <p:nvSpPr>
          <p:cNvPr id="4" name="Rectangle 3"/>
          <p:cNvSpPr/>
          <p:nvPr/>
        </p:nvSpPr>
        <p:spPr>
          <a:xfrm>
            <a:off x="138544" y="543322"/>
            <a:ext cx="11843281" cy="4832092"/>
          </a:xfrm>
          <a:prstGeom prst="rect">
            <a:avLst/>
          </a:prstGeom>
        </p:spPr>
        <p:txBody>
          <a:bodyPr wrap="square">
            <a:spAutoFit/>
          </a:bodyPr>
          <a:lstStyle/>
          <a:p>
            <a:pPr marL="457200" indent="-457200">
              <a:buFont typeface="Arial" pitchFamily="34" charset="0"/>
              <a:buChar char="•"/>
            </a:pPr>
            <a:r>
              <a:rPr lang="en-US" sz="2800" dirty="0" smtClean="0"/>
              <a:t>The </a:t>
            </a:r>
            <a:r>
              <a:rPr lang="en-US" sz="2800" dirty="0"/>
              <a:t>processor then </a:t>
            </a:r>
            <a:r>
              <a:rPr lang="en-US" sz="2800" b="1" dirty="0"/>
              <a:t>reads </a:t>
            </a:r>
            <a:r>
              <a:rPr lang="en-US" sz="2800" b="1" dirty="0" smtClean="0"/>
              <a:t>this page </a:t>
            </a:r>
            <a:r>
              <a:rPr lang="en-US" sz="2800" b="1" dirty="0"/>
              <a:t>table entry </a:t>
            </a:r>
            <a:r>
              <a:rPr lang="en-US" sz="2800" dirty="0"/>
              <a:t>from physical memory to obtain the </a:t>
            </a:r>
            <a:r>
              <a:rPr lang="en-US" sz="2800" b="1" dirty="0"/>
              <a:t>physical </a:t>
            </a:r>
            <a:r>
              <a:rPr lang="en-US" sz="2800" b="1" dirty="0" smtClean="0"/>
              <a:t>page number</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If </a:t>
            </a:r>
            <a:r>
              <a:rPr lang="en-US" sz="2800" dirty="0"/>
              <a:t>the </a:t>
            </a:r>
            <a:r>
              <a:rPr lang="en-US" sz="2800" b="1" dirty="0"/>
              <a:t>entry is valid</a:t>
            </a:r>
            <a:r>
              <a:rPr lang="en-US" sz="2800" dirty="0"/>
              <a:t>, it </a:t>
            </a:r>
            <a:r>
              <a:rPr lang="en-US" sz="2800" b="1" dirty="0"/>
              <a:t>merges this physical page number </a:t>
            </a:r>
            <a:r>
              <a:rPr lang="en-US" sz="2800" dirty="0" smtClean="0"/>
              <a:t>with the </a:t>
            </a:r>
            <a:r>
              <a:rPr lang="en-US" sz="2800" b="1" dirty="0"/>
              <a:t>page offset</a:t>
            </a:r>
            <a:r>
              <a:rPr lang="en-US" sz="2800" dirty="0"/>
              <a:t> </a:t>
            </a:r>
            <a:r>
              <a:rPr lang="en-US" sz="2800" dirty="0">
                <a:solidFill>
                  <a:srgbClr val="FF0000"/>
                </a:solidFill>
              </a:rPr>
              <a:t>to create the </a:t>
            </a:r>
            <a:r>
              <a:rPr lang="en-US" sz="2800" b="1" dirty="0">
                <a:solidFill>
                  <a:srgbClr val="FF0000"/>
                </a:solidFill>
              </a:rPr>
              <a:t>physical address. </a:t>
            </a:r>
            <a:endParaRPr lang="en-US" sz="2800" b="1" dirty="0" smtClean="0">
              <a:solidFill>
                <a:srgbClr val="FF0000"/>
              </a:solidFill>
            </a:endParaRPr>
          </a:p>
          <a:p>
            <a:pPr marL="457200" indent="-457200">
              <a:buFont typeface="Arial" pitchFamily="34" charset="0"/>
              <a:buChar char="•"/>
            </a:pPr>
            <a:endParaRPr lang="en-US" sz="2800" dirty="0">
              <a:solidFill>
                <a:srgbClr val="FF0000"/>
              </a:solidFill>
            </a:endParaRPr>
          </a:p>
          <a:p>
            <a:pPr marL="457200" indent="-457200">
              <a:buFont typeface="Arial" pitchFamily="34" charset="0"/>
              <a:buChar char="•"/>
            </a:pPr>
            <a:r>
              <a:rPr lang="en-US" sz="2800" dirty="0" smtClean="0"/>
              <a:t>Finally</a:t>
            </a:r>
            <a:r>
              <a:rPr lang="en-US" sz="2800" dirty="0"/>
              <a:t>, it reads or </a:t>
            </a:r>
            <a:r>
              <a:rPr lang="en-US" sz="2800" dirty="0" smtClean="0"/>
              <a:t>writes data </a:t>
            </a:r>
            <a:r>
              <a:rPr lang="en-US" sz="2800" dirty="0"/>
              <a:t>at this physical address.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Because </a:t>
            </a:r>
            <a:r>
              <a:rPr lang="en-US" sz="2800" dirty="0"/>
              <a:t>the page table is stored in </a:t>
            </a:r>
            <a:r>
              <a:rPr lang="en-US" sz="2800" dirty="0" smtClean="0"/>
              <a:t>physical memory</a:t>
            </a:r>
            <a:r>
              <a:rPr lang="en-US" sz="2800" dirty="0"/>
              <a:t>, </a:t>
            </a:r>
            <a:r>
              <a:rPr lang="en-US" sz="2800" b="1" dirty="0"/>
              <a:t>each load or store involves </a:t>
            </a:r>
            <a:r>
              <a:rPr lang="en-US" sz="2800" b="1" dirty="0">
                <a:solidFill>
                  <a:srgbClr val="FF0000"/>
                </a:solidFill>
              </a:rPr>
              <a:t>two physical memory accesses</a:t>
            </a:r>
            <a:r>
              <a:rPr lang="en-US" sz="2800" b="1" dirty="0"/>
              <a:t>.</a:t>
            </a:r>
            <a:endParaRPr lang="en-IN" sz="2800" b="1" dirty="0"/>
          </a:p>
          <a:p>
            <a:pPr marL="457200" indent="-457200">
              <a:buFont typeface="Arial" pitchFamily="34" charset="0"/>
              <a:buChar char="•"/>
            </a:pPr>
            <a:endParaRPr lang="en-US" sz="2800" dirty="0"/>
          </a:p>
        </p:txBody>
      </p:sp>
    </p:spTree>
    <p:extLst>
      <p:ext uri="{BB962C8B-B14F-4D97-AF65-F5344CB8AC3E}">
        <p14:creationId xmlns:p14="http://schemas.microsoft.com/office/powerpoint/2010/main" val="200335318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The Translation </a:t>
            </a:r>
            <a:r>
              <a:rPr lang="en-IN" b="1" dirty="0" err="1"/>
              <a:t>Lookaside</a:t>
            </a:r>
            <a:r>
              <a:rPr lang="en-IN" b="1" dirty="0"/>
              <a:t> Buffer</a:t>
            </a:r>
            <a:r>
              <a:rPr lang="en-IN" b="1" dirty="0" smtClean="0"/>
              <a:t>: 547</a:t>
            </a:r>
            <a:endParaRPr lang="en-IN" b="1" dirty="0"/>
          </a:p>
        </p:txBody>
      </p:sp>
      <p:sp>
        <p:nvSpPr>
          <p:cNvPr id="4" name="Rectangle 3"/>
          <p:cNvSpPr/>
          <p:nvPr/>
        </p:nvSpPr>
        <p:spPr>
          <a:xfrm>
            <a:off x="138544" y="543322"/>
            <a:ext cx="11843281" cy="6124754"/>
          </a:xfrm>
          <a:prstGeom prst="rect">
            <a:avLst/>
          </a:prstGeom>
        </p:spPr>
        <p:txBody>
          <a:bodyPr wrap="square">
            <a:spAutoFit/>
          </a:bodyPr>
          <a:lstStyle/>
          <a:p>
            <a:pPr marL="457200" indent="-457200">
              <a:buFont typeface="Arial" pitchFamily="34" charset="0"/>
              <a:buChar char="•"/>
            </a:pPr>
            <a:r>
              <a:rPr lang="en-US" sz="2800" dirty="0"/>
              <a:t>Virtual memory would have a severe performance impact if it </a:t>
            </a:r>
            <a:r>
              <a:rPr lang="en-US" sz="2800" dirty="0" smtClean="0"/>
              <a:t>required a </a:t>
            </a:r>
            <a:r>
              <a:rPr lang="en-US" sz="2800" dirty="0"/>
              <a:t>page table read on every load or store, </a:t>
            </a:r>
            <a:r>
              <a:rPr lang="en-US" sz="2800" b="1" dirty="0"/>
              <a:t>doubling the delay of </a:t>
            </a:r>
            <a:r>
              <a:rPr lang="en-US" sz="2800" b="1" dirty="0" smtClean="0"/>
              <a:t>loads </a:t>
            </a:r>
            <a:r>
              <a:rPr lang="en-IN" sz="2800" b="1" dirty="0" smtClean="0"/>
              <a:t>and </a:t>
            </a:r>
            <a:r>
              <a:rPr lang="en-IN" sz="2800" b="1" dirty="0"/>
              <a:t>stores</a:t>
            </a:r>
            <a:r>
              <a:rPr lang="en-IN" sz="2800" b="1" dirty="0" smtClean="0"/>
              <a:t>.</a:t>
            </a:r>
          </a:p>
          <a:p>
            <a:pPr marL="457200" indent="-457200">
              <a:buFont typeface="Arial" pitchFamily="34" charset="0"/>
              <a:buChar char="•"/>
            </a:pPr>
            <a:endParaRPr lang="en-IN" sz="2800" b="1" dirty="0" smtClean="0"/>
          </a:p>
          <a:p>
            <a:pPr marL="457200" indent="-457200">
              <a:buFont typeface="Arial" pitchFamily="34" charset="0"/>
              <a:buChar char="•"/>
            </a:pPr>
            <a:r>
              <a:rPr lang="en-US" sz="2800" dirty="0"/>
              <a:t>P</a:t>
            </a:r>
            <a:r>
              <a:rPr lang="en-US" sz="2800" dirty="0" smtClean="0"/>
              <a:t>age </a:t>
            </a:r>
            <a:r>
              <a:rPr lang="en-US" sz="2800" dirty="0"/>
              <a:t>table accesses have great </a:t>
            </a:r>
            <a:r>
              <a:rPr lang="en-US" sz="2800" b="1" dirty="0"/>
              <a:t>temporal locality</a:t>
            </a:r>
            <a:r>
              <a:rPr lang="en-US" sz="2800" dirty="0" smtClean="0"/>
              <a:t>.</a:t>
            </a:r>
          </a:p>
          <a:p>
            <a:pPr marL="457200" indent="-457200">
              <a:buFont typeface="Arial" pitchFamily="34" charset="0"/>
              <a:buChar char="•"/>
            </a:pPr>
            <a:endParaRPr lang="en-US" sz="2800" dirty="0"/>
          </a:p>
          <a:p>
            <a:pPr marL="457200" indent="-457200">
              <a:buFont typeface="Arial" pitchFamily="34" charset="0"/>
              <a:buChar char="•"/>
            </a:pPr>
            <a:r>
              <a:rPr lang="en-US" sz="2800" dirty="0"/>
              <a:t>The temporal and spatial locality of data accesses and the large </a:t>
            </a:r>
            <a:r>
              <a:rPr lang="en-US" sz="2800" dirty="0" smtClean="0"/>
              <a:t>page size </a:t>
            </a:r>
            <a:r>
              <a:rPr lang="en-US" sz="2800" dirty="0"/>
              <a:t>mean that </a:t>
            </a:r>
            <a:r>
              <a:rPr lang="en-US" sz="2800" b="1" dirty="0"/>
              <a:t>many consecutive loads or stores are likely to </a:t>
            </a:r>
            <a:r>
              <a:rPr lang="en-US" sz="2800" b="1" dirty="0" smtClean="0"/>
              <a:t>reference the </a:t>
            </a:r>
            <a:r>
              <a:rPr lang="en-US" sz="2800" b="1" dirty="0"/>
              <a:t>same page. </a:t>
            </a:r>
            <a:endParaRPr lang="en-US" sz="2800" b="1" dirty="0" smtClean="0"/>
          </a:p>
          <a:p>
            <a:pPr marL="457200" indent="-457200">
              <a:buFont typeface="Arial" pitchFamily="34" charset="0"/>
              <a:buChar char="•"/>
            </a:pPr>
            <a:endParaRPr lang="en-US" sz="2800" b="1" dirty="0" smtClean="0"/>
          </a:p>
          <a:p>
            <a:pPr marL="457200" indent="-457200">
              <a:buFont typeface="Arial" pitchFamily="34" charset="0"/>
              <a:buChar char="•"/>
            </a:pPr>
            <a:r>
              <a:rPr lang="en-US" sz="2800" dirty="0" smtClean="0"/>
              <a:t>Therefore</a:t>
            </a:r>
            <a:r>
              <a:rPr lang="en-US" sz="2800" dirty="0"/>
              <a:t>, if the </a:t>
            </a:r>
            <a:r>
              <a:rPr lang="en-US" sz="2800" b="1" dirty="0"/>
              <a:t>processor remembers the last </a:t>
            </a:r>
            <a:r>
              <a:rPr lang="en-US" sz="2800" b="1" dirty="0" smtClean="0"/>
              <a:t>page table </a:t>
            </a:r>
            <a:r>
              <a:rPr lang="en-US" sz="2800" b="1" dirty="0"/>
              <a:t>entry </a:t>
            </a:r>
            <a:r>
              <a:rPr lang="en-US" sz="2800" dirty="0"/>
              <a:t>that it read, it can probably reuse this translation </a:t>
            </a:r>
            <a:r>
              <a:rPr lang="en-US" sz="2800" b="1" dirty="0" smtClean="0">
                <a:solidFill>
                  <a:srgbClr val="FF0000"/>
                </a:solidFill>
              </a:rPr>
              <a:t>without </a:t>
            </a:r>
            <a:r>
              <a:rPr lang="en-IN" sz="2800" b="1" dirty="0" smtClean="0">
                <a:solidFill>
                  <a:srgbClr val="FF0000"/>
                </a:solidFill>
              </a:rPr>
              <a:t>rereading </a:t>
            </a:r>
            <a:r>
              <a:rPr lang="en-IN" sz="2800" b="1" dirty="0">
                <a:solidFill>
                  <a:srgbClr val="FF0000"/>
                </a:solidFill>
              </a:rPr>
              <a:t>the page table</a:t>
            </a:r>
            <a:r>
              <a:rPr lang="en-IN" sz="2800" b="1" dirty="0" smtClean="0">
                <a:solidFill>
                  <a:srgbClr val="FF0000"/>
                </a:solidFill>
              </a:rPr>
              <a:t>. </a:t>
            </a:r>
          </a:p>
          <a:p>
            <a:pPr marL="457200" indent="-457200">
              <a:buFont typeface="Arial" pitchFamily="34" charset="0"/>
              <a:buChar char="•"/>
            </a:pPr>
            <a:endParaRPr lang="en-IN" sz="2800" dirty="0"/>
          </a:p>
          <a:p>
            <a:pPr marL="457200" indent="-457200">
              <a:buFont typeface="Arial" pitchFamily="34" charset="0"/>
              <a:buChar char="•"/>
            </a:pPr>
            <a:r>
              <a:rPr lang="en-US" sz="2800" dirty="0"/>
              <a:t>T</a:t>
            </a:r>
            <a:r>
              <a:rPr lang="en-US" sz="2800" dirty="0" smtClean="0"/>
              <a:t>he </a:t>
            </a:r>
            <a:r>
              <a:rPr lang="en-US" sz="2800" dirty="0"/>
              <a:t>processor can </a:t>
            </a:r>
            <a:r>
              <a:rPr lang="en-US" sz="2800" b="1" dirty="0"/>
              <a:t>keep the last </a:t>
            </a:r>
            <a:r>
              <a:rPr lang="en-US" sz="2800" b="1" dirty="0" smtClean="0"/>
              <a:t>several page </a:t>
            </a:r>
            <a:r>
              <a:rPr lang="en-US" sz="2800" b="1" dirty="0"/>
              <a:t>table entries </a:t>
            </a:r>
            <a:r>
              <a:rPr lang="en-US" sz="2800" dirty="0"/>
              <a:t>in a small cache called a </a:t>
            </a:r>
            <a:r>
              <a:rPr lang="en-US" sz="2800" b="1" i="1" dirty="0"/>
              <a:t>translation </a:t>
            </a:r>
            <a:r>
              <a:rPr lang="en-US" sz="2800" b="1" i="1" dirty="0" err="1" smtClean="0"/>
              <a:t>lookaside</a:t>
            </a:r>
            <a:r>
              <a:rPr lang="en-US" sz="2800" b="1" i="1" dirty="0" smtClean="0"/>
              <a:t> </a:t>
            </a:r>
            <a:r>
              <a:rPr lang="en-IN" sz="2800" b="1" i="1" dirty="0" smtClean="0"/>
              <a:t>buffer </a:t>
            </a:r>
            <a:r>
              <a:rPr lang="en-IN" sz="2800" b="1" dirty="0"/>
              <a:t>(</a:t>
            </a:r>
            <a:r>
              <a:rPr lang="en-IN" sz="2800" b="1" i="1" dirty="0"/>
              <a:t>TLB</a:t>
            </a:r>
            <a:r>
              <a:rPr lang="en-IN" sz="2800" b="1" dirty="0"/>
              <a:t>).</a:t>
            </a:r>
            <a:endParaRPr lang="en-US" sz="2800" b="1" dirty="0"/>
          </a:p>
        </p:txBody>
      </p:sp>
    </p:spTree>
    <p:extLst>
      <p:ext uri="{BB962C8B-B14F-4D97-AF65-F5344CB8AC3E}">
        <p14:creationId xmlns:p14="http://schemas.microsoft.com/office/powerpoint/2010/main" val="200335318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159864"/>
            <a:ext cx="11843281" cy="6124754"/>
          </a:xfrm>
          <a:prstGeom prst="rect">
            <a:avLst/>
          </a:prstGeom>
        </p:spPr>
        <p:txBody>
          <a:bodyPr wrap="square">
            <a:spAutoFit/>
          </a:bodyPr>
          <a:lstStyle/>
          <a:p>
            <a:pPr marL="457200" indent="-457200">
              <a:buFont typeface="Arial" pitchFamily="34" charset="0"/>
              <a:buChar char="•"/>
            </a:pPr>
            <a:r>
              <a:rPr lang="en-US" sz="2800" dirty="0"/>
              <a:t>The processor “looks aside” to find the translation </a:t>
            </a:r>
            <a:r>
              <a:rPr lang="en-US" sz="2800" dirty="0" smtClean="0"/>
              <a:t>in the </a:t>
            </a:r>
            <a:r>
              <a:rPr lang="en-US" sz="2800" dirty="0"/>
              <a:t>TLB before having to access the page table in physical memory.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In real </a:t>
            </a:r>
            <a:r>
              <a:rPr lang="en-US" sz="2800" dirty="0"/>
              <a:t>programs, the </a:t>
            </a:r>
            <a:r>
              <a:rPr lang="en-US" sz="2800" b="1" dirty="0"/>
              <a:t>vast majority of accesses hit in the TLB</a:t>
            </a:r>
            <a:r>
              <a:rPr lang="en-US" sz="2800" dirty="0"/>
              <a:t>, avoiding </a:t>
            </a:r>
            <a:r>
              <a:rPr lang="en-US" sz="2800" dirty="0" smtClean="0"/>
              <a:t>the time-consuming </a:t>
            </a:r>
            <a:r>
              <a:rPr lang="en-US" sz="2800" dirty="0"/>
              <a:t>page table reads from physical memory</a:t>
            </a:r>
            <a:r>
              <a:rPr lang="en-US" sz="2800" dirty="0" smtClean="0"/>
              <a:t>.</a:t>
            </a:r>
          </a:p>
          <a:p>
            <a:pPr marL="457200" indent="-457200">
              <a:buFont typeface="Arial" pitchFamily="34" charset="0"/>
              <a:buChar char="•"/>
            </a:pPr>
            <a:endParaRPr lang="en-US" sz="2800" dirty="0" smtClean="0"/>
          </a:p>
          <a:p>
            <a:pPr marL="457200" indent="-457200">
              <a:buFont typeface="Arial" pitchFamily="34" charset="0"/>
              <a:buChar char="•"/>
            </a:pPr>
            <a:r>
              <a:rPr lang="en-US" sz="2800" dirty="0"/>
              <a:t>A TLB is organized as a fully associative cache and typically </a:t>
            </a:r>
            <a:r>
              <a:rPr lang="en-US" sz="2800" dirty="0" smtClean="0"/>
              <a:t>holds </a:t>
            </a:r>
            <a:r>
              <a:rPr lang="en-US" sz="2800" b="1" dirty="0" smtClean="0">
                <a:solidFill>
                  <a:srgbClr val="FF0000"/>
                </a:solidFill>
              </a:rPr>
              <a:t>16 </a:t>
            </a:r>
            <a:r>
              <a:rPr lang="en-US" sz="2800" b="1" dirty="0">
                <a:solidFill>
                  <a:srgbClr val="FF0000"/>
                </a:solidFill>
              </a:rPr>
              <a:t>to 512 entries</a:t>
            </a:r>
            <a:r>
              <a:rPr lang="en-US" sz="2800" b="1" dirty="0" smtClean="0">
                <a:solidFill>
                  <a:srgbClr val="FF0000"/>
                </a:solidFill>
              </a:rPr>
              <a:t>.</a:t>
            </a:r>
          </a:p>
          <a:p>
            <a:pPr marL="457200" indent="-457200">
              <a:buFont typeface="Arial" pitchFamily="34" charset="0"/>
              <a:buChar char="•"/>
            </a:pPr>
            <a:endParaRPr lang="en-US" sz="2800" b="1" dirty="0" smtClean="0">
              <a:solidFill>
                <a:srgbClr val="FF0000"/>
              </a:solidFill>
            </a:endParaRPr>
          </a:p>
          <a:p>
            <a:pPr marL="457200" indent="-457200">
              <a:buFont typeface="Arial" pitchFamily="34" charset="0"/>
              <a:buChar char="•"/>
            </a:pPr>
            <a:r>
              <a:rPr lang="en-US" sz="2800" dirty="0" smtClean="0"/>
              <a:t> </a:t>
            </a:r>
            <a:r>
              <a:rPr lang="en-US" sz="2800" dirty="0"/>
              <a:t>Each TLB entry holds a virtual page number and </a:t>
            </a:r>
            <a:r>
              <a:rPr lang="en-US" sz="2800" dirty="0" smtClean="0"/>
              <a:t>its corresponding </a:t>
            </a:r>
            <a:r>
              <a:rPr lang="en-US" sz="2800" dirty="0"/>
              <a:t>physical page number.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The </a:t>
            </a:r>
            <a:r>
              <a:rPr lang="en-US" sz="2800" dirty="0"/>
              <a:t>TLB is accessed using the </a:t>
            </a:r>
            <a:r>
              <a:rPr lang="en-US" sz="2800" dirty="0" smtClean="0"/>
              <a:t>virtual page </a:t>
            </a:r>
            <a:r>
              <a:rPr lang="en-US" sz="2800" dirty="0"/>
              <a:t>number. </a:t>
            </a:r>
            <a:endParaRPr lang="en-US" sz="2800" dirty="0" smtClean="0"/>
          </a:p>
          <a:p>
            <a:pPr marL="457200" indent="-457200">
              <a:buFont typeface="Arial" pitchFamily="34" charset="0"/>
              <a:buChar char="•"/>
            </a:pPr>
            <a:endParaRPr lang="en-US" sz="2800" dirty="0" smtClean="0"/>
          </a:p>
        </p:txBody>
      </p:sp>
    </p:spTree>
    <p:extLst>
      <p:ext uri="{BB962C8B-B14F-4D97-AF65-F5344CB8AC3E}">
        <p14:creationId xmlns:p14="http://schemas.microsoft.com/office/powerpoint/2010/main" val="48057834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159864"/>
            <a:ext cx="11843281" cy="3539430"/>
          </a:xfrm>
          <a:prstGeom prst="rect">
            <a:avLst/>
          </a:prstGeom>
        </p:spPr>
        <p:txBody>
          <a:bodyPr wrap="square">
            <a:spAutoFit/>
          </a:bodyPr>
          <a:lstStyle/>
          <a:p>
            <a:pPr marL="457200" indent="-457200">
              <a:buFont typeface="Arial" pitchFamily="34" charset="0"/>
              <a:buChar char="•"/>
            </a:pPr>
            <a:r>
              <a:rPr lang="en-US" sz="2800" dirty="0" smtClean="0"/>
              <a:t>If </a:t>
            </a:r>
            <a:r>
              <a:rPr lang="en-US" sz="2800" dirty="0"/>
              <a:t>the TLB hits, it returns the corresponding physical </a:t>
            </a:r>
            <a:r>
              <a:rPr lang="en-US" sz="2800" dirty="0" smtClean="0"/>
              <a:t>page number</a:t>
            </a:r>
            <a:r>
              <a:rPr lang="en-US" sz="2800" dirty="0"/>
              <a:t>. </a:t>
            </a:r>
            <a:endParaRPr lang="en-US" sz="2800" dirty="0" smtClean="0"/>
          </a:p>
          <a:p>
            <a:pPr marL="457200" indent="-457200">
              <a:buFont typeface="Arial" pitchFamily="34" charset="0"/>
              <a:buChar char="•"/>
            </a:pPr>
            <a:endParaRPr lang="en-US" sz="2800" dirty="0" smtClean="0"/>
          </a:p>
          <a:p>
            <a:pPr marL="457200" indent="-457200">
              <a:buFont typeface="Arial" pitchFamily="34" charset="0"/>
              <a:buChar char="•"/>
            </a:pPr>
            <a:r>
              <a:rPr lang="en-US" sz="2800" dirty="0" smtClean="0"/>
              <a:t>Otherwise</a:t>
            </a:r>
            <a:r>
              <a:rPr lang="en-US" sz="2800" dirty="0"/>
              <a:t>, the processor must read the page table in </a:t>
            </a:r>
            <a:r>
              <a:rPr lang="en-US" sz="2800" dirty="0" smtClean="0"/>
              <a:t>physical memory</a:t>
            </a:r>
            <a:r>
              <a:rPr lang="en-US" sz="2800" dirty="0"/>
              <a:t>.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The </a:t>
            </a:r>
            <a:r>
              <a:rPr lang="en-US" sz="2800" dirty="0"/>
              <a:t>TLB is designed to be small enough that it can be </a:t>
            </a:r>
            <a:r>
              <a:rPr lang="en-US" sz="2800" dirty="0" smtClean="0"/>
              <a:t>accessed in </a:t>
            </a:r>
            <a:r>
              <a:rPr lang="en-US" sz="2800" dirty="0"/>
              <a:t>less than one cycle. </a:t>
            </a:r>
            <a:endParaRPr lang="en-US" sz="2800" dirty="0" smtClean="0"/>
          </a:p>
          <a:p>
            <a:pPr marL="457200" indent="-457200">
              <a:buFont typeface="Arial" pitchFamily="34" charset="0"/>
              <a:buChar char="•"/>
            </a:pPr>
            <a:endParaRPr lang="en-US" sz="2800" dirty="0"/>
          </a:p>
          <a:p>
            <a:pPr marL="457200" indent="-457200">
              <a:buFont typeface="Arial" pitchFamily="34" charset="0"/>
              <a:buChar char="•"/>
            </a:pPr>
            <a:r>
              <a:rPr lang="en-US" sz="2800" dirty="0" smtClean="0"/>
              <a:t>Even </a:t>
            </a:r>
            <a:r>
              <a:rPr lang="en-US" sz="2800" dirty="0"/>
              <a:t>so, TLBs typically have a hit rate of </a:t>
            </a:r>
            <a:r>
              <a:rPr lang="en-US" sz="2800" dirty="0" smtClean="0"/>
              <a:t>greater </a:t>
            </a:r>
            <a:r>
              <a:rPr lang="en-IN" sz="2800" dirty="0" smtClean="0"/>
              <a:t>than </a:t>
            </a:r>
            <a:r>
              <a:rPr lang="en-IN" sz="2800" i="1" dirty="0"/>
              <a:t>99%</a:t>
            </a:r>
            <a:r>
              <a:rPr lang="en-IN" sz="2800" dirty="0"/>
              <a:t>.</a:t>
            </a:r>
            <a:endParaRPr lang="en-US" sz="2800" dirty="0"/>
          </a:p>
        </p:txBody>
      </p:sp>
    </p:spTree>
    <p:extLst>
      <p:ext uri="{BB962C8B-B14F-4D97-AF65-F5344CB8AC3E}">
        <p14:creationId xmlns:p14="http://schemas.microsoft.com/office/powerpoint/2010/main" val="237808944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43322"/>
            <a:ext cx="11843281" cy="2677656"/>
          </a:xfrm>
          <a:prstGeom prst="rect">
            <a:avLst/>
          </a:prstGeom>
        </p:spPr>
        <p:txBody>
          <a:bodyPr wrap="square">
            <a:spAutoFit/>
          </a:bodyPr>
          <a:lstStyle/>
          <a:p>
            <a:r>
              <a:rPr lang="en-US" sz="2800" b="1" dirty="0"/>
              <a:t>Example 8.15 USING THE TLB TO PERFORM ADDRESS </a:t>
            </a:r>
            <a:r>
              <a:rPr lang="en-US" sz="2800" b="1" dirty="0" smtClean="0"/>
              <a:t>TRANSLATION</a:t>
            </a:r>
          </a:p>
          <a:p>
            <a:endParaRPr lang="en-US" sz="2800" dirty="0"/>
          </a:p>
          <a:p>
            <a:r>
              <a:rPr lang="en-US" sz="2800" dirty="0"/>
              <a:t>Consider the virtual memory system of Figure 8.21. Use a two-entry TLB or</a:t>
            </a:r>
          </a:p>
          <a:p>
            <a:r>
              <a:rPr lang="en-US" sz="2800" dirty="0"/>
              <a:t>explain why a page table access is necessary to translate virtual addresses</a:t>
            </a:r>
          </a:p>
          <a:p>
            <a:r>
              <a:rPr lang="en-US" sz="2800" dirty="0"/>
              <a:t>0x247C and 0x5FB0 to physical addresses. Suppose that the TLB currently</a:t>
            </a:r>
          </a:p>
          <a:p>
            <a:r>
              <a:rPr lang="en-US" sz="2800" dirty="0"/>
              <a:t>holds valid translations of virtual pages 0x2 and 0x7FFFD.</a:t>
            </a:r>
            <a:endParaRPr lang="en-US" sz="2800" dirty="0"/>
          </a:p>
        </p:txBody>
      </p:sp>
    </p:spTree>
    <p:extLst>
      <p:ext uri="{BB962C8B-B14F-4D97-AF65-F5344CB8AC3E}">
        <p14:creationId xmlns:p14="http://schemas.microsoft.com/office/powerpoint/2010/main" val="20362191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735051"/>
            <a:ext cx="11843281" cy="4832092"/>
          </a:xfrm>
          <a:prstGeom prst="rect">
            <a:avLst/>
          </a:prstGeom>
        </p:spPr>
        <p:txBody>
          <a:bodyPr wrap="square">
            <a:spAutoFit/>
          </a:bodyPr>
          <a:lstStyle/>
          <a:p>
            <a:r>
              <a:rPr lang="en-US" sz="2800" b="1" dirty="0" smtClean="0"/>
              <a:t>Solution:</a:t>
            </a:r>
          </a:p>
          <a:p>
            <a:endParaRPr lang="en-US" sz="2800" b="1" dirty="0"/>
          </a:p>
          <a:p>
            <a:r>
              <a:rPr lang="en-US" sz="2800" dirty="0" smtClean="0"/>
              <a:t>Figure </a:t>
            </a:r>
            <a:r>
              <a:rPr lang="en-US" sz="2800" dirty="0"/>
              <a:t>8.25 shows the two-entry TLB with the request for </a:t>
            </a:r>
            <a:r>
              <a:rPr lang="en-US" sz="2800" dirty="0" smtClean="0"/>
              <a:t>virtual address </a:t>
            </a:r>
            <a:r>
              <a:rPr lang="en-US" sz="2800" dirty="0"/>
              <a:t>0x247C. The TLB receives the virtual page number of the </a:t>
            </a:r>
            <a:r>
              <a:rPr lang="en-US" sz="2800" dirty="0" smtClean="0"/>
              <a:t>incoming address</a:t>
            </a:r>
            <a:r>
              <a:rPr lang="en-US" sz="2800" dirty="0"/>
              <a:t>, 0x2, and compares it to the virtual page number of each entry. </a:t>
            </a:r>
            <a:endParaRPr lang="en-US" sz="2800" dirty="0" smtClean="0"/>
          </a:p>
          <a:p>
            <a:r>
              <a:rPr lang="en-US" sz="2800" dirty="0" smtClean="0"/>
              <a:t>Entry 0 </a:t>
            </a:r>
            <a:r>
              <a:rPr lang="en-US" sz="2800" dirty="0"/>
              <a:t>matches and is valid, so the request hits. </a:t>
            </a:r>
            <a:endParaRPr lang="en-US" sz="2800" dirty="0" smtClean="0"/>
          </a:p>
          <a:p>
            <a:r>
              <a:rPr lang="en-US" sz="2800" dirty="0" smtClean="0"/>
              <a:t>The </a:t>
            </a:r>
            <a:r>
              <a:rPr lang="en-US" sz="2800" dirty="0"/>
              <a:t>translated physical address is </a:t>
            </a:r>
            <a:r>
              <a:rPr lang="en-US" sz="2800" dirty="0" smtClean="0"/>
              <a:t>the physical </a:t>
            </a:r>
            <a:r>
              <a:rPr lang="en-US" sz="2800" dirty="0"/>
              <a:t>page number of the matching entry, 0x7FFF, concatenated with the </a:t>
            </a:r>
            <a:r>
              <a:rPr lang="en-US" sz="2800" dirty="0" smtClean="0"/>
              <a:t>page offset </a:t>
            </a:r>
            <a:r>
              <a:rPr lang="en-US" sz="2800" dirty="0"/>
              <a:t>of the virtual address. </a:t>
            </a:r>
            <a:endParaRPr lang="en-US" sz="2800" dirty="0" smtClean="0"/>
          </a:p>
          <a:p>
            <a:r>
              <a:rPr lang="en-US" sz="2800" dirty="0" smtClean="0"/>
              <a:t>As </a:t>
            </a:r>
            <a:r>
              <a:rPr lang="en-US" sz="2800" dirty="0"/>
              <a:t>always, the page offset requires no translation.</a:t>
            </a:r>
          </a:p>
          <a:p>
            <a:r>
              <a:rPr lang="en-US" sz="2800" dirty="0"/>
              <a:t>The request for virtual address 0x5FB0 misses in the TLB. </a:t>
            </a:r>
            <a:endParaRPr lang="en-US" sz="2800" dirty="0" smtClean="0"/>
          </a:p>
          <a:p>
            <a:r>
              <a:rPr lang="en-US" sz="2800" dirty="0" smtClean="0"/>
              <a:t>So</a:t>
            </a:r>
            <a:r>
              <a:rPr lang="en-US" sz="2800" dirty="0"/>
              <a:t>, the request </a:t>
            </a:r>
            <a:r>
              <a:rPr lang="en-US" sz="2800" dirty="0" smtClean="0"/>
              <a:t>is forwarded </a:t>
            </a:r>
            <a:r>
              <a:rPr lang="en-US" sz="2800" dirty="0"/>
              <a:t>to the page table for translation.</a:t>
            </a:r>
            <a:endParaRPr lang="en-US" sz="2800" dirty="0"/>
          </a:p>
        </p:txBody>
      </p:sp>
    </p:spTree>
    <p:extLst>
      <p:ext uri="{BB962C8B-B14F-4D97-AF65-F5344CB8AC3E}">
        <p14:creationId xmlns:p14="http://schemas.microsoft.com/office/powerpoint/2010/main" val="141279785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609" t="25833" r="14612" b="32084"/>
          <a:stretch/>
        </p:blipFill>
        <p:spPr bwMode="auto">
          <a:xfrm>
            <a:off x="1546121" y="176981"/>
            <a:ext cx="9367685" cy="6026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900516" y="6332876"/>
            <a:ext cx="6096000" cy="369332"/>
          </a:xfrm>
          <a:prstGeom prst="rect">
            <a:avLst/>
          </a:prstGeom>
        </p:spPr>
        <p:txBody>
          <a:bodyPr>
            <a:spAutoFit/>
          </a:bodyPr>
          <a:lstStyle/>
          <a:p>
            <a:r>
              <a:rPr lang="en-US" b="1" dirty="0"/>
              <a:t>Figure 8.25 Address translation </a:t>
            </a:r>
            <a:r>
              <a:rPr lang="en-IN" b="1" dirty="0" smtClean="0"/>
              <a:t>using </a:t>
            </a:r>
            <a:r>
              <a:rPr lang="en-IN" b="1" dirty="0"/>
              <a:t>a two-entry TLB</a:t>
            </a:r>
            <a:endParaRPr lang="en-IN" b="1" dirty="0"/>
          </a:p>
        </p:txBody>
      </p:sp>
    </p:spTree>
    <p:extLst>
      <p:ext uri="{BB962C8B-B14F-4D97-AF65-F5344CB8AC3E}">
        <p14:creationId xmlns:p14="http://schemas.microsoft.com/office/powerpoint/2010/main" val="108565122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594"/>
            <a:ext cx="10364451" cy="450640"/>
          </a:xfrm>
        </p:spPr>
        <p:txBody>
          <a:bodyPr>
            <a:noAutofit/>
          </a:bodyPr>
          <a:lstStyle/>
          <a:p>
            <a:r>
              <a:rPr lang="en-IN" b="1" dirty="0"/>
              <a:t>Memory Protection</a:t>
            </a:r>
            <a:r>
              <a:rPr lang="en-IN" b="1" dirty="0" smtClean="0"/>
              <a:t>: 548</a:t>
            </a:r>
            <a:endParaRPr lang="en-IN" b="1" dirty="0"/>
          </a:p>
        </p:txBody>
      </p:sp>
      <p:sp>
        <p:nvSpPr>
          <p:cNvPr id="4" name="Rectangle 3"/>
          <p:cNvSpPr/>
          <p:nvPr/>
        </p:nvSpPr>
        <p:spPr>
          <a:xfrm>
            <a:off x="138544" y="440086"/>
            <a:ext cx="11843281" cy="6555641"/>
          </a:xfrm>
          <a:prstGeom prst="rect">
            <a:avLst/>
          </a:prstGeom>
        </p:spPr>
        <p:txBody>
          <a:bodyPr wrap="square">
            <a:spAutoFit/>
          </a:bodyPr>
          <a:lstStyle/>
          <a:p>
            <a:pPr marL="457200" indent="-457200">
              <a:buFont typeface="Arial" pitchFamily="34" charset="0"/>
              <a:buChar char="•"/>
            </a:pPr>
            <a:r>
              <a:rPr lang="en-US" sz="2800" dirty="0"/>
              <a:t>An </a:t>
            </a:r>
            <a:r>
              <a:rPr lang="en-US" sz="2800" dirty="0" smtClean="0"/>
              <a:t>important </a:t>
            </a:r>
            <a:r>
              <a:rPr lang="en-US" sz="2800" dirty="0"/>
              <a:t>reason to </a:t>
            </a:r>
            <a:r>
              <a:rPr lang="en-US" sz="2800" dirty="0" smtClean="0"/>
              <a:t>use virtual </a:t>
            </a:r>
            <a:r>
              <a:rPr lang="en-US" sz="2800" dirty="0"/>
              <a:t>memory is to </a:t>
            </a:r>
            <a:r>
              <a:rPr lang="en-US" sz="2800" b="1" dirty="0"/>
              <a:t>provide protection between concurrently </a:t>
            </a:r>
            <a:r>
              <a:rPr lang="en-US" sz="2800" b="1" dirty="0" smtClean="0"/>
              <a:t>running </a:t>
            </a:r>
            <a:r>
              <a:rPr lang="en-IN" sz="2800" b="1" dirty="0" smtClean="0"/>
              <a:t>programs.</a:t>
            </a:r>
          </a:p>
          <a:p>
            <a:pPr marL="457200" indent="-457200">
              <a:buFont typeface="Arial" pitchFamily="34" charset="0"/>
              <a:buChar char="•"/>
            </a:pPr>
            <a:r>
              <a:rPr lang="en-US" sz="2800" dirty="0"/>
              <a:t>M</a:t>
            </a:r>
            <a:r>
              <a:rPr lang="en-US" sz="2800" dirty="0" smtClean="0"/>
              <a:t>odern </a:t>
            </a:r>
            <a:r>
              <a:rPr lang="en-US" sz="2800" dirty="0"/>
              <a:t>computers typically run </a:t>
            </a:r>
            <a:r>
              <a:rPr lang="en-US" sz="2800" dirty="0" smtClean="0"/>
              <a:t>several programs </a:t>
            </a:r>
            <a:r>
              <a:rPr lang="en-US" sz="2800" dirty="0"/>
              <a:t>or </a:t>
            </a:r>
            <a:r>
              <a:rPr lang="en-US" sz="2800" i="1" dirty="0"/>
              <a:t>processes </a:t>
            </a:r>
            <a:r>
              <a:rPr lang="en-US" sz="2800" dirty="0"/>
              <a:t>at the same time. </a:t>
            </a:r>
            <a:endParaRPr lang="en-US" sz="2800" dirty="0" smtClean="0"/>
          </a:p>
          <a:p>
            <a:pPr marL="457200" indent="-457200">
              <a:buFont typeface="Arial" pitchFamily="34" charset="0"/>
              <a:buChar char="•"/>
            </a:pPr>
            <a:r>
              <a:rPr lang="en-US" sz="2800" dirty="0" smtClean="0"/>
              <a:t>All </a:t>
            </a:r>
            <a:r>
              <a:rPr lang="en-US" sz="2800" dirty="0"/>
              <a:t>of the programs </a:t>
            </a:r>
            <a:r>
              <a:rPr lang="en-US" sz="2800" dirty="0" smtClean="0"/>
              <a:t>are simultaneously </a:t>
            </a:r>
            <a:r>
              <a:rPr lang="en-US" sz="2800" dirty="0"/>
              <a:t>present in physical </a:t>
            </a:r>
            <a:r>
              <a:rPr lang="en-US" sz="2800" dirty="0" smtClean="0"/>
              <a:t>memory.</a:t>
            </a:r>
            <a:r>
              <a:rPr lang="en-IN" sz="2800" dirty="0"/>
              <a:t> </a:t>
            </a:r>
            <a:endParaRPr lang="en-IN" sz="2800" dirty="0" smtClean="0"/>
          </a:p>
          <a:p>
            <a:pPr marL="457200" indent="-457200">
              <a:buFont typeface="Arial" pitchFamily="34" charset="0"/>
              <a:buChar char="•"/>
            </a:pPr>
            <a:r>
              <a:rPr lang="en-IN" sz="2800" dirty="0" smtClean="0">
                <a:solidFill>
                  <a:srgbClr val="FF0000"/>
                </a:solidFill>
              </a:rPr>
              <a:t>No program </a:t>
            </a:r>
            <a:r>
              <a:rPr lang="en-US" sz="2800" dirty="0" smtClean="0">
                <a:solidFill>
                  <a:srgbClr val="FF0000"/>
                </a:solidFill>
              </a:rPr>
              <a:t>should </a:t>
            </a:r>
            <a:r>
              <a:rPr lang="en-US" sz="2800" dirty="0">
                <a:solidFill>
                  <a:srgbClr val="FF0000"/>
                </a:solidFill>
              </a:rPr>
              <a:t>be able to access another program’s memory without permission</a:t>
            </a:r>
            <a:r>
              <a:rPr lang="en-US" sz="2800" dirty="0"/>
              <a:t>.</a:t>
            </a:r>
          </a:p>
          <a:p>
            <a:pPr marL="457200" indent="-457200">
              <a:buFont typeface="Arial" pitchFamily="34" charset="0"/>
              <a:buChar char="•"/>
            </a:pPr>
            <a:r>
              <a:rPr lang="en-US" sz="2800" dirty="0"/>
              <a:t>This is called </a:t>
            </a:r>
            <a:r>
              <a:rPr lang="en-US" sz="2800" b="1" i="1" dirty="0">
                <a:solidFill>
                  <a:srgbClr val="FF0000"/>
                </a:solidFill>
              </a:rPr>
              <a:t>memory protection</a:t>
            </a:r>
            <a:r>
              <a:rPr lang="en-US" sz="2800" b="1" dirty="0" smtClean="0">
                <a:solidFill>
                  <a:srgbClr val="FF0000"/>
                </a:solidFill>
              </a:rPr>
              <a:t>. </a:t>
            </a:r>
          </a:p>
          <a:p>
            <a:pPr marL="457200" indent="-457200">
              <a:buFont typeface="Arial" pitchFamily="34" charset="0"/>
              <a:buChar char="•"/>
            </a:pPr>
            <a:r>
              <a:rPr lang="en-US" sz="2800" dirty="0"/>
              <a:t>Virtual memory systems provide memory protection </a:t>
            </a:r>
            <a:r>
              <a:rPr lang="en-US" sz="2800" b="1" dirty="0"/>
              <a:t>by giving </a:t>
            </a:r>
            <a:r>
              <a:rPr lang="en-US" sz="2800" b="1" dirty="0" smtClean="0"/>
              <a:t>each program </a:t>
            </a:r>
            <a:r>
              <a:rPr lang="en-US" sz="2800" b="1" dirty="0"/>
              <a:t>its own </a:t>
            </a:r>
            <a:r>
              <a:rPr lang="en-US" sz="2800" b="1" i="1" dirty="0"/>
              <a:t>virtual address space</a:t>
            </a:r>
            <a:r>
              <a:rPr lang="en-US" sz="2800" b="1" dirty="0"/>
              <a:t>. </a:t>
            </a:r>
            <a:endParaRPr lang="en-US" sz="2800" b="1" dirty="0" smtClean="0"/>
          </a:p>
          <a:p>
            <a:pPr marL="457200" indent="-457200">
              <a:buFont typeface="Arial" pitchFamily="34" charset="0"/>
              <a:buChar char="•"/>
            </a:pPr>
            <a:r>
              <a:rPr lang="en-US" sz="2800" dirty="0" smtClean="0"/>
              <a:t>Each </a:t>
            </a:r>
            <a:r>
              <a:rPr lang="en-US" sz="2800" dirty="0"/>
              <a:t>program can use as </a:t>
            </a:r>
            <a:r>
              <a:rPr lang="en-US" sz="2800" dirty="0" smtClean="0"/>
              <a:t>much memory </a:t>
            </a:r>
            <a:r>
              <a:rPr lang="en-US" sz="2800" dirty="0"/>
              <a:t>as it wants in that virtual address space, but only a portion </a:t>
            </a:r>
            <a:r>
              <a:rPr lang="en-US" sz="2800" dirty="0" smtClean="0"/>
              <a:t>of </a:t>
            </a:r>
            <a:r>
              <a:rPr lang="en-US" sz="2800" dirty="0"/>
              <a:t>the virtual address space is in physical memory at any given time</a:t>
            </a:r>
            <a:r>
              <a:rPr lang="en-US" sz="2800" dirty="0" smtClean="0"/>
              <a:t>. </a:t>
            </a:r>
          </a:p>
          <a:p>
            <a:pPr marL="457200" indent="-457200">
              <a:buFont typeface="Arial" pitchFamily="34" charset="0"/>
              <a:buChar char="•"/>
            </a:pPr>
            <a:r>
              <a:rPr lang="en-IN" sz="2800" dirty="0" smtClean="0"/>
              <a:t>A program </a:t>
            </a:r>
            <a:r>
              <a:rPr lang="en-US" sz="2800" dirty="0" smtClean="0"/>
              <a:t>can </a:t>
            </a:r>
            <a:r>
              <a:rPr lang="en-US" sz="2800" dirty="0"/>
              <a:t>access only those physical pages that are mapped in its page table.</a:t>
            </a:r>
            <a:endParaRPr lang="en-US" sz="2800" dirty="0"/>
          </a:p>
        </p:txBody>
      </p:sp>
    </p:spTree>
    <p:extLst>
      <p:ext uri="{BB962C8B-B14F-4D97-AF65-F5344CB8AC3E}">
        <p14:creationId xmlns:p14="http://schemas.microsoft.com/office/powerpoint/2010/main" val="2460234976"/>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8335" y="1508761"/>
            <a:ext cx="5532745" cy="3444240"/>
          </a:xfrm>
        </p:spPr>
        <p:txBody>
          <a:bodyPr>
            <a:noAutofit/>
          </a:bodyPr>
          <a:lstStyle/>
          <a:p>
            <a:pPr marL="0" indent="0">
              <a:buNone/>
            </a:pPr>
            <a:r>
              <a:rPr lang="en-IN" sz="19900" b="1" dirty="0" smtClean="0">
                <a:latin typeface="Bradley Hand ITC" pitchFamily="66" charset="0"/>
              </a:rPr>
              <a:t>END</a:t>
            </a:r>
            <a:endParaRPr lang="en-IN" sz="19900" b="1" dirty="0">
              <a:latin typeface="Bradley Hand ITC" pitchFamily="66" charset="0"/>
            </a:endParaRPr>
          </a:p>
        </p:txBody>
      </p:sp>
    </p:spTree>
    <p:extLst>
      <p:ext uri="{BB962C8B-B14F-4D97-AF65-F5344CB8AC3E}">
        <p14:creationId xmlns:p14="http://schemas.microsoft.com/office/powerpoint/2010/main" val="380985808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xmlns=""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TM04033925[[fn=Droplet]]</Template>
  <TotalTime>1033</TotalTime>
  <Words>6628</Words>
  <Application>Microsoft Office PowerPoint</Application>
  <PresentationFormat>Custom</PresentationFormat>
  <Paragraphs>661</Paragraphs>
  <Slides>105</Slides>
  <Notes>3</Notes>
  <HiddenSlides>0</HiddenSlides>
  <MMClips>0</MMClips>
  <ScaleCrop>false</ScaleCrop>
  <HeadingPairs>
    <vt:vector size="4" baseType="variant">
      <vt:variant>
        <vt:lpstr>Theme</vt:lpstr>
      </vt:variant>
      <vt:variant>
        <vt:i4>1</vt:i4>
      </vt:variant>
      <vt:variant>
        <vt:lpstr>Slide Titles</vt:lpstr>
      </vt:variant>
      <vt:variant>
        <vt:i4>105</vt:i4>
      </vt:variant>
    </vt:vector>
  </HeadingPairs>
  <TitlesOfParts>
    <vt:vector size="106" baseType="lpstr">
      <vt:lpstr>Droplet</vt:lpstr>
      <vt:lpstr>COMPUTER ORGANIZATION AND ARCHITECTURE</vt:lpstr>
      <vt:lpstr>MODULE 3</vt:lpstr>
      <vt:lpstr>Memory Systems: 521</vt:lpstr>
      <vt:lpstr>INTRODUCTION</vt:lpstr>
      <vt:lpstr>PowerPoint Presentation</vt:lpstr>
      <vt:lpstr>INTRODUCTION</vt:lpstr>
      <vt:lpstr>INTRODUCTION</vt:lpstr>
      <vt:lpstr>memory hierarchy of the computer system</vt:lpstr>
      <vt:lpstr>INTRODUCTION</vt:lpstr>
      <vt:lpstr>capacity and speed trade-off in the memory hierarchy</vt:lpstr>
      <vt:lpstr>MEMORY SYSTEM PERFORMANCE ANALYSIS</vt:lpstr>
      <vt:lpstr>MEMORY SYSTEM PERFORMANCE ANALYSIS</vt:lpstr>
      <vt:lpstr>PowerPoint Presentation</vt:lpstr>
      <vt:lpstr>PowerPoint Presentation</vt:lpstr>
      <vt:lpstr>PowerPoint Presentation</vt:lpstr>
      <vt:lpstr>PowerPoint Presentation</vt:lpstr>
      <vt:lpstr>PowerPoint Presentation</vt:lpstr>
      <vt:lpstr>PowerPoint Presentation</vt:lpstr>
      <vt:lpstr>Caches -</vt:lpstr>
      <vt:lpstr>CACHES: 527</vt:lpstr>
      <vt:lpstr>CACHES design issues</vt:lpstr>
      <vt:lpstr>CACHES terminology</vt:lpstr>
      <vt:lpstr>What Data is Held in the Cache?</vt:lpstr>
      <vt:lpstr>PowerPoint Presentation</vt:lpstr>
      <vt:lpstr>PowerPoint Presentation</vt:lpstr>
      <vt:lpstr>How is Data Found?</vt:lpstr>
      <vt:lpstr>How is Data Found?</vt:lpstr>
      <vt:lpstr>How is Data Found?</vt:lpstr>
      <vt:lpstr>Direct Mapped Cache</vt:lpstr>
      <vt:lpstr>Direct Mapped Cache</vt:lpstr>
      <vt:lpstr>Direct Mapped Cache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Multiway Set Associative Cache: 532</vt:lpstr>
      <vt:lpstr>PowerPoint Presentation</vt:lpstr>
      <vt:lpstr>PowerPoint Presentation</vt:lpstr>
      <vt:lpstr>PowerPoint Presentation</vt:lpstr>
      <vt:lpstr>Fully Associative Cache: 533</vt:lpstr>
      <vt:lpstr>PowerPoint Presentation</vt:lpstr>
      <vt:lpstr>PowerPoint Presentation</vt:lpstr>
      <vt:lpstr>CACHE REPLACEMENT</vt:lpstr>
      <vt:lpstr>PowerPoint Presentation</vt:lpstr>
      <vt:lpstr>PowerPoint Presentation</vt:lpstr>
      <vt:lpstr>PowerPoint Presentation</vt:lpstr>
      <vt:lpstr>PowerPoint Presentation</vt:lpstr>
      <vt:lpstr>Multiple-Level Caches: 538</vt:lpstr>
      <vt:lpstr>PowerPoint Presentation</vt:lpstr>
      <vt:lpstr>PowerPoint Presentation</vt:lpstr>
      <vt:lpstr>PowerPoint Presentation</vt:lpstr>
      <vt:lpstr>PowerPoint Presentation</vt:lpstr>
      <vt:lpstr>Reducing Miss Rate: 539</vt:lpstr>
      <vt:lpstr>PowerPoint Presentation</vt:lpstr>
      <vt:lpstr>PowerPoint Presentation</vt:lpstr>
      <vt:lpstr>PowerPoint Presentation</vt:lpstr>
      <vt:lpstr>WRITE POLICY: 540</vt:lpstr>
      <vt:lpstr>PowerPoint Presentation</vt:lpstr>
      <vt:lpstr>PowerPoint Presentation</vt:lpstr>
      <vt:lpstr>PowerPoint Presentation</vt:lpstr>
      <vt:lpstr>Virtual Memory -</vt:lpstr>
      <vt:lpstr>VIRTUAL MEMORY: 541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 Translation: 544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Page Table: 545</vt:lpstr>
      <vt:lpstr>The Page Table: 545</vt:lpstr>
      <vt:lpstr>PowerPoint Presentation</vt:lpstr>
      <vt:lpstr>The Page Table: 545</vt:lpstr>
      <vt:lpstr>The Page Table: 545</vt:lpstr>
      <vt:lpstr>PowerPoint Presentation</vt:lpstr>
      <vt:lpstr>PowerPoint Presentation</vt:lpstr>
      <vt:lpstr>PowerPoint Presentation</vt:lpstr>
      <vt:lpstr>The Page Table: 545</vt:lpstr>
      <vt:lpstr>The Translation Lookaside Buffer: 547</vt:lpstr>
      <vt:lpstr>PowerPoint Presentation</vt:lpstr>
      <vt:lpstr>PowerPoint Presentation</vt:lpstr>
      <vt:lpstr>PowerPoint Presentation</vt:lpstr>
      <vt:lpstr>PowerPoint Presentation</vt:lpstr>
      <vt:lpstr>PowerPoint Presentation</vt:lpstr>
      <vt:lpstr>Memory Protection: 548</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dc:title>
  <dc:creator>aiswarya640@hotmail.com</dc:creator>
  <cp:lastModifiedBy>User</cp:lastModifiedBy>
  <cp:revision>139</cp:revision>
  <dcterms:created xsi:type="dcterms:W3CDTF">2025-11-23T01:06:49Z</dcterms:created>
  <dcterms:modified xsi:type="dcterms:W3CDTF">2026-02-17T23:25:01Z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