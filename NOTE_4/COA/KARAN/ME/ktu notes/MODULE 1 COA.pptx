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</p:sldMasterIdLst>
  <p:notesMasterIdLst>
    <p:notesMasterId r:id="rId184"/>
  </p:notesMasterIdLst>
  <p:sldIdLst>
    <p:sldId id="278" r:id="rId5"/>
    <p:sldId id="282" r:id="rId6"/>
    <p:sldId id="279" r:id="rId7"/>
    <p:sldId id="287" r:id="rId8"/>
    <p:sldId id="288" r:id="rId9"/>
    <p:sldId id="289" r:id="rId10"/>
    <p:sldId id="291" r:id="rId11"/>
    <p:sldId id="292" r:id="rId12"/>
    <p:sldId id="321" r:id="rId13"/>
    <p:sldId id="293" r:id="rId14"/>
    <p:sldId id="294" r:id="rId15"/>
    <p:sldId id="295" r:id="rId16"/>
    <p:sldId id="296" r:id="rId17"/>
    <p:sldId id="297" r:id="rId18"/>
    <p:sldId id="322" r:id="rId19"/>
    <p:sldId id="298" r:id="rId20"/>
    <p:sldId id="299" r:id="rId21"/>
    <p:sldId id="300" r:id="rId22"/>
    <p:sldId id="323" r:id="rId23"/>
    <p:sldId id="301" r:id="rId24"/>
    <p:sldId id="324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45" r:id="rId34"/>
    <p:sldId id="346" r:id="rId35"/>
    <p:sldId id="347" r:id="rId36"/>
    <p:sldId id="310" r:id="rId37"/>
    <p:sldId id="311" r:id="rId38"/>
    <p:sldId id="313" r:id="rId39"/>
    <p:sldId id="312" r:id="rId40"/>
    <p:sldId id="314" r:id="rId41"/>
    <p:sldId id="315" r:id="rId42"/>
    <p:sldId id="348" r:id="rId43"/>
    <p:sldId id="349" r:id="rId44"/>
    <p:sldId id="350" r:id="rId45"/>
    <p:sldId id="317" r:id="rId46"/>
    <p:sldId id="320" r:id="rId47"/>
    <p:sldId id="284" r:id="rId48"/>
    <p:sldId id="325" r:id="rId49"/>
    <p:sldId id="326" r:id="rId50"/>
    <p:sldId id="327" r:id="rId51"/>
    <p:sldId id="328" r:id="rId52"/>
    <p:sldId id="351" r:id="rId53"/>
    <p:sldId id="329" r:id="rId54"/>
    <p:sldId id="330" r:id="rId55"/>
    <p:sldId id="331" r:id="rId56"/>
    <p:sldId id="332" r:id="rId57"/>
    <p:sldId id="333" r:id="rId58"/>
    <p:sldId id="334" r:id="rId59"/>
    <p:sldId id="335" r:id="rId60"/>
    <p:sldId id="336" r:id="rId61"/>
    <p:sldId id="337" r:id="rId62"/>
    <p:sldId id="338" r:id="rId63"/>
    <p:sldId id="339" r:id="rId64"/>
    <p:sldId id="352" r:id="rId65"/>
    <p:sldId id="340" r:id="rId66"/>
    <p:sldId id="353" r:id="rId67"/>
    <p:sldId id="341" r:id="rId68"/>
    <p:sldId id="354" r:id="rId69"/>
    <p:sldId id="342" r:id="rId70"/>
    <p:sldId id="343" r:id="rId71"/>
    <p:sldId id="355" r:id="rId72"/>
    <p:sldId id="356" r:id="rId73"/>
    <p:sldId id="357" r:id="rId74"/>
    <p:sldId id="358" r:id="rId75"/>
    <p:sldId id="359" r:id="rId76"/>
    <p:sldId id="361" r:id="rId77"/>
    <p:sldId id="360" r:id="rId78"/>
    <p:sldId id="362" r:id="rId79"/>
    <p:sldId id="363" r:id="rId80"/>
    <p:sldId id="365" r:id="rId81"/>
    <p:sldId id="366" r:id="rId82"/>
    <p:sldId id="382" r:id="rId83"/>
    <p:sldId id="384" r:id="rId84"/>
    <p:sldId id="383" r:id="rId85"/>
    <p:sldId id="368" r:id="rId86"/>
    <p:sldId id="385" r:id="rId87"/>
    <p:sldId id="370" r:id="rId88"/>
    <p:sldId id="371" r:id="rId89"/>
    <p:sldId id="372" r:id="rId90"/>
    <p:sldId id="373" r:id="rId91"/>
    <p:sldId id="375" r:id="rId92"/>
    <p:sldId id="376" r:id="rId93"/>
    <p:sldId id="377" r:id="rId94"/>
    <p:sldId id="378" r:id="rId95"/>
    <p:sldId id="379" r:id="rId96"/>
    <p:sldId id="380" r:id="rId97"/>
    <p:sldId id="381" r:id="rId98"/>
    <p:sldId id="285" r:id="rId99"/>
    <p:sldId id="290" r:id="rId100"/>
    <p:sldId id="386" r:id="rId101"/>
    <p:sldId id="387" r:id="rId102"/>
    <p:sldId id="388" r:id="rId103"/>
    <p:sldId id="389" r:id="rId104"/>
    <p:sldId id="391" r:id="rId105"/>
    <p:sldId id="392" r:id="rId106"/>
    <p:sldId id="393" r:id="rId107"/>
    <p:sldId id="394" r:id="rId108"/>
    <p:sldId id="395" r:id="rId109"/>
    <p:sldId id="396" r:id="rId110"/>
    <p:sldId id="397" r:id="rId111"/>
    <p:sldId id="398" r:id="rId112"/>
    <p:sldId id="399" r:id="rId113"/>
    <p:sldId id="400" r:id="rId114"/>
    <p:sldId id="401" r:id="rId115"/>
    <p:sldId id="402" r:id="rId116"/>
    <p:sldId id="403" r:id="rId117"/>
    <p:sldId id="404" r:id="rId118"/>
    <p:sldId id="405" r:id="rId119"/>
    <p:sldId id="406" r:id="rId120"/>
    <p:sldId id="409" r:id="rId121"/>
    <p:sldId id="408" r:id="rId122"/>
    <p:sldId id="410" r:id="rId123"/>
    <p:sldId id="411" r:id="rId124"/>
    <p:sldId id="412" r:id="rId125"/>
    <p:sldId id="413" r:id="rId126"/>
    <p:sldId id="414" r:id="rId127"/>
    <p:sldId id="415" r:id="rId128"/>
    <p:sldId id="416" r:id="rId129"/>
    <p:sldId id="417" r:id="rId130"/>
    <p:sldId id="418" r:id="rId131"/>
    <p:sldId id="419" r:id="rId132"/>
    <p:sldId id="467" r:id="rId133"/>
    <p:sldId id="468" r:id="rId134"/>
    <p:sldId id="407" r:id="rId135"/>
    <p:sldId id="420" r:id="rId136"/>
    <p:sldId id="421" r:id="rId137"/>
    <p:sldId id="422" r:id="rId138"/>
    <p:sldId id="423" r:id="rId139"/>
    <p:sldId id="424" r:id="rId140"/>
    <p:sldId id="425" r:id="rId141"/>
    <p:sldId id="426" r:id="rId142"/>
    <p:sldId id="427" r:id="rId143"/>
    <p:sldId id="428" r:id="rId144"/>
    <p:sldId id="429" r:id="rId145"/>
    <p:sldId id="430" r:id="rId146"/>
    <p:sldId id="431" r:id="rId147"/>
    <p:sldId id="432" r:id="rId148"/>
    <p:sldId id="463" r:id="rId149"/>
    <p:sldId id="464" r:id="rId150"/>
    <p:sldId id="465" r:id="rId151"/>
    <p:sldId id="466" r:id="rId152"/>
    <p:sldId id="286" r:id="rId153"/>
    <p:sldId id="283" r:id="rId154"/>
    <p:sldId id="434" r:id="rId155"/>
    <p:sldId id="435" r:id="rId156"/>
    <p:sldId id="436" r:id="rId157"/>
    <p:sldId id="437" r:id="rId158"/>
    <p:sldId id="438" r:id="rId159"/>
    <p:sldId id="439" r:id="rId160"/>
    <p:sldId id="440" r:id="rId161"/>
    <p:sldId id="441" r:id="rId162"/>
    <p:sldId id="442" r:id="rId163"/>
    <p:sldId id="443" r:id="rId164"/>
    <p:sldId id="444" r:id="rId165"/>
    <p:sldId id="445" r:id="rId166"/>
    <p:sldId id="446" r:id="rId167"/>
    <p:sldId id="447" r:id="rId168"/>
    <p:sldId id="448" r:id="rId169"/>
    <p:sldId id="449" r:id="rId170"/>
    <p:sldId id="450" r:id="rId171"/>
    <p:sldId id="451" r:id="rId172"/>
    <p:sldId id="452" r:id="rId173"/>
    <p:sldId id="453" r:id="rId174"/>
    <p:sldId id="454" r:id="rId175"/>
    <p:sldId id="455" r:id="rId176"/>
    <p:sldId id="456" r:id="rId177"/>
    <p:sldId id="457" r:id="rId178"/>
    <p:sldId id="458" r:id="rId179"/>
    <p:sldId id="459" r:id="rId180"/>
    <p:sldId id="460" r:id="rId181"/>
    <p:sldId id="461" r:id="rId182"/>
    <p:sldId id="462" r:id="rId18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>
        <p:scale>
          <a:sx n="60" d="100"/>
          <a:sy n="60" d="100"/>
        </p:scale>
        <p:origin x="-480" y="-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38" Type="http://schemas.openxmlformats.org/officeDocument/2006/relationships/slide" Target="slides/slide134.xml"/><Relationship Id="rId154" Type="http://schemas.openxmlformats.org/officeDocument/2006/relationships/slide" Target="slides/slide150.xml"/><Relationship Id="rId159" Type="http://schemas.openxmlformats.org/officeDocument/2006/relationships/slide" Target="slides/slide155.xml"/><Relationship Id="rId175" Type="http://schemas.openxmlformats.org/officeDocument/2006/relationships/slide" Target="slides/slide171.xml"/><Relationship Id="rId170" Type="http://schemas.openxmlformats.org/officeDocument/2006/relationships/slide" Target="slides/slide166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slide" Target="slides/slide124.xml"/><Relationship Id="rId144" Type="http://schemas.openxmlformats.org/officeDocument/2006/relationships/slide" Target="slides/slide140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65" Type="http://schemas.openxmlformats.org/officeDocument/2006/relationships/slide" Target="slides/slide161.xml"/><Relationship Id="rId181" Type="http://schemas.openxmlformats.org/officeDocument/2006/relationships/slide" Target="slides/slide177.xml"/><Relationship Id="rId186" Type="http://schemas.openxmlformats.org/officeDocument/2006/relationships/viewProps" Target="view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slide" Target="slides/slide130.xml"/><Relationship Id="rId139" Type="http://schemas.openxmlformats.org/officeDocument/2006/relationships/slide" Target="slides/slide13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55" Type="http://schemas.openxmlformats.org/officeDocument/2006/relationships/slide" Target="slides/slide151.xml"/><Relationship Id="rId171" Type="http://schemas.openxmlformats.org/officeDocument/2006/relationships/slide" Target="slides/slide167.xml"/><Relationship Id="rId176" Type="http://schemas.openxmlformats.org/officeDocument/2006/relationships/slide" Target="slides/slide172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45" Type="http://schemas.openxmlformats.org/officeDocument/2006/relationships/slide" Target="slides/slide141.xml"/><Relationship Id="rId161" Type="http://schemas.openxmlformats.org/officeDocument/2006/relationships/slide" Target="slides/slide157.xml"/><Relationship Id="rId166" Type="http://schemas.openxmlformats.org/officeDocument/2006/relationships/slide" Target="slides/slide162.xml"/><Relationship Id="rId182" Type="http://schemas.openxmlformats.org/officeDocument/2006/relationships/slide" Target="slides/slide178.xml"/><Relationship Id="rId187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51" Type="http://schemas.openxmlformats.org/officeDocument/2006/relationships/slide" Target="slides/slide147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72" Type="http://schemas.openxmlformats.org/officeDocument/2006/relationships/slide" Target="slides/slide168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162" Type="http://schemas.openxmlformats.org/officeDocument/2006/relationships/slide" Target="slides/slide158.xml"/><Relationship Id="rId183" Type="http://schemas.openxmlformats.org/officeDocument/2006/relationships/slide" Target="slides/slide179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79" Type="http://schemas.openxmlformats.org/officeDocument/2006/relationships/slide" Target="slides/slide175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18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80" Type="http://schemas.openxmlformats.org/officeDocument/2006/relationships/slide" Target="slides/slide1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6D7389-B600-1416-BAC3-DA3206101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98BDD4A-4F04-5A3D-938F-36C3959D7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1995955-8101-38A3-1B26-D62C918DC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571A6E1-66C9-87EA-68A5-38A057243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668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082833C-F737-95E4-B564-DFA2E42E7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757EC4E-73A2-4F5F-3332-8BF06465B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6C33FB6-E32E-4D76-C86C-65BABFA0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B2786E2-A8BF-072D-6BE7-8054CD4E7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38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BA1F2F0-A53B-AFA8-EB7C-9D1DCDC5A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183D62E-9138-A430-5217-4FA0BFD08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A542F1F-3B34-7EBE-1287-105FA3DE7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742C2DA-CBFA-C08B-F052-AC5F33C1F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7353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709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644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72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988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4513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3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566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6967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95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00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2975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168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183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799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94011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51134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96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39329" y="65110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Prepared by: AISWARYA S.S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17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8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8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8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8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8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8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8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8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8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8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8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8A1C807-B9AD-4C9B-BF9F-60F0342899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28586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2316463"/>
            <a:ext cx="12192001" cy="810886"/>
          </a:xfrm>
        </p:spPr>
        <p:txBody>
          <a:bodyPr>
            <a:normAutofit/>
          </a:bodyPr>
          <a:lstStyle/>
          <a:p>
            <a:pPr algn="l"/>
            <a:r>
              <a:rPr lang="en-IN" sz="4400" b="1" dirty="0"/>
              <a:t>COMPUTER ORGANIZATION AND ARCHITECTURE</a:t>
            </a:r>
            <a:endParaRPr lang="en-US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4252" y="3730652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tx2">
                    <a:lumMod val="50000"/>
                  </a:schemeClr>
                </a:solidFill>
              </a:rPr>
              <a:t>MODULE 1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EB073B8-C21B-28A1-1224-A93FCC063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DCD4DA-D0DB-52EC-E2C3-EB2DE6367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D3EA4F-B754-2AAC-457C-F29B000D3DA6}"/>
              </a:ext>
            </a:extLst>
          </p:cNvPr>
          <p:cNvSpPr txBox="1"/>
          <p:nvPr/>
        </p:nvSpPr>
        <p:spPr>
          <a:xfrm>
            <a:off x="142874" y="1777992"/>
            <a:ext cx="1198721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u="none" strike="noStrike" baseline="0" dirty="0">
                <a:latin typeface="CIDFont+F3"/>
              </a:rPr>
              <a:t>Basic Structure of computers </a:t>
            </a:r>
            <a:r>
              <a:rPr lang="en-US" sz="2800" b="0" i="0" u="none" strike="noStrike" baseline="0" dirty="0">
                <a:latin typeface="CIDFont+F3"/>
              </a:rPr>
              <a:t>:– </a:t>
            </a:r>
            <a:r>
              <a:rPr lang="en-US" sz="2800" b="0" i="0" u="none" strike="noStrike" baseline="0" dirty="0">
                <a:latin typeface="CIDFont+F2"/>
              </a:rPr>
              <a:t>Functional units - Basic operational </a:t>
            </a:r>
            <a:r>
              <a:rPr lang="en-IN" sz="2800" b="0" i="0" u="none" strike="noStrike" baseline="0" dirty="0">
                <a:latin typeface="CIDFont+F2"/>
              </a:rPr>
              <a:t>concepts; Memory map; Endianness.</a:t>
            </a:r>
          </a:p>
          <a:p>
            <a:pPr algn="l"/>
            <a:r>
              <a:rPr lang="en-IN" sz="2800" b="1" i="0" u="none" strike="noStrike" baseline="0" dirty="0">
                <a:latin typeface="CIDFont+F3"/>
              </a:rPr>
              <a:t>CISC vs RISC architectures</a:t>
            </a:r>
            <a:r>
              <a:rPr lang="en-IN" sz="2800" b="0" i="0" u="none" strike="noStrike" baseline="0" dirty="0">
                <a:latin typeface="CIDFont+F3"/>
              </a:rPr>
              <a:t>:- </a:t>
            </a:r>
            <a:r>
              <a:rPr lang="en-IN" sz="2800" b="0" i="0" u="none" strike="noStrike" baseline="0" dirty="0">
                <a:latin typeface="CIDFont+F2"/>
              </a:rPr>
              <a:t>RISC Introduction - Assembly Language, Assembler directives, Assembling.</a:t>
            </a:r>
          </a:p>
          <a:p>
            <a:pPr algn="l"/>
            <a:r>
              <a:rPr lang="en-US" sz="2800" b="1" i="0" u="none" strike="noStrike" baseline="0" dirty="0">
                <a:latin typeface="CIDFont+F3"/>
              </a:rPr>
              <a:t>Programming concepts </a:t>
            </a:r>
            <a:r>
              <a:rPr lang="en-US" sz="2800" b="0" i="0" u="none" strike="noStrike" baseline="0" dirty="0">
                <a:latin typeface="CIDFont+F3"/>
              </a:rPr>
              <a:t>- </a:t>
            </a:r>
            <a:r>
              <a:rPr lang="en-US" sz="2800" b="0" i="0" u="none" strike="noStrike" baseline="0" dirty="0">
                <a:latin typeface="CIDFont+F2"/>
              </a:rPr>
              <a:t>Program flow, Branching, Conditional statements, Loops, Arrays, Function calls; Instruction execution cycle.</a:t>
            </a:r>
          </a:p>
          <a:p>
            <a:pPr algn="l"/>
            <a:r>
              <a:rPr lang="en-US" sz="2800" b="1" i="0" u="none" strike="noStrike" baseline="0" dirty="0">
                <a:latin typeface="CIDFont+F3"/>
              </a:rPr>
              <a:t>Machine language </a:t>
            </a:r>
            <a:r>
              <a:rPr lang="en-US" sz="2800" b="0" i="0" u="none" strike="noStrike" baseline="0" dirty="0">
                <a:latin typeface="CIDFont+F3"/>
              </a:rPr>
              <a:t>- </a:t>
            </a:r>
            <a:r>
              <a:rPr lang="en-US" sz="2800" b="0" i="0" u="none" strike="noStrike" baseline="0" dirty="0">
                <a:latin typeface="CIDFont+F2"/>
              </a:rPr>
              <a:t>Instructions, addressing modes, Stored program concept. Evolution of the RISC Architecture.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2783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2B2D6DE-C9B5-4678-91EF-77E85F2350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4078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2" y="609599"/>
            <a:ext cx="4815257" cy="1019175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000" b="1" dirty="0">
                <a:latin typeface="CIDFont+F3"/>
              </a:rPr>
              <a:t>Basic Structure of computers </a:t>
            </a:r>
            <a:r>
              <a:rPr lang="en-US" sz="4000" dirty="0">
                <a:latin typeface="CIDFont+F3"/>
              </a:rPr>
              <a:t>:–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xmlns="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400" dirty="0">
                <a:latin typeface="CIDFont+F2"/>
              </a:rPr>
              <a:t>Functional units – </a:t>
            </a:r>
          </a:p>
          <a:p>
            <a:r>
              <a:rPr lang="en-US" sz="2400" dirty="0">
                <a:latin typeface="CIDFont+F2"/>
              </a:rPr>
              <a:t>Basic operational </a:t>
            </a:r>
            <a:r>
              <a:rPr lang="en-IN" sz="2400" dirty="0">
                <a:latin typeface="CIDFont+F2"/>
              </a:rPr>
              <a:t>concepts;</a:t>
            </a:r>
          </a:p>
          <a:p>
            <a:r>
              <a:rPr lang="en-IN" sz="2400" dirty="0">
                <a:latin typeface="CIDFont+F2"/>
              </a:rPr>
              <a:t> Memory map; </a:t>
            </a:r>
            <a:r>
              <a:rPr lang="en-IN" sz="2400" dirty="0" smtClean="0">
                <a:latin typeface="CIDFont+F2"/>
              </a:rPr>
              <a:t>-(344 </a:t>
            </a:r>
            <a:r>
              <a:rPr lang="en-IN" sz="2400" dirty="0" err="1" smtClean="0">
                <a:latin typeface="CIDFont+F2"/>
              </a:rPr>
              <a:t>Degital</a:t>
            </a:r>
            <a:r>
              <a:rPr lang="en-IN" sz="2400" dirty="0" smtClean="0">
                <a:latin typeface="CIDFont+F2"/>
              </a:rPr>
              <a:t> design)</a:t>
            </a:r>
            <a:endParaRPr lang="en-IN" sz="2400" dirty="0">
              <a:latin typeface="CIDFont+F2"/>
            </a:endParaRPr>
          </a:p>
          <a:p>
            <a:r>
              <a:rPr lang="en-IN" sz="2400" dirty="0" err="1">
                <a:latin typeface="CIDFont+F2"/>
              </a:rPr>
              <a:t>Endianness</a:t>
            </a:r>
            <a:r>
              <a:rPr lang="en-IN" sz="2400" dirty="0" smtClean="0">
                <a:latin typeface="CIDFont+F2"/>
              </a:rPr>
              <a:t>.-(355 </a:t>
            </a:r>
            <a:r>
              <a:rPr lang="en-IN" sz="2400" dirty="0" err="1" smtClean="0">
                <a:latin typeface="CIDFont+F2"/>
              </a:rPr>
              <a:t>Degital</a:t>
            </a:r>
            <a:r>
              <a:rPr lang="en-IN" sz="2400" dirty="0" smtClean="0">
                <a:latin typeface="CIDFont+F2"/>
              </a:rPr>
              <a:t> </a:t>
            </a:r>
            <a:r>
              <a:rPr lang="en-IN" sz="2400" dirty="0">
                <a:latin typeface="CIDFont+F2"/>
              </a:rPr>
              <a:t>design)</a:t>
            </a:r>
          </a:p>
          <a:p>
            <a:endParaRPr lang="en-IN" sz="2400" dirty="0">
              <a:latin typeface="CIDFont+F2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69" y="294953"/>
            <a:ext cx="11141613" cy="928929"/>
          </a:xfrm>
        </p:spPr>
        <p:txBody>
          <a:bodyPr/>
          <a:lstStyle/>
          <a:p>
            <a:r>
              <a:rPr lang="en-US" b="1" dirty="0"/>
              <a:t>WHY COMPUTER ORGANIZATION </a:t>
            </a:r>
            <a:r>
              <a:rPr lang="en-US" b="1" dirty="0" smtClean="0"/>
              <a:t>AND ARCHITECTURE</a:t>
            </a:r>
            <a:r>
              <a:rPr lang="en-US" b="1" dirty="0"/>
              <a:t>?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18978" y="1294228"/>
            <a:ext cx="1109941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Computer architecture is </a:t>
            </a:r>
            <a:r>
              <a:rPr lang="en-US" sz="2800" b="1" dirty="0"/>
              <a:t>a key component</a:t>
            </a:r>
            <a:r>
              <a:rPr lang="en-US" sz="2800" dirty="0"/>
              <a:t> of computer engineering and it is </a:t>
            </a:r>
            <a:r>
              <a:rPr lang="en-US" sz="2800" dirty="0" smtClean="0"/>
              <a:t>concerned with </a:t>
            </a:r>
            <a:r>
              <a:rPr lang="en-US" sz="2800" b="1" dirty="0"/>
              <a:t>all aspects of the design and organization of the central processing unit and the </a:t>
            </a:r>
            <a:r>
              <a:rPr lang="en-US" sz="2800" b="1" dirty="0" smtClean="0"/>
              <a:t>integration of </a:t>
            </a:r>
            <a:r>
              <a:rPr lang="en-US" sz="2800" b="1" dirty="0"/>
              <a:t>the CPU </a:t>
            </a:r>
            <a:r>
              <a:rPr lang="en-US" sz="2800" dirty="0"/>
              <a:t>into the computer system itself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Architecture extends upward into computer software because </a:t>
            </a:r>
            <a:r>
              <a:rPr lang="en-US" sz="2800" b="1" dirty="0"/>
              <a:t>a processor’s </a:t>
            </a:r>
            <a:r>
              <a:rPr lang="en-US" sz="2800" b="1" dirty="0" smtClean="0"/>
              <a:t>architecture must </a:t>
            </a:r>
            <a:r>
              <a:rPr lang="en-US" sz="2800" b="1" dirty="0"/>
              <a:t>cooperate with the operating system and system software. </a:t>
            </a:r>
            <a:r>
              <a:rPr lang="en-US" sz="2800" dirty="0"/>
              <a:t>It is </a:t>
            </a:r>
            <a:r>
              <a:rPr lang="en-US" sz="2800" b="1" dirty="0"/>
              <a:t>difficult to design </a:t>
            </a:r>
            <a:r>
              <a:rPr lang="en-US" sz="2800" b="1" dirty="0" smtClean="0"/>
              <a:t>an operating </a:t>
            </a:r>
            <a:r>
              <a:rPr lang="en-US" sz="2800" b="1" dirty="0"/>
              <a:t>system well without knowledge </a:t>
            </a:r>
            <a:r>
              <a:rPr lang="en-US" sz="2800" dirty="0"/>
              <a:t>of the underlying architecture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Moreover, </a:t>
            </a:r>
            <a:r>
              <a:rPr lang="en-US" sz="2800" b="1" dirty="0"/>
              <a:t>the computer designer must have an understanding of so</a:t>
            </a:r>
            <a:r>
              <a:rPr lang="en-US" sz="2800" dirty="0"/>
              <a:t>ftware in order </a:t>
            </a:r>
            <a:r>
              <a:rPr lang="en-US" sz="2800" dirty="0" smtClean="0"/>
              <a:t>to </a:t>
            </a:r>
            <a:r>
              <a:rPr lang="en-IN" sz="2800" dirty="0" smtClean="0"/>
              <a:t>implement </a:t>
            </a:r>
            <a:r>
              <a:rPr lang="en-IN" sz="2800" dirty="0"/>
              <a:t>the optimum architecture.</a:t>
            </a:r>
          </a:p>
        </p:txBody>
      </p:sp>
    </p:spTree>
    <p:extLst>
      <p:ext uri="{BB962C8B-B14F-4D97-AF65-F5344CB8AC3E}">
        <p14:creationId xmlns:p14="http://schemas.microsoft.com/office/powerpoint/2010/main" val="83774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5" y="140669"/>
            <a:ext cx="11755903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i="1" dirty="0"/>
              <a:t>Computer: </a:t>
            </a:r>
            <a:r>
              <a:rPr lang="en-US" sz="3200" dirty="0"/>
              <a:t>A device that accepts input, processes data, stores data, and produces output, </a:t>
            </a:r>
            <a:r>
              <a:rPr lang="en-US" sz="3200" dirty="0" smtClean="0"/>
              <a:t>all according </a:t>
            </a:r>
            <a:r>
              <a:rPr lang="en-US" sz="3200" dirty="0"/>
              <a:t>to a series of stored instructions.</a:t>
            </a:r>
          </a:p>
          <a:p>
            <a:r>
              <a:rPr lang="en-US" sz="3200" b="1" i="1" dirty="0"/>
              <a:t>Software: </a:t>
            </a:r>
            <a:r>
              <a:rPr lang="en-US" sz="3200" dirty="0"/>
              <a:t>A computer program that tells the computer how to perform particular </a:t>
            </a:r>
            <a:r>
              <a:rPr lang="en-US" sz="3200" dirty="0" smtClean="0"/>
              <a:t>tasks. </a:t>
            </a:r>
          </a:p>
          <a:p>
            <a:r>
              <a:rPr lang="en-US" sz="3200" b="1" i="1" dirty="0" smtClean="0"/>
              <a:t>Hardware</a:t>
            </a:r>
            <a:r>
              <a:rPr lang="en-US" sz="3200" b="1" i="1" dirty="0"/>
              <a:t>: </a:t>
            </a:r>
            <a:r>
              <a:rPr lang="en-US" sz="3200" dirty="0"/>
              <a:t>Includes the electronic and mechanical devices that process the data; refers to </a:t>
            </a:r>
            <a:r>
              <a:rPr lang="en-US" sz="3200" dirty="0" smtClean="0"/>
              <a:t>the </a:t>
            </a:r>
            <a:r>
              <a:rPr lang="en-IN" sz="3200" dirty="0" smtClean="0"/>
              <a:t>computer </a:t>
            </a:r>
            <a:r>
              <a:rPr lang="en-IN" sz="3200" dirty="0"/>
              <a:t>as well as peripheral devices.</a:t>
            </a:r>
          </a:p>
          <a:p>
            <a:r>
              <a:rPr lang="en-US" sz="3200" b="1" i="1" dirty="0"/>
              <a:t>Peripheral devices: </a:t>
            </a:r>
            <a:r>
              <a:rPr lang="en-US" sz="3200" dirty="0"/>
              <a:t>Used to expand the computer’s input, output and storage capabilities.</a:t>
            </a:r>
          </a:p>
          <a:p>
            <a:r>
              <a:rPr lang="en-US" sz="3200" b="1" i="1" dirty="0"/>
              <a:t>Network: </a:t>
            </a:r>
            <a:r>
              <a:rPr lang="en-US" sz="3200" dirty="0"/>
              <a:t>Two or more computers and other devices that are connected, for the purpose </a:t>
            </a:r>
            <a:r>
              <a:rPr lang="en-US" sz="3200" dirty="0" smtClean="0"/>
              <a:t>of </a:t>
            </a:r>
            <a:r>
              <a:rPr lang="en-IN" sz="3200" dirty="0" smtClean="0"/>
              <a:t>sharing </a:t>
            </a:r>
            <a:r>
              <a:rPr lang="en-IN" sz="3200" dirty="0"/>
              <a:t>data and programs.</a:t>
            </a:r>
          </a:p>
          <a:p>
            <a:r>
              <a:rPr lang="en-US" sz="3200" b="1" i="1" dirty="0"/>
              <a:t>Computer Types</a:t>
            </a:r>
            <a:r>
              <a:rPr lang="en-US" sz="3200" b="1" i="1" dirty="0" smtClean="0"/>
              <a:t>: </a:t>
            </a:r>
            <a:r>
              <a:rPr lang="en-US" sz="3200" dirty="0" smtClean="0"/>
              <a:t>Computers </a:t>
            </a:r>
            <a:r>
              <a:rPr lang="en-US" sz="3200" dirty="0"/>
              <a:t>are classified based on the parameters </a:t>
            </a:r>
            <a:r>
              <a:rPr lang="en-US" sz="3200" dirty="0" smtClean="0"/>
              <a:t>like Speed </a:t>
            </a:r>
            <a:r>
              <a:rPr lang="en-US" sz="3200" dirty="0"/>
              <a:t>of operation, </a:t>
            </a:r>
            <a:r>
              <a:rPr lang="en-US" sz="3200" dirty="0" smtClean="0"/>
              <a:t>Cost, Computational </a:t>
            </a:r>
            <a:r>
              <a:rPr lang="en-US" sz="3200" dirty="0"/>
              <a:t>power and Type of </a:t>
            </a:r>
            <a:r>
              <a:rPr lang="en-US" sz="3200" dirty="0" smtClean="0"/>
              <a:t>application.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40451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962" y="434148"/>
            <a:ext cx="11493305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i="1" dirty="0"/>
              <a:t>Difference between computer organization and computer architecture</a:t>
            </a:r>
          </a:p>
          <a:p>
            <a:r>
              <a:rPr lang="en-US" sz="2800" dirty="0"/>
              <a:t>Architecture describes what the computer does and organization describes how it does it.</a:t>
            </a:r>
          </a:p>
          <a:p>
            <a:r>
              <a:rPr lang="en-IN" sz="2800" b="1" i="1" dirty="0"/>
              <a:t>Computer organization:</a:t>
            </a:r>
          </a:p>
          <a:p>
            <a:r>
              <a:rPr lang="en-US" sz="2800" dirty="0"/>
              <a:t>Computer organization is concerned with the way the </a:t>
            </a:r>
            <a:r>
              <a:rPr lang="en-US" sz="2800" b="1" dirty="0"/>
              <a:t>hardware components operate </a:t>
            </a:r>
            <a:r>
              <a:rPr lang="en-US" sz="2800" b="1" dirty="0" smtClean="0"/>
              <a:t>and the </a:t>
            </a:r>
            <a:r>
              <a:rPr lang="en-US" sz="2800" b="1" dirty="0"/>
              <a:t>way they are connected together to form computer system</a:t>
            </a:r>
            <a:r>
              <a:rPr lang="en-US" sz="2800" dirty="0"/>
              <a:t>. It includes Hardware </a:t>
            </a:r>
            <a:r>
              <a:rPr lang="en-US" sz="2800" dirty="0" smtClean="0"/>
              <a:t>details </a:t>
            </a:r>
            <a:r>
              <a:rPr lang="en-US" sz="2800" dirty="0"/>
              <a:t>transparent to the programmer such as control signal and peripheral. It describes how </a:t>
            </a:r>
            <a:r>
              <a:rPr lang="en-US" sz="2800" dirty="0" smtClean="0"/>
              <a:t>the computer </a:t>
            </a:r>
            <a:r>
              <a:rPr lang="en-US" sz="2800" dirty="0"/>
              <a:t>performs. Example: circuit design, control signals, memory types this all are </a:t>
            </a:r>
            <a:r>
              <a:rPr lang="en-US" sz="2800" dirty="0" smtClean="0"/>
              <a:t>under </a:t>
            </a:r>
            <a:r>
              <a:rPr lang="en-IN" sz="2800" dirty="0" smtClean="0"/>
              <a:t>computer </a:t>
            </a:r>
            <a:r>
              <a:rPr lang="en-IN" sz="2800" dirty="0"/>
              <a:t>organization</a:t>
            </a:r>
            <a:r>
              <a:rPr lang="en-IN" sz="2800" dirty="0" smtClean="0"/>
              <a:t>.</a:t>
            </a:r>
          </a:p>
          <a:p>
            <a:r>
              <a:rPr lang="en-IN" sz="2800" b="1" i="1" dirty="0"/>
              <a:t>Computer Architecture:</a:t>
            </a:r>
          </a:p>
          <a:p>
            <a:r>
              <a:rPr lang="en-US" sz="2800" dirty="0"/>
              <a:t>Computer architecture is concerned with the </a:t>
            </a:r>
            <a:r>
              <a:rPr lang="en-US" sz="2800" b="1" dirty="0"/>
              <a:t>structure and behavior of computer </a:t>
            </a:r>
            <a:r>
              <a:rPr lang="en-US" sz="2800" b="1" dirty="0" smtClean="0"/>
              <a:t>system </a:t>
            </a:r>
            <a:r>
              <a:rPr lang="en-US" sz="2800" dirty="0" smtClean="0"/>
              <a:t>as </a:t>
            </a:r>
            <a:r>
              <a:rPr lang="en-US" sz="2800" dirty="0"/>
              <a:t>seen by the user. It includes information, formats, instruction set and techniques </a:t>
            </a:r>
            <a:r>
              <a:rPr lang="en-US" sz="2800" dirty="0" smtClean="0"/>
              <a:t>for addressing </a:t>
            </a:r>
            <a:r>
              <a:rPr lang="en-US" sz="2800" dirty="0"/>
              <a:t>memory. It describes what the computer does.</a:t>
            </a:r>
            <a:endParaRPr lang="en-US" sz="2800" dirty="0" smtClean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39422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577" y="196487"/>
            <a:ext cx="10364451" cy="1021098"/>
          </a:xfrm>
        </p:spPr>
        <p:txBody>
          <a:bodyPr/>
          <a:lstStyle/>
          <a:p>
            <a:r>
              <a:rPr lang="en-IN" b="1" dirty="0"/>
              <a:t>FUNCTIONAL UNITS: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64234" y="1090975"/>
            <a:ext cx="1104313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The computer system is divided into five separate units for its operation.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IN" sz="3600" dirty="0" smtClean="0"/>
              <a:t>Input </a:t>
            </a:r>
            <a:r>
              <a:rPr lang="en-IN" sz="3600" dirty="0"/>
              <a:t>Unit.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IN" sz="3600" dirty="0" smtClean="0"/>
              <a:t>ALU</a:t>
            </a:r>
            <a:r>
              <a:rPr lang="en-IN" sz="3600" dirty="0"/>
              <a:t>.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IN" sz="3600" dirty="0" smtClean="0"/>
              <a:t>Control </a:t>
            </a:r>
            <a:r>
              <a:rPr lang="en-IN" sz="3600" dirty="0"/>
              <a:t>Unit.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IN" sz="3600" dirty="0" smtClean="0"/>
              <a:t>Memory </a:t>
            </a:r>
            <a:r>
              <a:rPr lang="en-IN" sz="3600" dirty="0"/>
              <a:t>Unit.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IN" sz="3600" dirty="0" smtClean="0"/>
              <a:t>Output </a:t>
            </a:r>
            <a:r>
              <a:rPr lang="en-IN" sz="3600" dirty="0"/>
              <a:t>Unit</a:t>
            </a:r>
            <a:r>
              <a:rPr lang="en-IN" sz="3600" dirty="0" smtClean="0"/>
              <a:t>.</a:t>
            </a:r>
          </a:p>
          <a:p>
            <a:endParaRPr lang="en-IN" sz="3600" dirty="0"/>
          </a:p>
        </p:txBody>
      </p:sp>
      <p:pic>
        <p:nvPicPr>
          <p:cNvPr id="1026" name="Picture 2" descr="C:\Users\User\Pictures\Screenshots\Screenshot (229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166" y="1821547"/>
            <a:ext cx="6828839" cy="4127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441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0"/>
            <a:ext cx="10364451" cy="825323"/>
          </a:xfrm>
        </p:spPr>
        <p:txBody>
          <a:bodyPr>
            <a:normAutofit/>
          </a:bodyPr>
          <a:lstStyle/>
          <a:p>
            <a:r>
              <a:rPr lang="en-IN" b="1" dirty="0"/>
              <a:t>Input &amp; Output unit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81354" y="881133"/>
            <a:ext cx="1170432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 method of </a:t>
            </a:r>
            <a:r>
              <a:rPr lang="en-US" sz="3200" b="1" dirty="0"/>
              <a:t>feeding data </a:t>
            </a:r>
            <a:r>
              <a:rPr lang="en-US" sz="3200" b="1" dirty="0" smtClean="0"/>
              <a:t>and programs </a:t>
            </a:r>
            <a:r>
              <a:rPr lang="en-US" sz="3200" b="1" dirty="0"/>
              <a:t>to a computer </a:t>
            </a:r>
            <a:r>
              <a:rPr lang="en-US" sz="3200" dirty="0"/>
              <a:t>is </a:t>
            </a:r>
            <a:r>
              <a:rPr lang="en-US" sz="3200" dirty="0" smtClean="0"/>
              <a:t>accomplished by </a:t>
            </a:r>
            <a:r>
              <a:rPr lang="en-US" sz="3200" dirty="0"/>
              <a:t>an </a:t>
            </a:r>
            <a:r>
              <a:rPr lang="en-US" sz="3200" b="1" dirty="0"/>
              <a:t>input device</a:t>
            </a:r>
            <a:r>
              <a:rPr lang="en-US" sz="3200" dirty="0"/>
              <a:t>. </a:t>
            </a:r>
            <a:endParaRPr lang="en-US" sz="3200" dirty="0" smtClean="0"/>
          </a:p>
          <a:p>
            <a:endParaRPr lang="en-US" sz="3200" dirty="0"/>
          </a:p>
          <a:p>
            <a:r>
              <a:rPr lang="en-US" sz="3200" dirty="0" smtClean="0"/>
              <a:t>Computer input devices </a:t>
            </a:r>
            <a:r>
              <a:rPr lang="en-US" sz="3200" dirty="0"/>
              <a:t>read data from a </a:t>
            </a:r>
            <a:r>
              <a:rPr lang="en-US" sz="3200" dirty="0" smtClean="0"/>
              <a:t>source and </a:t>
            </a:r>
            <a:r>
              <a:rPr lang="en-US" sz="3200" b="1" dirty="0"/>
              <a:t>translate that data into electronic impulses </a:t>
            </a:r>
            <a:r>
              <a:rPr lang="en-US" sz="3200" dirty="0"/>
              <a:t>[</a:t>
            </a:r>
            <a:r>
              <a:rPr lang="en-US" sz="3200" dirty="0" smtClean="0"/>
              <a:t>ADC-Analog-to-Digital converter] </a:t>
            </a:r>
            <a:r>
              <a:rPr lang="en-US" sz="3200" dirty="0"/>
              <a:t>for transfer into the CPU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r>
              <a:rPr lang="en-US" sz="3200" dirty="0"/>
              <a:t>Some typical </a:t>
            </a:r>
            <a:r>
              <a:rPr lang="en-US" sz="3200" b="1" dirty="0"/>
              <a:t>input devices are a keyboard, a mouse, </a:t>
            </a:r>
            <a:r>
              <a:rPr lang="en-US" sz="3200" b="1" dirty="0" smtClean="0"/>
              <a:t>scanner,</a:t>
            </a:r>
            <a:r>
              <a:rPr lang="en-US" sz="3200" dirty="0"/>
              <a:t> </a:t>
            </a:r>
            <a:r>
              <a:rPr lang="en-US" sz="3200" b="1" dirty="0"/>
              <a:t>magnetic disks</a:t>
            </a:r>
            <a:r>
              <a:rPr lang="en-US" sz="3200" dirty="0" smtClean="0"/>
              <a:t>, </a:t>
            </a:r>
            <a:r>
              <a:rPr lang="en-US" sz="3200" dirty="0"/>
              <a:t>etc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0757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0"/>
            <a:ext cx="10364451" cy="825323"/>
          </a:xfrm>
        </p:spPr>
        <p:txBody>
          <a:bodyPr>
            <a:normAutofit/>
          </a:bodyPr>
          <a:lstStyle/>
          <a:p>
            <a:r>
              <a:rPr lang="en-IN" b="1" dirty="0"/>
              <a:t>Input &amp; Output unit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81354" y="881133"/>
            <a:ext cx="1170432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dirty="0"/>
          </a:p>
          <a:p>
            <a:r>
              <a:rPr lang="en-US" sz="3200" dirty="0"/>
              <a:t>Computer output devices </a:t>
            </a:r>
            <a:r>
              <a:rPr lang="en-US" sz="3200" b="1" dirty="0"/>
              <a:t>converts the electronic impulses [DAC] into human </a:t>
            </a:r>
            <a:r>
              <a:rPr lang="en-US" sz="3200" b="1" dirty="0" smtClean="0"/>
              <a:t>readable form</a:t>
            </a:r>
            <a:r>
              <a:rPr lang="en-US" sz="3200" dirty="0"/>
              <a:t>. </a:t>
            </a:r>
            <a:endParaRPr lang="en-US" sz="3200" dirty="0" smtClean="0"/>
          </a:p>
          <a:p>
            <a:endParaRPr lang="en-US" sz="3200" dirty="0"/>
          </a:p>
          <a:p>
            <a:r>
              <a:rPr lang="en-US" sz="3200" dirty="0" smtClean="0"/>
              <a:t>Output </a:t>
            </a:r>
            <a:r>
              <a:rPr lang="en-US" sz="3200" dirty="0"/>
              <a:t>unit sends processed results to the outside world. </a:t>
            </a:r>
            <a:endParaRPr lang="en-US" sz="3200" dirty="0" smtClean="0"/>
          </a:p>
          <a:p>
            <a:endParaRPr lang="en-US" sz="3200" dirty="0"/>
          </a:p>
          <a:p>
            <a:r>
              <a:rPr lang="en-US" sz="3200" dirty="0" smtClean="0"/>
              <a:t>Examples</a:t>
            </a:r>
            <a:r>
              <a:rPr lang="en-US" sz="3200" dirty="0"/>
              <a:t>: </a:t>
            </a:r>
            <a:r>
              <a:rPr lang="en-US" sz="3200" b="1" dirty="0"/>
              <a:t>Display </a:t>
            </a:r>
            <a:r>
              <a:rPr lang="en-US" sz="3200" b="1" dirty="0" smtClean="0"/>
              <a:t>screens, Printers</a:t>
            </a:r>
            <a:r>
              <a:rPr lang="en-US" sz="3200" b="1" dirty="0"/>
              <a:t>, plotters, microfilms, synthesizers, high-tech blackboards, film recorders, etc.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232985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94953"/>
            <a:ext cx="10364451" cy="844523"/>
          </a:xfrm>
        </p:spPr>
        <p:txBody>
          <a:bodyPr/>
          <a:lstStyle/>
          <a:p>
            <a:r>
              <a:rPr lang="en-IN" b="1" dirty="0"/>
              <a:t>Memory Unit (MU)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0" y="1390751"/>
            <a:ext cx="1188719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Memory Unit is </a:t>
            </a:r>
            <a:r>
              <a:rPr lang="en-US" sz="2400" b="1" dirty="0"/>
              <a:t>a collection of storage cells </a:t>
            </a:r>
            <a:r>
              <a:rPr lang="en-US" sz="2400" dirty="0"/>
              <a:t>together with </a:t>
            </a:r>
            <a:r>
              <a:rPr lang="en-US" sz="2400" b="1" dirty="0"/>
              <a:t>associated circuits needed </a:t>
            </a:r>
            <a:r>
              <a:rPr lang="en-US" sz="2400" b="1" dirty="0" smtClean="0"/>
              <a:t>to transfer </a:t>
            </a:r>
            <a:r>
              <a:rPr lang="en-US" sz="2400" b="1" dirty="0"/>
              <a:t>information </a:t>
            </a:r>
            <a:r>
              <a:rPr lang="en-US" sz="2400" dirty="0"/>
              <a:t>in and out of storage. 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/>
              <a:t>A computer stores data or information </a:t>
            </a:r>
            <a:r>
              <a:rPr lang="en-US" sz="2400" b="1" dirty="0"/>
              <a:t>using several methods, which leads to </a:t>
            </a:r>
            <a:r>
              <a:rPr lang="en-US" sz="2400" b="1" dirty="0" smtClean="0"/>
              <a:t>different levels </a:t>
            </a:r>
            <a:r>
              <a:rPr lang="en-US" sz="2400" b="1" dirty="0"/>
              <a:t>of data storage</a:t>
            </a:r>
            <a:r>
              <a:rPr lang="en-US" sz="2400" dirty="0"/>
              <a:t>. </a:t>
            </a:r>
            <a:endParaRPr lang="en-US" sz="2400" dirty="0" smtClean="0"/>
          </a:p>
          <a:p>
            <a:endParaRPr lang="en-US" sz="24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Primary </a:t>
            </a:r>
            <a:r>
              <a:rPr lang="en-US" sz="2400" b="1" dirty="0"/>
              <a:t>storage </a:t>
            </a:r>
            <a:r>
              <a:rPr lang="en-US" sz="2400" dirty="0"/>
              <a:t>is the most common form of data storage which </a:t>
            </a:r>
            <a:r>
              <a:rPr lang="en-US" sz="2400" dirty="0" smtClean="0"/>
              <a:t>typically refers </a:t>
            </a:r>
            <a:r>
              <a:rPr lang="en-US" sz="2400" dirty="0"/>
              <a:t>to the </a:t>
            </a:r>
            <a:r>
              <a:rPr lang="en-US" sz="2400" b="1" dirty="0"/>
              <a:t>random access memory (RAM</a:t>
            </a:r>
            <a:r>
              <a:rPr lang="en-US" sz="2400" dirty="0"/>
              <a:t>). It refers to </a:t>
            </a:r>
            <a:r>
              <a:rPr lang="en-US" sz="2400" b="1" dirty="0"/>
              <a:t>the main storage of the </a:t>
            </a:r>
            <a:r>
              <a:rPr lang="en-US" sz="2400" b="1" dirty="0" smtClean="0"/>
              <a:t>computer </a:t>
            </a:r>
            <a:r>
              <a:rPr lang="en-US" sz="2400" dirty="0" smtClean="0"/>
              <a:t>because </a:t>
            </a:r>
            <a:r>
              <a:rPr lang="en-US" sz="2400" dirty="0"/>
              <a:t>it holds data and applications that are </a:t>
            </a:r>
            <a:r>
              <a:rPr lang="en-US" sz="2400" b="1" dirty="0"/>
              <a:t>currently in use by the computer</a:t>
            </a:r>
            <a:r>
              <a:rPr lang="en-US" sz="2400" dirty="0"/>
              <a:t>. </a:t>
            </a:r>
            <a:endParaRPr lang="en-US" sz="24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2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/>
              <a:t>Then</a:t>
            </a:r>
            <a:r>
              <a:rPr lang="en-US" sz="2400" dirty="0"/>
              <a:t>, there </a:t>
            </a:r>
            <a:r>
              <a:rPr lang="en-US" sz="2400" dirty="0" smtClean="0"/>
              <a:t>is </a:t>
            </a:r>
            <a:r>
              <a:rPr lang="en-US" sz="2400" b="1" dirty="0" smtClean="0"/>
              <a:t>secondary storage</a:t>
            </a:r>
            <a:r>
              <a:rPr lang="en-US" sz="2400" dirty="0" smtClean="0"/>
              <a:t> </a:t>
            </a:r>
            <a:r>
              <a:rPr lang="en-US" sz="2400" dirty="0"/>
              <a:t>which refers to the </a:t>
            </a:r>
            <a:r>
              <a:rPr lang="en-US" sz="2400" b="1" dirty="0"/>
              <a:t>external storage devices </a:t>
            </a:r>
            <a:r>
              <a:rPr lang="en-US" sz="2400" dirty="0"/>
              <a:t>and other external media such </a:t>
            </a:r>
            <a:r>
              <a:rPr lang="en-US" sz="2400" dirty="0" smtClean="0"/>
              <a:t>as </a:t>
            </a:r>
            <a:r>
              <a:rPr lang="en-US" sz="2400" b="1" dirty="0" smtClean="0"/>
              <a:t>hard </a:t>
            </a:r>
            <a:r>
              <a:rPr lang="en-US" sz="2400" b="1" dirty="0"/>
              <a:t>drive and optical media.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38482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505" y="140216"/>
            <a:ext cx="10364451" cy="858591"/>
          </a:xfrm>
        </p:spPr>
        <p:txBody>
          <a:bodyPr/>
          <a:lstStyle/>
          <a:p>
            <a:r>
              <a:rPr lang="en-IN" b="1" dirty="0"/>
              <a:t>Arithmetic Logical Unit (ALU)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34461" y="1268497"/>
            <a:ext cx="1149799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After you enter data through the input device it is stored in the </a:t>
            </a:r>
            <a:r>
              <a:rPr lang="en-US" sz="3200" b="1" dirty="0"/>
              <a:t>primary storage </a:t>
            </a:r>
            <a:r>
              <a:rPr lang="en-US" sz="3200" b="1" dirty="0" smtClean="0"/>
              <a:t>unit.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Arithmetic </a:t>
            </a:r>
            <a:r>
              <a:rPr lang="en-US" sz="3200" dirty="0"/>
              <a:t>Logical Unit performs the </a:t>
            </a:r>
            <a:r>
              <a:rPr lang="en-US" sz="3200" b="1" dirty="0"/>
              <a:t>actual processing of data and instruction. </a:t>
            </a:r>
            <a:endParaRPr lang="en-US" sz="3200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The major operations </a:t>
            </a:r>
            <a:r>
              <a:rPr lang="en-US" sz="3200" dirty="0"/>
              <a:t>performed by the ALU are </a:t>
            </a:r>
            <a:r>
              <a:rPr lang="en-US" sz="3200" b="1" dirty="0"/>
              <a:t>addition, subtraction, multiplication, division, logic </a:t>
            </a:r>
            <a:r>
              <a:rPr lang="en-US" sz="3200" b="1" dirty="0" smtClean="0"/>
              <a:t>and </a:t>
            </a:r>
            <a:r>
              <a:rPr lang="en-IN" sz="3200" b="1" dirty="0" smtClean="0"/>
              <a:t>comparison</a:t>
            </a:r>
            <a:r>
              <a:rPr lang="en-IN" sz="3200" dirty="0" smtClean="0"/>
              <a:t>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Data </a:t>
            </a:r>
            <a:r>
              <a:rPr lang="en-US" sz="3200" dirty="0"/>
              <a:t>is transferred to ALU from storage unit when required. </a:t>
            </a: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After </a:t>
            </a:r>
            <a:r>
              <a:rPr lang="en-US" sz="3200" dirty="0"/>
              <a:t>processing, the </a:t>
            </a:r>
            <a:r>
              <a:rPr lang="en-US" sz="3200" dirty="0" smtClean="0"/>
              <a:t>output is </a:t>
            </a:r>
            <a:r>
              <a:rPr lang="en-US" sz="3200" dirty="0"/>
              <a:t>returned back to storage unit for further processing or getting stored.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82246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505" y="140216"/>
            <a:ext cx="10364451" cy="5350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Control Unit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54745" y="826862"/>
            <a:ext cx="1185906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Control unit </a:t>
            </a:r>
            <a:r>
              <a:rPr lang="en-US" sz="3200" b="1" dirty="0"/>
              <a:t>controls and coordinates the </a:t>
            </a:r>
            <a:r>
              <a:rPr lang="en-US" sz="3200" b="1" dirty="0" smtClean="0"/>
              <a:t>entire operations </a:t>
            </a:r>
            <a:r>
              <a:rPr lang="en-US" sz="3200" dirty="0"/>
              <a:t>of the computer system</a:t>
            </a:r>
            <a:r>
              <a:rPr lang="en-US" sz="3200" dirty="0" smtClean="0"/>
              <a:t>. </a:t>
            </a:r>
          </a:p>
          <a:p>
            <a:endParaRPr lang="en-US" sz="3200" dirty="0"/>
          </a:p>
          <a:p>
            <a:r>
              <a:rPr lang="en-US" sz="3200" dirty="0"/>
              <a:t>The control unit </a:t>
            </a:r>
            <a:r>
              <a:rPr lang="en-US" sz="3200" b="1" dirty="0"/>
              <a:t>determines the sequence in which </a:t>
            </a:r>
            <a:r>
              <a:rPr lang="en-US" sz="3200" b="1" dirty="0" smtClean="0"/>
              <a:t>computer programs </a:t>
            </a:r>
            <a:r>
              <a:rPr lang="en-US" sz="3200" b="1" dirty="0"/>
              <a:t>and </a:t>
            </a:r>
            <a:r>
              <a:rPr lang="en-US" sz="3200" b="1" dirty="0" smtClean="0"/>
              <a:t>instructions </a:t>
            </a:r>
            <a:r>
              <a:rPr lang="en-IN" sz="3200" b="1" dirty="0" smtClean="0"/>
              <a:t>are </a:t>
            </a:r>
            <a:r>
              <a:rPr lang="en-IN" sz="3200" b="1" dirty="0"/>
              <a:t>executed</a:t>
            </a:r>
            <a:r>
              <a:rPr lang="en-IN" sz="3200" dirty="0" smtClean="0"/>
              <a:t>.</a:t>
            </a:r>
          </a:p>
          <a:p>
            <a:endParaRPr lang="en-IN" sz="3200" dirty="0"/>
          </a:p>
          <a:p>
            <a:r>
              <a:rPr lang="en-US" sz="3200" dirty="0"/>
              <a:t>It also acts as a </a:t>
            </a:r>
            <a:r>
              <a:rPr lang="en-US" sz="3200" b="1" dirty="0"/>
              <a:t>switch board operator </a:t>
            </a:r>
            <a:r>
              <a:rPr lang="en-US" sz="3200" dirty="0"/>
              <a:t>when several users access the </a:t>
            </a:r>
            <a:r>
              <a:rPr lang="en-US" sz="3200" dirty="0" smtClean="0"/>
              <a:t>computer simultaneously</a:t>
            </a:r>
            <a:r>
              <a:rPr lang="en-US" sz="3200" dirty="0"/>
              <a:t>. </a:t>
            </a:r>
            <a:endParaRPr lang="en-US" sz="3200" dirty="0" smtClean="0"/>
          </a:p>
          <a:p>
            <a:endParaRPr lang="en-US" sz="3200" dirty="0"/>
          </a:p>
          <a:p>
            <a:r>
              <a:rPr lang="en-US" sz="3200" dirty="0" smtClean="0"/>
              <a:t>Thereby </a:t>
            </a:r>
            <a:r>
              <a:rPr lang="en-US" sz="3200" dirty="0"/>
              <a:t>it </a:t>
            </a:r>
            <a:r>
              <a:rPr lang="en-US" sz="3200" b="1" dirty="0"/>
              <a:t>coordinates the activities </a:t>
            </a:r>
            <a:r>
              <a:rPr lang="en-US" sz="3200" dirty="0"/>
              <a:t>of </a:t>
            </a:r>
            <a:r>
              <a:rPr lang="en-US" sz="3200" b="1" dirty="0"/>
              <a:t>computer’s peripheral equipment </a:t>
            </a:r>
            <a:r>
              <a:rPr lang="en-US" sz="3200" dirty="0"/>
              <a:t>as </a:t>
            </a:r>
            <a:r>
              <a:rPr lang="en-US" sz="3200" dirty="0" smtClean="0"/>
              <a:t>they perform </a:t>
            </a:r>
            <a:r>
              <a:rPr lang="en-US" sz="3200" dirty="0"/>
              <a:t>the input and output. Therefore it is the manager of all operations.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3057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505" y="140216"/>
            <a:ext cx="10364451" cy="858591"/>
          </a:xfrm>
        </p:spPr>
        <p:txBody>
          <a:bodyPr/>
          <a:lstStyle/>
          <a:p>
            <a:r>
              <a:rPr lang="en-IN" b="1" dirty="0"/>
              <a:t>Central Processing Unit (CPU)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417342" y="1137532"/>
            <a:ext cx="1148392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The Arithmetic Logical Unit (ALU), Control Unit (CU) and Memory Unit (MU)</a:t>
            </a:r>
            <a:r>
              <a:rPr lang="en-US" sz="3200" dirty="0"/>
              <a:t> of </a:t>
            </a:r>
            <a:r>
              <a:rPr lang="en-US" sz="3200" dirty="0" smtClean="0"/>
              <a:t>a computer </a:t>
            </a:r>
            <a:r>
              <a:rPr lang="en-US" sz="3200" dirty="0"/>
              <a:t>system are </a:t>
            </a:r>
            <a:r>
              <a:rPr lang="en-US" sz="3200" b="1" dirty="0"/>
              <a:t>jointly known </a:t>
            </a:r>
            <a:r>
              <a:rPr lang="en-US" sz="3200" dirty="0"/>
              <a:t>as the central processing unit. </a:t>
            </a:r>
            <a:endParaRPr lang="en-US" sz="3200" dirty="0" smtClean="0"/>
          </a:p>
          <a:p>
            <a:endParaRPr lang="en-US" sz="3200" dirty="0" smtClean="0"/>
          </a:p>
          <a:p>
            <a:r>
              <a:rPr lang="en-US" sz="3200" dirty="0" smtClean="0"/>
              <a:t>We </a:t>
            </a:r>
            <a:r>
              <a:rPr lang="en-US" sz="3200" dirty="0"/>
              <a:t>may call CPU as the </a:t>
            </a:r>
            <a:r>
              <a:rPr lang="en-US" sz="3200" b="1" dirty="0" smtClean="0"/>
              <a:t>brain of </a:t>
            </a:r>
            <a:r>
              <a:rPr lang="en-US" sz="3200" b="1" dirty="0"/>
              <a:t>any compute</a:t>
            </a:r>
            <a:r>
              <a:rPr lang="en-US" sz="3200" dirty="0"/>
              <a:t>r system. </a:t>
            </a:r>
            <a:endParaRPr lang="en-US" sz="3200" dirty="0" smtClean="0"/>
          </a:p>
          <a:p>
            <a:endParaRPr lang="en-US" sz="3200" dirty="0" smtClean="0"/>
          </a:p>
          <a:p>
            <a:r>
              <a:rPr lang="en-US" sz="3200" dirty="0" smtClean="0"/>
              <a:t>It </a:t>
            </a:r>
            <a:r>
              <a:rPr lang="en-US" sz="3200" dirty="0"/>
              <a:t>is just like a human brain </a:t>
            </a:r>
            <a:r>
              <a:rPr lang="en-US" sz="3200" b="1" dirty="0"/>
              <a:t>that takes all major decisions</a:t>
            </a:r>
            <a:r>
              <a:rPr lang="en-US" sz="3200" dirty="0"/>
              <a:t>, makes </a:t>
            </a:r>
            <a:r>
              <a:rPr lang="en-US" sz="3200" dirty="0" smtClean="0"/>
              <a:t>all </a:t>
            </a:r>
            <a:r>
              <a:rPr lang="en-US" sz="3200" b="1" dirty="0" smtClean="0"/>
              <a:t>sorts </a:t>
            </a:r>
            <a:r>
              <a:rPr lang="en-US" sz="3200" b="1" dirty="0"/>
              <a:t>of calculations and directs different part </a:t>
            </a:r>
            <a:r>
              <a:rPr lang="en-US" sz="3200" dirty="0"/>
              <a:t>of the computer by activating and controlling </a:t>
            </a:r>
            <a:r>
              <a:rPr lang="en-US" sz="3200" dirty="0" smtClean="0"/>
              <a:t>the </a:t>
            </a:r>
            <a:r>
              <a:rPr lang="en-IN" sz="3200" dirty="0" smtClean="0"/>
              <a:t>operations</a:t>
            </a:r>
            <a:r>
              <a:rPr lang="en-IN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057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843" y="140217"/>
            <a:ext cx="10364451" cy="633508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IDFont+F2"/>
              </a:rPr>
              <a:t>Basic operational </a:t>
            </a:r>
            <a:r>
              <a:rPr lang="en-IN" dirty="0" smtClean="0">
                <a:latin typeface="CIDFont+F2"/>
              </a:rPr>
              <a:t>concepts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68813" y="1026941"/>
            <a:ext cx="1171838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The activity in a computer is </a:t>
            </a:r>
            <a:r>
              <a:rPr lang="en-US" sz="3600" b="1" dirty="0"/>
              <a:t>governed by a program</a:t>
            </a:r>
            <a:r>
              <a:rPr lang="en-US" sz="3600" dirty="0"/>
              <a:t>, which is a list of instructions stored in memory. </a:t>
            </a:r>
            <a:endParaRPr lang="en-US" sz="3600" dirty="0" smtClean="0"/>
          </a:p>
          <a:p>
            <a:endParaRPr lang="en-US" sz="3600" dirty="0"/>
          </a:p>
          <a:p>
            <a:endParaRPr lang="en-US" sz="3600" dirty="0" smtClean="0"/>
          </a:p>
          <a:p>
            <a:r>
              <a:rPr lang="en-US" sz="3600" dirty="0" smtClean="0"/>
              <a:t>The </a:t>
            </a:r>
            <a:r>
              <a:rPr lang="en-US" sz="3600" b="1" dirty="0"/>
              <a:t>Central Processing Unit (CPU</a:t>
            </a:r>
            <a:r>
              <a:rPr lang="en-US" sz="3600" dirty="0"/>
              <a:t>), which contains the </a:t>
            </a:r>
            <a:r>
              <a:rPr lang="en-US" sz="3600" b="1" dirty="0"/>
              <a:t>ALU and CU</a:t>
            </a:r>
            <a:r>
              <a:rPr lang="en-US" sz="3600" dirty="0"/>
              <a:t>, </a:t>
            </a:r>
            <a:r>
              <a:rPr lang="en-US" sz="3600" b="1" dirty="0"/>
              <a:t>executes these instructions </a:t>
            </a:r>
            <a:r>
              <a:rPr lang="en-US" sz="3600" dirty="0"/>
              <a:t>by repeatedly following the </a:t>
            </a:r>
            <a:r>
              <a:rPr lang="en-US" sz="3600" b="1" dirty="0"/>
              <a:t>instruction cycle</a:t>
            </a:r>
            <a:r>
              <a:rPr lang="en-US" sz="3600" dirty="0"/>
              <a:t> (also known as the fetch-decode-execute cycle): </a:t>
            </a:r>
            <a:endParaRPr lang="en-US" sz="3600" dirty="0" smtClean="0"/>
          </a:p>
          <a:p>
            <a:endParaRPr lang="en-US" sz="3600" dirty="0"/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29022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843" y="140217"/>
            <a:ext cx="10364451" cy="633508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IDFont+F2"/>
              </a:rPr>
              <a:t>Basic operational </a:t>
            </a:r>
            <a:r>
              <a:rPr lang="en-IN" dirty="0" smtClean="0">
                <a:latin typeface="CIDFont+F2"/>
              </a:rPr>
              <a:t>concepts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68813" y="1026941"/>
            <a:ext cx="1171838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Fetch:</a:t>
            </a:r>
            <a:r>
              <a:rPr lang="en-US" sz="2800" dirty="0" smtClean="0"/>
              <a:t> The CPU retrieves the next instruction from memory, at the address indicated by the program counter (PC), and loads it into the instruction register (IR).</a:t>
            </a:r>
          </a:p>
          <a:p>
            <a:endParaRPr lang="en-US" sz="2800" dirty="0" smtClean="0"/>
          </a:p>
          <a:p>
            <a:r>
              <a:rPr lang="en-US" sz="2800" b="1" dirty="0" smtClean="0"/>
              <a:t>Decode:</a:t>
            </a:r>
            <a:r>
              <a:rPr lang="en-US" sz="2800" dirty="0" smtClean="0"/>
              <a:t> The </a:t>
            </a:r>
            <a:r>
              <a:rPr lang="en-US" sz="2800" b="1" dirty="0" smtClean="0"/>
              <a:t>control unit interprets </a:t>
            </a:r>
            <a:r>
              <a:rPr lang="en-US" sz="2800" dirty="0" smtClean="0"/>
              <a:t>the instruction to determine </a:t>
            </a:r>
            <a:r>
              <a:rPr lang="en-US" sz="2800" b="1" dirty="0" smtClean="0"/>
              <a:t>what operation </a:t>
            </a:r>
            <a:r>
              <a:rPr lang="en-US" sz="2800" dirty="0" smtClean="0"/>
              <a:t>is to be performed and </a:t>
            </a:r>
            <a:r>
              <a:rPr lang="en-US" sz="2800" b="1" dirty="0" smtClean="0"/>
              <a:t>which operands </a:t>
            </a:r>
            <a:r>
              <a:rPr lang="en-US" sz="2800" dirty="0" smtClean="0"/>
              <a:t>are involved.</a:t>
            </a:r>
          </a:p>
          <a:p>
            <a:endParaRPr lang="en-US" sz="2800" dirty="0" smtClean="0"/>
          </a:p>
          <a:p>
            <a:r>
              <a:rPr lang="en-US" sz="2800" b="1" dirty="0" smtClean="0"/>
              <a:t>Execute:</a:t>
            </a:r>
            <a:r>
              <a:rPr lang="en-US" sz="2800" dirty="0" smtClean="0"/>
              <a:t> The relevant functional units (e.g., </a:t>
            </a:r>
            <a:r>
              <a:rPr lang="en-US" sz="2800" b="1" dirty="0" smtClean="0"/>
              <a:t>ALU)</a:t>
            </a:r>
            <a:r>
              <a:rPr lang="en-US" sz="2800" dirty="0" smtClean="0"/>
              <a:t> perform the operation specified by the instruction. Results are </a:t>
            </a:r>
            <a:r>
              <a:rPr lang="en-US" sz="2800" b="1" dirty="0" smtClean="0"/>
              <a:t>stored in registers or memory </a:t>
            </a:r>
            <a:r>
              <a:rPr lang="en-US" sz="2800" dirty="0" smtClean="0"/>
              <a:t>as required.  </a:t>
            </a:r>
          </a:p>
          <a:p>
            <a:endParaRPr lang="en-US" sz="2800" dirty="0"/>
          </a:p>
          <a:p>
            <a:r>
              <a:rPr lang="en-US" sz="2800" dirty="0" smtClean="0"/>
              <a:t>This </a:t>
            </a:r>
            <a:r>
              <a:rPr lang="en-US" sz="2800" b="1" dirty="0" smtClean="0"/>
              <a:t>cycle repeats continuously </a:t>
            </a:r>
            <a:r>
              <a:rPr lang="en-US" sz="2800" dirty="0" smtClean="0"/>
              <a:t>from the moment the computer is powered on until it is turned off. 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5306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7002" y="162508"/>
            <a:ext cx="1142765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To perform a given task, an appropriate program consisting of a list of instructions </a:t>
            </a:r>
            <a:r>
              <a:rPr lang="en-US" sz="3200" dirty="0" smtClean="0"/>
              <a:t>is stored </a:t>
            </a:r>
            <a:r>
              <a:rPr lang="en-US" sz="3200" dirty="0"/>
              <a:t>in the </a:t>
            </a:r>
            <a:r>
              <a:rPr lang="en-US" sz="3200" dirty="0" smtClean="0"/>
              <a:t>memory, </a:t>
            </a:r>
            <a:r>
              <a:rPr lang="en-US" sz="3200" dirty="0"/>
              <a:t>Individual instructions are brought from the memory into the </a:t>
            </a:r>
            <a:r>
              <a:rPr lang="en-US" sz="3200" dirty="0" smtClean="0"/>
              <a:t>processor, which </a:t>
            </a:r>
            <a:r>
              <a:rPr lang="en-US" sz="3200" dirty="0"/>
              <a:t>executes the specified operations. </a:t>
            </a:r>
            <a:endParaRPr lang="en-US" sz="3200" dirty="0" smtClean="0"/>
          </a:p>
          <a:p>
            <a:r>
              <a:rPr lang="en-US" sz="3200" dirty="0" smtClean="0"/>
              <a:t>[</a:t>
            </a:r>
            <a:r>
              <a:rPr lang="en-US" sz="3200" b="1" dirty="0"/>
              <a:t>Load </a:t>
            </a:r>
            <a:r>
              <a:rPr lang="en-US" sz="3200" dirty="0"/>
              <a:t>– Transfers data to register. </a:t>
            </a:r>
            <a:r>
              <a:rPr lang="en-US" sz="3200" b="1" dirty="0"/>
              <a:t>Store </a:t>
            </a:r>
            <a:r>
              <a:rPr lang="en-US" sz="3200" dirty="0"/>
              <a:t>– </a:t>
            </a:r>
            <a:r>
              <a:rPr lang="en-US" sz="3200" dirty="0" smtClean="0"/>
              <a:t>Transfers data </a:t>
            </a:r>
            <a:r>
              <a:rPr lang="en-US" sz="3200" dirty="0"/>
              <a:t>to memory.] A typical instruction might </a:t>
            </a:r>
            <a:r>
              <a:rPr lang="en-US" sz="3200" dirty="0" smtClean="0"/>
              <a:t>be</a:t>
            </a:r>
          </a:p>
          <a:p>
            <a:endParaRPr lang="en-US" sz="3200" dirty="0" smtClean="0"/>
          </a:p>
          <a:p>
            <a:r>
              <a:rPr lang="en-US" sz="3200" dirty="0" err="1" smtClean="0"/>
              <a:t>Egs</a:t>
            </a:r>
            <a:r>
              <a:rPr lang="en-US" sz="3200" dirty="0" smtClean="0"/>
              <a:t>:</a:t>
            </a:r>
          </a:p>
          <a:p>
            <a:endParaRPr lang="en-US" sz="3200" dirty="0" smtClean="0"/>
          </a:p>
        </p:txBody>
      </p:sp>
      <p:pic>
        <p:nvPicPr>
          <p:cNvPr id="1026" name="Picture 2" descr="C:\Users\User\Pictures\Screenshots\Screenshot (230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02" y="4137984"/>
            <a:ext cx="11663342" cy="271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22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6664" y="5501697"/>
            <a:ext cx="1168087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</a:t>
            </a:r>
            <a:r>
              <a:rPr lang="en-US" sz="2800" dirty="0" smtClean="0"/>
              <a:t>figure </a:t>
            </a:r>
            <a:r>
              <a:rPr lang="en-US" sz="2800" dirty="0"/>
              <a:t>shows how the memory and the </a:t>
            </a:r>
            <a:r>
              <a:rPr lang="en-US" sz="2800" dirty="0" smtClean="0"/>
              <a:t>processor can </a:t>
            </a:r>
            <a:r>
              <a:rPr lang="en-US" sz="2800" dirty="0"/>
              <a:t>be connected. </a:t>
            </a:r>
            <a:endParaRPr lang="en-US" sz="2800" dirty="0" smtClean="0"/>
          </a:p>
          <a:p>
            <a:r>
              <a:rPr lang="en-US" sz="2800" dirty="0" smtClean="0"/>
              <a:t>In </a:t>
            </a:r>
            <a:r>
              <a:rPr lang="en-US" sz="2800" dirty="0"/>
              <a:t>addition to the ALU and </a:t>
            </a:r>
            <a:r>
              <a:rPr lang="en-US" sz="2800" dirty="0" smtClean="0"/>
              <a:t>the control </a:t>
            </a:r>
            <a:r>
              <a:rPr lang="en-US" sz="2800" dirty="0"/>
              <a:t>circuitry, the processor contains a number </a:t>
            </a:r>
            <a:r>
              <a:rPr lang="en-US" sz="2800" dirty="0" smtClean="0"/>
              <a:t>of registers </a:t>
            </a:r>
            <a:r>
              <a:rPr lang="en-US" sz="2800" dirty="0"/>
              <a:t>used for several different purposes.</a:t>
            </a:r>
            <a:endParaRPr lang="en-IN" sz="28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293" y="763246"/>
            <a:ext cx="7459838" cy="4920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519667" y="-19374"/>
            <a:ext cx="83136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Connection Between the Processor and Memory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3161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0166" y="267287"/>
            <a:ext cx="111416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b="1" i="1" dirty="0"/>
              <a:t>instruction register (IR) </a:t>
            </a:r>
            <a:r>
              <a:rPr lang="en-US" sz="3200" dirty="0"/>
              <a:t>holds </a:t>
            </a:r>
            <a:r>
              <a:rPr lang="en-US" sz="3200" dirty="0" smtClean="0"/>
              <a:t>the instruction </a:t>
            </a:r>
            <a:r>
              <a:rPr lang="en-US" sz="3200" dirty="0"/>
              <a:t>that is currently being executed. </a:t>
            </a: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i="1" dirty="0" smtClean="0"/>
              <a:t>program </a:t>
            </a:r>
            <a:r>
              <a:rPr lang="en-US" sz="3200" b="1" i="1" dirty="0"/>
              <a:t>counter (PC) </a:t>
            </a:r>
            <a:r>
              <a:rPr lang="en-US" sz="3200" dirty="0"/>
              <a:t>contains the memory address </a:t>
            </a:r>
            <a:r>
              <a:rPr lang="en-US" sz="3200" dirty="0" smtClean="0"/>
              <a:t>of the </a:t>
            </a:r>
            <a:r>
              <a:rPr lang="en-US" sz="3200" dirty="0"/>
              <a:t>next instruction to be fetched and executed. </a:t>
            </a: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In addition </a:t>
            </a:r>
            <a:r>
              <a:rPr lang="en-US" sz="3200" dirty="0"/>
              <a:t>to the IR and PC, </a:t>
            </a:r>
            <a:r>
              <a:rPr lang="en-US" sz="3200" b="1" dirty="0"/>
              <a:t>general-purpose registers </a:t>
            </a:r>
            <a:r>
              <a:rPr lang="en-US" sz="3200" b="1" dirty="0" smtClean="0"/>
              <a:t>R0 through </a:t>
            </a:r>
            <a:r>
              <a:rPr lang="en-US" sz="3200" b="1" dirty="0"/>
              <a:t>Rn−1</a:t>
            </a:r>
            <a:r>
              <a:rPr lang="en-US" sz="3200" dirty="0"/>
              <a:t>, often called </a:t>
            </a:r>
            <a:r>
              <a:rPr lang="en-US" sz="3200" b="1" i="1" dirty="0"/>
              <a:t>processor registers</a:t>
            </a:r>
            <a:r>
              <a:rPr lang="en-US" sz="3200" dirty="0"/>
              <a:t>. </a:t>
            </a:r>
            <a:r>
              <a:rPr lang="en-US" sz="3200" dirty="0" smtClean="0"/>
              <a:t>They serve </a:t>
            </a:r>
            <a:r>
              <a:rPr lang="en-US" sz="3200" dirty="0"/>
              <a:t>a variety of functions, including </a:t>
            </a:r>
            <a:r>
              <a:rPr lang="en-US" sz="3200" dirty="0" smtClean="0"/>
              <a:t>holding operands </a:t>
            </a:r>
            <a:r>
              <a:rPr lang="en-US" sz="3200" dirty="0"/>
              <a:t>that have been loaded from the memory </a:t>
            </a:r>
            <a:r>
              <a:rPr lang="en-US" sz="3200" dirty="0" smtClean="0"/>
              <a:t>for </a:t>
            </a:r>
            <a:r>
              <a:rPr lang="en-IN" sz="3200" dirty="0" smtClean="0"/>
              <a:t>processing</a:t>
            </a:r>
            <a:r>
              <a:rPr lang="en-IN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888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0166" y="267287"/>
            <a:ext cx="111416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b="1" dirty="0"/>
              <a:t>Memory Address Register (MAR)</a:t>
            </a:r>
            <a:r>
              <a:rPr lang="en-US" sz="3200" dirty="0"/>
              <a:t> is a </a:t>
            </a:r>
            <a:r>
              <a:rPr lang="en-US" sz="3200" dirty="0" smtClean="0"/>
              <a:t>CPU </a:t>
            </a:r>
            <a:r>
              <a:rPr lang="en-US" sz="3200" dirty="0"/>
              <a:t>register that holds the memory address for the next read or write </a:t>
            </a:r>
            <a:r>
              <a:rPr lang="en-US" sz="3200" dirty="0" smtClean="0"/>
              <a:t>operation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The </a:t>
            </a:r>
            <a:r>
              <a:rPr lang="en-US" sz="3200" b="1" dirty="0"/>
              <a:t>Memory Data Register (MDR)</a:t>
            </a:r>
            <a:r>
              <a:rPr lang="en-US" sz="3200" dirty="0"/>
              <a:t>, also called </a:t>
            </a:r>
            <a:r>
              <a:rPr lang="en-US" sz="3200" dirty="0" smtClean="0">
                <a:solidFill>
                  <a:srgbClr val="FF0000"/>
                </a:solidFill>
              </a:rPr>
              <a:t>Memory </a:t>
            </a:r>
            <a:r>
              <a:rPr lang="en-US" sz="3200" dirty="0">
                <a:solidFill>
                  <a:srgbClr val="FF0000"/>
                </a:solidFill>
              </a:rPr>
              <a:t>B</a:t>
            </a:r>
            <a:r>
              <a:rPr lang="en-US" sz="3200" dirty="0" smtClean="0">
                <a:solidFill>
                  <a:srgbClr val="FF0000"/>
                </a:solidFill>
              </a:rPr>
              <a:t>uffer Register(MBR</a:t>
            </a:r>
            <a:r>
              <a:rPr lang="en-US" sz="3200" dirty="0">
                <a:solidFill>
                  <a:srgbClr val="FF0000"/>
                </a:solidFill>
              </a:rPr>
              <a:t>)</a:t>
            </a:r>
            <a:r>
              <a:rPr lang="en-US" sz="3200" dirty="0"/>
              <a:t>, is a </a:t>
            </a:r>
            <a:r>
              <a:rPr lang="en-US" sz="3200" dirty="0" smtClean="0"/>
              <a:t>CPU </a:t>
            </a:r>
            <a:r>
              <a:rPr lang="en-US" sz="3200" dirty="0"/>
              <a:t>register that temporarily holds </a:t>
            </a:r>
            <a:r>
              <a:rPr lang="en-US" sz="3200" b="1" dirty="0"/>
              <a:t>data</a:t>
            </a:r>
            <a:r>
              <a:rPr lang="en-US" sz="3200" dirty="0"/>
              <a:t> being transferred to or from main memory (RAM), acting as a buffer to sync CPU and memory speeds, while the </a:t>
            </a:r>
            <a:r>
              <a:rPr lang="en-US" sz="3200" b="1" dirty="0"/>
              <a:t>Memory Address Register (MAR)</a:t>
            </a:r>
            <a:r>
              <a:rPr lang="en-US" sz="3200" dirty="0"/>
              <a:t> holds the </a:t>
            </a:r>
            <a:r>
              <a:rPr lang="en-US" sz="3200" b="1" dirty="0"/>
              <a:t>address</a:t>
            </a:r>
            <a:r>
              <a:rPr lang="en-US" sz="3200" dirty="0"/>
              <a:t> for that data transfer, clearly separating address (MAR) from the actual data (MDR) in the fetch/store cycle. 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6477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2760" y="196487"/>
            <a:ext cx="7892600" cy="422492"/>
          </a:xfrm>
        </p:spPr>
        <p:txBody>
          <a:bodyPr>
            <a:normAutofit fontScale="90000"/>
          </a:bodyPr>
          <a:lstStyle/>
          <a:p>
            <a:r>
              <a:rPr lang="en-IN" b="1" i="1" dirty="0"/>
              <a:t>Operating </a:t>
            </a:r>
            <a:r>
              <a:rPr lang="en-IN" b="1" i="1" dirty="0" smtClean="0"/>
              <a:t>Steps (fetch cycle)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59655" y="1026942"/>
            <a:ext cx="11113477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Programs reside in the memory </a:t>
            </a:r>
            <a:r>
              <a:rPr lang="en-US" sz="3200" dirty="0" smtClean="0"/>
              <a:t>entered through </a:t>
            </a:r>
            <a:r>
              <a:rPr lang="en-US" sz="3200" dirty="0"/>
              <a:t>input </a:t>
            </a:r>
            <a:r>
              <a:rPr lang="en-US" sz="3200" dirty="0" smtClean="0"/>
              <a:t>devices.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PC </a:t>
            </a:r>
            <a:r>
              <a:rPr lang="en-US" sz="3200" dirty="0"/>
              <a:t>(Program counter)has address of the first instruction or next instruction to be </a:t>
            </a:r>
            <a:r>
              <a:rPr lang="en-US" sz="3200" dirty="0" smtClean="0"/>
              <a:t>executed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contents of PC are transferred to MAR (Memory Address Register) and send over system bus to </a:t>
            </a:r>
            <a:r>
              <a:rPr lang="en-US" sz="3200" dirty="0" smtClean="0"/>
              <a:t>memory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dirty="0"/>
              <a:t>Read signal is sent to the memory by control </a:t>
            </a:r>
            <a:r>
              <a:rPr lang="en-US" sz="3200" dirty="0" smtClean="0"/>
              <a:t>unit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instruction (addressed word)is fetched and loaded into MDR (Memory Data </a:t>
            </a:r>
            <a:r>
              <a:rPr lang="en-US" sz="3200" dirty="0" smtClean="0"/>
              <a:t>Register)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contents of MDR transferred to IR (Instruction </a:t>
            </a:r>
            <a:r>
              <a:rPr lang="en-US" sz="3200" dirty="0" smtClean="0"/>
              <a:t>Register)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Now </a:t>
            </a:r>
            <a:r>
              <a:rPr lang="en-US" sz="3200" dirty="0"/>
              <a:t>the instruction is ready to be decoded and executed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62482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2760" y="196487"/>
            <a:ext cx="7892600" cy="422492"/>
          </a:xfrm>
        </p:spPr>
        <p:txBody>
          <a:bodyPr>
            <a:normAutofit fontScale="90000"/>
          </a:bodyPr>
          <a:lstStyle/>
          <a:p>
            <a:r>
              <a:rPr lang="en-IN" b="1" i="1" dirty="0"/>
              <a:t>Operating </a:t>
            </a:r>
            <a:r>
              <a:rPr lang="en-IN" b="1" i="1" dirty="0" smtClean="0"/>
              <a:t>Steps </a:t>
            </a:r>
            <a:r>
              <a:rPr lang="en-IN" b="1" i="1" dirty="0"/>
              <a:t>(Execution </a:t>
            </a:r>
            <a:r>
              <a:rPr lang="en-IN" b="1" i="1" dirty="0" smtClean="0"/>
              <a:t>Cycle)</a:t>
            </a:r>
            <a:endParaRPr lang="en-IN" b="1" i="1" dirty="0"/>
          </a:p>
        </p:txBody>
      </p:sp>
      <p:sp>
        <p:nvSpPr>
          <p:cNvPr id="4" name="Rectangle 3"/>
          <p:cNvSpPr/>
          <p:nvPr/>
        </p:nvSpPr>
        <p:spPr>
          <a:xfrm>
            <a:off x="126609" y="1026942"/>
            <a:ext cx="1206539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3200" dirty="0" smtClean="0"/>
              <a:t>Get </a:t>
            </a:r>
            <a:r>
              <a:rPr lang="en-US" sz="3200" dirty="0"/>
              <a:t>operands for ALU from: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IN" sz="3200" dirty="0" smtClean="0"/>
              <a:t>General-purpose </a:t>
            </a:r>
            <a:r>
              <a:rPr lang="en-IN" sz="3200" dirty="0"/>
              <a:t>register (R0, … </a:t>
            </a:r>
            <a:r>
              <a:rPr lang="en-IN" sz="3200" dirty="0" smtClean="0"/>
              <a:t>Rn-1)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IN" sz="3200" dirty="0" smtClean="0"/>
              <a:t>Memory </a:t>
            </a:r>
            <a:endParaRPr lang="en-IN" sz="3200" dirty="0"/>
          </a:p>
          <a:p>
            <a:pPr lvl="1"/>
            <a:r>
              <a:rPr lang="en-US" sz="3200" dirty="0" smtClean="0"/>
              <a:t>	(</a:t>
            </a:r>
            <a:r>
              <a:rPr lang="en-US" sz="3200" dirty="0"/>
              <a:t>address to MAR, Read </a:t>
            </a:r>
            <a:r>
              <a:rPr lang="en-US" sz="3200" dirty="0" smtClean="0"/>
              <a:t>from </a:t>
            </a:r>
            <a:r>
              <a:rPr lang="en-US" sz="3200" dirty="0" err="1" smtClean="0"/>
              <a:t>mem</a:t>
            </a:r>
            <a:r>
              <a:rPr lang="en-US" sz="3200" dirty="0"/>
              <a:t>, data to MDR, to ALU)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IN" sz="3200" dirty="0" smtClean="0"/>
              <a:t>Perform </a:t>
            </a:r>
            <a:r>
              <a:rPr lang="en-IN" sz="3200" dirty="0"/>
              <a:t>operation in </a:t>
            </a:r>
            <a:r>
              <a:rPr lang="en-IN" sz="3200" dirty="0" smtClean="0"/>
              <a:t>ALU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dirty="0" smtClean="0"/>
              <a:t>Store </a:t>
            </a:r>
            <a:r>
              <a:rPr lang="en-US" sz="3200" dirty="0"/>
              <a:t>the result back to: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IN" sz="3200" dirty="0" smtClean="0"/>
              <a:t>General-purpose </a:t>
            </a:r>
            <a:r>
              <a:rPr lang="en-IN" sz="3200" dirty="0"/>
              <a:t>register (R0, … Rn-1)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IN" sz="3200" dirty="0" smtClean="0"/>
              <a:t>Memory </a:t>
            </a:r>
            <a:endParaRPr lang="en-IN" sz="3200" dirty="0"/>
          </a:p>
          <a:p>
            <a:r>
              <a:rPr lang="en-US" sz="3200" dirty="0" smtClean="0"/>
              <a:t>		(</a:t>
            </a:r>
            <a:r>
              <a:rPr lang="en-US" sz="3200" dirty="0"/>
              <a:t>address to MAR, result to MDR, Write to </a:t>
            </a:r>
            <a:r>
              <a:rPr lang="en-US" sz="3200" dirty="0" err="1"/>
              <a:t>mem</a:t>
            </a:r>
            <a:r>
              <a:rPr lang="en-US" sz="3200" dirty="0"/>
              <a:t>)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dirty="0" smtClean="0"/>
              <a:t>During </a:t>
            </a:r>
            <a:r>
              <a:rPr lang="en-US" sz="3200" dirty="0"/>
              <a:t>the execution, PC is incremented to point to the next </a:t>
            </a:r>
            <a:r>
              <a:rPr lang="en-US" sz="3200" dirty="0" smtClean="0"/>
              <a:t>instruction</a:t>
            </a:r>
          </a:p>
        </p:txBody>
      </p:sp>
    </p:spTree>
    <p:extLst>
      <p:ext uri="{BB962C8B-B14F-4D97-AF65-F5344CB8AC3E}">
        <p14:creationId xmlns:p14="http://schemas.microsoft.com/office/powerpoint/2010/main" val="391017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6437" y="281354"/>
            <a:ext cx="1115568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In addition to transferring data between the memory and the processor, the </a:t>
            </a:r>
            <a:r>
              <a:rPr lang="en-US" sz="3200" dirty="0" smtClean="0"/>
              <a:t>computer </a:t>
            </a:r>
            <a:r>
              <a:rPr lang="en-US" sz="3200" b="1" dirty="0" smtClean="0"/>
              <a:t>accepts </a:t>
            </a:r>
            <a:r>
              <a:rPr lang="en-US" sz="3200" b="1" dirty="0"/>
              <a:t>data from input devices and sends data to output devices</a:t>
            </a:r>
            <a:r>
              <a:rPr lang="en-US" sz="3200" b="1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order to </a:t>
            </a:r>
            <a:r>
              <a:rPr lang="en-US" sz="3200" b="1" dirty="0"/>
              <a:t>respond immediately to some instruction</a:t>
            </a:r>
            <a:r>
              <a:rPr lang="en-US" sz="3200" dirty="0"/>
              <a:t>, execution of the current </a:t>
            </a:r>
            <a:r>
              <a:rPr lang="en-US" sz="3200" dirty="0" smtClean="0"/>
              <a:t>program must </a:t>
            </a:r>
            <a:r>
              <a:rPr lang="en-US" sz="3200" dirty="0"/>
              <a:t>be </a:t>
            </a:r>
            <a:r>
              <a:rPr lang="en-US" sz="3200" b="1" dirty="0"/>
              <a:t>suspended.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To </a:t>
            </a:r>
            <a:r>
              <a:rPr lang="en-US" sz="3200" dirty="0"/>
              <a:t>cause this, the </a:t>
            </a:r>
            <a:r>
              <a:rPr lang="en-US" sz="3200" b="1" dirty="0"/>
              <a:t>device raises an </a:t>
            </a:r>
            <a:r>
              <a:rPr lang="en-US" sz="3200" b="1" i="1" dirty="0"/>
              <a:t>interrupt signal</a:t>
            </a:r>
            <a:r>
              <a:rPr lang="en-US" sz="3200" dirty="0"/>
              <a:t>, which is a request </a:t>
            </a:r>
            <a:r>
              <a:rPr lang="en-US" sz="3200" dirty="0" smtClean="0"/>
              <a:t>for service </a:t>
            </a:r>
            <a:r>
              <a:rPr lang="en-US" sz="3200" dirty="0"/>
              <a:t>by the processor.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processor provides the requested service by executing a </a:t>
            </a:r>
            <a:r>
              <a:rPr lang="en-US" sz="3200" dirty="0" smtClean="0"/>
              <a:t>program </a:t>
            </a:r>
            <a:r>
              <a:rPr lang="en-IN" sz="3200" dirty="0" smtClean="0"/>
              <a:t>called </a:t>
            </a:r>
            <a:r>
              <a:rPr lang="en-IN" sz="3200" dirty="0"/>
              <a:t>an </a:t>
            </a:r>
            <a:r>
              <a:rPr lang="en-IN" sz="3200" b="1" i="1" dirty="0"/>
              <a:t>interrupt-service routine.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9880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40" y="126149"/>
            <a:ext cx="10364451" cy="746048"/>
          </a:xfrm>
        </p:spPr>
        <p:txBody>
          <a:bodyPr/>
          <a:lstStyle/>
          <a:p>
            <a:r>
              <a:rPr lang="en-IN" b="1" dirty="0" smtClean="0"/>
              <a:t>Memory map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576775" y="1026942"/>
            <a:ext cx="11226019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sz="3200" dirty="0" smtClean="0"/>
              <a:t>A memory map is the </a:t>
            </a:r>
            <a:r>
              <a:rPr lang="en-IN" sz="3200" b="1" dirty="0" smtClean="0"/>
              <a:t>organization of the computer's memory </a:t>
            </a:r>
            <a:r>
              <a:rPr lang="en-IN" sz="3200" dirty="0" smtClean="0"/>
              <a:t>into different sections.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which </a:t>
            </a:r>
            <a:r>
              <a:rPr lang="en-US" sz="3200" dirty="0"/>
              <a:t>defines </a:t>
            </a:r>
            <a:r>
              <a:rPr lang="en-US" sz="3200" b="1" dirty="0"/>
              <a:t>where</a:t>
            </a:r>
            <a:r>
              <a:rPr lang="en-US" sz="3200" dirty="0"/>
              <a:t> </a:t>
            </a:r>
            <a:r>
              <a:rPr lang="en-US" sz="3200" b="1" dirty="0"/>
              <a:t>code, data, </a:t>
            </a:r>
            <a:r>
              <a:rPr lang="en-US" sz="3200" b="1" dirty="0" smtClean="0"/>
              <a:t>and </a:t>
            </a:r>
            <a:r>
              <a:rPr lang="en-IN" sz="3200" b="1" dirty="0" smtClean="0"/>
              <a:t>stack </a:t>
            </a:r>
            <a:r>
              <a:rPr lang="en-IN" sz="3200" b="1" dirty="0"/>
              <a:t>memory </a:t>
            </a:r>
            <a:r>
              <a:rPr lang="en-IN" sz="3200" dirty="0"/>
              <a:t>are </a:t>
            </a:r>
            <a:r>
              <a:rPr lang="en-IN" sz="3200" dirty="0" smtClean="0"/>
              <a:t>located.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3200" dirty="0" smtClean="0"/>
              <a:t>memory </a:t>
            </a:r>
            <a:r>
              <a:rPr lang="en-IN" sz="3200" dirty="0"/>
              <a:t>map </a:t>
            </a:r>
            <a:r>
              <a:rPr lang="en-IN" sz="3200" dirty="0" smtClean="0"/>
              <a:t>divides </a:t>
            </a:r>
            <a:r>
              <a:rPr lang="en-US" sz="3200" dirty="0" smtClean="0"/>
              <a:t>the </a:t>
            </a:r>
            <a:r>
              <a:rPr lang="en-US" sz="3200" dirty="0"/>
              <a:t>address space into </a:t>
            </a:r>
            <a:r>
              <a:rPr lang="en-US" sz="3200" b="1" dirty="0"/>
              <a:t>five parts or </a:t>
            </a:r>
            <a:r>
              <a:rPr lang="en-US" sz="3200" b="1" i="1" dirty="0"/>
              <a:t>segments</a:t>
            </a:r>
            <a:r>
              <a:rPr lang="en-US" sz="3200" dirty="0" smtClean="0"/>
              <a:t>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3200" dirty="0" smtClean="0"/>
              <a:t> </a:t>
            </a:r>
            <a:r>
              <a:rPr lang="en-US" sz="3200" dirty="0"/>
              <a:t>the text, </a:t>
            </a:r>
            <a:endParaRPr lang="en-US" sz="3200" dirty="0" smtClean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3200" dirty="0" smtClean="0"/>
              <a:t>global </a:t>
            </a:r>
            <a:r>
              <a:rPr lang="en-US" sz="3200" dirty="0"/>
              <a:t>data, </a:t>
            </a:r>
            <a:r>
              <a:rPr lang="en-US" sz="3200" dirty="0" smtClean="0"/>
              <a:t>and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3200" dirty="0" smtClean="0"/>
              <a:t>dynamic </a:t>
            </a:r>
            <a:r>
              <a:rPr lang="en-US" sz="3200" dirty="0"/>
              <a:t>data segments, and </a:t>
            </a:r>
            <a:endParaRPr lang="en-US" sz="3200" dirty="0" smtClean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3200" dirty="0" smtClean="0"/>
              <a:t>segments </a:t>
            </a:r>
            <a:r>
              <a:rPr lang="en-US" sz="3200" dirty="0"/>
              <a:t>for exception handlers and </a:t>
            </a:r>
            <a:endParaRPr lang="en-US" sz="3200" dirty="0" smtClean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3200" dirty="0" smtClean="0"/>
              <a:t>the operating </a:t>
            </a:r>
            <a:r>
              <a:rPr lang="en-US" sz="3200" dirty="0"/>
              <a:t>system (OS), which includes memory dedicated to </a:t>
            </a:r>
            <a:r>
              <a:rPr lang="en-US" sz="3200" dirty="0" smtClean="0"/>
              <a:t>input/output </a:t>
            </a:r>
            <a:r>
              <a:rPr lang="en-IN" sz="3200" dirty="0" smtClean="0"/>
              <a:t>(I/O</a:t>
            </a:r>
            <a:r>
              <a:rPr lang="en-IN" sz="3200" dirty="0"/>
              <a:t>).</a:t>
            </a:r>
            <a:endParaRPr lang="en-IN" sz="3200" dirty="0" smtClean="0"/>
          </a:p>
        </p:txBody>
      </p:sp>
    </p:spTree>
    <p:extLst>
      <p:ext uri="{BB962C8B-B14F-4D97-AF65-F5344CB8AC3E}">
        <p14:creationId xmlns:p14="http://schemas.microsoft.com/office/powerpoint/2010/main" val="387934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40678"/>
            <a:ext cx="10364451" cy="450166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RISC-V memory map</a:t>
            </a:r>
          </a:p>
        </p:txBody>
      </p:sp>
      <p:pic>
        <p:nvPicPr>
          <p:cNvPr id="1026" name="Picture 2" descr="C:\Users\User\Pictures\Screenshots\Screenshot (232)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596" y="608501"/>
            <a:ext cx="4983093" cy="621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882596" y="5532957"/>
            <a:ext cx="43094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RISC-V stands for Reduced Instruction Set Computing, Version </a:t>
            </a:r>
            <a:r>
              <a:rPr lang="en-US" dirty="0" smtClean="0"/>
              <a:t>5</a:t>
            </a:r>
            <a:r>
              <a:rPr lang="en-US" dirty="0"/>
              <a:t> (pronounced "risk-five"), an open-standard Instruction Set Architecture (ISA)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366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16388"/>
          </a:xfrm>
        </p:spPr>
        <p:txBody>
          <a:bodyPr/>
          <a:lstStyle/>
          <a:p>
            <a:r>
              <a:rPr lang="en-IN" b="1" dirty="0"/>
              <a:t>The Text </a:t>
            </a:r>
            <a:r>
              <a:rPr lang="en-IN" b="1" dirty="0" smtClean="0"/>
              <a:t>Segment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422031" y="2264898"/>
            <a:ext cx="111416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i="1" dirty="0"/>
              <a:t>text segment </a:t>
            </a:r>
            <a:r>
              <a:rPr lang="en-US" sz="2800" dirty="0"/>
              <a:t>stores the </a:t>
            </a:r>
            <a:r>
              <a:rPr lang="en-US" sz="2800" b="1" dirty="0"/>
              <a:t>machine language user program. </a:t>
            </a:r>
            <a:endParaRPr lang="en-US" sz="2800" b="1" dirty="0" smtClean="0"/>
          </a:p>
          <a:p>
            <a:endParaRPr lang="en-US" sz="28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In addition to </a:t>
            </a:r>
            <a:r>
              <a:rPr lang="en-US" sz="2800" dirty="0"/>
              <a:t>code, it may </a:t>
            </a:r>
            <a:r>
              <a:rPr lang="en-US" sz="2800" b="1" dirty="0"/>
              <a:t>include literals (constants) and read-only data</a:t>
            </a:r>
            <a:r>
              <a:rPr lang="en-US" sz="2800" dirty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1387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633508"/>
          </a:xfrm>
        </p:spPr>
        <p:txBody>
          <a:bodyPr/>
          <a:lstStyle/>
          <a:p>
            <a:r>
              <a:rPr lang="en-IN" b="1" dirty="0"/>
              <a:t>The Global Data Segment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775" y="1420838"/>
            <a:ext cx="1118381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800" dirty="0"/>
          </a:p>
          <a:p>
            <a:r>
              <a:rPr lang="en-US" sz="2800" dirty="0"/>
              <a:t>•The global data segment stores  </a:t>
            </a:r>
            <a:r>
              <a:rPr lang="en-US" sz="2800" b="1" dirty="0"/>
              <a:t>global variables </a:t>
            </a:r>
            <a:r>
              <a:rPr lang="en-US" sz="2800" dirty="0"/>
              <a:t>that, in contrast to local variables, can be accessed by all functions in a program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•</a:t>
            </a:r>
            <a:r>
              <a:rPr lang="en-US" sz="2800" b="1" dirty="0"/>
              <a:t>Local variables </a:t>
            </a:r>
            <a:r>
              <a:rPr lang="en-US" sz="2800" dirty="0"/>
              <a:t>are defined within a function and can be accessed by that function; they are typically </a:t>
            </a:r>
            <a:r>
              <a:rPr lang="en-US" sz="2800" b="1" dirty="0"/>
              <a:t>located in registers or on the stack</a:t>
            </a:r>
            <a:r>
              <a:rPr lang="en-US" sz="2800" b="1" dirty="0" smtClean="0"/>
              <a:t>.</a:t>
            </a:r>
          </a:p>
          <a:p>
            <a:endParaRPr lang="en-US" sz="2800" b="1" dirty="0"/>
          </a:p>
          <a:p>
            <a:r>
              <a:rPr lang="en-US" sz="2800" dirty="0"/>
              <a:t>•Global variables are allocated in memory before the program begins executing, they are typically </a:t>
            </a:r>
            <a:r>
              <a:rPr lang="en-US" sz="2800" b="1" dirty="0"/>
              <a:t>accessed using the global pointer register </a:t>
            </a:r>
            <a:r>
              <a:rPr lang="en-US" sz="2800" b="1" dirty="0" err="1" smtClean="0"/>
              <a:t>gp</a:t>
            </a:r>
            <a:r>
              <a:rPr lang="en-US" sz="2800" b="1" dirty="0" smtClean="0"/>
              <a:t> </a:t>
            </a:r>
            <a:r>
              <a:rPr lang="en-US" sz="2800" dirty="0" smtClean="0"/>
              <a:t>that </a:t>
            </a:r>
            <a:r>
              <a:rPr lang="en-US" sz="2800" dirty="0"/>
              <a:t>points to the middle of the global data segment.</a:t>
            </a:r>
          </a:p>
        </p:txBody>
      </p:sp>
    </p:spTree>
    <p:extLst>
      <p:ext uri="{BB962C8B-B14F-4D97-AF65-F5344CB8AC3E}">
        <p14:creationId xmlns:p14="http://schemas.microsoft.com/office/powerpoint/2010/main" val="11131593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0"/>
            <a:ext cx="10364451" cy="773723"/>
          </a:xfrm>
        </p:spPr>
        <p:txBody>
          <a:bodyPr/>
          <a:lstStyle/>
          <a:p>
            <a:r>
              <a:rPr lang="en-IN" b="1" dirty="0"/>
              <a:t>Dynamic data segment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33046" y="984725"/>
            <a:ext cx="1095873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•The dynamic </a:t>
            </a:r>
            <a:r>
              <a:rPr lang="en-US" sz="3200" dirty="0"/>
              <a:t>data segments holds the </a:t>
            </a:r>
            <a:r>
              <a:rPr lang="en-US" sz="3200" b="1" dirty="0"/>
              <a:t>stack and the heap</a:t>
            </a:r>
            <a:r>
              <a:rPr lang="en-US" sz="3200" b="1" dirty="0" smtClean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b="1" dirty="0"/>
              <a:t>The Stack: </a:t>
            </a:r>
            <a:r>
              <a:rPr lang="en-US" sz="3200" dirty="0" smtClean="0"/>
              <a:t>This </a:t>
            </a:r>
            <a:r>
              <a:rPr lang="en-US" sz="3200" dirty="0"/>
              <a:t>region is used for managing function calls, local variables, and function </a:t>
            </a:r>
            <a:r>
              <a:rPr lang="en-US" sz="3200" dirty="0" smtClean="0"/>
              <a:t>parameters.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b="1" dirty="0" smtClean="0"/>
              <a:t>The </a:t>
            </a:r>
            <a:r>
              <a:rPr lang="en-US" sz="3200" b="1" dirty="0"/>
              <a:t>Heap:</a:t>
            </a:r>
            <a:r>
              <a:rPr lang="en-US" sz="3200" dirty="0"/>
              <a:t> </a:t>
            </a:r>
            <a:r>
              <a:rPr lang="en-US" sz="3200" dirty="0" smtClean="0"/>
              <a:t>This </a:t>
            </a:r>
            <a:r>
              <a:rPr lang="en-US" sz="3200" dirty="0"/>
              <a:t>region is used for dynamic memory allocation, where memory can be requested and released explicitly by the programmer during runtime</a:t>
            </a:r>
          </a:p>
          <a:p>
            <a:endParaRPr lang="en-US" sz="3200" dirty="0" smtClean="0"/>
          </a:p>
          <a:p>
            <a:r>
              <a:rPr lang="en-US" sz="3200" dirty="0" smtClean="0"/>
              <a:t>•</a:t>
            </a:r>
            <a:r>
              <a:rPr lang="en-US" sz="3200" dirty="0"/>
              <a:t>The data in this segment </a:t>
            </a:r>
            <a:r>
              <a:rPr lang="en-US" sz="3200" b="1" dirty="0"/>
              <a:t>is not known at the start-up</a:t>
            </a:r>
            <a:r>
              <a:rPr lang="en-US" sz="3200" dirty="0"/>
              <a:t> but is dynamically allocated and </a:t>
            </a:r>
            <a:r>
              <a:rPr lang="en-US" sz="3200" dirty="0" err="1"/>
              <a:t>deallocated</a:t>
            </a:r>
            <a:r>
              <a:rPr lang="en-US" sz="3200" dirty="0"/>
              <a:t> through out the execution of the program</a:t>
            </a:r>
            <a:r>
              <a:rPr lang="en-US" sz="3200" dirty="0" smtClean="0"/>
              <a:t>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97453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46049"/>
          </a:xfrm>
        </p:spPr>
        <p:txBody>
          <a:bodyPr>
            <a:normAutofit/>
          </a:bodyPr>
          <a:lstStyle/>
          <a:p>
            <a:r>
              <a:rPr lang="en-US" b="1" dirty="0"/>
              <a:t>Exception handler , OS, and </a:t>
            </a:r>
            <a:r>
              <a:rPr lang="en-US" b="1" dirty="0" err="1" smtClean="0"/>
              <a:t>and</a:t>
            </a:r>
            <a:r>
              <a:rPr lang="en-US" b="1" dirty="0" smtClean="0"/>
              <a:t> I/O </a:t>
            </a:r>
            <a:r>
              <a:rPr lang="en-US" b="1" dirty="0"/>
              <a:t>Segments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59655" y="1856935"/>
            <a:ext cx="1087432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3600" dirty="0"/>
          </a:p>
          <a:p>
            <a:r>
              <a:rPr lang="en-US" sz="3600" dirty="0"/>
              <a:t>•The lowest part of the example RISC-V memory map is reserved for the </a:t>
            </a:r>
            <a:r>
              <a:rPr lang="en-US" sz="3600" b="1" dirty="0"/>
              <a:t>exception handlers and boot code </a:t>
            </a:r>
            <a:r>
              <a:rPr lang="en-US" sz="3600" dirty="0"/>
              <a:t>that is </a:t>
            </a:r>
            <a:r>
              <a:rPr lang="en-US" sz="3600" b="1" dirty="0"/>
              <a:t>run at start-up</a:t>
            </a:r>
            <a:r>
              <a:rPr lang="en-US" sz="3600" dirty="0"/>
              <a:t>. </a:t>
            </a:r>
            <a:endParaRPr lang="en-US" sz="3600" dirty="0" smtClean="0"/>
          </a:p>
          <a:p>
            <a:endParaRPr lang="en-US" sz="3600" dirty="0"/>
          </a:p>
          <a:p>
            <a:r>
              <a:rPr lang="en-US" sz="3600" dirty="0"/>
              <a:t>•The highest part of the memory map  is reserved for </a:t>
            </a:r>
            <a:r>
              <a:rPr lang="en-US" sz="3600" b="1" dirty="0"/>
              <a:t>the operating system and memory mapped I/O</a:t>
            </a:r>
          </a:p>
        </p:txBody>
      </p:sp>
    </p:spTree>
    <p:extLst>
      <p:ext uri="{BB962C8B-B14F-4D97-AF65-F5344CB8AC3E}">
        <p14:creationId xmlns:p14="http://schemas.microsoft.com/office/powerpoint/2010/main" val="20331571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801858"/>
          </a:xfrm>
        </p:spPr>
        <p:txBody>
          <a:bodyPr>
            <a:normAutofit/>
          </a:bodyPr>
          <a:lstStyle/>
          <a:p>
            <a:r>
              <a:rPr lang="en-US" b="1" dirty="0" smtClean="0"/>
              <a:t>Memory </a:t>
            </a:r>
            <a:r>
              <a:rPr lang="en-US" b="1" dirty="0"/>
              <a:t>Location, Addresses, and Operation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22031" y="1730326"/>
            <a:ext cx="665401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endParaRPr lang="en-IN" sz="3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Memory </a:t>
            </a:r>
            <a:r>
              <a:rPr lang="en-US" sz="3200" dirty="0"/>
              <a:t>consists of many millions of </a:t>
            </a:r>
            <a:r>
              <a:rPr lang="en-US" sz="3200" b="1" dirty="0"/>
              <a:t>storage cell</a:t>
            </a:r>
            <a:r>
              <a:rPr lang="en-US" sz="3200" dirty="0"/>
              <a:t>s, each of which can </a:t>
            </a:r>
            <a:r>
              <a:rPr lang="en-US" sz="3200" b="1" dirty="0"/>
              <a:t>store 1 bit</a:t>
            </a:r>
            <a:r>
              <a:rPr lang="en-US" sz="3200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Data </a:t>
            </a:r>
            <a:r>
              <a:rPr lang="en-US" sz="3200" dirty="0"/>
              <a:t>is usually accessed in </a:t>
            </a:r>
            <a:r>
              <a:rPr lang="en-US" sz="3200" b="1" i="1" dirty="0"/>
              <a:t>n</a:t>
            </a:r>
            <a:r>
              <a:rPr lang="en-US" sz="3200" b="1" dirty="0"/>
              <a:t>-bit groups called word. </a:t>
            </a:r>
            <a:endParaRPr lang="en-US" sz="3200" b="1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r>
              <a:rPr lang="en-IN" sz="3200" i="1" dirty="0" smtClean="0"/>
              <a:t>n </a:t>
            </a:r>
            <a:r>
              <a:rPr lang="en-IN" sz="3200" dirty="0" smtClean="0"/>
              <a:t>is </a:t>
            </a:r>
            <a:r>
              <a:rPr lang="en-IN" sz="3200" dirty="0"/>
              <a:t>called </a:t>
            </a:r>
            <a:r>
              <a:rPr lang="en-IN" sz="3200" b="1" dirty="0"/>
              <a:t>word length</a:t>
            </a:r>
            <a:r>
              <a:rPr lang="en-IN" sz="3200" dirty="0"/>
              <a:t>.</a:t>
            </a:r>
          </a:p>
        </p:txBody>
      </p:sp>
      <p:pic>
        <p:nvPicPr>
          <p:cNvPr id="2050" name="Picture 2" descr="C:\Users\User\Pictures\Screenshots\Screenshot (233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049" y="1157809"/>
            <a:ext cx="4987097" cy="504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396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801858"/>
          </a:xfrm>
        </p:spPr>
        <p:txBody>
          <a:bodyPr>
            <a:normAutofit/>
          </a:bodyPr>
          <a:lstStyle/>
          <a:p>
            <a:r>
              <a:rPr lang="en-US" b="1" dirty="0" smtClean="0"/>
              <a:t>Memory </a:t>
            </a:r>
            <a:r>
              <a:rPr lang="en-US" b="1" dirty="0"/>
              <a:t>Location, Addresses, and Operation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22030" y="956603"/>
            <a:ext cx="1093059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IN" sz="3200" dirty="0"/>
              <a:t>The </a:t>
            </a:r>
            <a:r>
              <a:rPr lang="en-IN" sz="3200" dirty="0" smtClean="0"/>
              <a:t>memory </a:t>
            </a:r>
            <a:r>
              <a:rPr lang="en-US" sz="3200" dirty="0" smtClean="0"/>
              <a:t>is </a:t>
            </a:r>
            <a:r>
              <a:rPr lang="en-US" sz="3200" dirty="0"/>
              <a:t>organized as a </a:t>
            </a:r>
            <a:r>
              <a:rPr lang="en-US" sz="3200" b="1" dirty="0"/>
              <a:t>two-dimensional array of </a:t>
            </a:r>
            <a:r>
              <a:rPr lang="en-US" sz="3200" dirty="0"/>
              <a:t>memory cells.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memory reads </a:t>
            </a:r>
            <a:r>
              <a:rPr lang="en-US" sz="3200" dirty="0"/>
              <a:t>or writes the contents of </a:t>
            </a:r>
            <a:r>
              <a:rPr lang="en-US" sz="3200" b="1" dirty="0"/>
              <a:t>one of the rows </a:t>
            </a:r>
            <a:r>
              <a:rPr lang="en-US" sz="3200" dirty="0"/>
              <a:t>of the array.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This </a:t>
            </a:r>
            <a:r>
              <a:rPr lang="en-US" sz="3200" dirty="0"/>
              <a:t>row </a:t>
            </a:r>
            <a:r>
              <a:rPr lang="en-US" sz="3200" dirty="0" smtClean="0"/>
              <a:t>is specified </a:t>
            </a:r>
            <a:r>
              <a:rPr lang="en-US" sz="3200" dirty="0"/>
              <a:t>by an </a:t>
            </a:r>
            <a:r>
              <a:rPr lang="en-US" sz="3200" b="1" i="1" dirty="0"/>
              <a:t>address</a:t>
            </a:r>
            <a:r>
              <a:rPr lang="en-US" sz="3200" b="1" dirty="0"/>
              <a:t>.</a:t>
            </a:r>
            <a:r>
              <a:rPr lang="en-US" sz="3200" dirty="0"/>
              <a:t>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value read or written is called </a:t>
            </a:r>
            <a:r>
              <a:rPr lang="en-US" sz="3200" b="1" i="1" dirty="0"/>
              <a:t>data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An array with </a:t>
            </a:r>
            <a:r>
              <a:rPr lang="en-US" sz="3200" b="1" i="1" dirty="0"/>
              <a:t>N</a:t>
            </a:r>
            <a:r>
              <a:rPr lang="en-US" sz="3200" b="1" dirty="0"/>
              <a:t>-bit addresses </a:t>
            </a:r>
            <a:r>
              <a:rPr lang="en-US" sz="3200" dirty="0"/>
              <a:t>and </a:t>
            </a:r>
            <a:r>
              <a:rPr lang="en-US" sz="3200" b="1" i="1" dirty="0"/>
              <a:t>M</a:t>
            </a:r>
            <a:r>
              <a:rPr lang="en-US" sz="3200" b="1" dirty="0"/>
              <a:t>-bit data </a:t>
            </a:r>
            <a:r>
              <a:rPr lang="en-US" sz="3200" dirty="0"/>
              <a:t>has </a:t>
            </a:r>
            <a:r>
              <a:rPr lang="en-US" sz="3200" b="1" i="1" dirty="0"/>
              <a:t>2</a:t>
            </a:r>
            <a:r>
              <a:rPr lang="en-US" sz="3200" b="1" i="1" baseline="30000" dirty="0"/>
              <a:t>N</a:t>
            </a:r>
            <a:r>
              <a:rPr lang="en-US" sz="3200" b="1" i="1" dirty="0"/>
              <a:t> </a:t>
            </a:r>
            <a:r>
              <a:rPr lang="en-US" sz="3200" b="1" dirty="0"/>
              <a:t>rows </a:t>
            </a:r>
            <a:r>
              <a:rPr lang="en-US" sz="3200" dirty="0"/>
              <a:t>and </a:t>
            </a:r>
            <a:r>
              <a:rPr lang="en-US" sz="3200" i="1" dirty="0"/>
              <a:t>M </a:t>
            </a:r>
            <a:r>
              <a:rPr lang="en-US" sz="3200" dirty="0"/>
              <a:t>columns.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Each </a:t>
            </a:r>
            <a:r>
              <a:rPr lang="en-US" sz="3200" b="1" dirty="0" smtClean="0"/>
              <a:t>row </a:t>
            </a:r>
            <a:r>
              <a:rPr lang="en-US" sz="3200" b="1" dirty="0"/>
              <a:t>of data is called a </a:t>
            </a:r>
            <a:r>
              <a:rPr lang="en-US" sz="3200" b="1" i="1" dirty="0"/>
              <a:t>word</a:t>
            </a:r>
            <a:r>
              <a:rPr lang="en-US" sz="3200" dirty="0"/>
              <a:t>. Thus, the array contains </a:t>
            </a:r>
            <a:r>
              <a:rPr lang="en-US" sz="3200" b="1" i="1" dirty="0" smtClean="0"/>
              <a:t>2</a:t>
            </a:r>
            <a:r>
              <a:rPr lang="en-US" sz="3200" b="1" i="1" baseline="30000" dirty="0" smtClean="0"/>
              <a:t>N</a:t>
            </a:r>
            <a:r>
              <a:rPr lang="en-US" sz="3200" b="1" i="1" dirty="0" smtClean="0"/>
              <a:t> </a:t>
            </a:r>
            <a:r>
              <a:rPr lang="en-US" sz="3200" b="1" dirty="0"/>
              <a:t>M-bit words.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363016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801858"/>
          </a:xfrm>
        </p:spPr>
        <p:txBody>
          <a:bodyPr>
            <a:normAutofit/>
          </a:bodyPr>
          <a:lstStyle/>
          <a:p>
            <a:r>
              <a:rPr lang="en-US" b="1" dirty="0" smtClean="0"/>
              <a:t>Memory </a:t>
            </a:r>
            <a:r>
              <a:rPr lang="en-US" b="1" dirty="0"/>
              <a:t>Location, Addresses, and Operation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22030" y="956603"/>
            <a:ext cx="1093059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Figure shows </a:t>
            </a:r>
            <a:r>
              <a:rPr lang="en-US" sz="3200" dirty="0"/>
              <a:t>a memory array with </a:t>
            </a:r>
            <a:r>
              <a:rPr lang="en-US" sz="3200" b="1" dirty="0"/>
              <a:t>two address bits and three</a:t>
            </a:r>
          </a:p>
          <a:p>
            <a:r>
              <a:rPr lang="en-US" sz="3200" b="1" dirty="0"/>
              <a:t>data bits.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two address bits specify one of the four rows (data words)</a:t>
            </a:r>
          </a:p>
          <a:p>
            <a:r>
              <a:rPr lang="en-US" sz="3200" dirty="0"/>
              <a:t>in the array.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Each </a:t>
            </a:r>
            <a:r>
              <a:rPr lang="en-US" sz="3200" dirty="0"/>
              <a:t>data word is three bits wide</a:t>
            </a:r>
            <a:endParaRPr lang="en-IN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96" t="36134" r="11874" b="40909"/>
          <a:stretch/>
        </p:blipFill>
        <p:spPr bwMode="auto">
          <a:xfrm>
            <a:off x="7286171" y="2576284"/>
            <a:ext cx="4629164" cy="392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6509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801858"/>
          </a:xfrm>
        </p:spPr>
        <p:txBody>
          <a:bodyPr>
            <a:normAutofit/>
          </a:bodyPr>
          <a:lstStyle/>
          <a:p>
            <a:r>
              <a:rPr lang="en-US" b="1" dirty="0" smtClean="0"/>
              <a:t>Memory </a:t>
            </a:r>
            <a:r>
              <a:rPr lang="en-US" b="1" dirty="0"/>
              <a:t>Location, Addresses, and Operation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22031" y="956603"/>
            <a:ext cx="792011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b="1" i="1" dirty="0"/>
              <a:t>depth </a:t>
            </a:r>
            <a:r>
              <a:rPr lang="en-US" sz="3200" b="1" dirty="0"/>
              <a:t>of an array</a:t>
            </a:r>
            <a:r>
              <a:rPr lang="en-US" sz="3200" dirty="0"/>
              <a:t> is the </a:t>
            </a:r>
            <a:r>
              <a:rPr lang="en-US" sz="3200" b="1" dirty="0"/>
              <a:t>number of rows, </a:t>
            </a:r>
            <a:r>
              <a:rPr lang="en-US" sz="3200" dirty="0"/>
              <a:t>and the </a:t>
            </a:r>
            <a:r>
              <a:rPr lang="en-US" sz="3200" b="1" i="1" dirty="0"/>
              <a:t>width </a:t>
            </a:r>
            <a:r>
              <a:rPr lang="en-US" sz="3200" b="1" dirty="0"/>
              <a:t>is </a:t>
            </a:r>
            <a:r>
              <a:rPr lang="en-US" sz="3200" b="1" dirty="0" smtClean="0"/>
              <a:t>the number </a:t>
            </a:r>
            <a:r>
              <a:rPr lang="en-US" sz="3200" b="1" dirty="0"/>
              <a:t>of columns</a:t>
            </a:r>
            <a:r>
              <a:rPr lang="en-US" sz="3200" dirty="0"/>
              <a:t>, also called the </a:t>
            </a:r>
            <a:r>
              <a:rPr lang="en-US" sz="3200" b="1" i="1" dirty="0"/>
              <a:t>word size</a:t>
            </a:r>
            <a:r>
              <a:rPr lang="en-US" sz="3200" b="1" dirty="0"/>
              <a:t>.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dirty="0"/>
              <a:t>size</a:t>
            </a:r>
            <a:r>
              <a:rPr lang="en-US" sz="3200" dirty="0"/>
              <a:t> of an array </a:t>
            </a:r>
            <a:r>
              <a:rPr lang="en-US" sz="3200" dirty="0" smtClean="0"/>
              <a:t>is given </a:t>
            </a:r>
            <a:r>
              <a:rPr lang="en-US" sz="3200" dirty="0"/>
              <a:t>as </a:t>
            </a:r>
            <a:r>
              <a:rPr lang="en-US" sz="3200" b="1" i="1" dirty="0"/>
              <a:t>depth </a:t>
            </a:r>
            <a:r>
              <a:rPr lang="en-US" sz="3200" b="1" dirty="0"/>
              <a:t>× </a:t>
            </a:r>
            <a:r>
              <a:rPr lang="en-US" sz="3200" b="1" i="1" dirty="0"/>
              <a:t>width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Figure </a:t>
            </a:r>
            <a:r>
              <a:rPr lang="en-US" sz="3200" dirty="0"/>
              <a:t>5.41 is a 4-word × 3-bit array, or </a:t>
            </a:r>
            <a:r>
              <a:rPr lang="en-US" sz="3200" dirty="0" smtClean="0"/>
              <a:t>simply 4 </a:t>
            </a:r>
            <a:r>
              <a:rPr lang="en-US" sz="3200" dirty="0"/>
              <a:t>× 3 array.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symbol for a 1024-word × 32-bit array is shown </a:t>
            </a:r>
            <a:r>
              <a:rPr lang="en-US" sz="3200" dirty="0" smtClean="0"/>
              <a:t>in Figure </a:t>
            </a:r>
            <a:r>
              <a:rPr lang="en-US" sz="3200" dirty="0"/>
              <a:t>5.42.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total size of this array is 32 kilobits (Kb), also </a:t>
            </a:r>
            <a:r>
              <a:rPr lang="en-US" sz="3200" dirty="0" smtClean="0"/>
              <a:t>referred to </a:t>
            </a:r>
            <a:r>
              <a:rPr lang="en-US" sz="3200" dirty="0"/>
              <a:t>as 32 </a:t>
            </a:r>
            <a:r>
              <a:rPr lang="en-US" sz="3200" dirty="0" err="1"/>
              <a:t>kibibits</a:t>
            </a:r>
            <a:r>
              <a:rPr lang="en-US" sz="3200" dirty="0"/>
              <a:t> (</a:t>
            </a:r>
            <a:r>
              <a:rPr lang="en-US" sz="3200" dirty="0" err="1"/>
              <a:t>Kib</a:t>
            </a:r>
            <a:r>
              <a:rPr lang="en-US" sz="3200" dirty="0"/>
              <a:t>).</a:t>
            </a:r>
            <a:endParaRPr lang="en-IN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73" t="63269" r="11985" b="11611"/>
          <a:stretch/>
        </p:blipFill>
        <p:spPr bwMode="auto">
          <a:xfrm>
            <a:off x="8496552" y="1873670"/>
            <a:ext cx="3695448" cy="3446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85905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48" y="281354"/>
            <a:ext cx="11886363" cy="6180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23433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64" y="158335"/>
            <a:ext cx="11511278" cy="6228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85229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 descr="C:\Users\User\Pictures\Screenshots\Screenshot (234)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25" y="308475"/>
            <a:ext cx="10016197" cy="618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02292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73" y="284944"/>
            <a:ext cx="11400527" cy="6431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88377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4" y="376478"/>
            <a:ext cx="12087916" cy="5966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77004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166" y="182419"/>
            <a:ext cx="10364451" cy="816388"/>
          </a:xfrm>
        </p:spPr>
        <p:txBody>
          <a:bodyPr/>
          <a:lstStyle/>
          <a:p>
            <a:r>
              <a:rPr lang="en-IN" b="1" dirty="0"/>
              <a:t>Byte addressability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47113" y="1097280"/>
            <a:ext cx="1109940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It </a:t>
            </a:r>
            <a:r>
              <a:rPr lang="en-US" sz="2800" dirty="0"/>
              <a:t>is impractical to assign distinct addresses to individual bit locations in the memory</a:t>
            </a:r>
            <a:r>
              <a:rPr lang="en-US" sz="2800" dirty="0" smtClean="0"/>
              <a:t>.</a:t>
            </a: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most practical assignment is to have </a:t>
            </a:r>
            <a:r>
              <a:rPr lang="en-US" sz="2800" b="1" dirty="0"/>
              <a:t>successive addresses refer to successive byte locations i</a:t>
            </a:r>
            <a:r>
              <a:rPr lang="en-US" sz="2800" dirty="0"/>
              <a:t>n the memory is called  </a:t>
            </a:r>
            <a:r>
              <a:rPr lang="en-US" sz="2800" b="1" dirty="0"/>
              <a:t>byte-addressable memory</a:t>
            </a:r>
            <a:r>
              <a:rPr lang="en-US" sz="2800" b="1" dirty="0" smtClean="0"/>
              <a:t>.</a:t>
            </a:r>
            <a:endParaRPr lang="en-US" sz="2800" b="1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smtClean="0"/>
              <a:t>Word </a:t>
            </a:r>
            <a:r>
              <a:rPr lang="en-US" sz="2800" b="1" dirty="0"/>
              <a:t>alignment </a:t>
            </a:r>
            <a:r>
              <a:rPr lang="en-US" sz="2800" dirty="0"/>
              <a:t>-Words are said to be aligned in </a:t>
            </a:r>
            <a:r>
              <a:rPr lang="en-US" sz="2800" dirty="0" smtClean="0"/>
              <a:t>memory, </a:t>
            </a:r>
            <a:r>
              <a:rPr lang="en-US" sz="2800" dirty="0"/>
              <a:t>if they begin at a byte address that is </a:t>
            </a:r>
            <a:r>
              <a:rPr lang="en-US" sz="2800" b="1" dirty="0"/>
              <a:t>a multiple of the number of bytes</a:t>
            </a:r>
            <a:r>
              <a:rPr lang="en-US" sz="2800" dirty="0"/>
              <a:t> in a word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Byte </a:t>
            </a:r>
            <a:r>
              <a:rPr lang="en-IN" sz="2800" dirty="0"/>
              <a:t>locations have addresses -0,1, 2, 3,etc …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/>
              <a:t>W</a:t>
            </a:r>
            <a:r>
              <a:rPr lang="en-US" sz="2800" b="1" dirty="0" smtClean="0"/>
              <a:t>ord </a:t>
            </a:r>
            <a:r>
              <a:rPr lang="en-US" sz="2800" b="1" dirty="0"/>
              <a:t>length is 16 bits, </a:t>
            </a:r>
            <a:r>
              <a:rPr lang="en-US" sz="2800" dirty="0"/>
              <a:t>the successive words are located at addresses -0, 2, 4, 6,etc…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/>
              <a:t>W</a:t>
            </a:r>
            <a:r>
              <a:rPr lang="en-US" sz="2800" b="1" dirty="0" smtClean="0"/>
              <a:t>ord </a:t>
            </a:r>
            <a:r>
              <a:rPr lang="en-US" sz="2800" b="1" dirty="0"/>
              <a:t>length is 32 bits</a:t>
            </a:r>
            <a:r>
              <a:rPr lang="en-US" sz="2800" dirty="0"/>
              <a:t>, the successive words are located at addresses -0, 4, 8,12,etc…</a:t>
            </a:r>
          </a:p>
        </p:txBody>
      </p:sp>
    </p:spTree>
    <p:extLst>
      <p:ext uri="{BB962C8B-B14F-4D97-AF65-F5344CB8AC3E}">
        <p14:creationId xmlns:p14="http://schemas.microsoft.com/office/powerpoint/2010/main" val="3628825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166" y="182419"/>
            <a:ext cx="10364451" cy="816388"/>
          </a:xfrm>
        </p:spPr>
        <p:txBody>
          <a:bodyPr/>
          <a:lstStyle/>
          <a:p>
            <a:r>
              <a:rPr lang="en-IN" b="1" dirty="0"/>
              <a:t>Byte addressability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47113" y="1097280"/>
            <a:ext cx="1109940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RISC-V uses a </a:t>
            </a:r>
            <a:r>
              <a:rPr lang="en-US" sz="2800" i="1" dirty="0"/>
              <a:t>byte-addressable </a:t>
            </a:r>
            <a:r>
              <a:rPr lang="en-US" sz="2800" dirty="0"/>
              <a:t>memory.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That </a:t>
            </a:r>
            <a:r>
              <a:rPr lang="en-US" sz="2800" dirty="0"/>
              <a:t>is, each byte </a:t>
            </a:r>
            <a:r>
              <a:rPr lang="en-US" sz="2800" dirty="0" smtClean="0"/>
              <a:t>in memory </a:t>
            </a:r>
            <a:r>
              <a:rPr lang="en-US" sz="2800" dirty="0"/>
              <a:t>has a unique address, as shown in Figure 6.1(a).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 </a:t>
            </a:r>
            <a:r>
              <a:rPr lang="en-US" sz="2800" dirty="0"/>
              <a:t>32-bit </a:t>
            </a:r>
            <a:r>
              <a:rPr lang="en-US" sz="2800" dirty="0" smtClean="0"/>
              <a:t>word consists </a:t>
            </a:r>
            <a:r>
              <a:rPr lang="en-US" sz="2800" dirty="0"/>
              <a:t>of four 8-bit bytes, so each word address is a multiple of 4.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1" t="48214" r="13658" b="23214"/>
          <a:stretch/>
        </p:blipFill>
        <p:spPr bwMode="auto">
          <a:xfrm>
            <a:off x="647113" y="3344049"/>
            <a:ext cx="10522635" cy="3507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12761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166" y="182419"/>
            <a:ext cx="10364451" cy="816388"/>
          </a:xfrm>
        </p:spPr>
        <p:txBody>
          <a:bodyPr/>
          <a:lstStyle/>
          <a:p>
            <a:r>
              <a:rPr lang="en-IN" b="1" dirty="0"/>
              <a:t>Byte </a:t>
            </a:r>
            <a:r>
              <a:rPr lang="en-IN" b="1" dirty="0" smtClean="0"/>
              <a:t>addressability(</a:t>
            </a:r>
            <a:r>
              <a:rPr lang="en-IN" b="1" dirty="0" err="1"/>
              <a:t>Endianness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47113" y="1097280"/>
            <a:ext cx="1109940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Byte-addressable memories are organized in a </a:t>
            </a:r>
            <a:r>
              <a:rPr lang="en-US" sz="2800" b="1" dirty="0"/>
              <a:t>big-endian or </a:t>
            </a:r>
            <a:r>
              <a:rPr lang="en-US" sz="2800" b="1" dirty="0" smtClean="0"/>
              <a:t>little-endian </a:t>
            </a:r>
            <a:r>
              <a:rPr lang="en-IN" sz="2800" b="1" dirty="0" smtClean="0"/>
              <a:t>fashion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In </a:t>
            </a:r>
            <a:r>
              <a:rPr lang="en-US" sz="2800" dirty="0"/>
              <a:t>both formats, a 32-bit word’s </a:t>
            </a:r>
            <a:r>
              <a:rPr lang="en-US" sz="2800" dirty="0" smtClean="0"/>
              <a:t>most significant </a:t>
            </a:r>
            <a:r>
              <a:rPr lang="en-US" sz="2800" dirty="0"/>
              <a:t>byte (MSB) is on the left and the least significant byte (</a:t>
            </a:r>
            <a:r>
              <a:rPr lang="en-US" sz="2800" dirty="0" smtClean="0"/>
              <a:t>LSB) is </a:t>
            </a:r>
            <a:r>
              <a:rPr lang="en-US" sz="2800" dirty="0"/>
              <a:t>on the right.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smtClean="0"/>
              <a:t>Word </a:t>
            </a:r>
            <a:r>
              <a:rPr lang="en-US" sz="2800" b="1" dirty="0"/>
              <a:t>addresses are the same in both formats </a:t>
            </a:r>
            <a:r>
              <a:rPr lang="en-US" sz="2800" dirty="0"/>
              <a:t>and </a:t>
            </a:r>
            <a:r>
              <a:rPr lang="en-US" sz="2800" dirty="0" smtClean="0"/>
              <a:t>refer to </a:t>
            </a:r>
            <a:r>
              <a:rPr lang="en-US" sz="2800" dirty="0"/>
              <a:t>the same four bytes.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Only </a:t>
            </a:r>
            <a:r>
              <a:rPr lang="en-US" sz="2800" b="1" dirty="0"/>
              <a:t>the addresses of bytes within a word </a:t>
            </a:r>
            <a:r>
              <a:rPr lang="en-US" sz="2800" b="1" dirty="0" smtClean="0"/>
              <a:t>differ </a:t>
            </a:r>
            <a:r>
              <a:rPr lang="en-US" sz="2800" dirty="0" smtClean="0"/>
              <a:t>(see </a:t>
            </a:r>
            <a:r>
              <a:rPr lang="en-US" sz="2800" dirty="0"/>
              <a:t>Figure 6.35).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In </a:t>
            </a:r>
            <a:r>
              <a:rPr lang="en-US" sz="2800" i="1" dirty="0"/>
              <a:t>big-endian </a:t>
            </a:r>
            <a:r>
              <a:rPr lang="en-US" sz="2800" dirty="0"/>
              <a:t>machines, </a:t>
            </a:r>
            <a:r>
              <a:rPr lang="en-US" sz="2800" b="1" dirty="0"/>
              <a:t>bytes are numbered </a:t>
            </a:r>
            <a:r>
              <a:rPr lang="en-US" sz="2800" b="1" dirty="0" smtClean="0"/>
              <a:t>starting with </a:t>
            </a:r>
            <a:r>
              <a:rPr lang="en-US" sz="2800" b="1" dirty="0"/>
              <a:t>0 at the big (most significant) end.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In </a:t>
            </a:r>
            <a:r>
              <a:rPr lang="en-US" sz="2800" i="1" dirty="0"/>
              <a:t>little-endian </a:t>
            </a:r>
            <a:r>
              <a:rPr lang="en-US" sz="2800" dirty="0"/>
              <a:t>machines, </a:t>
            </a:r>
            <a:r>
              <a:rPr lang="en-US" sz="2800" b="1" dirty="0" smtClean="0"/>
              <a:t>bytes are </a:t>
            </a:r>
            <a:r>
              <a:rPr lang="en-US" sz="2800" b="1" dirty="0"/>
              <a:t>numbered starting with 0 at the little (least significant) end.</a:t>
            </a:r>
          </a:p>
        </p:txBody>
      </p:sp>
    </p:spTree>
    <p:extLst>
      <p:ext uri="{BB962C8B-B14F-4D97-AF65-F5344CB8AC3E}">
        <p14:creationId xmlns:p14="http://schemas.microsoft.com/office/powerpoint/2010/main" val="13907800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43" t="33583" r="20511" b="34373"/>
          <a:stretch/>
        </p:blipFill>
        <p:spPr bwMode="auto">
          <a:xfrm>
            <a:off x="1139483" y="126609"/>
            <a:ext cx="7962314" cy="5750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209647" y="6057872"/>
            <a:ext cx="54665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/>
              <a:t>RISC-V is typically </a:t>
            </a:r>
            <a:r>
              <a:rPr lang="en-IN" sz="3200" b="1" dirty="0" smtClean="0"/>
              <a:t>little-endian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2982596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User\Pictures\Screenshots\Screenshot (235)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18" y="270877"/>
            <a:ext cx="11120090" cy="6389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787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User\Pictures\Screenshots\Screenshot (237)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53" y="144268"/>
            <a:ext cx="9875458" cy="655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81842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32612A0-DAA9-A41E-33E3-4DE85FB5F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AED803C-3696-7B12-D93E-44C16F6AC2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A847D9-DB0D-5C7D-471C-489BB6C9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2" y="609599"/>
            <a:ext cx="4815257" cy="1019175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IN" sz="4000" b="1" dirty="0">
                <a:latin typeface="CIDFont+F3"/>
              </a:rPr>
              <a:t>CISC vs RISC architectures</a:t>
            </a:r>
            <a:r>
              <a:rPr lang="en-IN" sz="4000" dirty="0">
                <a:latin typeface="CIDFont+F3"/>
              </a:rPr>
              <a:t>:-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xmlns="" id="{25BF80EF-A74E-AC40-3761-52FA2DD71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IN" sz="2400" dirty="0">
                <a:latin typeface="CIDFont+F2"/>
              </a:rPr>
              <a:t>RISC Introduction –</a:t>
            </a:r>
          </a:p>
          <a:p>
            <a:r>
              <a:rPr lang="en-IN" sz="2400" dirty="0">
                <a:latin typeface="CIDFont+F2"/>
              </a:rPr>
              <a:t>Assembly Language,</a:t>
            </a:r>
          </a:p>
          <a:p>
            <a:r>
              <a:rPr lang="en-IN" sz="2400" dirty="0">
                <a:latin typeface="CIDFont+F2"/>
              </a:rPr>
              <a:t>Assembler directives, </a:t>
            </a:r>
            <a:r>
              <a:rPr lang="en-IN" sz="2400" dirty="0" smtClean="0">
                <a:latin typeface="CIDFont+F2"/>
              </a:rPr>
              <a:t>346 </a:t>
            </a:r>
            <a:r>
              <a:rPr lang="en-IN" sz="2400" dirty="0" err="1" smtClean="0">
                <a:latin typeface="CIDFont+F2"/>
              </a:rPr>
              <a:t>degital</a:t>
            </a:r>
            <a:r>
              <a:rPr lang="en-IN" sz="2400" dirty="0" smtClean="0">
                <a:latin typeface="CIDFont+F2"/>
              </a:rPr>
              <a:t> design</a:t>
            </a:r>
            <a:endParaRPr lang="en-IN" sz="2400" dirty="0">
              <a:latin typeface="CIDFont+F2"/>
            </a:endParaRPr>
          </a:p>
          <a:p>
            <a:r>
              <a:rPr lang="en-IN" sz="2400" dirty="0" smtClean="0">
                <a:latin typeface="CIDFont+F2"/>
              </a:rPr>
              <a:t>Assembling.350 </a:t>
            </a:r>
            <a:r>
              <a:rPr lang="en-IN" sz="2400" dirty="0" err="1" smtClean="0">
                <a:latin typeface="CIDFont+F2"/>
              </a:rPr>
              <a:t>degital</a:t>
            </a:r>
            <a:r>
              <a:rPr lang="en-IN" sz="2400" dirty="0" smtClean="0">
                <a:latin typeface="CIDFont+F2"/>
              </a:rPr>
              <a:t> design</a:t>
            </a:r>
            <a:endParaRPr lang="en-IN" sz="2400" dirty="0">
              <a:latin typeface="CIDFont+F2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622307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661643"/>
          </a:xfrm>
        </p:spPr>
        <p:txBody>
          <a:bodyPr/>
          <a:lstStyle/>
          <a:p>
            <a:r>
              <a:rPr lang="en-IN" b="1" dirty="0"/>
              <a:t>CISC –Complex Instruction Set Computer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34571" y="1139484"/>
            <a:ext cx="11226019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CISC is a computer architecture in which the </a:t>
            </a:r>
            <a:r>
              <a:rPr lang="en-US" sz="3200" b="1" dirty="0"/>
              <a:t>processor supports a </a:t>
            </a:r>
            <a:r>
              <a:rPr lang="en-US" sz="3200" b="1" dirty="0" smtClean="0"/>
              <a:t>large number </a:t>
            </a:r>
            <a:r>
              <a:rPr lang="en-US" sz="3200" b="1" dirty="0"/>
              <a:t>of complex </a:t>
            </a:r>
            <a:r>
              <a:rPr lang="en-US" sz="3200" b="1" dirty="0" smtClean="0"/>
              <a:t>instructions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Each </a:t>
            </a:r>
            <a:r>
              <a:rPr lang="en-US" sz="3200" dirty="0"/>
              <a:t>instruction can perform </a:t>
            </a:r>
            <a:r>
              <a:rPr lang="en-US" sz="3200" b="1" dirty="0"/>
              <a:t>multiple low level operations </a:t>
            </a:r>
            <a:r>
              <a:rPr lang="en-US" sz="3200" dirty="0"/>
              <a:t>such </a:t>
            </a:r>
            <a:r>
              <a:rPr lang="en-US" sz="3200" dirty="0" smtClean="0"/>
              <a:t>as </a:t>
            </a:r>
            <a:r>
              <a:rPr lang="en-US" sz="3200" b="1" dirty="0" smtClean="0">
                <a:solidFill>
                  <a:srgbClr val="FF0000"/>
                </a:solidFill>
              </a:rPr>
              <a:t>loading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r>
              <a:rPr lang="en-US" sz="3200" dirty="0"/>
              <a:t>data from memory, performing an </a:t>
            </a:r>
            <a:r>
              <a:rPr lang="en-US" sz="3200" b="1" dirty="0" smtClean="0">
                <a:solidFill>
                  <a:srgbClr val="FF0000"/>
                </a:solidFill>
              </a:rPr>
              <a:t>arithmetic operation</a:t>
            </a:r>
            <a:r>
              <a:rPr lang="en-US" sz="3200" dirty="0"/>
              <a:t>, and </a:t>
            </a:r>
            <a:r>
              <a:rPr lang="en-US" sz="3200" b="1" dirty="0" smtClean="0">
                <a:solidFill>
                  <a:srgbClr val="FF0000"/>
                </a:solidFill>
              </a:rPr>
              <a:t>storing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r>
              <a:rPr lang="en-US" sz="3200" dirty="0" smtClean="0"/>
              <a:t>the </a:t>
            </a:r>
            <a:r>
              <a:rPr lang="en-US" sz="3200" dirty="0"/>
              <a:t>result back to memory all </a:t>
            </a:r>
            <a:r>
              <a:rPr lang="en-US" sz="3200" b="1" dirty="0"/>
              <a:t>in a single </a:t>
            </a:r>
            <a:r>
              <a:rPr lang="en-US" sz="3200" b="1" dirty="0" smtClean="0"/>
              <a:t>instruction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CISC instruction</a:t>
            </a:r>
            <a:r>
              <a:rPr lang="en-US" sz="3200" dirty="0"/>
              <a:t> </a:t>
            </a:r>
            <a:r>
              <a:rPr lang="en-US" sz="3200" dirty="0" smtClean="0"/>
              <a:t>: ADD </a:t>
            </a:r>
            <a:r>
              <a:rPr lang="en-US" sz="3200" dirty="0"/>
              <a:t>A, B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This might read A and B directly from memory, add them, and </a:t>
            </a:r>
            <a:r>
              <a:rPr lang="en-US" sz="3200" dirty="0" smtClean="0"/>
              <a:t>store the </a:t>
            </a:r>
            <a:r>
              <a:rPr lang="en-US" sz="3200" dirty="0"/>
              <a:t>result back all in one instruction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565673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02740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Main Objectives of CISC: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1069145" y="1963173"/>
            <a:ext cx="1071958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• Reduce </a:t>
            </a:r>
            <a:r>
              <a:rPr lang="en-US" sz="3200" dirty="0"/>
              <a:t>the number of instructions in a </a:t>
            </a:r>
            <a:r>
              <a:rPr lang="en-US" sz="3200" dirty="0" smtClean="0"/>
              <a:t>program</a:t>
            </a:r>
          </a:p>
          <a:p>
            <a:endParaRPr lang="en-US" sz="3200" dirty="0"/>
          </a:p>
          <a:p>
            <a:r>
              <a:rPr lang="en-US" sz="3200" dirty="0" smtClean="0"/>
              <a:t>• Make </a:t>
            </a:r>
            <a:r>
              <a:rPr lang="en-US" sz="3200" dirty="0"/>
              <a:t>programming easier (especially in assembly)</a:t>
            </a:r>
          </a:p>
          <a:p>
            <a:endParaRPr lang="en-US" sz="3200" dirty="0" smtClean="0"/>
          </a:p>
          <a:p>
            <a:r>
              <a:rPr lang="en-US" sz="3200" dirty="0" smtClean="0"/>
              <a:t>• Reduce </a:t>
            </a:r>
            <a:r>
              <a:rPr lang="en-US" sz="3200" dirty="0"/>
              <a:t>memory usage by writing fewer lines of code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254786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2759" y="252757"/>
            <a:ext cx="10364451" cy="731981"/>
          </a:xfrm>
        </p:spPr>
        <p:txBody>
          <a:bodyPr>
            <a:normAutofit/>
          </a:bodyPr>
          <a:lstStyle/>
          <a:p>
            <a:r>
              <a:rPr lang="en-IN" b="1" dirty="0"/>
              <a:t>Characteristics of </a:t>
            </a:r>
            <a:r>
              <a:rPr lang="en-IN" b="1" dirty="0" smtClean="0"/>
              <a:t>CISC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0" y="1166843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3200" dirty="0" smtClean="0"/>
              <a:t>Large </a:t>
            </a:r>
            <a:r>
              <a:rPr lang="en-US" sz="3200" dirty="0"/>
              <a:t>Instruction </a:t>
            </a:r>
            <a:r>
              <a:rPr lang="en-US" sz="3200" dirty="0" smtClean="0"/>
              <a:t>Set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CISC </a:t>
            </a:r>
            <a:r>
              <a:rPr lang="en-US" sz="3200" dirty="0"/>
              <a:t>processors may have </a:t>
            </a:r>
            <a:r>
              <a:rPr lang="en-US" sz="3200" b="1" dirty="0"/>
              <a:t>hundreds of </a:t>
            </a:r>
            <a:r>
              <a:rPr lang="en-US" sz="3200" b="1" dirty="0" smtClean="0"/>
              <a:t>instructions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Some </a:t>
            </a:r>
            <a:r>
              <a:rPr lang="en-US" sz="3200" dirty="0"/>
              <a:t>instructions are </a:t>
            </a:r>
            <a:r>
              <a:rPr lang="en-US" sz="3200" b="1" dirty="0"/>
              <a:t>very complex</a:t>
            </a:r>
            <a:r>
              <a:rPr lang="en-US" sz="3200" dirty="0"/>
              <a:t> and </a:t>
            </a:r>
            <a:r>
              <a:rPr lang="en-US" sz="3200" b="1" dirty="0"/>
              <a:t>take many steps </a:t>
            </a:r>
            <a:r>
              <a:rPr lang="en-US" sz="3200" dirty="0"/>
              <a:t>to </a:t>
            </a:r>
            <a:r>
              <a:rPr lang="en-US" sz="3200" dirty="0" smtClean="0"/>
              <a:t>execute</a:t>
            </a:r>
          </a:p>
          <a:p>
            <a:endParaRPr lang="en-US" sz="3200" dirty="0"/>
          </a:p>
          <a:p>
            <a:r>
              <a:rPr lang="en-US" sz="3200" dirty="0"/>
              <a:t>2. </a:t>
            </a:r>
            <a:r>
              <a:rPr lang="en-US" sz="3200" dirty="0" smtClean="0"/>
              <a:t>Variable Length </a:t>
            </a:r>
            <a:r>
              <a:rPr lang="en-US" sz="3200" dirty="0"/>
              <a:t>Instructions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Instructions </a:t>
            </a:r>
            <a:r>
              <a:rPr lang="en-US" sz="3200" dirty="0"/>
              <a:t>can be </a:t>
            </a:r>
            <a:r>
              <a:rPr lang="en-US" sz="3200" b="1" dirty="0"/>
              <a:t>1 byte, 2 bytes, or </a:t>
            </a:r>
            <a:r>
              <a:rPr lang="en-US" sz="3200" b="1" dirty="0" smtClean="0"/>
              <a:t>more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This </a:t>
            </a:r>
            <a:r>
              <a:rPr lang="en-US" sz="3200" dirty="0"/>
              <a:t>makes instruction </a:t>
            </a:r>
            <a:r>
              <a:rPr lang="en-US" sz="3200" b="1" dirty="0"/>
              <a:t>decoding slow and </a:t>
            </a:r>
            <a:r>
              <a:rPr lang="en-US" sz="3200" b="1" dirty="0" smtClean="0"/>
              <a:t>complex</a:t>
            </a:r>
          </a:p>
          <a:p>
            <a:endParaRPr lang="en-US" sz="3200" dirty="0"/>
          </a:p>
          <a:p>
            <a:r>
              <a:rPr lang="en-US" sz="3200" dirty="0"/>
              <a:t>3. </a:t>
            </a:r>
            <a:r>
              <a:rPr lang="en-US" sz="3200" dirty="0" smtClean="0"/>
              <a:t>Memory to </a:t>
            </a:r>
            <a:r>
              <a:rPr lang="en-US" sz="3200" dirty="0"/>
              <a:t>Memory Operations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Many </a:t>
            </a:r>
            <a:r>
              <a:rPr lang="en-US" sz="3200" dirty="0"/>
              <a:t>CISC instructions can </a:t>
            </a:r>
            <a:r>
              <a:rPr lang="en-US" sz="3200" b="1" dirty="0"/>
              <a:t>access memory directly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9921001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6609" y="318604"/>
            <a:ext cx="1142296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4. Multiple </a:t>
            </a:r>
            <a:r>
              <a:rPr lang="en-US" sz="2800" dirty="0"/>
              <a:t>Clock Cycles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 </a:t>
            </a:r>
            <a:r>
              <a:rPr lang="en-US" sz="2800" dirty="0"/>
              <a:t>single instruction may take </a:t>
            </a:r>
            <a:r>
              <a:rPr lang="en-US" sz="2800" b="1" dirty="0"/>
              <a:t>multiple clock cycles </a:t>
            </a:r>
            <a:r>
              <a:rPr lang="en-US" sz="2800" dirty="0"/>
              <a:t>to </a:t>
            </a:r>
            <a:r>
              <a:rPr lang="en-US" sz="2800" dirty="0" smtClean="0"/>
              <a:t>complete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r>
              <a:rPr lang="en-US" sz="2800" dirty="0" smtClean="0"/>
              <a:t>5. Micro-programmed </a:t>
            </a:r>
            <a:r>
              <a:rPr lang="en-US" sz="2800" dirty="0"/>
              <a:t>Control </a:t>
            </a:r>
            <a:r>
              <a:rPr lang="en-US" sz="2800" dirty="0" smtClean="0"/>
              <a:t>Unit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CISC </a:t>
            </a:r>
            <a:r>
              <a:rPr lang="en-US" sz="2800" dirty="0"/>
              <a:t>processors usually use a </a:t>
            </a:r>
            <a:r>
              <a:rPr lang="en-US" sz="2800" b="1" dirty="0" smtClean="0"/>
              <a:t>micro-programmed </a:t>
            </a:r>
            <a:r>
              <a:rPr lang="en-US" sz="2800" b="1" dirty="0"/>
              <a:t>control </a:t>
            </a:r>
            <a:r>
              <a:rPr lang="en-US" sz="2800" dirty="0" smtClean="0"/>
              <a:t>unit </a:t>
            </a:r>
            <a:r>
              <a:rPr lang="en-US" dirty="0" smtClean="0"/>
              <a:t>(</a:t>
            </a:r>
            <a:r>
              <a:rPr lang="en-US" dirty="0"/>
              <a:t>A control unit whose binary control variables are stored in memory is called a micro programmed control unit.</a:t>
            </a:r>
            <a:r>
              <a:rPr lang="en-US" dirty="0" smtClean="0"/>
              <a:t>)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This </a:t>
            </a:r>
            <a:r>
              <a:rPr lang="en-US" sz="2800" b="1" dirty="0"/>
              <a:t>increases hardware complexity </a:t>
            </a:r>
            <a:r>
              <a:rPr lang="en-US" sz="2800" dirty="0"/>
              <a:t>but supports </a:t>
            </a:r>
            <a:r>
              <a:rPr lang="en-US" sz="2800" b="1" dirty="0"/>
              <a:t>complex </a:t>
            </a:r>
            <a:r>
              <a:rPr lang="en-US" sz="2800" b="1" dirty="0" smtClean="0"/>
              <a:t>instructions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r>
              <a:rPr lang="en-US" sz="2800" dirty="0" smtClean="0"/>
              <a:t>6. Many </a:t>
            </a:r>
            <a:r>
              <a:rPr lang="en-US" sz="2800" dirty="0"/>
              <a:t>Addressing Modes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Supports </a:t>
            </a:r>
            <a:r>
              <a:rPr lang="en-US" sz="2800" b="1" dirty="0"/>
              <a:t>many ways to access memory </a:t>
            </a:r>
            <a:r>
              <a:rPr lang="en-US" sz="2800" dirty="0"/>
              <a:t>( indirect, indexed, </a:t>
            </a:r>
            <a:r>
              <a:rPr lang="en-US" sz="2800" dirty="0" err="1" smtClean="0"/>
              <a:t>etc</a:t>
            </a:r>
            <a:r>
              <a:rPr lang="en-US" sz="2800" dirty="0" smtClean="0"/>
              <a:t>)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r>
              <a:rPr lang="en-US" sz="2800" dirty="0" smtClean="0"/>
              <a:t>7. Difficult </a:t>
            </a:r>
            <a:r>
              <a:rPr lang="en-US" sz="2800" dirty="0"/>
              <a:t>to </a:t>
            </a:r>
            <a:r>
              <a:rPr lang="en-US" sz="2800" dirty="0" smtClean="0"/>
              <a:t>Pipeline </a:t>
            </a:r>
            <a:r>
              <a:rPr lang="en-US" dirty="0" smtClean="0"/>
              <a:t>(</a:t>
            </a:r>
            <a:r>
              <a:rPr lang="en-US" dirty="0"/>
              <a:t>breaking down instruction execution into smaller, sequential stages (fetch, decode, execute, etc.) that overlap, allowing multiple instructions to be processed concurrently for higher throughput, </a:t>
            </a:r>
            <a:r>
              <a:rPr lang="en-US" dirty="0" smtClean="0"/>
              <a:t>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Because </a:t>
            </a:r>
            <a:r>
              <a:rPr lang="en-US" sz="2800" dirty="0"/>
              <a:t>instructions vary in length and execution time, pipelining is </a:t>
            </a:r>
            <a:r>
              <a:rPr lang="en-US" sz="2800" dirty="0" smtClean="0"/>
              <a:t>inefficient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466921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7624" y="1054227"/>
            <a:ext cx="1142296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Examples </a:t>
            </a:r>
            <a:r>
              <a:rPr lang="en-US" sz="3200" b="1" dirty="0"/>
              <a:t>of CISC:</a:t>
            </a:r>
          </a:p>
          <a:p>
            <a:r>
              <a:rPr lang="en-US" sz="3200" dirty="0" smtClean="0"/>
              <a:t>• Intel </a:t>
            </a:r>
            <a:r>
              <a:rPr lang="en-US" sz="3200" dirty="0"/>
              <a:t>x86 family (8086, 80286, Pentium, etc.)</a:t>
            </a:r>
          </a:p>
          <a:p>
            <a:r>
              <a:rPr lang="en-US" sz="3200" dirty="0" smtClean="0"/>
              <a:t>• VAX</a:t>
            </a:r>
            <a:endParaRPr lang="en-US" sz="3200" dirty="0"/>
          </a:p>
          <a:p>
            <a:r>
              <a:rPr lang="en-US" sz="3200" dirty="0" smtClean="0"/>
              <a:t>• Motorola </a:t>
            </a:r>
            <a:r>
              <a:rPr lang="en-US" sz="3200" dirty="0"/>
              <a:t>68000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7830220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983" y="0"/>
            <a:ext cx="10364451" cy="717912"/>
          </a:xfrm>
        </p:spPr>
        <p:txBody>
          <a:bodyPr/>
          <a:lstStyle/>
          <a:p>
            <a:r>
              <a:rPr lang="en-US" b="1" dirty="0"/>
              <a:t>RISC (Reduced Instruction Set Computer)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196948" y="745575"/>
            <a:ext cx="11746523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RISC </a:t>
            </a:r>
            <a:r>
              <a:rPr lang="en-US" sz="3200" dirty="0" smtClean="0"/>
              <a:t>is </a:t>
            </a:r>
            <a:r>
              <a:rPr lang="en-US" sz="3200" dirty="0"/>
              <a:t>a CPU design approach that uses </a:t>
            </a:r>
            <a:r>
              <a:rPr lang="en-US" sz="3200" b="1" dirty="0"/>
              <a:t>simple instructions</a:t>
            </a:r>
            <a:r>
              <a:rPr lang="en-US" sz="3200" dirty="0"/>
              <a:t>, </a:t>
            </a:r>
            <a:r>
              <a:rPr lang="en-US" sz="3200" b="1" dirty="0"/>
              <a:t>fixed length format</a:t>
            </a:r>
            <a:r>
              <a:rPr lang="en-US" sz="3200" dirty="0"/>
              <a:t>, and </a:t>
            </a:r>
            <a:r>
              <a:rPr lang="en-US" sz="3200" b="1" dirty="0"/>
              <a:t>many </a:t>
            </a:r>
            <a:r>
              <a:rPr lang="en-US" sz="3200" b="1" dirty="0" smtClean="0"/>
              <a:t>registers </a:t>
            </a:r>
            <a:r>
              <a:rPr lang="en-US" sz="3200" dirty="0" smtClean="0"/>
              <a:t>to </a:t>
            </a:r>
            <a:r>
              <a:rPr lang="en-US" sz="3200" dirty="0"/>
              <a:t>improve speed and </a:t>
            </a:r>
            <a:r>
              <a:rPr lang="en-US" sz="3200" dirty="0" smtClean="0"/>
              <a:t>efficiency.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RISC </a:t>
            </a:r>
            <a:r>
              <a:rPr lang="en-US" sz="3200" dirty="0"/>
              <a:t>is a computer architecture designed to use a </a:t>
            </a:r>
            <a:r>
              <a:rPr lang="en-US" sz="3200" b="1" dirty="0"/>
              <a:t>small set of simple and fast instructions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Each </a:t>
            </a:r>
            <a:r>
              <a:rPr lang="en-US" sz="3200" dirty="0"/>
              <a:t>instruction is designed to execute </a:t>
            </a:r>
            <a:r>
              <a:rPr lang="en-US" sz="3200" b="1" dirty="0"/>
              <a:t>in one clock </a:t>
            </a:r>
            <a:r>
              <a:rPr lang="en-US" sz="3200" b="1" dirty="0" smtClean="0"/>
              <a:t>cycle (ideally) </a:t>
            </a:r>
            <a:r>
              <a:rPr lang="en-US" sz="3200" dirty="0" smtClean="0"/>
              <a:t>and </a:t>
            </a:r>
            <a:r>
              <a:rPr lang="en-US" sz="3200" dirty="0"/>
              <a:t>only </a:t>
            </a:r>
            <a:r>
              <a:rPr lang="en-US" sz="3200" b="1" dirty="0"/>
              <a:t>load and </a:t>
            </a:r>
            <a:r>
              <a:rPr lang="en-US" sz="3200" b="1" dirty="0" smtClean="0"/>
              <a:t>store </a:t>
            </a:r>
            <a:r>
              <a:rPr lang="en-US" sz="3200" dirty="0" smtClean="0"/>
              <a:t>instructions </a:t>
            </a:r>
            <a:r>
              <a:rPr lang="en-US" sz="3200" dirty="0"/>
              <a:t>access </a:t>
            </a:r>
            <a:r>
              <a:rPr lang="en-US" sz="3200" dirty="0" smtClean="0"/>
              <a:t>memory.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O</a:t>
            </a:r>
            <a:r>
              <a:rPr lang="en-US" sz="3200" b="1" dirty="0" smtClean="0"/>
              <a:t>ne </a:t>
            </a:r>
            <a:r>
              <a:rPr lang="en-US" sz="3200" b="1" dirty="0"/>
              <a:t>machine instruction per machine cycle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b="1" i="1" dirty="0"/>
              <a:t>machine cycle </a:t>
            </a:r>
            <a:r>
              <a:rPr lang="en-US" sz="3200" dirty="0"/>
              <a:t>is defined to be the time it takes to fetch two operands from registers, perform an ALU operation, and store the result in a </a:t>
            </a:r>
            <a:r>
              <a:rPr lang="en-US" sz="3200" dirty="0" smtClean="0"/>
              <a:t>register.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Example</a:t>
            </a:r>
            <a:r>
              <a:rPr lang="en-US" sz="3200" dirty="0"/>
              <a:t>: </a:t>
            </a:r>
            <a:r>
              <a:rPr lang="en-US" sz="3200" b="1" dirty="0"/>
              <a:t>ARM, MIPS, SPARC, RISC-V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722168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238689"/>
            <a:ext cx="10364451" cy="1041471"/>
          </a:xfrm>
        </p:spPr>
        <p:txBody>
          <a:bodyPr/>
          <a:lstStyle/>
          <a:p>
            <a:r>
              <a:rPr lang="en-IN" b="1" dirty="0"/>
              <a:t>Main Objective of RISC: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64234" y="1223888"/>
            <a:ext cx="1081805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Increase </a:t>
            </a:r>
            <a:r>
              <a:rPr lang="en-IN" sz="3200" b="1" dirty="0"/>
              <a:t>execution </a:t>
            </a:r>
            <a:r>
              <a:rPr lang="en-IN" sz="3200" b="1" dirty="0" smtClean="0"/>
              <a:t>speed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Improve </a:t>
            </a:r>
            <a:r>
              <a:rPr lang="en-IN" sz="3200" b="1" dirty="0"/>
              <a:t>performance via </a:t>
            </a:r>
            <a:r>
              <a:rPr lang="en-IN" sz="3200" b="1" dirty="0" smtClean="0"/>
              <a:t>pipelining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Simplify </a:t>
            </a:r>
            <a:r>
              <a:rPr lang="en-IN" sz="3200" b="1" dirty="0"/>
              <a:t>hardware </a:t>
            </a:r>
            <a:r>
              <a:rPr lang="en-IN" sz="3200" b="1" dirty="0" smtClean="0"/>
              <a:t>design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Instead </a:t>
            </a:r>
            <a:r>
              <a:rPr lang="en-US" sz="3200" dirty="0"/>
              <a:t>of performing many things in one instruction (like CISC), RISC uses </a:t>
            </a:r>
            <a:r>
              <a:rPr lang="en-US" sz="3200" b="1" dirty="0"/>
              <a:t>many simple </a:t>
            </a:r>
            <a:r>
              <a:rPr lang="en-US" sz="3200" b="1" dirty="0" smtClean="0"/>
              <a:t>instructions </a:t>
            </a:r>
            <a:r>
              <a:rPr lang="en-US" sz="3200" dirty="0" smtClean="0"/>
              <a:t>to </a:t>
            </a:r>
            <a:r>
              <a:rPr lang="en-US" sz="3200" dirty="0"/>
              <a:t>perform a task.</a:t>
            </a:r>
          </a:p>
        </p:txBody>
      </p:sp>
    </p:spTree>
    <p:extLst>
      <p:ext uri="{BB962C8B-B14F-4D97-AF65-F5344CB8AC3E}">
        <p14:creationId xmlns:p14="http://schemas.microsoft.com/office/powerpoint/2010/main" val="20067882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309029"/>
            <a:ext cx="10364451" cy="900794"/>
          </a:xfrm>
        </p:spPr>
        <p:txBody>
          <a:bodyPr/>
          <a:lstStyle/>
          <a:p>
            <a:r>
              <a:rPr lang="en-IN" b="1" dirty="0"/>
              <a:t>Basic Principles of RISC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75249" y="1463267"/>
            <a:ext cx="1136200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/>
              <a:t>1. Load/Store Architecture</a:t>
            </a:r>
            <a:endParaRPr lang="en-IN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Only </a:t>
            </a:r>
            <a:r>
              <a:rPr lang="en-US" sz="3200" dirty="0"/>
              <a:t>two types of instructions can access </a:t>
            </a:r>
            <a:r>
              <a:rPr lang="en-US" sz="3200" dirty="0" smtClean="0"/>
              <a:t>memory: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LOAD</a:t>
            </a:r>
            <a:r>
              <a:rPr lang="en-US" sz="3200" dirty="0" smtClean="0"/>
              <a:t>–Transfers </a:t>
            </a:r>
            <a:r>
              <a:rPr lang="en-US" sz="3200" dirty="0"/>
              <a:t>data from memory to </a:t>
            </a:r>
            <a:r>
              <a:rPr lang="en-US" sz="3200" dirty="0" smtClean="0"/>
              <a:t>register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STORE</a:t>
            </a:r>
            <a:r>
              <a:rPr lang="en-US" sz="3200" dirty="0" smtClean="0"/>
              <a:t>–Transfers </a:t>
            </a:r>
            <a:r>
              <a:rPr lang="en-US" sz="3200" dirty="0"/>
              <a:t>data from register to </a:t>
            </a:r>
            <a:r>
              <a:rPr lang="en-US" sz="3200" dirty="0" smtClean="0"/>
              <a:t>memory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All </a:t>
            </a:r>
            <a:r>
              <a:rPr lang="en-US" sz="3200" dirty="0"/>
              <a:t>other operations are done </a:t>
            </a:r>
            <a:r>
              <a:rPr lang="en-US" sz="3200" b="1" dirty="0"/>
              <a:t>between registers</a:t>
            </a:r>
            <a:endParaRPr lang="en-US" sz="3200" dirty="0"/>
          </a:p>
          <a:p>
            <a:endParaRPr lang="en-IN" sz="3200" dirty="0"/>
          </a:p>
          <a:p>
            <a:r>
              <a:rPr lang="en-IN" sz="3200" dirty="0"/>
              <a:t>LOAD R1, A</a:t>
            </a:r>
          </a:p>
          <a:p>
            <a:r>
              <a:rPr lang="en-IN" sz="3200" dirty="0"/>
              <a:t>LOAD R2, B</a:t>
            </a:r>
          </a:p>
          <a:p>
            <a:r>
              <a:rPr lang="en-IN" sz="3200" dirty="0"/>
              <a:t>ADD  R3, R1, R2</a:t>
            </a:r>
          </a:p>
          <a:p>
            <a:r>
              <a:rPr lang="en-IN" sz="3200" dirty="0"/>
              <a:t>STORE R3, C</a:t>
            </a:r>
          </a:p>
        </p:txBody>
      </p:sp>
    </p:spTree>
    <p:extLst>
      <p:ext uri="{BB962C8B-B14F-4D97-AF65-F5344CB8AC3E}">
        <p14:creationId xmlns:p14="http://schemas.microsoft.com/office/powerpoint/2010/main" val="10843745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8978" y="224308"/>
            <a:ext cx="11268222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2. Fixed-Length </a:t>
            </a:r>
            <a:r>
              <a:rPr lang="en-IN" sz="2800" b="1" dirty="0" smtClean="0"/>
              <a:t>Instructions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All </a:t>
            </a:r>
            <a:r>
              <a:rPr lang="en-US" sz="2800" dirty="0"/>
              <a:t>instructions are </a:t>
            </a:r>
            <a:r>
              <a:rPr lang="en-US" sz="2800" b="1" dirty="0"/>
              <a:t>same length</a:t>
            </a:r>
            <a:r>
              <a:rPr lang="en-US" sz="2800" dirty="0"/>
              <a:t>(usually 32 </a:t>
            </a:r>
            <a:r>
              <a:rPr lang="en-US" sz="2800" dirty="0" smtClean="0"/>
              <a:t>bits)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This allows:</a:t>
            </a:r>
          </a:p>
          <a:p>
            <a:pPr marL="1371600" lvl="2" indent="-457200">
              <a:buFont typeface="Arial" pitchFamily="34" charset="0"/>
              <a:buChar char="•"/>
            </a:pPr>
            <a:r>
              <a:rPr lang="en-IN" sz="2800" b="1" dirty="0" smtClean="0"/>
              <a:t>Faster fetching</a:t>
            </a:r>
          </a:p>
          <a:p>
            <a:pPr marL="1371600" lvl="2" indent="-457200">
              <a:buFont typeface="Arial" pitchFamily="34" charset="0"/>
              <a:buChar char="•"/>
            </a:pPr>
            <a:r>
              <a:rPr lang="en-IN" sz="2800" b="1" dirty="0" smtClean="0"/>
              <a:t>Easier decoding</a:t>
            </a:r>
          </a:p>
          <a:p>
            <a:pPr marL="1371600" lvl="2" indent="-457200">
              <a:buFont typeface="Arial" pitchFamily="34" charset="0"/>
              <a:buChar char="•"/>
            </a:pPr>
            <a:r>
              <a:rPr lang="en-IN" sz="2800" b="1" dirty="0" smtClean="0"/>
              <a:t>Efficient pipelining</a:t>
            </a:r>
          </a:p>
          <a:p>
            <a:pPr marL="1371600" lvl="2" indent="-457200">
              <a:buFont typeface="Arial" pitchFamily="34" charset="0"/>
              <a:buChar char="•"/>
            </a:pPr>
            <a:endParaRPr lang="en-IN" sz="2800" dirty="0"/>
          </a:p>
          <a:p>
            <a:r>
              <a:rPr lang="en-US" sz="2800" b="1" dirty="0" smtClean="0"/>
              <a:t>3</a:t>
            </a:r>
            <a:r>
              <a:rPr lang="en-US" sz="2800" b="1" dirty="0"/>
              <a:t>. Large Number of Registers</a:t>
            </a: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RISC </a:t>
            </a:r>
            <a:r>
              <a:rPr lang="en-US" sz="2800" dirty="0"/>
              <a:t>processors have </a:t>
            </a:r>
            <a:r>
              <a:rPr lang="en-US" sz="2800" b="1" dirty="0"/>
              <a:t>more general-purpose </a:t>
            </a:r>
            <a:r>
              <a:rPr lang="en-US" sz="2800" b="1" dirty="0" smtClean="0"/>
              <a:t>registers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This:</a:t>
            </a:r>
          </a:p>
          <a:p>
            <a:pPr marL="1371600" lvl="2" indent="-457200">
              <a:buFont typeface="Arial" pitchFamily="34" charset="0"/>
              <a:buChar char="•"/>
            </a:pPr>
            <a:r>
              <a:rPr lang="en-IN" sz="2800" b="1" dirty="0" smtClean="0"/>
              <a:t>Reduces </a:t>
            </a:r>
            <a:r>
              <a:rPr lang="en-IN" sz="2800" b="1" dirty="0"/>
              <a:t>memory </a:t>
            </a:r>
            <a:r>
              <a:rPr lang="en-IN" sz="2800" b="1" dirty="0" smtClean="0"/>
              <a:t>access</a:t>
            </a:r>
          </a:p>
          <a:p>
            <a:pPr marL="1371600" lvl="2" indent="-457200">
              <a:buFont typeface="Arial" pitchFamily="34" charset="0"/>
              <a:buChar char="•"/>
            </a:pPr>
            <a:r>
              <a:rPr lang="en-IN" sz="2800" b="1" dirty="0" smtClean="0"/>
              <a:t>Increases </a:t>
            </a:r>
            <a:r>
              <a:rPr lang="en-IN" sz="2800" b="1" dirty="0"/>
              <a:t>speed.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142837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19" y="622385"/>
            <a:ext cx="10578905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/>
              <a:t>4. Simple Addressing Modes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Very few addressing modes (usually 3–5)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/>
              <a:t>Makes circuit design simple</a:t>
            </a:r>
          </a:p>
          <a:p>
            <a:endParaRPr lang="en-IN" sz="3200" b="1" dirty="0" smtClean="0"/>
          </a:p>
          <a:p>
            <a:r>
              <a:rPr lang="en-IN" sz="3200" b="1" dirty="0" smtClean="0"/>
              <a:t>5</a:t>
            </a:r>
            <a:r>
              <a:rPr lang="en-IN" sz="3200" b="1" dirty="0"/>
              <a:t>. Hardwired Control </a:t>
            </a:r>
            <a:r>
              <a:rPr lang="en-IN" sz="3200" b="1" dirty="0" smtClean="0"/>
              <a:t>Unit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Uses </a:t>
            </a:r>
            <a:r>
              <a:rPr lang="en-US" sz="3200" dirty="0"/>
              <a:t>a </a:t>
            </a:r>
            <a:r>
              <a:rPr lang="en-US" sz="3200" b="1" dirty="0"/>
              <a:t>hardwired control </a:t>
            </a:r>
            <a:r>
              <a:rPr lang="en-US" sz="3200" b="1" dirty="0" smtClean="0"/>
              <a:t>unit</a:t>
            </a:r>
            <a:r>
              <a:rPr lang="en-US" sz="2000" dirty="0" smtClean="0"/>
              <a:t>(</a:t>
            </a:r>
            <a:r>
              <a:rPr lang="en-US" sz="2000" dirty="0"/>
              <a:t>generates control signals using dedicated, fixed logic circuits</a:t>
            </a:r>
            <a:r>
              <a:rPr lang="en-US" sz="2000" dirty="0" smtClean="0"/>
              <a:t>)</a:t>
            </a:r>
            <a:r>
              <a:rPr lang="en-US" sz="3200" b="1" dirty="0" smtClean="0"/>
              <a:t> </a:t>
            </a:r>
            <a:r>
              <a:rPr lang="en-US" sz="3200" dirty="0" smtClean="0"/>
              <a:t>instead of microprogramming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This </a:t>
            </a:r>
            <a:r>
              <a:rPr lang="en-US" sz="3200" dirty="0"/>
              <a:t>is </a:t>
            </a:r>
            <a:r>
              <a:rPr lang="en-US" sz="3200" b="1" dirty="0"/>
              <a:t>faster and more efficient</a:t>
            </a:r>
            <a:endParaRPr lang="en-US" sz="3200" dirty="0"/>
          </a:p>
          <a:p>
            <a:endParaRPr lang="en-IN" sz="3200" dirty="0"/>
          </a:p>
          <a:p>
            <a:r>
              <a:rPr lang="en-IN" sz="3200" b="1" dirty="0"/>
              <a:t>6. Easy </a:t>
            </a:r>
            <a:r>
              <a:rPr lang="en-IN" sz="3200" b="1" dirty="0" smtClean="0"/>
              <a:t>Pipelining: </a:t>
            </a:r>
            <a:r>
              <a:rPr lang="en-US" sz="3200" dirty="0"/>
              <a:t>Pipelining is a CPU hardware design technique used to enhance overall performance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659679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10375" y="635451"/>
            <a:ext cx="767158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/>
              <a:t>Advantages of RISC</a:t>
            </a:r>
            <a:endParaRPr lang="en-IN" sz="3200" dirty="0"/>
          </a:p>
          <a:p>
            <a:r>
              <a:rPr lang="en-IN" sz="3200" dirty="0"/>
              <a:t>•Faster execution</a:t>
            </a:r>
          </a:p>
          <a:p>
            <a:r>
              <a:rPr lang="en-IN" sz="3200" dirty="0"/>
              <a:t>•Simple hardware</a:t>
            </a:r>
          </a:p>
          <a:p>
            <a:r>
              <a:rPr lang="en-IN" sz="3200" dirty="0"/>
              <a:t>•Low power consumption</a:t>
            </a:r>
          </a:p>
          <a:p>
            <a:r>
              <a:rPr lang="en-IN" sz="3200" dirty="0"/>
              <a:t>•Easy pipelining</a:t>
            </a:r>
          </a:p>
          <a:p>
            <a:r>
              <a:rPr lang="en-IN" sz="3200" dirty="0"/>
              <a:t>•Better performance per watt</a:t>
            </a:r>
          </a:p>
          <a:p>
            <a:endParaRPr lang="en-IN" sz="3200" dirty="0"/>
          </a:p>
          <a:p>
            <a:r>
              <a:rPr lang="en-IN" sz="3200" b="1" dirty="0"/>
              <a:t>Disadvantages of RISC</a:t>
            </a:r>
            <a:endParaRPr lang="en-IN" sz="3200" dirty="0"/>
          </a:p>
          <a:p>
            <a:r>
              <a:rPr lang="en-IN" sz="3200" dirty="0"/>
              <a:t>•More lines of code</a:t>
            </a:r>
          </a:p>
          <a:p>
            <a:r>
              <a:rPr lang="en-IN" sz="3200" dirty="0"/>
              <a:t>•Requires better compiler optimization</a:t>
            </a:r>
          </a:p>
          <a:p>
            <a:r>
              <a:rPr lang="en-IN" sz="3200" dirty="0"/>
              <a:t>•Higher memory usage</a:t>
            </a:r>
          </a:p>
        </p:txBody>
      </p:sp>
    </p:spTree>
    <p:extLst>
      <p:ext uri="{BB962C8B-B14F-4D97-AF65-F5344CB8AC3E}">
        <p14:creationId xmlns:p14="http://schemas.microsoft.com/office/powerpoint/2010/main" val="20538515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86814" y="886497"/>
            <a:ext cx="803734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 smtClean="0"/>
              <a:t>•</a:t>
            </a:r>
            <a:r>
              <a:rPr lang="en-IN" sz="3200" b="1" dirty="0"/>
              <a:t>Advantages of CISC</a:t>
            </a:r>
            <a:endParaRPr lang="en-IN" sz="3200" dirty="0"/>
          </a:p>
          <a:p>
            <a:r>
              <a:rPr lang="en-IN" sz="3200" dirty="0"/>
              <a:t>•Less code required</a:t>
            </a:r>
          </a:p>
          <a:p>
            <a:r>
              <a:rPr lang="en-IN" sz="3200" dirty="0"/>
              <a:t>•Easier for assembly language programming</a:t>
            </a:r>
          </a:p>
          <a:p>
            <a:r>
              <a:rPr lang="en-IN" sz="3200" dirty="0"/>
              <a:t>•More powerful single </a:t>
            </a:r>
            <a:r>
              <a:rPr lang="en-IN" sz="3200" dirty="0" smtClean="0"/>
              <a:t>instructions</a:t>
            </a:r>
          </a:p>
          <a:p>
            <a:endParaRPr lang="en-IN" sz="3200" dirty="0"/>
          </a:p>
          <a:p>
            <a:r>
              <a:rPr lang="en-IN" sz="3200" dirty="0"/>
              <a:t>•</a:t>
            </a:r>
            <a:r>
              <a:rPr lang="en-IN" sz="3200" b="1" dirty="0"/>
              <a:t>Disadvantages of CISC</a:t>
            </a:r>
            <a:endParaRPr lang="en-IN" sz="3200" dirty="0"/>
          </a:p>
          <a:p>
            <a:r>
              <a:rPr lang="en-IN" sz="3200" dirty="0"/>
              <a:t>•Complex hardware</a:t>
            </a:r>
          </a:p>
          <a:p>
            <a:r>
              <a:rPr lang="en-IN" sz="3200" dirty="0"/>
              <a:t>•Slower execution</a:t>
            </a:r>
          </a:p>
          <a:p>
            <a:r>
              <a:rPr lang="en-IN" sz="3200" dirty="0"/>
              <a:t>•High power consumption</a:t>
            </a:r>
          </a:p>
          <a:p>
            <a:r>
              <a:rPr lang="en-IN" sz="3200" dirty="0"/>
              <a:t>•Difficult pipelining</a:t>
            </a:r>
          </a:p>
        </p:txBody>
      </p:sp>
    </p:spTree>
    <p:extLst>
      <p:ext uri="{BB962C8B-B14F-4D97-AF65-F5344CB8AC3E}">
        <p14:creationId xmlns:p14="http://schemas.microsoft.com/office/powerpoint/2010/main" val="34309683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40" y="365298"/>
            <a:ext cx="10364451" cy="957065"/>
          </a:xfrm>
        </p:spPr>
        <p:txBody>
          <a:bodyPr/>
          <a:lstStyle/>
          <a:p>
            <a:r>
              <a:rPr lang="en-IN" b="1" dirty="0"/>
              <a:t>RISC </a:t>
            </a:r>
            <a:r>
              <a:rPr lang="en-IN" b="1" dirty="0" err="1"/>
              <a:t>vs</a:t>
            </a:r>
            <a:r>
              <a:rPr lang="en-IN" b="1" dirty="0"/>
              <a:t> RISC Architectures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33" t="28653" r="8501" b="10134"/>
          <a:stretch/>
        </p:blipFill>
        <p:spPr>
          <a:xfrm>
            <a:off x="872196" y="1266093"/>
            <a:ext cx="10283484" cy="5414272"/>
          </a:xfrm>
        </p:spPr>
      </p:pic>
    </p:spTree>
    <p:extLst>
      <p:ext uri="{BB962C8B-B14F-4D97-AF65-F5344CB8AC3E}">
        <p14:creationId xmlns:p14="http://schemas.microsoft.com/office/powerpoint/2010/main" val="10203822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80" t="22490" r="10811" b="13831"/>
          <a:stretch/>
        </p:blipFill>
        <p:spPr>
          <a:xfrm>
            <a:off x="970669" y="239150"/>
            <a:ext cx="10578905" cy="6187664"/>
          </a:xfrm>
        </p:spPr>
      </p:pic>
    </p:spTree>
    <p:extLst>
      <p:ext uri="{BB962C8B-B14F-4D97-AF65-F5344CB8AC3E}">
        <p14:creationId xmlns:p14="http://schemas.microsoft.com/office/powerpoint/2010/main" val="21678795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0166" y="888669"/>
            <a:ext cx="1131042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RISC </a:t>
            </a:r>
            <a:r>
              <a:rPr lang="en-US" sz="3200" dirty="0"/>
              <a:t>designs may benefit from the inclusion of some </a:t>
            </a:r>
            <a:r>
              <a:rPr lang="en-US" sz="3200" dirty="0" smtClean="0"/>
              <a:t>CISC features</a:t>
            </a: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CISC </a:t>
            </a:r>
            <a:r>
              <a:rPr lang="en-US" sz="3200" dirty="0"/>
              <a:t>designs may benefit from the inclusion of some </a:t>
            </a:r>
            <a:r>
              <a:rPr lang="en-US" sz="3200" dirty="0" smtClean="0"/>
              <a:t>RISC features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result is that the more recent RISC designs, notably </a:t>
            </a:r>
            <a:r>
              <a:rPr lang="en-US" sz="3200" dirty="0" smtClean="0"/>
              <a:t>the PowerPC</a:t>
            </a:r>
            <a:r>
              <a:rPr lang="en-US" sz="3200" dirty="0"/>
              <a:t>, are no longer “pure RISC and the more recent </a:t>
            </a:r>
            <a:r>
              <a:rPr lang="en-US" sz="3200" dirty="0" smtClean="0"/>
              <a:t>CISC designs</a:t>
            </a:r>
            <a:r>
              <a:rPr lang="en-US" sz="3200" dirty="0"/>
              <a:t>, notably the Pentium II and later Pentium models, </a:t>
            </a:r>
            <a:r>
              <a:rPr lang="en-US" sz="3200" dirty="0" smtClean="0"/>
              <a:t>do incorporate </a:t>
            </a:r>
            <a:r>
              <a:rPr lang="en-US" sz="3200" dirty="0"/>
              <a:t>some RISC characteristics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5255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591" y="0"/>
            <a:ext cx="10364451" cy="971132"/>
          </a:xfrm>
        </p:spPr>
        <p:txBody>
          <a:bodyPr/>
          <a:lstStyle/>
          <a:p>
            <a:r>
              <a:rPr lang="en-IN" b="1" dirty="0" smtClean="0"/>
              <a:t>Assembly language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773500" y="1041008"/>
            <a:ext cx="1067135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i="1" dirty="0"/>
              <a:t>Assembly language </a:t>
            </a:r>
            <a:r>
              <a:rPr lang="en-US" sz="2400" dirty="0"/>
              <a:t>is the </a:t>
            </a:r>
            <a:r>
              <a:rPr lang="en-US" sz="2400" b="1" dirty="0"/>
              <a:t>human-readable representation </a:t>
            </a:r>
            <a:r>
              <a:rPr lang="en-US" sz="2400" dirty="0"/>
              <a:t>of the </a:t>
            </a:r>
            <a:r>
              <a:rPr lang="en-US" sz="2400" dirty="0" smtClean="0"/>
              <a:t>computer’s native </a:t>
            </a:r>
            <a:r>
              <a:rPr lang="en-US" sz="2400" dirty="0"/>
              <a:t>language.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Each </a:t>
            </a:r>
            <a:r>
              <a:rPr lang="en-US" sz="2400" b="1" dirty="0"/>
              <a:t>assembly language instruction </a:t>
            </a:r>
            <a:r>
              <a:rPr lang="en-US" sz="2400" dirty="0"/>
              <a:t>specifies </a:t>
            </a:r>
            <a:r>
              <a:rPr lang="en-US" sz="2400" dirty="0" smtClean="0"/>
              <a:t>both the </a:t>
            </a:r>
            <a:r>
              <a:rPr lang="en-US" sz="2400" b="1" dirty="0"/>
              <a:t>operation</a:t>
            </a:r>
            <a:r>
              <a:rPr lang="en-US" sz="2400" dirty="0"/>
              <a:t> to perform and the </a:t>
            </a:r>
            <a:r>
              <a:rPr lang="en-US" sz="2400" b="1" dirty="0"/>
              <a:t>operands</a:t>
            </a:r>
            <a:r>
              <a:rPr lang="en-US" sz="2400" dirty="0"/>
              <a:t> on which to operate</a:t>
            </a:r>
            <a:r>
              <a:rPr lang="en-US" sz="2400" dirty="0" smtClean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Assembly language for RISC architectures is a low level </a:t>
            </a:r>
            <a:r>
              <a:rPr lang="en-US" sz="2400" dirty="0" smtClean="0"/>
              <a:t>programming language </a:t>
            </a:r>
            <a:r>
              <a:rPr lang="en-US" sz="2400" dirty="0"/>
              <a:t>that provides direct control over the processor's </a:t>
            </a:r>
            <a:r>
              <a:rPr lang="en-US" sz="2400" dirty="0" smtClean="0"/>
              <a:t>operations using </a:t>
            </a:r>
            <a:r>
              <a:rPr lang="en-US" sz="2400" dirty="0"/>
              <a:t>mnemonic codes that closely correspond to machine </a:t>
            </a:r>
            <a:r>
              <a:rPr lang="en-US" sz="2400" dirty="0" smtClean="0"/>
              <a:t>code instructions.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Mnemonics </a:t>
            </a:r>
            <a:r>
              <a:rPr lang="en-US" sz="2400" b="1" dirty="0"/>
              <a:t>and </a:t>
            </a:r>
            <a:r>
              <a:rPr lang="en-US" sz="2400" b="1" dirty="0" smtClean="0"/>
              <a:t>Operands:  </a:t>
            </a:r>
            <a:r>
              <a:rPr lang="en-US" sz="2400" b="1" dirty="0"/>
              <a:t>Each instruction is represented by </a:t>
            </a:r>
            <a:r>
              <a:rPr lang="en-US" sz="2400" b="1" dirty="0" smtClean="0"/>
              <a:t>a mnemonic</a:t>
            </a:r>
            <a:r>
              <a:rPr lang="en-US" sz="2400" dirty="0" smtClean="0"/>
              <a:t> </a:t>
            </a:r>
            <a:r>
              <a:rPr lang="en-US" sz="2400" dirty="0"/>
              <a:t>(e </a:t>
            </a:r>
            <a:r>
              <a:rPr lang="en-US" sz="2400" dirty="0" smtClean="0"/>
              <a:t>g: </a:t>
            </a:r>
            <a:r>
              <a:rPr lang="en-US" sz="2400" dirty="0"/>
              <a:t>ADD, LOAD, STORE) combined with one or </a:t>
            </a:r>
            <a:r>
              <a:rPr lang="en-US" sz="2400" dirty="0" smtClean="0"/>
              <a:t>more operands</a:t>
            </a:r>
            <a:r>
              <a:rPr lang="en-US" sz="2400" dirty="0"/>
              <a:t>, which specify the data or registers </a:t>
            </a:r>
            <a:r>
              <a:rPr lang="en-US" sz="2400" dirty="0" smtClean="0"/>
              <a:t>involved.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7421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591" y="0"/>
            <a:ext cx="10364451" cy="971132"/>
          </a:xfrm>
        </p:spPr>
        <p:txBody>
          <a:bodyPr/>
          <a:lstStyle/>
          <a:p>
            <a:r>
              <a:rPr lang="en-IN" b="1" dirty="0" smtClean="0"/>
              <a:t>Assembly language</a:t>
            </a:r>
            <a:endParaRPr lang="en-IN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55" t="52976" r="27825" b="38492"/>
          <a:stretch/>
        </p:blipFill>
        <p:spPr bwMode="auto">
          <a:xfrm>
            <a:off x="342978" y="1133500"/>
            <a:ext cx="11553594" cy="1542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202298" y="3227722"/>
            <a:ext cx="1184902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3200" dirty="0"/>
              <a:t>The first part of the assembly instruction, add, is called </a:t>
            </a:r>
            <a:r>
              <a:rPr lang="en-US" sz="3200" b="1" dirty="0" smtClean="0"/>
              <a:t>the </a:t>
            </a:r>
            <a:r>
              <a:rPr lang="en-US" sz="3200" b="1" i="1" dirty="0" smtClean="0"/>
              <a:t>mnemonic </a:t>
            </a:r>
            <a:r>
              <a:rPr lang="en-US" sz="3200" dirty="0"/>
              <a:t>and indicates </a:t>
            </a:r>
            <a:r>
              <a:rPr lang="en-US" sz="3200" b="1" dirty="0"/>
              <a:t>what operation </a:t>
            </a:r>
            <a:r>
              <a:rPr lang="en-US" sz="3200" dirty="0"/>
              <a:t>to perform. 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32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operation </a:t>
            </a:r>
            <a:r>
              <a:rPr lang="en-US" sz="3200" dirty="0" smtClean="0"/>
              <a:t>is performed </a:t>
            </a:r>
            <a:r>
              <a:rPr lang="en-US" sz="3200" dirty="0"/>
              <a:t>on b and c, </a:t>
            </a:r>
            <a:r>
              <a:rPr lang="en-US" sz="3200" b="1" dirty="0"/>
              <a:t>the </a:t>
            </a:r>
            <a:r>
              <a:rPr lang="en-US" sz="3200" b="1" i="1" dirty="0"/>
              <a:t>source operands</a:t>
            </a:r>
            <a:r>
              <a:rPr lang="en-US" sz="3200" dirty="0"/>
              <a:t>, and the result is written </a:t>
            </a:r>
            <a:r>
              <a:rPr lang="en-US" sz="3200" dirty="0" smtClean="0"/>
              <a:t>to </a:t>
            </a:r>
            <a:r>
              <a:rPr lang="en-IN" sz="3200" dirty="0" smtClean="0"/>
              <a:t>a</a:t>
            </a:r>
            <a:r>
              <a:rPr lang="en-IN" sz="3200" dirty="0"/>
              <a:t>, the </a:t>
            </a:r>
            <a:r>
              <a:rPr lang="en-IN" sz="3200" b="1" i="1" dirty="0"/>
              <a:t>destination operand</a:t>
            </a:r>
            <a:r>
              <a:rPr lang="en-IN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4416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4289" y="1657872"/>
            <a:ext cx="11216640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sz="2800" dirty="0" smtClean="0"/>
              <a:t>The </a:t>
            </a:r>
            <a:r>
              <a:rPr lang="en-US" sz="2800" b="1" dirty="0" smtClean="0"/>
              <a:t>sub </a:t>
            </a:r>
            <a:r>
              <a:rPr lang="en-US" sz="2800" b="1" dirty="0"/>
              <a:t>instruction format is the same as the add instruction</a:t>
            </a:r>
            <a:r>
              <a:rPr lang="en-US" sz="2800" dirty="0"/>
              <a:t>: </a:t>
            </a:r>
            <a:r>
              <a:rPr lang="en-US" sz="2800" dirty="0" smtClean="0"/>
              <a:t>destination operand</a:t>
            </a:r>
            <a:r>
              <a:rPr lang="en-US" sz="2800" dirty="0"/>
              <a:t>, followed by two sources</a:t>
            </a:r>
            <a:r>
              <a:rPr lang="en-US" sz="2800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800" dirty="0"/>
              <a:t>This </a:t>
            </a:r>
            <a:r>
              <a:rPr lang="en-IN" sz="2800" b="1" dirty="0"/>
              <a:t>consistent instruction format </a:t>
            </a:r>
            <a:r>
              <a:rPr lang="en-IN" sz="2800" dirty="0" smtClean="0"/>
              <a:t>is </a:t>
            </a:r>
            <a:r>
              <a:rPr lang="en-US" sz="2800" dirty="0" smtClean="0"/>
              <a:t>an </a:t>
            </a:r>
            <a:r>
              <a:rPr lang="en-US" sz="2800" dirty="0"/>
              <a:t>example of </a:t>
            </a:r>
            <a:r>
              <a:rPr lang="en-US" sz="2800" b="1" dirty="0"/>
              <a:t>the </a:t>
            </a:r>
            <a:r>
              <a:rPr lang="en-US" sz="4000" b="1" dirty="0">
                <a:solidFill>
                  <a:srgbClr val="FF0000"/>
                </a:solidFill>
              </a:rPr>
              <a:t>first design </a:t>
            </a:r>
            <a:r>
              <a:rPr lang="en-US" sz="4000" b="1" dirty="0" smtClean="0">
                <a:solidFill>
                  <a:srgbClr val="FF0000"/>
                </a:solidFill>
              </a:rPr>
              <a:t>principle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</a:rPr>
              <a:t>of computer architecture.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sz="2800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Instructions with a </a:t>
            </a:r>
            <a:r>
              <a:rPr lang="en-US" sz="2800" b="1" dirty="0"/>
              <a:t>consistent number of operands</a:t>
            </a:r>
            <a:r>
              <a:rPr lang="en-US" sz="2800" dirty="0"/>
              <a:t>—in this case, two sources and one </a:t>
            </a:r>
            <a:r>
              <a:rPr lang="en-US" sz="2800" b="1" dirty="0"/>
              <a:t>destination—are easier to encode and handle in hardware.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8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More complex high-level code translates into multiple RISC-V </a:t>
            </a:r>
            <a:r>
              <a:rPr lang="en-IN" sz="2800" dirty="0" smtClean="0"/>
              <a:t>instructions.</a:t>
            </a:r>
            <a:endParaRPr lang="en-IN" sz="2800" dirty="0"/>
          </a:p>
          <a:p>
            <a:endParaRPr lang="en-IN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89" t="60913" r="29722" b="33333"/>
          <a:stretch/>
        </p:blipFill>
        <p:spPr bwMode="auto">
          <a:xfrm>
            <a:off x="1285965" y="516931"/>
            <a:ext cx="7655111" cy="73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028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4289" y="1657872"/>
            <a:ext cx="1121664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First </a:t>
            </a:r>
            <a:r>
              <a:rPr lang="en-US" sz="4000" b="1" dirty="0">
                <a:solidFill>
                  <a:srgbClr val="FF0000"/>
                </a:solidFill>
              </a:rPr>
              <a:t>design </a:t>
            </a:r>
            <a:r>
              <a:rPr lang="en-US" sz="4000" b="1" dirty="0" smtClean="0">
                <a:solidFill>
                  <a:srgbClr val="FF0000"/>
                </a:solidFill>
              </a:rPr>
              <a:t>principle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</a:rPr>
              <a:t>of computer architecture.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4000" b="1" dirty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IN" sz="2800" dirty="0"/>
              <a:t>This </a:t>
            </a:r>
            <a:r>
              <a:rPr lang="en-IN" sz="2800" b="1" dirty="0"/>
              <a:t>consistent instruction </a:t>
            </a:r>
            <a:r>
              <a:rPr lang="en-IN" sz="2800" b="1" dirty="0" smtClean="0"/>
              <a:t>format, </a:t>
            </a:r>
            <a:r>
              <a:rPr lang="en-IN" sz="2800" dirty="0" err="1" smtClean="0"/>
              <a:t>i.e</a:t>
            </a:r>
            <a:r>
              <a:rPr lang="en-IN" sz="2800" dirty="0" smtClean="0"/>
              <a:t>; i</a:t>
            </a:r>
            <a:r>
              <a:rPr lang="en-US" sz="2800" dirty="0" err="1" smtClean="0"/>
              <a:t>nstructions</a:t>
            </a:r>
            <a:r>
              <a:rPr lang="en-US" sz="2800" dirty="0" smtClean="0"/>
              <a:t> </a:t>
            </a:r>
            <a:r>
              <a:rPr lang="en-US" sz="2800" dirty="0"/>
              <a:t>with a </a:t>
            </a:r>
            <a:r>
              <a:rPr lang="en-US" sz="2800" b="1" dirty="0"/>
              <a:t>consistent number of </a:t>
            </a:r>
            <a:r>
              <a:rPr lang="en-US" sz="2800" b="1" dirty="0" smtClean="0"/>
              <a:t>operands and are </a:t>
            </a:r>
            <a:r>
              <a:rPr lang="en-US" sz="2800" b="1" dirty="0"/>
              <a:t>easier to encode and handle in hardware.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800" dirty="0"/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28988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06" t="35863" r="28133" b="51439"/>
          <a:stretch/>
        </p:blipFill>
        <p:spPr bwMode="auto">
          <a:xfrm>
            <a:off x="762074" y="459991"/>
            <a:ext cx="10302092" cy="197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78301" y="2983637"/>
            <a:ext cx="11465169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assembly language program </a:t>
            </a:r>
            <a:r>
              <a:rPr lang="en-US" sz="2800" dirty="0" smtClean="0"/>
              <a:t>stores </a:t>
            </a:r>
            <a:r>
              <a:rPr lang="en-US" sz="2800" dirty="0"/>
              <a:t>the intermediate result (b + c) in a temporary variable t. </a:t>
            </a:r>
            <a:endParaRPr lang="en-US" sz="2800" dirty="0" smtClean="0"/>
          </a:p>
          <a:p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Using m</a:t>
            </a:r>
            <a:r>
              <a:rPr lang="en-US" sz="2800" b="1" dirty="0" smtClean="0"/>
              <a:t>ultiple assembly </a:t>
            </a:r>
            <a:r>
              <a:rPr lang="en-US" sz="2800" b="1" dirty="0"/>
              <a:t>language instructions to perform more complex </a:t>
            </a:r>
            <a:r>
              <a:rPr lang="en-US" sz="2800" b="1" dirty="0" smtClean="0"/>
              <a:t>operations</a:t>
            </a:r>
            <a:r>
              <a:rPr lang="en-US" sz="2800" dirty="0" smtClean="0"/>
              <a:t> is </a:t>
            </a:r>
            <a:r>
              <a:rPr lang="en-US" sz="2800" dirty="0"/>
              <a:t>an example of the </a:t>
            </a:r>
            <a:r>
              <a:rPr lang="en-US" sz="3600" b="1" dirty="0">
                <a:solidFill>
                  <a:srgbClr val="FF0000"/>
                </a:solidFill>
              </a:rPr>
              <a:t>second design principle of computer architecture</a:t>
            </a:r>
            <a:r>
              <a:rPr lang="en-US" sz="2400" b="1" dirty="0">
                <a:solidFill>
                  <a:srgbClr val="FF0000"/>
                </a:solidFill>
              </a:rPr>
              <a:t>: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20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8300" y="1745680"/>
            <a:ext cx="11465169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second design principle of computer architecture:</a:t>
            </a:r>
            <a:endParaRPr lang="en-US" sz="4000" dirty="0" smtClean="0"/>
          </a:p>
          <a:p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Using m</a:t>
            </a:r>
            <a:r>
              <a:rPr lang="en-US" sz="2800" b="1" dirty="0" smtClean="0"/>
              <a:t>ultiple assembly </a:t>
            </a:r>
            <a:r>
              <a:rPr lang="en-US" sz="2800" b="1" dirty="0"/>
              <a:t>language instructions to perform more complex </a:t>
            </a:r>
            <a:r>
              <a:rPr lang="en-US" sz="2800" b="1" dirty="0" smtClean="0"/>
              <a:t>operations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56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8811" y="703611"/>
            <a:ext cx="11830929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b="1" dirty="0"/>
              <a:t>RISC-V instruction set </a:t>
            </a:r>
            <a:r>
              <a:rPr lang="en-US" sz="3200" dirty="0"/>
              <a:t>makes the common case fast </a:t>
            </a:r>
            <a:r>
              <a:rPr lang="en-US" sz="3200" dirty="0" smtClean="0"/>
              <a:t>by including </a:t>
            </a:r>
            <a:r>
              <a:rPr lang="en-US" sz="3200" dirty="0"/>
              <a:t>only simple, </a:t>
            </a:r>
            <a:r>
              <a:rPr lang="en-US" sz="3200" b="1" dirty="0"/>
              <a:t>commonly used instructions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dirty="0"/>
              <a:t>number </a:t>
            </a:r>
            <a:r>
              <a:rPr lang="en-US" sz="3200" b="1" dirty="0" smtClean="0"/>
              <a:t>of instructions </a:t>
            </a:r>
            <a:r>
              <a:rPr lang="en-US" sz="3200" b="1" dirty="0"/>
              <a:t>is kept small </a:t>
            </a:r>
            <a:r>
              <a:rPr lang="en-US" sz="3200" dirty="0"/>
              <a:t>so that the hardware required to decode </a:t>
            </a:r>
            <a:r>
              <a:rPr lang="en-US" sz="3200" dirty="0" smtClean="0"/>
              <a:t>the instruction </a:t>
            </a:r>
            <a:r>
              <a:rPr lang="en-US" sz="3200" dirty="0"/>
              <a:t>and its operands can be simple, small, and fast.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More elaborate operations </a:t>
            </a:r>
            <a:r>
              <a:rPr lang="en-US" sz="3200" dirty="0"/>
              <a:t>that are </a:t>
            </a:r>
            <a:r>
              <a:rPr lang="en-US" sz="3200" b="1" dirty="0"/>
              <a:t>less common </a:t>
            </a:r>
            <a:r>
              <a:rPr lang="en-US" sz="3200" dirty="0"/>
              <a:t>are performed using </a:t>
            </a:r>
            <a:r>
              <a:rPr lang="en-US" sz="3200" b="1" dirty="0" smtClean="0"/>
              <a:t>sequences of </a:t>
            </a:r>
            <a:r>
              <a:rPr lang="en-US" sz="3200" b="1" dirty="0"/>
              <a:t>multiple simple instructions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Thus</a:t>
            </a:r>
            <a:r>
              <a:rPr lang="en-US" sz="3200" dirty="0"/>
              <a:t>, RISC-V is a </a:t>
            </a:r>
            <a:r>
              <a:rPr lang="en-US" sz="3200" b="1" i="1" dirty="0"/>
              <a:t>reduced </a:t>
            </a:r>
            <a:r>
              <a:rPr lang="en-US" sz="3200" b="1" i="1" dirty="0" smtClean="0"/>
              <a:t>instruction </a:t>
            </a:r>
            <a:r>
              <a:rPr lang="en-IN" sz="3200" b="1" i="1" dirty="0" smtClean="0"/>
              <a:t>set </a:t>
            </a:r>
            <a:r>
              <a:rPr lang="en-IN" sz="3200" b="1" i="1" dirty="0"/>
              <a:t>computer </a:t>
            </a:r>
            <a:r>
              <a:rPr lang="en-IN" sz="3200" dirty="0"/>
              <a:t>(RISC)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79240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75249" y="957833"/>
            <a:ext cx="11043139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IN" sz="3200" dirty="0"/>
              <a:t>Architectures with </a:t>
            </a:r>
            <a:r>
              <a:rPr lang="en-IN" sz="3200" b="1" dirty="0"/>
              <a:t>many </a:t>
            </a:r>
            <a:r>
              <a:rPr lang="en-IN" sz="3200" b="1" dirty="0" smtClean="0"/>
              <a:t>complex </a:t>
            </a:r>
            <a:r>
              <a:rPr lang="en-US" sz="3200" b="1" dirty="0" smtClean="0"/>
              <a:t>instructions</a:t>
            </a:r>
            <a:r>
              <a:rPr lang="en-US" sz="3200" dirty="0"/>
              <a:t>, such as Intel’s x86 architecture, are </a:t>
            </a:r>
            <a:r>
              <a:rPr lang="en-US" sz="3200" i="1" dirty="0"/>
              <a:t>complex instruction </a:t>
            </a:r>
            <a:r>
              <a:rPr lang="en-US" sz="3200" i="1" dirty="0" smtClean="0"/>
              <a:t>set </a:t>
            </a:r>
            <a:r>
              <a:rPr lang="en-IN" sz="3200" i="1" dirty="0" smtClean="0"/>
              <a:t>computers </a:t>
            </a:r>
            <a:r>
              <a:rPr lang="en-IN" sz="3200" dirty="0"/>
              <a:t>(CISC</a:t>
            </a:r>
            <a:r>
              <a:rPr lang="en-IN" sz="3200" dirty="0" smtClean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The </a:t>
            </a:r>
            <a:r>
              <a:rPr lang="en-IN" sz="3200" b="1" dirty="0"/>
              <a:t>cost of </a:t>
            </a:r>
            <a:r>
              <a:rPr lang="en-IN" sz="3200" b="1" dirty="0" smtClean="0"/>
              <a:t>implementing </a:t>
            </a:r>
            <a:r>
              <a:rPr lang="en-US" sz="3200" b="1" dirty="0" smtClean="0"/>
              <a:t>complex </a:t>
            </a:r>
            <a:r>
              <a:rPr lang="en-US" sz="3200" b="1" dirty="0"/>
              <a:t>instructions </a:t>
            </a:r>
            <a:r>
              <a:rPr lang="en-US" sz="3200" dirty="0"/>
              <a:t>in a CISC architecture is </a:t>
            </a:r>
            <a:r>
              <a:rPr lang="en-US" sz="3200" b="1" dirty="0"/>
              <a:t>added hardware </a:t>
            </a:r>
            <a:r>
              <a:rPr lang="en-US" sz="3200" b="1" dirty="0" smtClean="0"/>
              <a:t>and overhead </a:t>
            </a:r>
            <a:r>
              <a:rPr lang="en-US" sz="3200" dirty="0"/>
              <a:t>that slows down the simple instructions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A </a:t>
            </a:r>
            <a:r>
              <a:rPr lang="en-US" sz="3200" b="1" dirty="0"/>
              <a:t>RISC architecture</a:t>
            </a:r>
            <a:r>
              <a:rPr lang="en-US" sz="3200" dirty="0"/>
              <a:t>, such as RISC-V, </a:t>
            </a:r>
            <a:r>
              <a:rPr lang="en-US" sz="3200" b="1" dirty="0"/>
              <a:t>minimizes the hardware </a:t>
            </a:r>
            <a:r>
              <a:rPr lang="en-US" sz="3200" b="1" dirty="0" smtClean="0"/>
              <a:t>complexity</a:t>
            </a:r>
            <a:r>
              <a:rPr lang="en-US" sz="3200" dirty="0" smtClean="0"/>
              <a:t> and </a:t>
            </a:r>
            <a:r>
              <a:rPr lang="en-US" sz="3200" dirty="0"/>
              <a:t>the necessary </a:t>
            </a:r>
            <a:r>
              <a:rPr lang="en-US" sz="3200" dirty="0" smtClean="0"/>
              <a:t>instruction encoding </a:t>
            </a:r>
            <a:r>
              <a:rPr lang="en-US" sz="3200" dirty="0"/>
              <a:t>by keeping the set </a:t>
            </a:r>
            <a:r>
              <a:rPr lang="en-US" sz="3200" dirty="0" smtClean="0"/>
              <a:t>of </a:t>
            </a:r>
            <a:r>
              <a:rPr lang="en-IN" sz="3200" dirty="0" smtClean="0"/>
              <a:t>distinct </a:t>
            </a:r>
            <a:r>
              <a:rPr lang="en-IN" sz="3200" dirty="0"/>
              <a:t>instructions small.</a:t>
            </a:r>
          </a:p>
        </p:txBody>
      </p:sp>
    </p:spTree>
    <p:extLst>
      <p:ext uri="{BB962C8B-B14F-4D97-AF65-F5344CB8AC3E}">
        <p14:creationId xmlns:p14="http://schemas.microsoft.com/office/powerpoint/2010/main" val="394023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492831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Operands: Registers, Memory, and Constants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589260" y="1317060"/>
            <a:ext cx="11368278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An instruction operates on </a:t>
            </a:r>
            <a:r>
              <a:rPr lang="en-US" sz="3200" b="1" i="1" dirty="0" smtClean="0"/>
              <a:t>operands</a:t>
            </a:r>
            <a:r>
              <a:rPr lang="en-US" sz="3200" b="1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T</a:t>
            </a:r>
            <a:r>
              <a:rPr lang="en-IN" sz="3200" dirty="0" smtClean="0"/>
              <a:t>he variables </a:t>
            </a:r>
            <a:r>
              <a:rPr lang="en-US" sz="3200" dirty="0" smtClean="0"/>
              <a:t>a</a:t>
            </a:r>
            <a:r>
              <a:rPr lang="en-US" sz="3200" dirty="0"/>
              <a:t>, b, and c are all </a:t>
            </a:r>
            <a:r>
              <a:rPr lang="en-US" sz="3200" dirty="0" smtClean="0"/>
              <a:t>operands(above examples).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But </a:t>
            </a:r>
            <a:r>
              <a:rPr lang="en-US" sz="3200" dirty="0"/>
              <a:t>computers </a:t>
            </a:r>
            <a:r>
              <a:rPr lang="en-US" sz="3200" b="1" dirty="0"/>
              <a:t>operate on 1’s and 0’s</a:t>
            </a:r>
            <a:r>
              <a:rPr lang="en-US" sz="3200" dirty="0"/>
              <a:t>, </a:t>
            </a:r>
            <a:r>
              <a:rPr lang="en-US" sz="3200" dirty="0" smtClean="0"/>
              <a:t>not variable </a:t>
            </a:r>
            <a:r>
              <a:rPr lang="en-US" sz="3200" dirty="0"/>
              <a:t>names. </a:t>
            </a: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dirty="0"/>
              <a:t>instructions need a physical location</a:t>
            </a:r>
            <a:r>
              <a:rPr lang="en-US" sz="3200" dirty="0"/>
              <a:t> from which </a:t>
            </a:r>
            <a:r>
              <a:rPr lang="en-US" sz="3200" dirty="0" smtClean="0"/>
              <a:t>to </a:t>
            </a:r>
            <a:r>
              <a:rPr lang="en-US" sz="3200" dirty="0"/>
              <a:t>retrieve the binary data. </a:t>
            </a: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Operands </a:t>
            </a:r>
            <a:r>
              <a:rPr lang="en-US" sz="3200" dirty="0"/>
              <a:t>can be stored in </a:t>
            </a:r>
            <a:r>
              <a:rPr lang="en-US" sz="3200" b="1" dirty="0"/>
              <a:t>registers or </a:t>
            </a:r>
            <a:r>
              <a:rPr lang="en-US" sz="3200" b="1" dirty="0" smtClean="0"/>
              <a:t>memory, or </a:t>
            </a:r>
            <a:r>
              <a:rPr lang="en-US" sz="3200" b="1" dirty="0"/>
              <a:t>they may be constants stored in the instruction itself. </a:t>
            </a:r>
            <a:endParaRPr lang="en-US" sz="3200" b="1" dirty="0" smtClean="0"/>
          </a:p>
        </p:txBody>
      </p:sp>
    </p:spTree>
    <p:extLst>
      <p:ext uri="{BB962C8B-B14F-4D97-AF65-F5344CB8AC3E}">
        <p14:creationId xmlns:p14="http://schemas.microsoft.com/office/powerpoint/2010/main" val="3771479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492831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Operands: Registers, Memory, and Constants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589260" y="1317060"/>
            <a:ext cx="11368278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Computers use various </a:t>
            </a:r>
            <a:r>
              <a:rPr lang="en-US" sz="3200" dirty="0"/>
              <a:t>locations to hold operands in order to </a:t>
            </a:r>
            <a:r>
              <a:rPr lang="en-US" sz="3200" b="1" dirty="0"/>
              <a:t>optimize for speed </a:t>
            </a:r>
            <a:r>
              <a:rPr lang="en-US" sz="3200" b="1" dirty="0" smtClean="0"/>
              <a:t>and data </a:t>
            </a:r>
            <a:r>
              <a:rPr lang="en-US" sz="3200" b="1" dirty="0"/>
              <a:t>capacity</a:t>
            </a:r>
            <a:r>
              <a:rPr lang="en-US" sz="3200" dirty="0"/>
              <a:t>. </a:t>
            </a: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Operands </a:t>
            </a:r>
            <a:r>
              <a:rPr lang="en-US" sz="3200" b="1" dirty="0"/>
              <a:t>stored as constants or in registers are accessed</a:t>
            </a:r>
          </a:p>
          <a:p>
            <a:r>
              <a:rPr lang="en-US" sz="3200" b="1" dirty="0"/>
              <a:t>quickly</a:t>
            </a:r>
            <a:r>
              <a:rPr lang="en-US" sz="3200" dirty="0"/>
              <a:t>, but they hold only a </a:t>
            </a:r>
            <a:r>
              <a:rPr lang="en-US" sz="3200" b="1" dirty="0"/>
              <a:t>small amount of data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Additional data must be </a:t>
            </a:r>
            <a:r>
              <a:rPr lang="en-US" sz="3200" b="1" dirty="0" smtClean="0"/>
              <a:t>accessed from memory</a:t>
            </a:r>
            <a:r>
              <a:rPr lang="en-US" sz="3200" dirty="0" smtClean="0"/>
              <a:t>, which is </a:t>
            </a:r>
            <a:r>
              <a:rPr lang="en-US" sz="3200" b="1" dirty="0" smtClean="0"/>
              <a:t>large</a:t>
            </a:r>
            <a:r>
              <a:rPr lang="en-US" sz="3200" dirty="0" smtClean="0"/>
              <a:t> but</a:t>
            </a:r>
            <a:r>
              <a:rPr lang="en-US" sz="3200" b="1" dirty="0" smtClean="0"/>
              <a:t> slow</a:t>
            </a:r>
            <a:r>
              <a:rPr lang="en-US" sz="3200" dirty="0" smtClean="0"/>
              <a:t>.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RISC-V is called a </a:t>
            </a:r>
            <a:r>
              <a:rPr lang="en-US" sz="3200" b="1" dirty="0"/>
              <a:t>32-bit architecture </a:t>
            </a:r>
            <a:r>
              <a:rPr lang="en-US" sz="3200" dirty="0"/>
              <a:t>because it operates on 32-bit data.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39564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54283"/>
            <a:ext cx="10364451" cy="492831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Operands: </a:t>
            </a:r>
            <a:r>
              <a:rPr lang="en-US" b="1" dirty="0" smtClean="0"/>
              <a:t>Registers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0" y="684014"/>
            <a:ext cx="12051323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Instructions need to </a:t>
            </a:r>
            <a:r>
              <a:rPr lang="en-US" sz="3200" b="1" dirty="0"/>
              <a:t>access operands quickly </a:t>
            </a:r>
            <a:r>
              <a:rPr lang="en-US" sz="3200" dirty="0"/>
              <a:t>so that they can run </a:t>
            </a:r>
            <a:r>
              <a:rPr lang="en-US" sz="3200" dirty="0" smtClean="0"/>
              <a:t>fast, but </a:t>
            </a:r>
            <a:r>
              <a:rPr lang="en-US" sz="3200" dirty="0"/>
              <a:t>operands </a:t>
            </a:r>
            <a:r>
              <a:rPr lang="en-US" sz="3200" b="1" dirty="0"/>
              <a:t>stored in memory </a:t>
            </a:r>
            <a:r>
              <a:rPr lang="en-US" sz="3200" dirty="0"/>
              <a:t>take a </a:t>
            </a:r>
            <a:r>
              <a:rPr lang="en-US" sz="3200" b="1" dirty="0"/>
              <a:t>long time to retrieve</a:t>
            </a:r>
            <a:r>
              <a:rPr lang="en-US" sz="3200" dirty="0"/>
              <a:t>. </a:t>
            </a:r>
            <a:endParaRPr lang="en-US" sz="3200" dirty="0" smtClean="0"/>
          </a:p>
          <a:p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Therefore, most </a:t>
            </a:r>
            <a:r>
              <a:rPr lang="en-US" sz="3200" dirty="0"/>
              <a:t>architectures </a:t>
            </a:r>
            <a:r>
              <a:rPr lang="en-US" sz="3200" dirty="0" smtClean="0"/>
              <a:t>uses </a:t>
            </a:r>
            <a:r>
              <a:rPr lang="en-US" sz="3200" dirty="0"/>
              <a:t>a </a:t>
            </a:r>
            <a:r>
              <a:rPr lang="en-US" sz="3200" b="1" dirty="0"/>
              <a:t>small number of registers </a:t>
            </a:r>
            <a:r>
              <a:rPr lang="en-US" sz="3200" dirty="0"/>
              <a:t>that hold </a:t>
            </a:r>
            <a:r>
              <a:rPr lang="en-US" sz="3200" b="1" dirty="0" smtClean="0"/>
              <a:t>commonly used </a:t>
            </a:r>
            <a:r>
              <a:rPr lang="en-US" sz="3200" b="1" dirty="0"/>
              <a:t>operands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dirty="0"/>
              <a:t>RISC-V</a:t>
            </a:r>
            <a:r>
              <a:rPr lang="en-US" sz="3200" dirty="0"/>
              <a:t> architecture has </a:t>
            </a:r>
            <a:r>
              <a:rPr lang="en-US" sz="3200" b="1" dirty="0"/>
              <a:t>32 registers</a:t>
            </a:r>
            <a:r>
              <a:rPr lang="en-US" sz="3200" dirty="0"/>
              <a:t>, </a:t>
            </a:r>
            <a:r>
              <a:rPr lang="en-US" sz="3200" dirty="0" smtClean="0"/>
              <a:t>called the </a:t>
            </a:r>
            <a:r>
              <a:rPr lang="en-US" sz="3200" b="1" i="1" dirty="0"/>
              <a:t>register set</a:t>
            </a:r>
            <a:r>
              <a:rPr lang="en-US" sz="3200" dirty="0"/>
              <a:t>, stored in a small </a:t>
            </a:r>
            <a:r>
              <a:rPr lang="en-US" sz="3200" b="1" dirty="0" smtClean="0"/>
              <a:t>multi-ported </a:t>
            </a:r>
            <a:r>
              <a:rPr lang="en-US" sz="3200" b="1" dirty="0"/>
              <a:t>memory</a:t>
            </a:r>
            <a:r>
              <a:rPr lang="en-US" sz="3200" dirty="0"/>
              <a:t> called a </a:t>
            </a:r>
            <a:r>
              <a:rPr lang="en-US" sz="3200" b="1" i="1" dirty="0" smtClean="0"/>
              <a:t>register file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dirty="0"/>
              <a:t>fewer the registers, the faster they can be accessed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This </a:t>
            </a:r>
            <a:r>
              <a:rPr lang="en-US" sz="3200" dirty="0"/>
              <a:t>leads </a:t>
            </a:r>
            <a:r>
              <a:rPr lang="en-US" sz="3200" dirty="0" smtClean="0"/>
              <a:t>to </a:t>
            </a:r>
            <a:r>
              <a:rPr lang="en-IN" sz="3200" dirty="0" smtClean="0"/>
              <a:t>the </a:t>
            </a:r>
            <a:r>
              <a:rPr lang="en-IN" sz="4000" b="1" dirty="0">
                <a:solidFill>
                  <a:srgbClr val="FF0000"/>
                </a:solidFill>
              </a:rPr>
              <a:t>third design principle</a:t>
            </a:r>
            <a:r>
              <a:rPr lang="en-IN" sz="3200" dirty="0"/>
              <a:t>:</a:t>
            </a:r>
          </a:p>
          <a:p>
            <a:r>
              <a:rPr lang="en-US" sz="3200" b="1" dirty="0" smtClean="0"/>
              <a:t>			</a:t>
            </a:r>
            <a:r>
              <a:rPr lang="en-US" sz="3600" b="1" dirty="0" smtClean="0">
                <a:solidFill>
                  <a:srgbClr val="FF0000"/>
                </a:solidFill>
              </a:rPr>
              <a:t>Design </a:t>
            </a:r>
            <a:r>
              <a:rPr lang="en-US" sz="3600" b="1" dirty="0">
                <a:solidFill>
                  <a:srgbClr val="FF0000"/>
                </a:solidFill>
              </a:rPr>
              <a:t>Principle 3</a:t>
            </a:r>
            <a:r>
              <a:rPr lang="en-US" sz="3200" b="1" dirty="0"/>
              <a:t>: </a:t>
            </a:r>
            <a:r>
              <a:rPr lang="en-US" sz="3200" dirty="0"/>
              <a:t>Smaller is faster.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6388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54283"/>
            <a:ext cx="10364451" cy="492831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Operands: </a:t>
            </a:r>
            <a:r>
              <a:rPr lang="en-US" b="1" dirty="0" smtClean="0"/>
              <a:t>Registers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0" y="684014"/>
            <a:ext cx="1205132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add instruction with register </a:t>
            </a:r>
            <a:r>
              <a:rPr lang="en-US" sz="3200" dirty="0" smtClean="0"/>
              <a:t>operands.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variables a, b, and c are arbitrarily placed in s0, s1, and </a:t>
            </a:r>
            <a:r>
              <a:rPr lang="en-US" sz="3200" dirty="0" smtClean="0"/>
              <a:t>s2.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instruction adds </a:t>
            </a:r>
            <a:r>
              <a:rPr lang="en-US" sz="3200" dirty="0"/>
              <a:t>the 32-bit values contained in s1 (b) and s2 (c) and writes </a:t>
            </a:r>
            <a:r>
              <a:rPr lang="en-US" sz="3200" dirty="0" smtClean="0"/>
              <a:t>the 32-bit </a:t>
            </a:r>
            <a:r>
              <a:rPr lang="en-US" sz="3200" dirty="0"/>
              <a:t>result to s0 (a)</a:t>
            </a:r>
            <a:endParaRPr lang="en-US" sz="28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6706" r="26598" b="45834"/>
          <a:stretch/>
        </p:blipFill>
        <p:spPr bwMode="auto">
          <a:xfrm>
            <a:off x="500182" y="3679482"/>
            <a:ext cx="11551139" cy="2989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779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301" y="28136"/>
            <a:ext cx="9327505" cy="633508"/>
          </a:xfrm>
        </p:spPr>
        <p:txBody>
          <a:bodyPr/>
          <a:lstStyle/>
          <a:p>
            <a:pPr algn="l"/>
            <a:r>
              <a:rPr lang="en-IN" b="1" dirty="0"/>
              <a:t>The Register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45931"/>
            <a:ext cx="12192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Table 6.1 lists the name and use for each of the </a:t>
            </a:r>
            <a:r>
              <a:rPr lang="en-US" sz="3200" b="1" dirty="0"/>
              <a:t>32 RISC-V registers</a:t>
            </a:r>
            <a:r>
              <a:rPr lang="en-US" sz="3200" b="1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Registers are </a:t>
            </a:r>
            <a:r>
              <a:rPr lang="en-US" sz="3200" b="1" dirty="0"/>
              <a:t>numbered 0 to 31 </a:t>
            </a:r>
            <a:r>
              <a:rPr lang="en-US" sz="3200" dirty="0"/>
              <a:t>and are given a special name to </a:t>
            </a:r>
            <a:r>
              <a:rPr lang="en-US" sz="3200" dirty="0" smtClean="0"/>
              <a:t>indicate </a:t>
            </a:r>
            <a:r>
              <a:rPr lang="en-IN" sz="3200" dirty="0" smtClean="0"/>
              <a:t>a </a:t>
            </a:r>
            <a:r>
              <a:rPr lang="en-IN" sz="3200" dirty="0"/>
              <a:t>register’s conventional purpose</a:t>
            </a:r>
            <a:r>
              <a:rPr lang="en-IN" sz="3200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IN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IN" sz="3200" dirty="0"/>
              <a:t>Assembly instructions typically </a:t>
            </a:r>
            <a:r>
              <a:rPr lang="en-IN" sz="3200" dirty="0" smtClean="0"/>
              <a:t>use </a:t>
            </a:r>
            <a:r>
              <a:rPr lang="en-US" sz="3200" dirty="0" smtClean="0"/>
              <a:t>the </a:t>
            </a:r>
            <a:r>
              <a:rPr lang="en-US" sz="3200" dirty="0"/>
              <a:t>special name—for example</a:t>
            </a:r>
            <a:r>
              <a:rPr lang="en-US" sz="3200" b="1" dirty="0"/>
              <a:t>, s1—for clarity</a:t>
            </a:r>
            <a:r>
              <a:rPr lang="en-US" sz="3200" dirty="0"/>
              <a:t>, but they may also </a:t>
            </a:r>
            <a:r>
              <a:rPr lang="en-US" sz="3200" dirty="0" smtClean="0"/>
              <a:t>use the </a:t>
            </a:r>
            <a:r>
              <a:rPr lang="en-US" sz="3200" b="1" dirty="0"/>
              <a:t>register number (e.g., x9 </a:t>
            </a:r>
            <a:r>
              <a:rPr lang="en-US" sz="3200" dirty="0" smtClean="0"/>
              <a:t>for register </a:t>
            </a:r>
            <a:r>
              <a:rPr lang="en-US" sz="3200" dirty="0"/>
              <a:t>number 9). 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80346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09" t="17971" r="25593" b="23691"/>
          <a:stretch/>
        </p:blipFill>
        <p:spPr bwMode="auto">
          <a:xfrm>
            <a:off x="1744393" y="0"/>
            <a:ext cx="8074855" cy="6705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830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301" y="28136"/>
            <a:ext cx="9327505" cy="633508"/>
          </a:xfrm>
        </p:spPr>
        <p:txBody>
          <a:bodyPr/>
          <a:lstStyle/>
          <a:p>
            <a:pPr algn="l"/>
            <a:r>
              <a:rPr lang="en-IN" b="1" dirty="0"/>
              <a:t>The Register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45931"/>
            <a:ext cx="12192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dirty="0"/>
              <a:t>zero </a:t>
            </a:r>
            <a:r>
              <a:rPr lang="en-US" sz="3200" b="1" dirty="0" smtClean="0"/>
              <a:t>register always </a:t>
            </a:r>
            <a:r>
              <a:rPr lang="en-US" sz="3200" b="1" dirty="0"/>
              <a:t>holds the constant 0;</a:t>
            </a:r>
            <a:r>
              <a:rPr lang="en-US" sz="3200" dirty="0"/>
              <a:t> values written to it are </a:t>
            </a:r>
            <a:r>
              <a:rPr lang="en-US" sz="3200" b="1" dirty="0"/>
              <a:t>discarded</a:t>
            </a:r>
            <a:r>
              <a:rPr lang="en-US" sz="3200" dirty="0"/>
              <a:t>. </a:t>
            </a: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b="1" dirty="0" smtClean="0"/>
              <a:t>Registers s0 </a:t>
            </a:r>
            <a:r>
              <a:rPr lang="en-US" sz="3200" b="1" dirty="0"/>
              <a:t>to s11 </a:t>
            </a:r>
            <a:r>
              <a:rPr lang="en-US" sz="3200" dirty="0"/>
              <a:t>(registers 8–9 and 18–27) and </a:t>
            </a:r>
            <a:r>
              <a:rPr lang="en-US" sz="3200" b="1" dirty="0"/>
              <a:t>t0 to t6 </a:t>
            </a:r>
            <a:r>
              <a:rPr lang="en-US" sz="3200" dirty="0"/>
              <a:t>(registers 5–7 </a:t>
            </a:r>
            <a:r>
              <a:rPr lang="en-US" sz="3200" dirty="0" smtClean="0"/>
              <a:t>and 28–31</a:t>
            </a:r>
            <a:r>
              <a:rPr lang="en-US" sz="3200" dirty="0"/>
              <a:t>) are used for </a:t>
            </a:r>
            <a:r>
              <a:rPr lang="en-US" sz="3200" b="1" dirty="0"/>
              <a:t>storing variables; </a:t>
            </a:r>
            <a:endParaRPr lang="en-US" sz="3200" b="1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1600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err="1" smtClean="0"/>
              <a:t>ra</a:t>
            </a:r>
            <a:r>
              <a:rPr lang="en-US" sz="3200" dirty="0" smtClean="0"/>
              <a:t> </a:t>
            </a:r>
            <a:r>
              <a:rPr lang="en-US" sz="3200" dirty="0"/>
              <a:t>and a0 to a7 have </a:t>
            </a:r>
            <a:r>
              <a:rPr lang="en-US" sz="3200" b="1" dirty="0"/>
              <a:t>special </a:t>
            </a:r>
            <a:r>
              <a:rPr lang="en-US" sz="3200" b="1" dirty="0" smtClean="0"/>
              <a:t>uses </a:t>
            </a:r>
            <a:r>
              <a:rPr lang="en-IN" sz="3200" b="1" dirty="0" smtClean="0"/>
              <a:t>during </a:t>
            </a:r>
            <a:r>
              <a:rPr lang="en-IN" sz="3200" b="1" dirty="0"/>
              <a:t>function </a:t>
            </a:r>
            <a:r>
              <a:rPr lang="en-IN" sz="3200" b="1" dirty="0" smtClean="0"/>
              <a:t>calls</a:t>
            </a:r>
            <a:endParaRPr lang="en-IN" sz="3200" b="1" dirty="0"/>
          </a:p>
          <a:p>
            <a:endParaRPr lang="en-IN" sz="1100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Registers </a:t>
            </a:r>
            <a:r>
              <a:rPr lang="en-US" sz="3200" b="1" dirty="0"/>
              <a:t>2 to 4</a:t>
            </a:r>
            <a:r>
              <a:rPr lang="en-US" sz="3200" dirty="0"/>
              <a:t> </a:t>
            </a:r>
            <a:r>
              <a:rPr lang="en-US" sz="3200" dirty="0" smtClean="0"/>
              <a:t>are also </a:t>
            </a:r>
            <a:r>
              <a:rPr lang="en-US" sz="3200" dirty="0"/>
              <a:t>called </a:t>
            </a:r>
            <a:r>
              <a:rPr lang="en-US" sz="3200" b="1" dirty="0" err="1"/>
              <a:t>sp</a:t>
            </a:r>
            <a:r>
              <a:rPr lang="en-US" sz="3200" b="1" dirty="0"/>
              <a:t>, </a:t>
            </a:r>
            <a:r>
              <a:rPr lang="en-US" sz="3200" b="1" dirty="0" err="1"/>
              <a:t>gp</a:t>
            </a:r>
            <a:r>
              <a:rPr lang="en-US" sz="3200" b="1" dirty="0"/>
              <a:t>, and </a:t>
            </a:r>
            <a:r>
              <a:rPr lang="en-US" sz="3200" b="1" dirty="0" err="1"/>
              <a:t>tp</a:t>
            </a:r>
            <a:endParaRPr lang="en-IN" sz="32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43" t="53770" r="31730" b="20634"/>
          <a:stretch/>
        </p:blipFill>
        <p:spPr bwMode="auto">
          <a:xfrm>
            <a:off x="7257143" y="4895592"/>
            <a:ext cx="4934857" cy="1872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650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301" y="28136"/>
            <a:ext cx="9327505" cy="633508"/>
          </a:xfrm>
        </p:spPr>
        <p:txBody>
          <a:bodyPr/>
          <a:lstStyle/>
          <a:p>
            <a:pPr algn="l"/>
            <a:r>
              <a:rPr lang="en-IN" b="1" dirty="0"/>
              <a:t>Constants/</a:t>
            </a:r>
            <a:r>
              <a:rPr lang="en-IN" b="1" dirty="0" err="1"/>
              <a:t>Immediates</a:t>
            </a:r>
            <a:endParaRPr lang="en-IN" b="1" dirty="0"/>
          </a:p>
        </p:txBody>
      </p:sp>
      <p:sp>
        <p:nvSpPr>
          <p:cNvPr id="3" name="Rectangle 2"/>
          <p:cNvSpPr/>
          <p:nvPr/>
        </p:nvSpPr>
        <p:spPr>
          <a:xfrm>
            <a:off x="473612" y="922163"/>
            <a:ext cx="112307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In addition to register operations, RISC-V instructions can use </a:t>
            </a:r>
            <a:r>
              <a:rPr lang="en-US" sz="2800" dirty="0" smtClean="0"/>
              <a:t>constant or </a:t>
            </a:r>
            <a:r>
              <a:rPr lang="en-US" sz="2800" b="1" i="1" dirty="0"/>
              <a:t>immediate </a:t>
            </a:r>
            <a:r>
              <a:rPr lang="en-US" sz="2800" b="1" dirty="0" smtClean="0"/>
              <a:t>operands.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These </a:t>
            </a:r>
            <a:r>
              <a:rPr lang="en-US" sz="2800" dirty="0"/>
              <a:t>constants are called </a:t>
            </a:r>
            <a:r>
              <a:rPr lang="en-US" sz="2800" i="1" dirty="0" err="1"/>
              <a:t>immediates</a:t>
            </a:r>
            <a:r>
              <a:rPr lang="en-US" sz="2800" i="1" dirty="0"/>
              <a:t> </a:t>
            </a:r>
            <a:r>
              <a:rPr lang="en-US" sz="2800" dirty="0" smtClean="0"/>
              <a:t>because their </a:t>
            </a:r>
            <a:r>
              <a:rPr lang="en-US" sz="2800" dirty="0"/>
              <a:t>values are </a:t>
            </a:r>
            <a:r>
              <a:rPr lang="en-US" sz="2800" b="1" dirty="0"/>
              <a:t>immediately available from the instruction</a:t>
            </a:r>
            <a:r>
              <a:rPr lang="en-US" sz="2800" dirty="0"/>
              <a:t> and do </a:t>
            </a:r>
            <a:r>
              <a:rPr lang="en-US" sz="2800" dirty="0" smtClean="0"/>
              <a:t>not require </a:t>
            </a:r>
            <a:r>
              <a:rPr lang="en-US" sz="2800" dirty="0"/>
              <a:t>a register or memory access</a:t>
            </a:r>
            <a:r>
              <a:rPr lang="en-US" sz="2800" dirty="0" smtClean="0"/>
              <a:t>.</a:t>
            </a:r>
            <a:r>
              <a:rPr lang="en-IN" sz="2800" dirty="0"/>
              <a:t> </a:t>
            </a:r>
            <a:endParaRPr lang="en-IN" sz="28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IN" sz="2800" dirty="0" smtClean="0"/>
              <a:t>The add </a:t>
            </a:r>
            <a:r>
              <a:rPr lang="en-US" sz="2800" dirty="0" smtClean="0"/>
              <a:t>immediate </a:t>
            </a:r>
            <a:r>
              <a:rPr lang="en-US" sz="2800" dirty="0"/>
              <a:t>instruction, </a:t>
            </a:r>
            <a:r>
              <a:rPr lang="en-US" sz="2800" b="1" dirty="0" err="1"/>
              <a:t>addi</a:t>
            </a:r>
            <a:r>
              <a:rPr lang="en-US" sz="2800" dirty="0"/>
              <a:t>, that </a:t>
            </a:r>
            <a:r>
              <a:rPr lang="en-US" sz="2800" b="1" dirty="0"/>
              <a:t>adds an immediate to a register</a:t>
            </a:r>
            <a:r>
              <a:rPr lang="en-US" sz="2800" dirty="0"/>
              <a:t>.</a:t>
            </a:r>
            <a:endParaRPr lang="en-IN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7" t="35317" r="16001" b="41071"/>
          <a:stretch/>
        </p:blipFill>
        <p:spPr bwMode="auto">
          <a:xfrm>
            <a:off x="1103085" y="4180115"/>
            <a:ext cx="10601235" cy="2606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601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76" y="313079"/>
            <a:ext cx="11363367" cy="5961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511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123663-8E92-797A-0B1F-0326E5743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56" y="154284"/>
            <a:ext cx="10364451" cy="54910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Operands: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endParaRPr lang="en-IN" sz="4000" dirty="0"/>
          </a:p>
        </p:txBody>
      </p:sp>
      <p:sp>
        <p:nvSpPr>
          <p:cNvPr id="4" name="Rectangle 3"/>
          <p:cNvSpPr/>
          <p:nvPr/>
        </p:nvSpPr>
        <p:spPr>
          <a:xfrm>
            <a:off x="407963" y="968720"/>
            <a:ext cx="1152144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If registers were the only storage space for operands, we would be </a:t>
            </a:r>
            <a:r>
              <a:rPr lang="en-US" sz="3200" dirty="0" smtClean="0"/>
              <a:t>confined to </a:t>
            </a:r>
            <a:r>
              <a:rPr lang="en-US" sz="3200" dirty="0"/>
              <a:t>simple programs with no more than 32 variables. </a:t>
            </a:r>
            <a:endParaRPr lang="en-US" sz="28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However</a:t>
            </a:r>
            <a:r>
              <a:rPr lang="en-US" sz="3200" dirty="0"/>
              <a:t>, </a:t>
            </a:r>
            <a:r>
              <a:rPr lang="en-US" sz="3200" b="1" dirty="0" smtClean="0"/>
              <a:t>data can </a:t>
            </a:r>
            <a:r>
              <a:rPr lang="en-US" sz="3200" b="1" dirty="0"/>
              <a:t>also be stored in memory</a:t>
            </a:r>
            <a:r>
              <a:rPr lang="en-US" sz="3200" dirty="0"/>
              <a:t>. </a:t>
            </a: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Whereas </a:t>
            </a:r>
            <a:r>
              <a:rPr lang="en-US" sz="3200" b="1" dirty="0"/>
              <a:t>the register file is small and </a:t>
            </a:r>
            <a:r>
              <a:rPr lang="en-US" sz="3200" b="1" dirty="0" smtClean="0"/>
              <a:t>fast</a:t>
            </a:r>
            <a:r>
              <a:rPr lang="en-US" sz="3200" dirty="0" smtClean="0"/>
              <a:t>, memory </a:t>
            </a:r>
            <a:r>
              <a:rPr lang="en-US" sz="3200" dirty="0"/>
              <a:t>is </a:t>
            </a:r>
            <a:r>
              <a:rPr lang="en-US" sz="3200" b="1" dirty="0"/>
              <a:t>larger and </a:t>
            </a:r>
            <a:r>
              <a:rPr lang="en-US" sz="3200" b="1" dirty="0" smtClean="0"/>
              <a:t>slower</a:t>
            </a:r>
            <a:r>
              <a:rPr lang="en-US" sz="3200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/>
              <a:t>this reason, </a:t>
            </a:r>
            <a:r>
              <a:rPr lang="en-US" sz="3200" b="1" dirty="0"/>
              <a:t>frequently used </a:t>
            </a:r>
            <a:r>
              <a:rPr lang="en-US" sz="3200" b="1" dirty="0" smtClean="0"/>
              <a:t>variables </a:t>
            </a:r>
            <a:r>
              <a:rPr lang="en-IN" sz="3200" b="1" dirty="0" smtClean="0"/>
              <a:t>are </a:t>
            </a:r>
            <a:r>
              <a:rPr lang="en-IN" sz="3200" b="1" dirty="0"/>
              <a:t>kept in </a:t>
            </a:r>
            <a:r>
              <a:rPr lang="en-IN" sz="3200" b="1" dirty="0" smtClean="0"/>
              <a:t>registers.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the RISC-V architecture, instructions </a:t>
            </a:r>
            <a:r>
              <a:rPr lang="en-US" sz="3200" b="1" dirty="0" smtClean="0"/>
              <a:t>operate exclusively </a:t>
            </a:r>
            <a:r>
              <a:rPr lang="en-US" sz="3200" b="1" dirty="0"/>
              <a:t>on registers, </a:t>
            </a:r>
            <a:r>
              <a:rPr lang="en-US" sz="3200" dirty="0"/>
              <a:t>so data stored in memory must be moved to </a:t>
            </a:r>
            <a:r>
              <a:rPr lang="en-US" sz="3200" dirty="0" smtClean="0"/>
              <a:t>a register </a:t>
            </a:r>
            <a:r>
              <a:rPr lang="en-US" sz="3200" dirty="0"/>
              <a:t>before it can be processed. </a:t>
            </a: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By </a:t>
            </a:r>
            <a:r>
              <a:rPr lang="en-US" sz="3200" dirty="0"/>
              <a:t>using a combination of </a:t>
            </a:r>
            <a:r>
              <a:rPr lang="en-US" sz="3200" dirty="0" smtClean="0"/>
              <a:t>memory and </a:t>
            </a:r>
            <a:r>
              <a:rPr lang="en-US" sz="3200" dirty="0"/>
              <a:t>registers, a program can </a:t>
            </a:r>
            <a:r>
              <a:rPr lang="en-US" sz="3200" b="1" dirty="0"/>
              <a:t>access a large amount of data </a:t>
            </a:r>
            <a:r>
              <a:rPr lang="en-US" sz="3200" b="1" dirty="0" smtClean="0"/>
              <a:t> </a:t>
            </a:r>
            <a:r>
              <a:rPr lang="en-US" sz="3200" b="1" dirty="0"/>
              <a:t>quickly</a:t>
            </a:r>
            <a:r>
              <a:rPr lang="en-US" sz="3200" dirty="0"/>
              <a:t>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79312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8EA6DE-7CB5-F397-6AB2-2727022F9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01" y="0"/>
            <a:ext cx="10364452" cy="6344529"/>
          </a:xfrm>
        </p:spPr>
        <p:txBody>
          <a:bodyPr>
            <a:noAutofit/>
          </a:bodyPr>
          <a:lstStyle/>
          <a:p>
            <a:r>
              <a:rPr lang="en-US" sz="2400" cap="none" dirty="0" smtClean="0"/>
              <a:t>RISC-V uses a </a:t>
            </a:r>
            <a:r>
              <a:rPr lang="en-US" sz="2400" b="1" i="1" cap="none" dirty="0" smtClean="0"/>
              <a:t>byte-addressable </a:t>
            </a:r>
            <a:r>
              <a:rPr lang="en-US" sz="2400" b="1" cap="none" dirty="0" smtClean="0"/>
              <a:t>memory</a:t>
            </a:r>
            <a:r>
              <a:rPr lang="en-US" sz="2400" cap="none" dirty="0" smtClean="0"/>
              <a:t>. That is, each byte in memory has a unique address</a:t>
            </a:r>
            <a:r>
              <a:rPr lang="en-US" sz="2400" dirty="0" smtClean="0"/>
              <a:t>,</a:t>
            </a:r>
            <a:endParaRPr lang="en-US" sz="2400" cap="non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32-bit word consists of four 8-bit bytes, so each word address is a multiple of 4. each data word is 4 bytes, so the word address is four times the word number. Word number 0 is at address 0, word 1 is at address 4, word 2 at address 8, and so on.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b="1" dirty="0"/>
              <a:t>RISC-V byte addressable memory showing:</a:t>
            </a:r>
            <a:endParaRPr lang="en-IN" dirty="0"/>
          </a:p>
          <a:p>
            <a:r>
              <a:rPr lang="en-US" b="1" dirty="0"/>
              <a:t>(a) byte address and (b) data</a:t>
            </a:r>
            <a:endParaRPr lang="en-IN" dirty="0"/>
          </a:p>
          <a:p>
            <a:endParaRPr lang="en-IN" dirty="0"/>
          </a:p>
        </p:txBody>
      </p:sp>
      <p:pic>
        <p:nvPicPr>
          <p:cNvPr id="6" name="Image 11" descr="Screen Clipping">
            <a:extLst>
              <a:ext uri="{FF2B5EF4-FFF2-40B4-BE49-F238E27FC236}">
                <a16:creationId xmlns:a16="http://schemas.microsoft.com/office/drawing/2014/main" xmlns="" id="{BC7C9EB6-C051-0885-8569-245487EEDB63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70777" y="2896493"/>
            <a:ext cx="5685073" cy="206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15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7286" y="1011910"/>
            <a:ext cx="1167618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+mj-lt"/>
              </a:rPr>
              <a:t>The </a:t>
            </a:r>
            <a:r>
              <a:rPr lang="en-US" sz="2800" b="1" i="1" dirty="0">
                <a:latin typeface="+mj-lt"/>
              </a:rPr>
              <a:t>load word </a:t>
            </a:r>
            <a:r>
              <a:rPr lang="en-US" sz="2800" b="1" dirty="0">
                <a:latin typeface="+mj-lt"/>
              </a:rPr>
              <a:t>instruction, </a:t>
            </a:r>
            <a:r>
              <a:rPr lang="en-US" sz="2800" b="1" dirty="0" err="1">
                <a:latin typeface="+mj-lt"/>
              </a:rPr>
              <a:t>lw</a:t>
            </a:r>
            <a:r>
              <a:rPr lang="en-US" sz="2800" b="1" dirty="0">
                <a:latin typeface="+mj-lt"/>
              </a:rPr>
              <a:t>, </a:t>
            </a:r>
            <a:r>
              <a:rPr lang="en-US" sz="2800" dirty="0">
                <a:latin typeface="+mj-lt"/>
              </a:rPr>
              <a:t>reads a data word from memory </a:t>
            </a:r>
            <a:r>
              <a:rPr lang="en-US" sz="2800" dirty="0" smtClean="0">
                <a:latin typeface="+mj-lt"/>
              </a:rPr>
              <a:t>into </a:t>
            </a:r>
            <a:r>
              <a:rPr lang="en-IN" sz="2800" dirty="0" smtClean="0">
                <a:latin typeface="+mj-lt"/>
              </a:rPr>
              <a:t>a register</a:t>
            </a:r>
          </a:p>
          <a:p>
            <a:pPr marL="285750" indent="-285750">
              <a:buFont typeface="Arial" pitchFamily="34" charset="0"/>
              <a:buChar char="•"/>
            </a:pPr>
            <a:endParaRPr lang="en-IN" sz="2800" dirty="0" smtClean="0">
              <a:latin typeface="+mj-lt"/>
            </a:endParaRPr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The </a:t>
            </a:r>
            <a:r>
              <a:rPr lang="en-US" sz="2800" dirty="0" err="1">
                <a:latin typeface="+mj-lt"/>
                <a:cs typeface="Times New Roman" panose="02020603050405020304" pitchFamily="18" charset="0"/>
              </a:rPr>
              <a:t>lw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 (Load Word) instruction is used to 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load a 32-bit word (4 bytes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) from memory into a register</a:t>
            </a:r>
            <a:r>
              <a:rPr lang="en-US" sz="2800" dirty="0" smtClean="0">
                <a:latin typeface="+mj-lt"/>
                <a:cs typeface="Times New Roman" panose="02020603050405020304" pitchFamily="18" charset="0"/>
              </a:rPr>
              <a:t>.</a:t>
            </a:r>
          </a:p>
          <a:p>
            <a:pPr lvl="0"/>
            <a:endParaRPr lang="en-US" sz="2800" dirty="0" smtClean="0"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>
                <a:latin typeface="+mj-lt"/>
              </a:rPr>
              <a:t>The </a:t>
            </a:r>
            <a:r>
              <a:rPr lang="en-US" sz="2800" dirty="0" err="1">
                <a:latin typeface="+mj-lt"/>
              </a:rPr>
              <a:t>lw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smtClean="0">
                <a:latin typeface="+mj-lt"/>
              </a:rPr>
              <a:t>instruction specifies </a:t>
            </a:r>
            <a:r>
              <a:rPr lang="en-US" sz="2800" dirty="0">
                <a:latin typeface="+mj-lt"/>
              </a:rPr>
              <a:t>the </a:t>
            </a:r>
            <a:r>
              <a:rPr lang="en-US" sz="2800" b="1" dirty="0">
                <a:latin typeface="+mj-lt"/>
              </a:rPr>
              <a:t>memory address using an </a:t>
            </a:r>
            <a:r>
              <a:rPr lang="en-US" sz="2800" b="1" i="1" dirty="0">
                <a:latin typeface="+mj-lt"/>
              </a:rPr>
              <a:t>offset </a:t>
            </a:r>
            <a:r>
              <a:rPr lang="en-US" sz="2800" b="1" dirty="0">
                <a:latin typeface="+mj-lt"/>
              </a:rPr>
              <a:t>added to a </a:t>
            </a:r>
            <a:r>
              <a:rPr lang="en-US" sz="2800" b="1" i="1" dirty="0">
                <a:latin typeface="+mj-lt"/>
              </a:rPr>
              <a:t>base </a:t>
            </a:r>
            <a:r>
              <a:rPr lang="en-US" sz="2800" b="1" i="1" dirty="0" smtClean="0">
                <a:latin typeface="+mj-lt"/>
              </a:rPr>
              <a:t>register</a:t>
            </a:r>
            <a:r>
              <a:rPr lang="en-US" sz="2800" b="1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800" dirty="0"/>
          </a:p>
          <a:p>
            <a:pPr marL="285750" indent="-285750">
              <a:buFont typeface="Arial" pitchFamily="34" charset="0"/>
              <a:buChar char="•"/>
            </a:pPr>
            <a:endParaRPr lang="en-US" sz="2800" dirty="0" smtClean="0"/>
          </a:p>
        </p:txBody>
      </p:sp>
      <p:sp>
        <p:nvSpPr>
          <p:cNvPr id="5" name="Rectangle 4"/>
          <p:cNvSpPr/>
          <p:nvPr/>
        </p:nvSpPr>
        <p:spPr>
          <a:xfrm>
            <a:off x="909711" y="365760"/>
            <a:ext cx="4406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:330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2762" y="317252"/>
            <a:ext cx="1137138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: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lw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destination, offset(base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offset(rs1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← Memory[ rs1 + offset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destination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</a:p>
          <a:p>
            <a:pPr lvl="0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rs1 → base address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</a:p>
          <a:p>
            <a:pPr lvl="0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 →offset is a constant value (immediate) used along with a base register to calculate a memory address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61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70560" y="3628500"/>
            <a:ext cx="1047105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The example, loads </a:t>
            </a:r>
            <a:r>
              <a:rPr lang="en-US" sz="2800" dirty="0"/>
              <a:t>memory word 2, located at </a:t>
            </a:r>
            <a:r>
              <a:rPr lang="en-US" sz="2800" dirty="0" smtClean="0"/>
              <a:t>address 8</a:t>
            </a:r>
            <a:r>
              <a:rPr lang="en-US" sz="2800" dirty="0"/>
              <a:t>, into a (s7</a:t>
            </a:r>
            <a:r>
              <a:rPr lang="en-US" sz="2800" dirty="0" smtClean="0"/>
              <a:t>).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In </a:t>
            </a:r>
            <a:r>
              <a:rPr lang="en-US" sz="2800" dirty="0"/>
              <a:t>this example, the base </a:t>
            </a:r>
            <a:r>
              <a:rPr lang="en-US" sz="2800" dirty="0" smtClean="0"/>
              <a:t>register, zero</a:t>
            </a:r>
            <a:r>
              <a:rPr lang="en-US" sz="2800" dirty="0"/>
              <a:t>, is added to the offset, 8, to get address 8, or word 2. </a:t>
            </a:r>
            <a:endParaRPr lang="en-US" sz="28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After </a:t>
            </a:r>
            <a:r>
              <a:rPr lang="en-US" sz="2800" dirty="0"/>
              <a:t>the </a:t>
            </a:r>
            <a:r>
              <a:rPr lang="en-US" sz="2800" dirty="0" smtClean="0"/>
              <a:t>load word </a:t>
            </a:r>
            <a:r>
              <a:rPr lang="en-US" sz="2800" dirty="0"/>
              <a:t>instruction (</a:t>
            </a:r>
            <a:r>
              <a:rPr lang="en-US" sz="2800" dirty="0" err="1"/>
              <a:t>lw</a:t>
            </a:r>
            <a:r>
              <a:rPr lang="en-US" sz="2800" dirty="0"/>
              <a:t>) is </a:t>
            </a:r>
            <a:r>
              <a:rPr lang="en-US" sz="2800" dirty="0" smtClean="0"/>
              <a:t>executed, </a:t>
            </a:r>
            <a:r>
              <a:rPr lang="en-US" sz="2800" dirty="0"/>
              <a:t>s7 holds </a:t>
            </a:r>
            <a:r>
              <a:rPr lang="en-US" sz="2800" dirty="0" smtClean="0"/>
              <a:t>the value </a:t>
            </a:r>
            <a:r>
              <a:rPr lang="en-US" sz="2800" dirty="0"/>
              <a:t>0x01EE2842, which is the data </a:t>
            </a:r>
            <a:r>
              <a:rPr lang="en-US" sz="2800" dirty="0" smtClean="0"/>
              <a:t>value stored </a:t>
            </a:r>
            <a:r>
              <a:rPr lang="en-US" sz="2800" dirty="0"/>
              <a:t>at memory address </a:t>
            </a:r>
            <a:r>
              <a:rPr lang="en-US" sz="2800" dirty="0" smtClean="0"/>
              <a:t>8</a:t>
            </a:r>
            <a:endParaRPr lang="en-IN" sz="2800" dirty="0"/>
          </a:p>
        </p:txBody>
      </p:sp>
      <p:sp>
        <p:nvSpPr>
          <p:cNvPr id="5" name="Rectangle 4"/>
          <p:cNvSpPr/>
          <p:nvPr/>
        </p:nvSpPr>
        <p:spPr>
          <a:xfrm>
            <a:off x="909711" y="261610"/>
            <a:ext cx="4406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:330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86" t="32341" r="28495" b="58334"/>
          <a:stretch/>
        </p:blipFill>
        <p:spPr bwMode="auto">
          <a:xfrm>
            <a:off x="2887956" y="931077"/>
            <a:ext cx="9120061" cy="1789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1" t="32341" r="61512" b="58334"/>
          <a:stretch/>
        </p:blipFill>
        <p:spPr bwMode="auto">
          <a:xfrm>
            <a:off x="0" y="931077"/>
            <a:ext cx="2771706" cy="1497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668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232991-1619-984B-C2B3-13F2DBA4D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692" y="411684"/>
            <a:ext cx="10364452" cy="62986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MEMORY</a:t>
            </a:r>
            <a:endParaRPr lang="en-IN" sz="24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400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lw</a:t>
            </a:r>
            <a:r>
              <a:rPr lang="en-US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x5, 8(x10)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address = x10 + 8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4 bytes from that memory location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value into register </a:t>
            </a:r>
            <a:r>
              <a:rPr lang="en-US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x5</a:t>
            </a:r>
          </a:p>
          <a:p>
            <a:pPr lvl="1"/>
            <a:endParaRPr lang="en-US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400" b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a word of data at memory address 1 into </a:t>
            </a:r>
            <a:r>
              <a:rPr lang="en-US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s3</a:t>
            </a:r>
          </a:p>
          <a:p>
            <a:pPr marL="0" indent="0">
              <a:buNone/>
            </a:pP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code</a:t>
            </a: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lw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s3, 1(zero) # read memory word 1 into </a:t>
            </a:r>
            <a:r>
              <a:rPr lang="en-US" sz="28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s3</a:t>
            </a: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0152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6259EC-8466-80CA-859C-1ED5E5982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68813"/>
            <a:ext cx="10364451" cy="9144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MEMORY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853439" y="1267323"/>
            <a:ext cx="1097748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i="1" dirty="0"/>
              <a:t>store wor</a:t>
            </a:r>
            <a:r>
              <a:rPr lang="en-US" sz="2800" i="1" dirty="0"/>
              <a:t>d </a:t>
            </a:r>
            <a:r>
              <a:rPr lang="en-US" sz="2800" dirty="0"/>
              <a:t>instruction, </a:t>
            </a:r>
            <a:r>
              <a:rPr lang="en-US" sz="2800" b="1" dirty="0" err="1"/>
              <a:t>sw</a:t>
            </a:r>
            <a:r>
              <a:rPr lang="en-US" sz="2800" dirty="0"/>
              <a:t>, writes a data word from a </a:t>
            </a:r>
            <a:r>
              <a:rPr lang="en-US" sz="2800" dirty="0" smtClean="0"/>
              <a:t>register into </a:t>
            </a:r>
            <a:r>
              <a:rPr lang="en-US" sz="2800" dirty="0"/>
              <a:t>memory. </a:t>
            </a:r>
            <a:endParaRPr lang="en-US" sz="28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Example </a:t>
            </a:r>
            <a:r>
              <a:rPr lang="en-US" sz="2800" dirty="0"/>
              <a:t>writes the value 42 from register </a:t>
            </a:r>
            <a:r>
              <a:rPr lang="en-US" sz="2800" dirty="0" smtClean="0"/>
              <a:t>t3 into </a:t>
            </a:r>
            <a:r>
              <a:rPr lang="en-US" sz="2800" dirty="0"/>
              <a:t>memory word 5, located at address 20.</a:t>
            </a:r>
            <a:endParaRPr lang="en-IN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41" t="35714" r="15666" b="57342"/>
          <a:stretch/>
        </p:blipFill>
        <p:spPr bwMode="auto">
          <a:xfrm>
            <a:off x="572084" y="4067943"/>
            <a:ext cx="11258844" cy="1267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318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6259EC-8466-80CA-859C-1ED5E5982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91531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MEMORY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408BB8-FC10-8646-9BAA-48FDD9BB3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575582"/>
            <a:ext cx="10364452" cy="4215618"/>
          </a:xfrm>
        </p:spPr>
        <p:txBody>
          <a:bodyPr>
            <a:normAutofit/>
          </a:bodyPr>
          <a:lstStyle/>
          <a:p>
            <a:r>
              <a:rPr lang="en-US" sz="2400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rs2, offset(rs1)	</a:t>
            </a:r>
          </a:p>
          <a:p>
            <a:r>
              <a:rPr lang="en-US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rs2 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Memory[rs1 + offset]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rs2 (register containing the data)</a:t>
            </a:r>
            <a:endParaRPr lang="en-IN" sz="24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Destination: Memory[ rs1 + offset ] (memory location)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→ Destination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0385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DC9F8A-0832-744A-119F-7C0A961C9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707923"/>
            <a:ext cx="10364452" cy="5083277"/>
          </a:xfrm>
        </p:spPr>
        <p:txBody>
          <a:bodyPr/>
          <a:lstStyle/>
          <a:p>
            <a:pPr marL="0" indent="0">
              <a:buNone/>
            </a:pPr>
            <a:r>
              <a:rPr lang="en-US" sz="2600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6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x5, 8(x10</a:t>
            </a:r>
            <a:r>
              <a:rPr lang="en-US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en-US" sz="28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x5 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Memory[ x10 + 8 ]</a:t>
            </a: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400" cap="non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2400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store 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held in t7into memory address 0x10 </a:t>
            </a:r>
          </a:p>
          <a:p>
            <a:pPr lvl="2"/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t7, 0x10(zero)	# write t7 into address 16</a:t>
            </a: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8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t7 holds 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0xAABBCCDD, then after the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completes, at address 0x10 in memory will contain that value</a:t>
            </a: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29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6E2E9A-3345-C6DC-C838-AEB9C3832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06279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12-Bit Constants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8EB1E0-459F-0735-30C8-D5221F491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498739"/>
            <a:ext cx="10364452" cy="4691046"/>
          </a:xfrm>
        </p:spPr>
        <p:txBody>
          <a:bodyPr/>
          <a:lstStyle/>
          <a:p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12-bit signed constants (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immediates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using </a:t>
            </a:r>
            <a:r>
              <a:rPr lang="en-US" sz="28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</a:t>
            </a:r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6000" cap="none" dirty="0"/>
          </a:p>
          <a:p>
            <a:endParaRPr lang="en-IN" dirty="0"/>
          </a:p>
        </p:txBody>
      </p:sp>
      <p:pic>
        <p:nvPicPr>
          <p:cNvPr id="4" name="Image 13" descr="Screen Clipping">
            <a:extLst>
              <a:ext uri="{FF2B5EF4-FFF2-40B4-BE49-F238E27FC236}">
                <a16:creationId xmlns:a16="http://schemas.microsoft.com/office/drawing/2014/main" xmlns="" id="{1B0CBE1C-ED39-7164-5345-0EFA42140F50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3773" y="2213610"/>
            <a:ext cx="8095615" cy="1215390"/>
          </a:xfrm>
          <a:prstGeom prst="rect">
            <a:avLst/>
          </a:prstGeom>
        </p:spPr>
      </p:pic>
      <p:pic>
        <p:nvPicPr>
          <p:cNvPr id="5" name="Image 14" descr="Screen Clipping">
            <a:extLst>
              <a:ext uri="{FF2B5EF4-FFF2-40B4-BE49-F238E27FC236}">
                <a16:creationId xmlns:a16="http://schemas.microsoft.com/office/drawing/2014/main" xmlns="" id="{C6BFE516-98AF-876F-6618-BA3C501CEFA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773" y="3729328"/>
            <a:ext cx="8095615" cy="218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65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0322AC-BFD5-1F0A-542E-E9EE86221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95464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32-bit Constants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D312CB-EF1F-E2CB-2754-C335B312B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288026"/>
            <a:ext cx="10364452" cy="4503175"/>
          </a:xfrm>
        </p:spPr>
        <p:txBody>
          <a:bodyPr/>
          <a:lstStyle/>
          <a:p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larger constants, use a 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upper immediate 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by an add immediate instruction 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 loads a 20-bit immediate into the most significant 20 bits of the instruction and places zeros in the least significant bits.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Image 15" descr="Screen Clipping">
            <a:extLst>
              <a:ext uri="{FF2B5EF4-FFF2-40B4-BE49-F238E27FC236}">
                <a16:creationId xmlns:a16="http://schemas.microsoft.com/office/drawing/2014/main" xmlns="" id="{50E34306-0437-F5F6-E04B-A4A7522832B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86394" y="3539613"/>
            <a:ext cx="8796655" cy="1490980"/>
          </a:xfrm>
          <a:prstGeom prst="rect">
            <a:avLst/>
          </a:prstGeom>
        </p:spPr>
      </p:pic>
      <p:pic>
        <p:nvPicPr>
          <p:cNvPr id="5" name="Image 16" descr="Screen Clipping">
            <a:extLst>
              <a:ext uri="{FF2B5EF4-FFF2-40B4-BE49-F238E27FC236}">
                <a16:creationId xmlns:a16="http://schemas.microsoft.com/office/drawing/2014/main" xmlns="" id="{53D1C3A8-400E-5AAB-DA1E-8DE76FB92B81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41170" y="5243513"/>
            <a:ext cx="758253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5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F41757-0B31-F11A-31DC-ECBD730A3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422" y="1308296"/>
            <a:ext cx="11605845" cy="5017476"/>
          </a:xfrm>
        </p:spPr>
        <p:txBody>
          <a:bodyPr>
            <a:normAutofit/>
          </a:bodyPr>
          <a:lstStyle/>
          <a:p>
            <a:pPr lvl="0" fontAlgn="base"/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Assembler directives guide the assembler in </a:t>
            </a: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allocating and initializing global variables, defining constants, and differentiating between code and data.</a:t>
            </a:r>
          </a:p>
          <a:p>
            <a:pPr lvl="0" fontAlgn="base"/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/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Assembler directives are </a:t>
            </a: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 for the assembler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itself</a:t>
            </a: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instructions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executed by the CPU. They help manage the assembly process.</a:t>
            </a:r>
          </a:p>
          <a:p>
            <a:pPr lvl="0" fontAlgn="base"/>
            <a:endParaRPr lang="en-US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/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Assembler directives (also called pseudo-ops) do NOT generate machine instructions. They tell the 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assembler how to organize memory</a:t>
            </a:r>
            <a:endParaRPr lang="en-IN" sz="24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F7419A18-DC91-D2A4-C3A7-72A11AC81E5A}"/>
              </a:ext>
            </a:extLst>
          </p:cNvPr>
          <p:cNvSpPr txBox="1">
            <a:spLocks/>
          </p:cNvSpPr>
          <p:nvPr/>
        </p:nvSpPr>
        <p:spPr>
          <a:xfrm>
            <a:off x="1040384" y="425752"/>
            <a:ext cx="10364452" cy="88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Assembler Directives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891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5EC268-3443-6272-01CC-64D8F97F1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570271"/>
            <a:ext cx="10364452" cy="5220929"/>
          </a:xfrm>
        </p:spPr>
        <p:txBody>
          <a:bodyPr>
            <a:normAutofit lnSpcReduction="10000"/>
          </a:bodyPr>
          <a:lstStyle/>
          <a:p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.data, .text, .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bss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.section .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rodata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assembler directives tell the assembler to place the proceeding data or code in the global data, text (code), BSS, or read-only data (.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rodata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segments of memory, respectively. </a:t>
            </a:r>
          </a:p>
          <a:p>
            <a:pPr marL="0" indent="0">
              <a:buNone/>
            </a:pP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BSS segment is located in the global data segment but is initialized to zero.</a:t>
            </a:r>
          </a:p>
          <a:p>
            <a:pPr marL="0" indent="0">
              <a:buNone/>
            </a:pP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The read-only data segment is constant data that is placed in the text segment (i.e., in the program memory).</a:t>
            </a:r>
          </a:p>
          <a:p>
            <a:pPr marL="0" indent="0">
              <a:buNone/>
            </a:pP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.text → Stores executable instructions </a:t>
            </a:r>
          </a:p>
          <a:p>
            <a:pPr marL="0" indent="0">
              <a:buNone/>
            </a:pP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.data → Stores initialized global variables </a:t>
            </a:r>
          </a:p>
          <a:p>
            <a:pPr marL="0" indent="0">
              <a:buNone/>
            </a:pP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.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bss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→Stores uninitialized global variables (set to 0) </a:t>
            </a:r>
          </a:p>
          <a:p>
            <a:pPr marL="0" indent="0">
              <a:buNone/>
            </a:pP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.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rodata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Stores constants (read-only data)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277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E5D78E-F425-E0A8-692E-80AEA4C82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directives include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36D21E-C2E1-3B99-5F59-D88CF2A58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2096085"/>
            <a:ext cx="11296357" cy="3695115"/>
          </a:xfrm>
        </p:spPr>
        <p:txBody>
          <a:bodyPr>
            <a:normAutofit/>
          </a:bodyPr>
          <a:lstStyle/>
          <a:p>
            <a:pPr lvl="0" fontAlgn="base"/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.data: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the start of a data segment where variables are defined and initialized. </a:t>
            </a:r>
          </a:p>
          <a:p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.text: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the beginning of the section containing executable instructions.</a:t>
            </a:r>
          </a:p>
          <a:p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globl</a:t>
            </a: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Declares a symbol (label) as global, allowing it to be used by other assembly modules. </a:t>
            </a:r>
          </a:p>
          <a:p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.word, .byte, .space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Used to allocate and initialize memory storage for data of specific sizes or reserve uninitialized space.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end: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the end of the source code file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33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F03EEB7B-4DA5-5833-DA17-46079EB48C1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876" y="0"/>
            <a:ext cx="10940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166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161AE6-ADD5-9A29-01B7-3C6A4051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915315"/>
          </a:xfrm>
        </p:spPr>
        <p:txBody>
          <a:bodyPr>
            <a:normAutofit fontScale="90000"/>
          </a:bodyPr>
          <a:lstStyle/>
          <a:p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Assembling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BFD826-F182-A7E5-2084-C73D20DC1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229032"/>
            <a:ext cx="10364452" cy="4562169"/>
          </a:xfrm>
        </p:spPr>
        <p:txBody>
          <a:bodyPr>
            <a:normAutofit/>
          </a:bodyPr>
          <a:lstStyle/>
          <a:p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400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assembler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turns the </a:t>
            </a: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 code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an </a:t>
            </a:r>
            <a:r>
              <a:rPr lang="en-IN" sz="2400" b="1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file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containing machine language code.</a:t>
            </a:r>
          </a:p>
          <a:p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 → Assembler → Machine language.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programmer writes a program in assembly language using </a:t>
            </a:r>
            <a:r>
              <a:rPr lang="en-IN" sz="24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mnemonics and directives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Assembler:	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assembler </a:t>
            </a:r>
            <a:r>
              <a:rPr lang="en-IN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reads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source file and performs the translation.</a:t>
            </a:r>
          </a:p>
          <a:p>
            <a:r>
              <a:rPr lang="en-IN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400" b="1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mnemonics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their </a:t>
            </a:r>
            <a:r>
              <a:rPr lang="en-IN" sz="2400" b="1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 binary machine code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(opcodes) and uses the directives to </a:t>
            </a: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memory allocation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program structure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47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F78D50-7CC0-E4C0-F72F-4043A5F55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619433"/>
            <a:ext cx="10364452" cy="5171768"/>
          </a:xfrm>
        </p:spPr>
        <p:txBody>
          <a:bodyPr/>
          <a:lstStyle/>
          <a:p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File Generation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output of the assembler is an object file, which contains </a:t>
            </a: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code and information about symbols and data locations</a:t>
            </a:r>
            <a:r>
              <a:rPr lang="en-IN" sz="2400" b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Linking: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linker combines </a:t>
            </a:r>
            <a:r>
              <a:rPr lang="en-IN" sz="2400" b="1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object files </a:t>
            </a:r>
            <a:r>
              <a:rPr lang="en-IN" sz="24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necessary </a:t>
            </a:r>
            <a:r>
              <a:rPr lang="en-IN" sz="2400" b="1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libraries </a:t>
            </a:r>
            <a:r>
              <a:rPr lang="en-IN" sz="24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 a single,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executable program</a:t>
            </a:r>
            <a:r>
              <a:rPr lang="en-IN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Execution: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executable file is loaded into memory and run by the processor.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015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91C974-E714-8B0F-A1B7-C7BF0B846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403123"/>
            <a:ext cx="10364452" cy="5388077"/>
          </a:xfrm>
        </p:spPr>
        <p:txBody>
          <a:bodyPr/>
          <a:lstStyle/>
          <a:p>
            <a:pPr marL="0" indent="0">
              <a:buNone/>
            </a:pPr>
            <a:r>
              <a:rPr lang="en-IN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source.s</a:t>
            </a: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Assembler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object.o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Linker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Executable file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291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01287BC-E095-6371-89C6-F8754C92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0B08ADB-CB14-F8CD-91BE-0C79230364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03D57D-D18C-BB8E-BB0F-704E05CA6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2" y="609599"/>
            <a:ext cx="4815257" cy="1019175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000" b="1" dirty="0">
                <a:latin typeface="CIDFont+F3"/>
              </a:rPr>
              <a:t>Programming concepts </a:t>
            </a:r>
            <a:r>
              <a:rPr lang="en-US" sz="4000" dirty="0">
                <a:latin typeface="CIDFont+F3"/>
              </a:rPr>
              <a:t>-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xmlns="" id="{5733DD74-E373-7CE4-E807-34940BF64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400" dirty="0">
                <a:latin typeface="CIDFont+F2"/>
              </a:rPr>
              <a:t>Program flow, </a:t>
            </a:r>
          </a:p>
          <a:p>
            <a:r>
              <a:rPr lang="en-US" sz="2400" dirty="0">
                <a:latin typeface="CIDFont+F2"/>
              </a:rPr>
              <a:t>Branching, </a:t>
            </a:r>
          </a:p>
          <a:p>
            <a:r>
              <a:rPr lang="en-US" sz="2400" dirty="0">
                <a:latin typeface="CIDFont+F2"/>
              </a:rPr>
              <a:t>Conditional statements,</a:t>
            </a:r>
          </a:p>
          <a:p>
            <a:r>
              <a:rPr lang="en-US" sz="2400" dirty="0">
                <a:latin typeface="CIDFont+F2"/>
              </a:rPr>
              <a:t>Loops, </a:t>
            </a:r>
          </a:p>
          <a:p>
            <a:r>
              <a:rPr lang="en-US" sz="2400" dirty="0">
                <a:latin typeface="CIDFont+F2"/>
              </a:rPr>
              <a:t>Arrays, </a:t>
            </a:r>
          </a:p>
          <a:p>
            <a:r>
              <a:rPr lang="en-US" sz="2400" dirty="0">
                <a:latin typeface="CIDFont+F2"/>
              </a:rPr>
              <a:t>Function calls; </a:t>
            </a:r>
          </a:p>
          <a:p>
            <a:r>
              <a:rPr lang="en-US" sz="2400" dirty="0">
                <a:latin typeface="CIDFont+F2"/>
              </a:rPr>
              <a:t>Instruction execution cycle.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5152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74185"/>
          </a:xfrm>
        </p:spPr>
        <p:txBody>
          <a:bodyPr/>
          <a:lstStyle/>
          <a:p>
            <a:r>
              <a:rPr lang="en-IN" dirty="0" smtClean="0"/>
              <a:t>PROGRAMMING CONCEPTS…page 331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29883" y="1911256"/>
            <a:ext cx="1092121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Software languages such as C or Java are called </a:t>
            </a:r>
            <a:r>
              <a:rPr lang="en-US" sz="3200" b="1" i="1" dirty="0"/>
              <a:t>high-level </a:t>
            </a:r>
            <a:r>
              <a:rPr lang="en-US" sz="3200" b="1" i="1" dirty="0" smtClean="0"/>
              <a:t>programming languages</a:t>
            </a:r>
            <a:r>
              <a:rPr lang="en-US" sz="3200" i="1" dirty="0" smtClean="0"/>
              <a:t> </a:t>
            </a:r>
            <a:r>
              <a:rPr lang="en-US" sz="3200" dirty="0"/>
              <a:t>because they are written at a more </a:t>
            </a:r>
            <a:r>
              <a:rPr lang="en-US" sz="3200" dirty="0">
                <a:solidFill>
                  <a:srgbClr val="FF0000"/>
                </a:solidFill>
              </a:rPr>
              <a:t>abstract level </a:t>
            </a:r>
            <a:r>
              <a:rPr lang="en-US" sz="3200" dirty="0" smtClean="0">
                <a:solidFill>
                  <a:srgbClr val="FF0000"/>
                </a:solidFill>
              </a:rPr>
              <a:t>than assembly </a:t>
            </a:r>
            <a:r>
              <a:rPr lang="en-US" sz="3200" dirty="0">
                <a:solidFill>
                  <a:srgbClr val="FF0000"/>
                </a:solidFill>
              </a:rPr>
              <a:t>language. </a:t>
            </a:r>
            <a:endParaRPr lang="en-US" sz="3200" dirty="0" smtClean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Many </a:t>
            </a:r>
            <a:r>
              <a:rPr lang="en-US" sz="3200" dirty="0"/>
              <a:t>high-level languages use common </a:t>
            </a:r>
            <a:r>
              <a:rPr lang="en-US" sz="3200" dirty="0" smtClean="0"/>
              <a:t>software constructs</a:t>
            </a:r>
            <a:r>
              <a:rPr lang="en-US" sz="3200" dirty="0"/>
              <a:t>, such as arithmetic and logical operations, if/else </a:t>
            </a:r>
            <a:r>
              <a:rPr lang="en-US" sz="3200" dirty="0" smtClean="0"/>
              <a:t>statements, for </a:t>
            </a:r>
            <a:r>
              <a:rPr lang="en-US" sz="3200" dirty="0"/>
              <a:t>and while loops, array indexing, and function calls.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16967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74185"/>
          </a:xfrm>
        </p:spPr>
        <p:txBody>
          <a:bodyPr/>
          <a:lstStyle/>
          <a:p>
            <a:r>
              <a:rPr lang="en-IN" dirty="0" smtClean="0"/>
              <a:t>PROGRAM FLOW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53218" y="1726198"/>
            <a:ext cx="1118381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Instructions </a:t>
            </a:r>
            <a:r>
              <a:rPr lang="en-US" sz="2800" dirty="0"/>
              <a:t>are stored in memory. </a:t>
            </a:r>
            <a:endParaRPr lang="en-US" sz="28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Each </a:t>
            </a:r>
            <a:r>
              <a:rPr lang="en-US" sz="2800" b="1" dirty="0"/>
              <a:t>instruction is 32 </a:t>
            </a:r>
            <a:r>
              <a:rPr lang="en-US" sz="2800" b="1" dirty="0" smtClean="0"/>
              <a:t>bits (4 </a:t>
            </a:r>
            <a:r>
              <a:rPr lang="en-US" sz="2800" b="1" dirty="0"/>
              <a:t>bytes) long</a:t>
            </a:r>
            <a:r>
              <a:rPr lang="en-US" sz="2800" dirty="0"/>
              <a:t>, </a:t>
            </a:r>
            <a:r>
              <a:rPr lang="en-US" sz="2800" dirty="0" smtClean="0"/>
              <a:t> so </a:t>
            </a:r>
            <a:r>
              <a:rPr lang="en-US" sz="2800" b="1" dirty="0">
                <a:solidFill>
                  <a:srgbClr val="FF0000"/>
                </a:solidFill>
              </a:rPr>
              <a:t>consecutive </a:t>
            </a:r>
            <a:r>
              <a:rPr lang="en-US" sz="2800" b="1" dirty="0" smtClean="0">
                <a:solidFill>
                  <a:srgbClr val="FF0000"/>
                </a:solidFill>
              </a:rPr>
              <a:t>instruction addresses </a:t>
            </a:r>
            <a:r>
              <a:rPr lang="en-US" sz="2800" b="1" dirty="0">
                <a:solidFill>
                  <a:srgbClr val="FF0000"/>
                </a:solidFill>
              </a:rPr>
              <a:t>increase by four</a:t>
            </a:r>
            <a:r>
              <a:rPr lang="en-US" sz="2800" b="1" dirty="0" smtClean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For </a:t>
            </a:r>
            <a:r>
              <a:rPr lang="en-US" sz="2800" dirty="0"/>
              <a:t>example, in the code </a:t>
            </a:r>
            <a:r>
              <a:rPr lang="en-US" sz="2800" dirty="0" smtClean="0"/>
              <a:t>below, the </a:t>
            </a:r>
            <a:r>
              <a:rPr lang="en-US" sz="2800" dirty="0" err="1"/>
              <a:t>addi</a:t>
            </a:r>
            <a:r>
              <a:rPr lang="en-US" sz="2800" dirty="0"/>
              <a:t> instruction is located in memory at address 0x538 and the </a:t>
            </a:r>
            <a:r>
              <a:rPr lang="en-US" sz="2800" dirty="0" smtClean="0"/>
              <a:t>next instruction</a:t>
            </a:r>
            <a:r>
              <a:rPr lang="en-US" sz="2800" dirty="0"/>
              <a:t>, </a:t>
            </a:r>
            <a:r>
              <a:rPr lang="en-US" sz="2800" dirty="0" err="1"/>
              <a:t>lw</a:t>
            </a:r>
            <a:r>
              <a:rPr lang="en-US" sz="2800" dirty="0"/>
              <a:t>, is at address 0x53C.</a:t>
            </a:r>
            <a:endParaRPr lang="en-IN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2461" r="26598" b="45688"/>
          <a:stretch/>
        </p:blipFill>
        <p:spPr bwMode="auto">
          <a:xfrm>
            <a:off x="961117" y="4136570"/>
            <a:ext cx="8970673" cy="2554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6798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92369" y="815926"/>
            <a:ext cx="1105720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b="1" i="1" dirty="0"/>
              <a:t>program counter</a:t>
            </a:r>
            <a:r>
              <a:rPr lang="en-US" sz="3200" dirty="0"/>
              <a:t>—also called the </a:t>
            </a:r>
            <a:r>
              <a:rPr lang="en-US" sz="3200" dirty="0">
                <a:solidFill>
                  <a:srgbClr val="FF0000"/>
                </a:solidFill>
              </a:rPr>
              <a:t>PC—keeps track of the </a:t>
            </a:r>
            <a:r>
              <a:rPr lang="en-US" sz="3200" dirty="0" smtClean="0">
                <a:solidFill>
                  <a:srgbClr val="FF0000"/>
                </a:solidFill>
              </a:rPr>
              <a:t>current instruction</a:t>
            </a:r>
            <a:r>
              <a:rPr lang="en-US" sz="3200" dirty="0">
                <a:solidFill>
                  <a:srgbClr val="FF0000"/>
                </a:solidFill>
              </a:rPr>
              <a:t>. </a:t>
            </a:r>
            <a:endParaRPr lang="en-US" sz="3200" dirty="0" smtClean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PC holds the memory address of the </a:t>
            </a:r>
            <a:r>
              <a:rPr lang="en-US" sz="3200" dirty="0" smtClean="0"/>
              <a:t>current instruction </a:t>
            </a:r>
            <a:r>
              <a:rPr lang="en-US" sz="3200" dirty="0"/>
              <a:t>and </a:t>
            </a:r>
            <a:r>
              <a:rPr lang="en-US" sz="3200" b="1" dirty="0"/>
              <a:t>increments by four after each instruction completes </a:t>
            </a:r>
            <a:r>
              <a:rPr lang="en-US" sz="3200" dirty="0" smtClean="0"/>
              <a:t>so that </a:t>
            </a:r>
            <a:r>
              <a:rPr lang="en-US" sz="3200" dirty="0"/>
              <a:t>the </a:t>
            </a:r>
            <a:r>
              <a:rPr lang="en-US" sz="3200" b="1" dirty="0"/>
              <a:t>processor can read or </a:t>
            </a:r>
            <a:r>
              <a:rPr lang="en-US" sz="3200" b="1" i="1" dirty="0"/>
              <a:t>fetch </a:t>
            </a:r>
            <a:r>
              <a:rPr lang="en-US" sz="3200" b="1" dirty="0"/>
              <a:t>the next instruction </a:t>
            </a:r>
            <a:r>
              <a:rPr lang="en-US" sz="3200" dirty="0"/>
              <a:t>from memory</a:t>
            </a:r>
            <a:r>
              <a:rPr lang="en-US" sz="3200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/>
              <a:t>example, when </a:t>
            </a:r>
            <a:r>
              <a:rPr lang="en-US" sz="3200" dirty="0" err="1"/>
              <a:t>addi</a:t>
            </a:r>
            <a:r>
              <a:rPr lang="en-US" sz="3200" dirty="0"/>
              <a:t> is executing, PC is 0x538. </a:t>
            </a: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After </a:t>
            </a:r>
            <a:r>
              <a:rPr lang="en-US" sz="3200" dirty="0" err="1"/>
              <a:t>addi</a:t>
            </a:r>
            <a:r>
              <a:rPr lang="en-US" sz="3200" dirty="0"/>
              <a:t> </a:t>
            </a:r>
            <a:r>
              <a:rPr lang="en-US" sz="3200" dirty="0" smtClean="0"/>
              <a:t>completes, PC </a:t>
            </a:r>
            <a:r>
              <a:rPr lang="en-US" sz="3200" dirty="0"/>
              <a:t>increments by four to 0x53C and the processor fetches the </a:t>
            </a:r>
            <a:r>
              <a:rPr lang="en-US" sz="3200" dirty="0" err="1" smtClean="0"/>
              <a:t>lw</a:t>
            </a:r>
            <a:r>
              <a:rPr lang="en-US" sz="3200" dirty="0" smtClean="0"/>
              <a:t> </a:t>
            </a:r>
            <a:r>
              <a:rPr lang="en-IN" sz="3200" dirty="0" smtClean="0"/>
              <a:t>instruction </a:t>
            </a:r>
            <a:r>
              <a:rPr lang="en-IN" sz="3200" dirty="0"/>
              <a:t>at that address.</a:t>
            </a:r>
          </a:p>
        </p:txBody>
      </p:sp>
    </p:spTree>
    <p:extLst>
      <p:ext uri="{BB962C8B-B14F-4D97-AF65-F5344CB8AC3E}">
        <p14:creationId xmlns:p14="http://schemas.microsoft.com/office/powerpoint/2010/main" val="12843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437" y="224623"/>
            <a:ext cx="10364451" cy="703846"/>
          </a:xfrm>
        </p:spPr>
        <p:txBody>
          <a:bodyPr/>
          <a:lstStyle/>
          <a:p>
            <a:r>
              <a:rPr lang="en-US" dirty="0"/>
              <a:t>Logical, Shift, and Multiply Instructions</a:t>
            </a:r>
            <a:endParaRPr lang="en-IN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95837" y="981947"/>
            <a:ext cx="10364451" cy="703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b="1" dirty="0"/>
              <a:t>Logical Instructions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800665"/>
            <a:ext cx="121919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RISC-V </a:t>
            </a:r>
            <a:r>
              <a:rPr lang="en-US" sz="2400" i="1" dirty="0"/>
              <a:t>logical operations </a:t>
            </a:r>
            <a:r>
              <a:rPr lang="en-US" sz="2400" dirty="0"/>
              <a:t>include </a:t>
            </a:r>
            <a:r>
              <a:rPr lang="en-US" sz="2400" b="1" dirty="0"/>
              <a:t>and, or, and </a:t>
            </a:r>
            <a:r>
              <a:rPr lang="en-US" sz="2400" b="1" dirty="0" err="1"/>
              <a:t>xor</a:t>
            </a:r>
            <a:r>
              <a:rPr lang="en-US" sz="2400" b="1" dirty="0"/>
              <a:t>. </a:t>
            </a:r>
            <a:endParaRPr lang="en-US" sz="2400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/>
              <a:t>These </a:t>
            </a:r>
            <a:r>
              <a:rPr lang="en-US" sz="2400" dirty="0"/>
              <a:t>each </a:t>
            </a:r>
            <a:r>
              <a:rPr lang="en-US" sz="2400" b="1" dirty="0" smtClean="0">
                <a:solidFill>
                  <a:srgbClr val="FF0000"/>
                </a:solidFill>
              </a:rPr>
              <a:t>operate bitwise </a:t>
            </a:r>
            <a:r>
              <a:rPr lang="en-US" sz="2400" dirty="0"/>
              <a:t>on </a:t>
            </a:r>
            <a:r>
              <a:rPr lang="en-US" sz="2400" b="1" dirty="0"/>
              <a:t>two source register</a:t>
            </a:r>
            <a:r>
              <a:rPr lang="en-US" sz="2400" dirty="0"/>
              <a:t>s and write the result to a </a:t>
            </a:r>
            <a:r>
              <a:rPr lang="en-US" sz="2400" b="1" dirty="0" smtClean="0"/>
              <a:t>destination register</a:t>
            </a:r>
            <a:r>
              <a:rPr lang="en-US" sz="2400" b="1" dirty="0"/>
              <a:t>,</a:t>
            </a:r>
            <a:r>
              <a:rPr lang="en-US" sz="2400" dirty="0"/>
              <a:t> as shown </a:t>
            </a:r>
            <a:r>
              <a:rPr lang="en-US" sz="2400" dirty="0" smtClean="0"/>
              <a:t>below.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Immediate </a:t>
            </a:r>
            <a:r>
              <a:rPr lang="en-US" sz="2400" dirty="0">
                <a:solidFill>
                  <a:srgbClr val="FF0000"/>
                </a:solidFill>
              </a:rPr>
              <a:t>versions </a:t>
            </a:r>
            <a:r>
              <a:rPr lang="en-US" sz="2400" dirty="0"/>
              <a:t>of these </a:t>
            </a:r>
            <a:r>
              <a:rPr lang="en-US" sz="2400" dirty="0" smtClean="0"/>
              <a:t>logical operations</a:t>
            </a:r>
            <a:r>
              <a:rPr lang="en-US" sz="2400" dirty="0"/>
              <a:t>, </a:t>
            </a:r>
            <a:r>
              <a:rPr lang="en-US" sz="2400" b="1" dirty="0" err="1"/>
              <a:t>andi</a:t>
            </a:r>
            <a:r>
              <a:rPr lang="en-US" sz="2400" b="1" dirty="0"/>
              <a:t>, </a:t>
            </a:r>
            <a:r>
              <a:rPr lang="en-US" sz="2400" b="1" dirty="0" err="1"/>
              <a:t>ori</a:t>
            </a:r>
            <a:r>
              <a:rPr lang="en-US" sz="2400" b="1" dirty="0"/>
              <a:t>, and </a:t>
            </a:r>
            <a:r>
              <a:rPr lang="en-US" sz="2400" b="1" dirty="0" err="1"/>
              <a:t>xori</a:t>
            </a:r>
            <a:r>
              <a:rPr lang="en-US" sz="2400" b="1" dirty="0"/>
              <a:t>, </a:t>
            </a:r>
            <a:r>
              <a:rPr lang="en-US" sz="2400" dirty="0"/>
              <a:t>use </a:t>
            </a:r>
            <a:r>
              <a:rPr lang="en-US" sz="2400" b="1" dirty="0">
                <a:solidFill>
                  <a:srgbClr val="FF0000"/>
                </a:solidFill>
              </a:rPr>
              <a:t>one source register </a:t>
            </a:r>
            <a:r>
              <a:rPr lang="en-US" sz="2400" dirty="0"/>
              <a:t>and a </a:t>
            </a:r>
            <a:r>
              <a:rPr lang="en-US" sz="2400" b="1" dirty="0" smtClean="0">
                <a:solidFill>
                  <a:srgbClr val="FF0000"/>
                </a:solidFill>
              </a:rPr>
              <a:t>12-bit </a:t>
            </a:r>
            <a:r>
              <a:rPr lang="en-IN" sz="2400" b="1" dirty="0" smtClean="0">
                <a:solidFill>
                  <a:srgbClr val="FF0000"/>
                </a:solidFill>
              </a:rPr>
              <a:t>sign-extended </a:t>
            </a:r>
            <a:r>
              <a:rPr lang="en-IN" sz="2400" b="1" dirty="0">
                <a:solidFill>
                  <a:srgbClr val="FF0000"/>
                </a:solidFill>
              </a:rPr>
              <a:t>immediate</a:t>
            </a:r>
            <a:r>
              <a:rPr lang="en-IN" sz="2400" b="1" dirty="0" smtClean="0"/>
              <a:t>.</a:t>
            </a:r>
            <a:endParaRPr lang="en-IN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16" t="51587" r="29722" b="25595"/>
          <a:stretch/>
        </p:blipFill>
        <p:spPr bwMode="auto">
          <a:xfrm>
            <a:off x="1122065" y="3838134"/>
            <a:ext cx="7501429" cy="2964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645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59655"/>
            <a:ext cx="1192940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 smtClean="0"/>
              <a:t>and instruction </a:t>
            </a:r>
            <a:r>
              <a:rPr lang="en-US" sz="2800" dirty="0" smtClean="0">
                <a:solidFill>
                  <a:srgbClr val="FF0000"/>
                </a:solidFill>
              </a:rPr>
              <a:t>is </a:t>
            </a:r>
            <a:r>
              <a:rPr lang="en-US" sz="2800" dirty="0">
                <a:solidFill>
                  <a:srgbClr val="FF0000"/>
                </a:solidFill>
              </a:rPr>
              <a:t>useful for </a:t>
            </a:r>
            <a:r>
              <a:rPr lang="en-US" sz="2800" i="1" dirty="0">
                <a:solidFill>
                  <a:srgbClr val="FF0000"/>
                </a:solidFill>
              </a:rPr>
              <a:t>clearing </a:t>
            </a:r>
            <a:r>
              <a:rPr lang="en-US" sz="2800" dirty="0">
                <a:solidFill>
                  <a:srgbClr val="FF0000"/>
                </a:solidFill>
              </a:rPr>
              <a:t>or </a:t>
            </a:r>
            <a:r>
              <a:rPr lang="en-US" sz="2800" i="1" dirty="0">
                <a:solidFill>
                  <a:srgbClr val="FF0000"/>
                </a:solidFill>
              </a:rPr>
              <a:t>masking </a:t>
            </a:r>
            <a:r>
              <a:rPr lang="en-US" sz="2800" dirty="0">
                <a:solidFill>
                  <a:srgbClr val="FF0000"/>
                </a:solidFill>
              </a:rPr>
              <a:t>bits </a:t>
            </a:r>
            <a:r>
              <a:rPr lang="en-US" sz="2800" dirty="0"/>
              <a:t>(i.e., </a:t>
            </a:r>
            <a:r>
              <a:rPr lang="en-US" sz="2800" dirty="0" smtClean="0"/>
              <a:t>forcing bits </a:t>
            </a:r>
            <a:r>
              <a:rPr lang="en-US" sz="2800" dirty="0"/>
              <a:t>to 0).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For </a:t>
            </a:r>
            <a:r>
              <a:rPr lang="en-US" sz="2800" dirty="0"/>
              <a:t>example, the and instruction in Figure </a:t>
            </a:r>
            <a:r>
              <a:rPr lang="en-US" sz="2800" dirty="0" smtClean="0"/>
              <a:t>above clears </a:t>
            </a:r>
            <a:r>
              <a:rPr lang="en-US" sz="2800" dirty="0"/>
              <a:t>the </a:t>
            </a:r>
            <a:r>
              <a:rPr lang="en-US" sz="2800" dirty="0" smtClean="0"/>
              <a:t>bits in </a:t>
            </a:r>
            <a:r>
              <a:rPr lang="en-US" sz="2800" dirty="0"/>
              <a:t>s1 that are low in s2</a:t>
            </a:r>
            <a:r>
              <a:rPr lang="en-US" sz="2800" dirty="0" smtClean="0"/>
              <a:t>. In </a:t>
            </a:r>
            <a:r>
              <a:rPr lang="en-US" sz="2800" dirty="0"/>
              <a:t>this case, </a:t>
            </a:r>
            <a:r>
              <a:rPr lang="en-US" sz="2800" b="1" dirty="0"/>
              <a:t>the bottom two bytes of s1 </a:t>
            </a:r>
            <a:r>
              <a:rPr lang="en-US" sz="2800" b="1" dirty="0" smtClean="0"/>
              <a:t>are cleared.</a:t>
            </a:r>
          </a:p>
          <a:p>
            <a:r>
              <a:rPr lang="en-US" sz="2800" dirty="0" smtClean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unmasked top two bytes of s1, 0x46A1, are placed in s3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Any </a:t>
            </a:r>
            <a:r>
              <a:rPr lang="en-US" sz="2800" dirty="0"/>
              <a:t>subset of register bits can be cleared.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b="1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smtClean="0">
                <a:solidFill>
                  <a:srgbClr val="FF0000"/>
                </a:solidFill>
              </a:rPr>
              <a:t>For </a:t>
            </a:r>
            <a:r>
              <a:rPr lang="en-US" sz="2800" b="1" dirty="0">
                <a:solidFill>
                  <a:srgbClr val="FF0000"/>
                </a:solidFill>
              </a:rPr>
              <a:t>example, </a:t>
            </a:r>
            <a:r>
              <a:rPr lang="en-US" sz="2800" dirty="0"/>
              <a:t>to clear bit 3 </a:t>
            </a:r>
            <a:r>
              <a:rPr lang="en-US" sz="2800" dirty="0" smtClean="0"/>
              <a:t>of s0 </a:t>
            </a:r>
            <a:r>
              <a:rPr lang="en-US" sz="2800" dirty="0"/>
              <a:t>and place the result in s6, use </a:t>
            </a:r>
            <a:endParaRPr lang="en-US" sz="2800" dirty="0" smtClean="0"/>
          </a:p>
          <a:p>
            <a:r>
              <a:rPr lang="en-US" sz="2800" dirty="0"/>
              <a:t>	</a:t>
            </a:r>
            <a:r>
              <a:rPr lang="en-US" sz="2800" dirty="0" smtClean="0"/>
              <a:t>		</a:t>
            </a:r>
            <a:r>
              <a:rPr lang="en-US" sz="2800" b="1" dirty="0" err="1" smtClean="0">
                <a:solidFill>
                  <a:srgbClr val="FF0000"/>
                </a:solidFill>
              </a:rPr>
              <a:t>andi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s6, s0, 0xFF7.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5600" y="174880"/>
            <a:ext cx="36243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/>
              <a:t>AND INSTRUCTION 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50156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1015" y="956603"/>
            <a:ext cx="1153550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or instruction </a:t>
            </a:r>
            <a:r>
              <a:rPr lang="en-US" sz="3200" b="1" dirty="0"/>
              <a:t>is useful for combining </a:t>
            </a:r>
            <a:r>
              <a:rPr lang="en-US" sz="3200" b="1" dirty="0" smtClean="0"/>
              <a:t>bit fields </a:t>
            </a:r>
            <a:r>
              <a:rPr lang="en-US" sz="3200" dirty="0"/>
              <a:t>from two registers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For example, 0x347A0000 OR 0x000072FC = 0x347A72FC.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It </a:t>
            </a:r>
            <a:r>
              <a:rPr lang="en-US" sz="3200" dirty="0"/>
              <a:t>can </a:t>
            </a:r>
            <a:r>
              <a:rPr lang="en-US" sz="3200" dirty="0" smtClean="0"/>
              <a:t>also be </a:t>
            </a:r>
            <a:r>
              <a:rPr lang="en-US" sz="3200" b="1" dirty="0"/>
              <a:t>used to </a:t>
            </a:r>
            <a:r>
              <a:rPr lang="en-US" sz="3200" b="1" i="1" dirty="0"/>
              <a:t>set </a:t>
            </a:r>
            <a:r>
              <a:rPr lang="en-US" sz="3200" b="1" dirty="0"/>
              <a:t>bits </a:t>
            </a:r>
            <a:r>
              <a:rPr lang="en-US" sz="3200" dirty="0"/>
              <a:t>in a register (i.e., force a bit to 1).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/>
              <a:t>example, to </a:t>
            </a:r>
            <a:r>
              <a:rPr lang="en-US" sz="3200" dirty="0" smtClean="0"/>
              <a:t>set bit </a:t>
            </a:r>
            <a:r>
              <a:rPr lang="en-US" sz="3200" dirty="0"/>
              <a:t>5 of s0 and place the result in s7, use </a:t>
            </a:r>
            <a:endParaRPr lang="en-US" sz="3200" dirty="0" smtClean="0"/>
          </a:p>
          <a:p>
            <a:endParaRPr lang="en-US" sz="3200" dirty="0" smtClean="0"/>
          </a:p>
          <a:p>
            <a:r>
              <a:rPr lang="en-US" sz="3200" dirty="0"/>
              <a:t>	</a:t>
            </a:r>
            <a:r>
              <a:rPr lang="en-US" sz="3200" dirty="0" smtClean="0"/>
              <a:t>		</a:t>
            </a:r>
            <a:r>
              <a:rPr lang="en-US" sz="3200" b="1" dirty="0" err="1" smtClean="0">
                <a:solidFill>
                  <a:srgbClr val="FF0000"/>
                </a:solidFill>
              </a:rPr>
              <a:t>ori</a:t>
            </a:r>
            <a:r>
              <a:rPr lang="en-US" sz="3200" b="1" dirty="0" smtClean="0">
                <a:solidFill>
                  <a:srgbClr val="FF000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s7, s0, 0x020.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3895" y="-5303"/>
            <a:ext cx="3734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/>
              <a:t>OR INSTRUCTION 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81664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1015" y="956603"/>
            <a:ext cx="118168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A logical NOT operation can be performed with </a:t>
            </a:r>
            <a:r>
              <a:rPr lang="en-US" sz="3200" b="1" dirty="0" err="1">
                <a:solidFill>
                  <a:srgbClr val="FF0000"/>
                </a:solidFill>
              </a:rPr>
              <a:t>xori</a:t>
            </a:r>
            <a:r>
              <a:rPr lang="en-US" sz="3200" b="1" dirty="0">
                <a:solidFill>
                  <a:srgbClr val="FF0000"/>
                </a:solidFill>
              </a:rPr>
              <a:t> s8, s1, −1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Remember that −1 (0xFFF) is sign-extended to 0xFFFFFFFF (all 1’s</a:t>
            </a:r>
            <a:r>
              <a:rPr lang="en-US" sz="3200" dirty="0" smtClean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XOR with </a:t>
            </a:r>
            <a:r>
              <a:rPr lang="en-US" sz="3200" dirty="0"/>
              <a:t>all 1’s </a:t>
            </a:r>
            <a:r>
              <a:rPr lang="en-US" sz="3200" b="1" dirty="0"/>
              <a:t>inverts all the bits</a:t>
            </a:r>
            <a:r>
              <a:rPr lang="en-US" sz="3200" dirty="0"/>
              <a:t>, so s8 will get the </a:t>
            </a:r>
            <a:r>
              <a:rPr lang="en-US" sz="3200" b="1" dirty="0" smtClean="0">
                <a:solidFill>
                  <a:srgbClr val="FF0000"/>
                </a:solidFill>
              </a:rPr>
              <a:t>one’s complement </a:t>
            </a:r>
            <a:r>
              <a:rPr lang="en-US" sz="3200" b="1" dirty="0">
                <a:solidFill>
                  <a:srgbClr val="FF0000"/>
                </a:solidFill>
              </a:rPr>
              <a:t>of s1.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3895" y="-5303"/>
            <a:ext cx="30280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/>
              <a:t>NOT operation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2125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1015" y="956603"/>
            <a:ext cx="11816862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i="1" dirty="0"/>
              <a:t>Shift instructions </a:t>
            </a:r>
            <a:r>
              <a:rPr lang="en-US" sz="3200" b="1" dirty="0"/>
              <a:t>shift</a:t>
            </a:r>
            <a:r>
              <a:rPr lang="en-US" sz="3200" dirty="0"/>
              <a:t> the value in a register </a:t>
            </a:r>
            <a:r>
              <a:rPr lang="en-US" sz="3200" b="1" dirty="0"/>
              <a:t>left or right</a:t>
            </a:r>
            <a:r>
              <a:rPr lang="en-US" sz="3200" dirty="0"/>
              <a:t>, </a:t>
            </a:r>
            <a:r>
              <a:rPr lang="en-US" sz="3200" dirty="0">
                <a:solidFill>
                  <a:srgbClr val="FF0000"/>
                </a:solidFill>
              </a:rPr>
              <a:t>dropping </a:t>
            </a:r>
            <a:r>
              <a:rPr lang="en-US" sz="3200" dirty="0" smtClean="0">
                <a:solidFill>
                  <a:srgbClr val="FF0000"/>
                </a:solidFill>
              </a:rPr>
              <a:t>bits off </a:t>
            </a:r>
            <a:r>
              <a:rPr lang="en-US" sz="3200" dirty="0">
                <a:solidFill>
                  <a:srgbClr val="FF0000"/>
                </a:solidFill>
              </a:rPr>
              <a:t>the end. </a:t>
            </a:r>
            <a:endParaRPr lang="en-US" sz="3200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RISC-V </a:t>
            </a:r>
            <a:r>
              <a:rPr lang="en-US" sz="3200" dirty="0"/>
              <a:t>shift operations are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sll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(shift left logical), </a:t>
            </a:r>
            <a:r>
              <a:rPr lang="en-US" sz="3200" b="1" dirty="0" err="1">
                <a:solidFill>
                  <a:srgbClr val="FF0000"/>
                </a:solidFill>
              </a:rPr>
              <a:t>srl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(</a:t>
            </a:r>
            <a:r>
              <a:rPr lang="en-US" sz="3200" dirty="0" smtClean="0"/>
              <a:t>shift right </a:t>
            </a:r>
            <a:r>
              <a:rPr lang="en-US" sz="3200" dirty="0"/>
              <a:t>logical), and </a:t>
            </a:r>
            <a:r>
              <a:rPr lang="en-US" sz="3200" b="1" dirty="0" err="1">
                <a:solidFill>
                  <a:srgbClr val="FF0000"/>
                </a:solidFill>
              </a:rPr>
              <a:t>sra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(shift right arithmetic</a:t>
            </a:r>
            <a:r>
              <a:rPr lang="en-US" sz="3200" dirty="0" smtClean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Left </a:t>
            </a:r>
            <a:r>
              <a:rPr lang="en-US" sz="3200" b="1" dirty="0"/>
              <a:t>shifts </a:t>
            </a:r>
            <a:r>
              <a:rPr lang="en-US" sz="3200" dirty="0"/>
              <a:t>always fill the </a:t>
            </a:r>
            <a:r>
              <a:rPr lang="en-US" sz="3200" b="1" dirty="0">
                <a:solidFill>
                  <a:srgbClr val="FF0000"/>
                </a:solidFill>
              </a:rPr>
              <a:t>least significant bits with zeros</a:t>
            </a:r>
            <a:r>
              <a:rPr lang="en-US" sz="3200" dirty="0"/>
              <a:t>.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FF0000"/>
                </a:solidFill>
              </a:rPr>
              <a:t>Right </a:t>
            </a:r>
            <a:r>
              <a:rPr lang="en-US" sz="3200" dirty="0">
                <a:solidFill>
                  <a:srgbClr val="FF0000"/>
                </a:solidFill>
              </a:rPr>
              <a:t>shifts </a:t>
            </a:r>
            <a:r>
              <a:rPr lang="en-US" sz="3200" dirty="0"/>
              <a:t>can be either </a:t>
            </a:r>
            <a:r>
              <a:rPr lang="en-US" sz="3200" b="1" i="1" dirty="0"/>
              <a:t>logical </a:t>
            </a:r>
            <a:r>
              <a:rPr lang="en-US" sz="3200" dirty="0"/>
              <a:t>(</a:t>
            </a:r>
            <a:r>
              <a:rPr lang="en-US" sz="3200" dirty="0">
                <a:solidFill>
                  <a:srgbClr val="FF0000"/>
                </a:solidFill>
              </a:rPr>
              <a:t>zeros shift into the most significant </a:t>
            </a:r>
            <a:r>
              <a:rPr lang="en-US" sz="3200" dirty="0" smtClean="0">
                <a:solidFill>
                  <a:srgbClr val="FF0000"/>
                </a:solidFill>
              </a:rPr>
              <a:t>bits) </a:t>
            </a:r>
            <a:r>
              <a:rPr lang="en-US" sz="3200" dirty="0" smtClean="0"/>
              <a:t>or </a:t>
            </a:r>
            <a:r>
              <a:rPr lang="en-US" sz="3200" b="1" i="1" dirty="0"/>
              <a:t>arithmetic</a:t>
            </a:r>
            <a:r>
              <a:rPr lang="en-US" sz="3200" i="1" dirty="0"/>
              <a:t> </a:t>
            </a:r>
            <a:r>
              <a:rPr lang="en-US" sz="3200" dirty="0"/>
              <a:t>(</a:t>
            </a:r>
            <a:r>
              <a:rPr lang="en-US" sz="3200" dirty="0">
                <a:solidFill>
                  <a:srgbClr val="FF0000"/>
                </a:solidFill>
              </a:rPr>
              <a:t>the sign bit shifts into the most significant bits</a:t>
            </a:r>
            <a:r>
              <a:rPr lang="en-US" sz="3200" dirty="0"/>
              <a:t>).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endParaRPr lang="en-IN" sz="3200" dirty="0"/>
          </a:p>
        </p:txBody>
      </p:sp>
      <p:sp>
        <p:nvSpPr>
          <p:cNvPr id="2" name="Rectangle 1"/>
          <p:cNvSpPr/>
          <p:nvPr/>
        </p:nvSpPr>
        <p:spPr>
          <a:xfrm>
            <a:off x="393895" y="-5303"/>
            <a:ext cx="33441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Shift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25577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1015" y="956603"/>
            <a:ext cx="118168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These </a:t>
            </a:r>
            <a:r>
              <a:rPr lang="en-US" sz="3200" b="1" dirty="0" smtClean="0"/>
              <a:t>shifts</a:t>
            </a:r>
            <a:r>
              <a:rPr lang="en-US" sz="3200" dirty="0" smtClean="0"/>
              <a:t> </a:t>
            </a:r>
            <a:r>
              <a:rPr lang="en-US" sz="3200" dirty="0"/>
              <a:t>specify the </a:t>
            </a:r>
            <a:r>
              <a:rPr lang="en-US" sz="3200" dirty="0">
                <a:solidFill>
                  <a:srgbClr val="FF0000"/>
                </a:solidFill>
              </a:rPr>
              <a:t>shift amount in the second source </a:t>
            </a:r>
            <a:r>
              <a:rPr lang="en-US" sz="3200" dirty="0" smtClean="0">
                <a:solidFill>
                  <a:srgbClr val="FF0000"/>
                </a:solidFill>
              </a:rPr>
              <a:t>register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Immediate versions</a:t>
            </a:r>
            <a:r>
              <a:rPr lang="en-US" sz="3200" dirty="0" smtClean="0"/>
              <a:t> </a:t>
            </a:r>
            <a:r>
              <a:rPr lang="en-US" sz="3200" dirty="0"/>
              <a:t>of each instruction are also available (</a:t>
            </a:r>
            <a:r>
              <a:rPr lang="en-US" sz="3200" b="1" dirty="0" err="1"/>
              <a:t>slli</a:t>
            </a:r>
            <a:r>
              <a:rPr lang="en-US" sz="3200" b="1" dirty="0"/>
              <a:t>, </a:t>
            </a:r>
            <a:r>
              <a:rPr lang="en-US" sz="3200" b="1" dirty="0" err="1"/>
              <a:t>srli</a:t>
            </a:r>
            <a:r>
              <a:rPr lang="en-US" sz="3200" b="1" dirty="0"/>
              <a:t>, and </a:t>
            </a:r>
            <a:r>
              <a:rPr lang="en-US" sz="3200" b="1" dirty="0" err="1"/>
              <a:t>srai</a:t>
            </a:r>
            <a:r>
              <a:rPr lang="en-US" sz="3200" dirty="0" smtClean="0"/>
              <a:t>), where </a:t>
            </a:r>
            <a:r>
              <a:rPr lang="en-US" sz="3200" dirty="0"/>
              <a:t>the amount to shift is specified by a 5-bit unsigned immediate.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0172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1015" y="168812"/>
            <a:ext cx="1181686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Figure </a:t>
            </a:r>
            <a:r>
              <a:rPr lang="en-US" sz="3200" dirty="0"/>
              <a:t>shows the assembly code and resulting register values </a:t>
            </a:r>
            <a:r>
              <a:rPr lang="en-US" sz="3200" dirty="0" smtClean="0"/>
              <a:t>for </a:t>
            </a:r>
            <a:r>
              <a:rPr lang="en-US" sz="3200" dirty="0" err="1" smtClean="0"/>
              <a:t>slli</a:t>
            </a:r>
            <a:r>
              <a:rPr lang="en-US" sz="3200" dirty="0"/>
              <a:t>, </a:t>
            </a:r>
            <a:r>
              <a:rPr lang="en-US" sz="3200" dirty="0" err="1"/>
              <a:t>srli</a:t>
            </a:r>
            <a:r>
              <a:rPr lang="en-US" sz="3200" dirty="0"/>
              <a:t>, and </a:t>
            </a:r>
            <a:r>
              <a:rPr lang="en-US" sz="3200" dirty="0" err="1"/>
              <a:t>srai</a:t>
            </a:r>
            <a:r>
              <a:rPr lang="en-US" sz="3200" dirty="0"/>
              <a:t> when shifting by an immediate value.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s5 </a:t>
            </a:r>
            <a:r>
              <a:rPr lang="en-US" sz="3200" dirty="0"/>
              <a:t>is </a:t>
            </a:r>
            <a:r>
              <a:rPr lang="en-US" sz="3200" dirty="0" smtClean="0"/>
              <a:t>shifted by </a:t>
            </a:r>
            <a:r>
              <a:rPr lang="en-US" sz="3200" dirty="0"/>
              <a:t>the immediate amount, and the result is placed in the </a:t>
            </a:r>
            <a:r>
              <a:rPr lang="en-US" sz="3200" dirty="0" smtClean="0"/>
              <a:t>destination </a:t>
            </a:r>
            <a:r>
              <a:rPr lang="en-IN" sz="3200" dirty="0" smtClean="0"/>
              <a:t>register</a:t>
            </a:r>
            <a:r>
              <a:rPr lang="en-IN" sz="3200" dirty="0"/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7222" r="15331" b="30754"/>
          <a:stretch/>
        </p:blipFill>
        <p:spPr bwMode="auto">
          <a:xfrm>
            <a:off x="772431" y="3236685"/>
            <a:ext cx="9665797" cy="3452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786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1015" y="534572"/>
            <a:ext cx="1181686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b="1" dirty="0"/>
              <a:t>S</a:t>
            </a:r>
            <a:r>
              <a:rPr lang="en-US" sz="3200" b="1" dirty="0" smtClean="0"/>
              <a:t>hifting </a:t>
            </a:r>
            <a:r>
              <a:rPr lang="en-US" sz="3200" b="1" dirty="0"/>
              <a:t>a value left by </a:t>
            </a:r>
            <a:r>
              <a:rPr lang="en-US" sz="3200" b="1" i="1" dirty="0"/>
              <a:t>N </a:t>
            </a:r>
            <a:r>
              <a:rPr lang="en-US" sz="3200" dirty="0"/>
              <a:t>is </a:t>
            </a:r>
            <a:r>
              <a:rPr lang="en-US" sz="3200" dirty="0" smtClean="0"/>
              <a:t>equivalent to </a:t>
            </a:r>
            <a:r>
              <a:rPr lang="en-US" sz="3200" b="1" dirty="0">
                <a:solidFill>
                  <a:srgbClr val="FF0000"/>
                </a:solidFill>
              </a:rPr>
              <a:t>multiplying it by </a:t>
            </a:r>
            <a:r>
              <a:rPr lang="en-US" sz="3200" b="1" dirty="0" smtClean="0">
                <a:solidFill>
                  <a:srgbClr val="FF0000"/>
                </a:solidFill>
              </a:rPr>
              <a:t>2</a:t>
            </a:r>
            <a:r>
              <a:rPr lang="en-US" sz="3200" b="1" i="1" baseline="30000" dirty="0" smtClean="0">
                <a:solidFill>
                  <a:srgbClr val="FF0000"/>
                </a:solidFill>
              </a:rPr>
              <a:t>N</a:t>
            </a:r>
            <a:r>
              <a:rPr lang="en-US" sz="3200" dirty="0" smtClean="0"/>
              <a:t>.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/>
              <a:t>example, </a:t>
            </a:r>
            <a:r>
              <a:rPr lang="en-US" sz="3200" b="1" dirty="0" err="1"/>
              <a:t>slli</a:t>
            </a:r>
            <a:r>
              <a:rPr lang="en-US" sz="3200" b="1" dirty="0"/>
              <a:t> s0, s0, 3 </a:t>
            </a:r>
            <a:r>
              <a:rPr lang="en-US" sz="3200" dirty="0"/>
              <a:t>multiplies </a:t>
            </a:r>
            <a:r>
              <a:rPr lang="en-US" sz="3200" b="1" dirty="0"/>
              <a:t>s0 by </a:t>
            </a:r>
            <a:r>
              <a:rPr lang="en-US" sz="3200" b="1" dirty="0" smtClean="0"/>
              <a:t>8</a:t>
            </a:r>
            <a:r>
              <a:rPr lang="en-US" sz="3200" dirty="0" smtClean="0"/>
              <a:t> (i.e</a:t>
            </a:r>
            <a:r>
              <a:rPr lang="en-US" sz="3200" dirty="0"/>
              <a:t>., 23).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Likewise</a:t>
            </a:r>
            <a:r>
              <a:rPr lang="en-US" sz="3200" dirty="0"/>
              <a:t>, </a:t>
            </a:r>
            <a:r>
              <a:rPr lang="en-US" sz="3200" b="1" dirty="0"/>
              <a:t>shifting a value right by </a:t>
            </a:r>
            <a:r>
              <a:rPr lang="en-US" sz="3200" b="1" i="1" dirty="0"/>
              <a:t>N </a:t>
            </a:r>
            <a:r>
              <a:rPr lang="en-US" sz="3200" dirty="0"/>
              <a:t>is equivalent to </a:t>
            </a:r>
            <a:r>
              <a:rPr lang="en-US" sz="3200" b="1" dirty="0"/>
              <a:t>dividing </a:t>
            </a:r>
            <a:r>
              <a:rPr lang="en-US" sz="3200" b="1" dirty="0" smtClean="0"/>
              <a:t>it by </a:t>
            </a:r>
            <a:r>
              <a:rPr lang="en-US" sz="3200" b="1" dirty="0"/>
              <a:t>2</a:t>
            </a:r>
            <a:r>
              <a:rPr lang="en-US" sz="3200" b="1" i="1" baseline="30000" dirty="0"/>
              <a:t>N</a:t>
            </a:r>
            <a:r>
              <a:rPr lang="en-US" sz="3200" b="1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 </a:t>
            </a:r>
            <a:r>
              <a:rPr lang="en-US" sz="3200" dirty="0">
                <a:solidFill>
                  <a:srgbClr val="FF0000"/>
                </a:solidFill>
              </a:rPr>
              <a:t>Arithmetic right shifts</a:t>
            </a:r>
            <a:r>
              <a:rPr lang="en-US" sz="3200" dirty="0"/>
              <a:t> </a:t>
            </a:r>
            <a:r>
              <a:rPr lang="en-US" sz="3200" b="1" dirty="0"/>
              <a:t>divide two’s complement numbers</a:t>
            </a:r>
            <a:r>
              <a:rPr lang="en-US" sz="3200" dirty="0"/>
              <a:t>, </a:t>
            </a:r>
            <a:r>
              <a:rPr lang="en-US" sz="3200" dirty="0" smtClean="0"/>
              <a:t>while </a:t>
            </a:r>
            <a:r>
              <a:rPr lang="en-US" sz="3200" dirty="0" smtClean="0">
                <a:solidFill>
                  <a:srgbClr val="FF0000"/>
                </a:solidFill>
              </a:rPr>
              <a:t>logical </a:t>
            </a:r>
            <a:r>
              <a:rPr lang="en-US" sz="3200" dirty="0">
                <a:solidFill>
                  <a:srgbClr val="FF0000"/>
                </a:solidFill>
              </a:rPr>
              <a:t>right shifts</a:t>
            </a:r>
            <a:r>
              <a:rPr lang="en-US" sz="3200" dirty="0"/>
              <a:t> </a:t>
            </a:r>
            <a:r>
              <a:rPr lang="en-US" sz="3200" b="1" dirty="0"/>
              <a:t>divide unsigned numbers</a:t>
            </a:r>
            <a:r>
              <a:rPr lang="en-US" sz="3200" dirty="0"/>
              <a:t>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9733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1015" y="641028"/>
            <a:ext cx="11816862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b="1" dirty="0" smtClean="0"/>
              <a:t>Multiplying two </a:t>
            </a:r>
            <a:r>
              <a:rPr lang="en-US" sz="2800" b="1" i="1" dirty="0" smtClean="0"/>
              <a:t>N</a:t>
            </a:r>
            <a:r>
              <a:rPr lang="en-US" sz="2800" b="1" dirty="0" smtClean="0"/>
              <a:t>-bit numbers </a:t>
            </a:r>
            <a:r>
              <a:rPr lang="en-US" sz="2800" dirty="0" smtClean="0"/>
              <a:t>produces </a:t>
            </a:r>
            <a:r>
              <a:rPr lang="en-US" sz="2800" b="1" dirty="0"/>
              <a:t>a 2</a:t>
            </a:r>
            <a:r>
              <a:rPr lang="en-US" sz="2800" b="1" i="1" dirty="0"/>
              <a:t>N</a:t>
            </a:r>
            <a:r>
              <a:rPr lang="en-US" sz="2800" b="1" dirty="0"/>
              <a:t>-bit product.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RISC-V </a:t>
            </a:r>
            <a:r>
              <a:rPr lang="en-US" sz="2800" dirty="0"/>
              <a:t>architecture provides various </a:t>
            </a:r>
            <a:r>
              <a:rPr lang="en-US" sz="2800" i="1" dirty="0"/>
              <a:t>multiply instructions </a:t>
            </a:r>
            <a:r>
              <a:rPr lang="en-US" sz="2800" dirty="0"/>
              <a:t>that result </a:t>
            </a:r>
            <a:r>
              <a:rPr lang="en-US" sz="2800" dirty="0" smtClean="0"/>
              <a:t>in </a:t>
            </a:r>
            <a:r>
              <a:rPr lang="en-IN" sz="2800" b="1" dirty="0" smtClean="0"/>
              <a:t>32- </a:t>
            </a:r>
            <a:r>
              <a:rPr lang="en-IN" sz="2800" b="1" dirty="0"/>
              <a:t>or 64-bit </a:t>
            </a:r>
            <a:r>
              <a:rPr lang="en-IN" sz="2800" b="1" dirty="0" smtClean="0"/>
              <a:t>products.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i="1" dirty="0"/>
              <a:t>multiply </a:t>
            </a:r>
            <a:r>
              <a:rPr lang="en-US" sz="2800" dirty="0"/>
              <a:t>instruction </a:t>
            </a:r>
            <a:r>
              <a:rPr lang="en-US" sz="2800" b="1" dirty="0">
                <a:solidFill>
                  <a:srgbClr val="FF0000"/>
                </a:solidFill>
              </a:rPr>
              <a:t>(</a:t>
            </a:r>
            <a:r>
              <a:rPr lang="en-US" sz="2800" b="1" dirty="0" err="1">
                <a:solidFill>
                  <a:srgbClr val="FF0000"/>
                </a:solidFill>
              </a:rPr>
              <a:t>mul</a:t>
            </a:r>
            <a:r>
              <a:rPr lang="en-US" sz="2800" b="1" dirty="0">
                <a:solidFill>
                  <a:srgbClr val="FF0000"/>
                </a:solidFill>
              </a:rPr>
              <a:t>) </a:t>
            </a:r>
            <a:r>
              <a:rPr lang="en-US" sz="2800" dirty="0"/>
              <a:t>multiplies </a:t>
            </a:r>
            <a:r>
              <a:rPr lang="en-US" sz="2800" b="1" dirty="0"/>
              <a:t>two 32-bit numbers </a:t>
            </a:r>
            <a:r>
              <a:rPr lang="en-US" sz="2800" dirty="0" smtClean="0"/>
              <a:t>and produces </a:t>
            </a:r>
            <a:r>
              <a:rPr lang="en-US" sz="2800" dirty="0"/>
              <a:t>a </a:t>
            </a:r>
            <a:r>
              <a:rPr lang="en-US" sz="2800" b="1" dirty="0"/>
              <a:t>32-bit product</a:t>
            </a:r>
            <a:r>
              <a:rPr lang="en-US" sz="2800" dirty="0"/>
              <a:t>. </a:t>
            </a:r>
            <a:r>
              <a:rPr lang="en-US" sz="2800" dirty="0" smtClean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err="1" smtClean="0"/>
              <a:t>mul</a:t>
            </a:r>
            <a:r>
              <a:rPr lang="en-US" sz="2800" dirty="0" smtClean="0"/>
              <a:t> </a:t>
            </a:r>
            <a:r>
              <a:rPr lang="en-US" sz="2800" dirty="0"/>
              <a:t>s1, s2, s3 multiplies the values in </a:t>
            </a:r>
            <a:r>
              <a:rPr lang="en-US" sz="2800" dirty="0" smtClean="0"/>
              <a:t>s2 and </a:t>
            </a:r>
            <a:r>
              <a:rPr lang="en-US" sz="2800" dirty="0"/>
              <a:t>s3 and places the least significant 32 bits of the product in s1; </a:t>
            </a:r>
            <a:r>
              <a:rPr lang="en-US" sz="2800" dirty="0" smtClean="0"/>
              <a:t>the most </a:t>
            </a:r>
            <a:r>
              <a:rPr lang="en-US" sz="2800" dirty="0"/>
              <a:t>significant 32 bits of the product are discarded.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This </a:t>
            </a:r>
            <a:r>
              <a:rPr lang="en-US" sz="2800" dirty="0"/>
              <a:t>instruction </a:t>
            </a:r>
            <a:r>
              <a:rPr lang="en-US" sz="2800" dirty="0" smtClean="0"/>
              <a:t>is useful </a:t>
            </a:r>
            <a:r>
              <a:rPr lang="en-US" sz="2800" dirty="0"/>
              <a:t>for multiplying small numbers whose product fits in 32 bits.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bottom </a:t>
            </a:r>
            <a:r>
              <a:rPr lang="en-US" sz="2800" dirty="0"/>
              <a:t>32 bits of the product are the same whether the operands </a:t>
            </a:r>
            <a:r>
              <a:rPr lang="en-US" sz="2800" dirty="0" smtClean="0"/>
              <a:t>are viewed </a:t>
            </a:r>
            <a:r>
              <a:rPr lang="en-US" sz="2800" dirty="0"/>
              <a:t>as signed or unsigned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>
          <a:xfrm>
            <a:off x="393895" y="-5303"/>
            <a:ext cx="40767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 smtClean="0"/>
              <a:t>Multiply Instructions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419325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1015" y="641028"/>
            <a:ext cx="11816862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Three versions of the “</a:t>
            </a:r>
            <a:r>
              <a:rPr lang="en-US" sz="3200" b="1" dirty="0"/>
              <a:t>multiply high</a:t>
            </a:r>
            <a:r>
              <a:rPr lang="en-US" sz="3200" dirty="0"/>
              <a:t>” operation exist</a:t>
            </a:r>
            <a:r>
              <a:rPr lang="en-US" sz="3200" b="1" dirty="0"/>
              <a:t>: </a:t>
            </a:r>
            <a:r>
              <a:rPr lang="en-US" sz="3200" b="1" dirty="0" err="1"/>
              <a:t>mulh</a:t>
            </a:r>
            <a:r>
              <a:rPr lang="en-US" sz="3200" b="1" dirty="0"/>
              <a:t>, </a:t>
            </a:r>
            <a:r>
              <a:rPr lang="en-US" sz="3200" b="1" dirty="0" err="1" smtClean="0"/>
              <a:t>mulhsu</a:t>
            </a:r>
            <a:r>
              <a:rPr lang="en-US" sz="3200" b="1" dirty="0" smtClean="0"/>
              <a:t>, and </a:t>
            </a:r>
            <a:r>
              <a:rPr lang="en-US" sz="3200" b="1" dirty="0" err="1"/>
              <a:t>mulhu</a:t>
            </a:r>
            <a:r>
              <a:rPr lang="en-US" sz="3200" b="1" dirty="0"/>
              <a:t>.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These </a:t>
            </a:r>
            <a:r>
              <a:rPr lang="en-US" sz="3200" dirty="0"/>
              <a:t>instructions put the </a:t>
            </a:r>
            <a:r>
              <a:rPr lang="en-US" sz="3200" b="1" dirty="0"/>
              <a:t>high 32 bits </a:t>
            </a:r>
            <a:r>
              <a:rPr lang="en-US" sz="3200" dirty="0"/>
              <a:t>of the </a:t>
            </a:r>
            <a:r>
              <a:rPr lang="en-US" sz="3200" dirty="0" smtClean="0"/>
              <a:t>multiplication result </a:t>
            </a:r>
            <a:r>
              <a:rPr lang="en-US" sz="3200" dirty="0"/>
              <a:t>in the destination register. </a:t>
            </a:r>
            <a:r>
              <a:rPr lang="en-US" sz="3200" dirty="0" smtClean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err="1" smtClean="0"/>
              <a:t>mulh</a:t>
            </a:r>
            <a:r>
              <a:rPr lang="en-US" sz="3200" dirty="0" smtClean="0"/>
              <a:t> </a:t>
            </a:r>
            <a:r>
              <a:rPr lang="en-US" sz="3200" dirty="0"/>
              <a:t>(</a:t>
            </a:r>
            <a:r>
              <a:rPr lang="en-US" sz="3200" i="1" dirty="0"/>
              <a:t>multiply high signed signed</a:t>
            </a:r>
            <a:r>
              <a:rPr lang="en-US" sz="3200" dirty="0" smtClean="0"/>
              <a:t>) </a:t>
            </a:r>
            <a:r>
              <a:rPr lang="en-US" sz="3200" b="1" dirty="0"/>
              <a:t>treats both operands as signed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err="1" smtClean="0"/>
              <a:t>mulhsu</a:t>
            </a:r>
            <a:r>
              <a:rPr lang="en-US" sz="3200" dirty="0" smtClean="0"/>
              <a:t> </a:t>
            </a:r>
            <a:r>
              <a:rPr lang="en-US" sz="3200" dirty="0"/>
              <a:t>(</a:t>
            </a:r>
            <a:r>
              <a:rPr lang="en-US" sz="3200" i="1" dirty="0"/>
              <a:t>multiply high signed </a:t>
            </a:r>
            <a:r>
              <a:rPr lang="en-US" sz="3200" i="1" dirty="0" smtClean="0"/>
              <a:t>unsigned</a:t>
            </a:r>
            <a:r>
              <a:rPr lang="en-US" sz="3200" dirty="0" smtClean="0"/>
              <a:t>) </a:t>
            </a:r>
            <a:r>
              <a:rPr lang="en-US" sz="3200" b="1" dirty="0" smtClean="0"/>
              <a:t>treats </a:t>
            </a:r>
            <a:r>
              <a:rPr lang="en-US" sz="3200" b="1" dirty="0"/>
              <a:t>the first operand as signed and the second as unsigned,</a:t>
            </a:r>
            <a:r>
              <a:rPr lang="en-US" sz="3200" dirty="0"/>
              <a:t> and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err="1" smtClean="0"/>
              <a:t>mulhu</a:t>
            </a:r>
            <a:r>
              <a:rPr lang="en-US" sz="3200" dirty="0" smtClean="0"/>
              <a:t> (</a:t>
            </a:r>
            <a:r>
              <a:rPr lang="en-US" sz="3200" i="1" dirty="0" smtClean="0"/>
              <a:t>multiply </a:t>
            </a:r>
            <a:r>
              <a:rPr lang="en-US" sz="3200" i="1" dirty="0"/>
              <a:t>high unsigned unsigned</a:t>
            </a:r>
            <a:r>
              <a:rPr lang="en-US" sz="3200" dirty="0"/>
              <a:t>) </a:t>
            </a:r>
            <a:r>
              <a:rPr lang="en-US" sz="3200" b="1" dirty="0"/>
              <a:t>treats both operands as unsigned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</p:txBody>
      </p:sp>
      <p:sp>
        <p:nvSpPr>
          <p:cNvPr id="2" name="Rectangle 1"/>
          <p:cNvSpPr/>
          <p:nvPr/>
        </p:nvSpPr>
        <p:spPr>
          <a:xfrm>
            <a:off x="393895" y="-5303"/>
            <a:ext cx="40767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 smtClean="0"/>
              <a:t>Multiply Instructions</a:t>
            </a:r>
            <a:endParaRPr lang="en-IN" sz="3600" b="1" dirty="0"/>
          </a:p>
        </p:txBody>
      </p:sp>
      <p:sp>
        <p:nvSpPr>
          <p:cNvPr id="3" name="Rectangle 2"/>
          <p:cNvSpPr/>
          <p:nvPr/>
        </p:nvSpPr>
        <p:spPr>
          <a:xfrm>
            <a:off x="10170949" y="6128211"/>
            <a:ext cx="109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Page 334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8293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1015" y="641028"/>
            <a:ext cx="1181686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i="1" dirty="0"/>
              <a:t>Branch </a:t>
            </a:r>
            <a:r>
              <a:rPr lang="en-US" sz="3200" dirty="0"/>
              <a:t>instructions </a:t>
            </a:r>
            <a:r>
              <a:rPr lang="en-US" sz="3200" b="1" dirty="0"/>
              <a:t>modify the </a:t>
            </a:r>
            <a:r>
              <a:rPr lang="en-US" sz="3200" b="1" dirty="0" smtClean="0"/>
              <a:t>flow of </a:t>
            </a:r>
            <a:r>
              <a:rPr lang="en-US" sz="3200" b="1" dirty="0"/>
              <a:t>the program </a:t>
            </a:r>
            <a:r>
              <a:rPr lang="en-US" sz="3200" dirty="0"/>
              <a:t>so that the processor can </a:t>
            </a:r>
            <a:r>
              <a:rPr lang="en-US" sz="3200" b="1" dirty="0">
                <a:solidFill>
                  <a:srgbClr val="FF0000"/>
                </a:solidFill>
              </a:rPr>
              <a:t>fetch instructions that are </a:t>
            </a:r>
            <a:r>
              <a:rPr lang="en-US" sz="3200" b="1" dirty="0" smtClean="0">
                <a:solidFill>
                  <a:srgbClr val="FF0000"/>
                </a:solidFill>
              </a:rPr>
              <a:t>not in </a:t>
            </a:r>
            <a:r>
              <a:rPr lang="en-US" sz="3200" b="1" dirty="0">
                <a:solidFill>
                  <a:srgbClr val="FF0000"/>
                </a:solidFill>
              </a:rPr>
              <a:t>sequential order</a:t>
            </a:r>
            <a:r>
              <a:rPr lang="en-US" sz="3200" dirty="0"/>
              <a:t> in memory.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They </a:t>
            </a:r>
            <a:r>
              <a:rPr lang="en-US" sz="3200" dirty="0"/>
              <a:t>modify the PC to </a:t>
            </a:r>
            <a:r>
              <a:rPr lang="en-US" sz="3200" b="1" dirty="0">
                <a:solidFill>
                  <a:srgbClr val="FF0000"/>
                </a:solidFill>
              </a:rPr>
              <a:t>skip over </a:t>
            </a:r>
            <a:r>
              <a:rPr lang="en-US" sz="3200" b="1" dirty="0" smtClean="0">
                <a:solidFill>
                  <a:srgbClr val="FF0000"/>
                </a:solidFill>
              </a:rPr>
              <a:t>sections of </a:t>
            </a:r>
            <a:r>
              <a:rPr lang="en-US" sz="3200" b="1" dirty="0">
                <a:solidFill>
                  <a:srgbClr val="FF0000"/>
                </a:solidFill>
              </a:rPr>
              <a:t>code</a:t>
            </a:r>
            <a:r>
              <a:rPr lang="en-US" sz="3200" dirty="0"/>
              <a:t> or to </a:t>
            </a:r>
            <a:r>
              <a:rPr lang="en-US" sz="3200" b="1" dirty="0">
                <a:solidFill>
                  <a:srgbClr val="FF0000"/>
                </a:solidFill>
              </a:rPr>
              <a:t>repeat previous code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An </a:t>
            </a:r>
            <a:r>
              <a:rPr lang="en-US" sz="3200" dirty="0"/>
              <a:t>advantage of a computer </a:t>
            </a:r>
            <a:r>
              <a:rPr lang="en-US" sz="3200" dirty="0" smtClean="0"/>
              <a:t>over a </a:t>
            </a:r>
            <a:r>
              <a:rPr lang="en-US" sz="3200" dirty="0"/>
              <a:t>calculator is its </a:t>
            </a:r>
            <a:r>
              <a:rPr lang="en-US" sz="3200" b="1" dirty="0">
                <a:solidFill>
                  <a:srgbClr val="FF0000"/>
                </a:solidFill>
              </a:rPr>
              <a:t>ability to make decisions. </a:t>
            </a:r>
            <a:endParaRPr lang="en-US" sz="3200" b="1" dirty="0" smtClean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3895" y="-5303"/>
            <a:ext cx="2107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Branching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70949" y="6128211"/>
            <a:ext cx="109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Page 334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199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1015" y="641028"/>
            <a:ext cx="1181686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dirty="0"/>
              <a:t>computer performs </a:t>
            </a:r>
            <a:r>
              <a:rPr lang="en-US" sz="3200" b="1" dirty="0" smtClean="0"/>
              <a:t>different tasks </a:t>
            </a:r>
            <a:r>
              <a:rPr lang="en-US" sz="3200" b="1" dirty="0"/>
              <a:t>depending on the input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/>
              <a:t>example, </a:t>
            </a:r>
            <a:r>
              <a:rPr lang="en-US" sz="3200" i="1" dirty="0">
                <a:solidFill>
                  <a:srgbClr val="FF0000"/>
                </a:solidFill>
              </a:rPr>
              <a:t>if/else </a:t>
            </a:r>
            <a:r>
              <a:rPr lang="en-US" sz="3200" dirty="0" smtClean="0">
                <a:solidFill>
                  <a:srgbClr val="FF0000"/>
                </a:solidFill>
              </a:rPr>
              <a:t>statements, </a:t>
            </a:r>
            <a:r>
              <a:rPr lang="en-US" sz="3200" i="1" dirty="0" smtClean="0">
                <a:solidFill>
                  <a:srgbClr val="FF0000"/>
                </a:solidFill>
              </a:rPr>
              <a:t>switch/case </a:t>
            </a:r>
            <a:r>
              <a:rPr lang="en-US" sz="3200" dirty="0">
                <a:solidFill>
                  <a:srgbClr val="FF0000"/>
                </a:solidFill>
              </a:rPr>
              <a:t>statements, </a:t>
            </a:r>
            <a:r>
              <a:rPr lang="en-US" sz="3200" i="1" dirty="0">
                <a:solidFill>
                  <a:srgbClr val="FF0000"/>
                </a:solidFill>
              </a:rPr>
              <a:t>while </a:t>
            </a:r>
            <a:r>
              <a:rPr lang="en-US" sz="3200" dirty="0">
                <a:solidFill>
                  <a:srgbClr val="FF0000"/>
                </a:solidFill>
              </a:rPr>
              <a:t>loops, and </a:t>
            </a:r>
            <a:r>
              <a:rPr lang="en-US" sz="3200" i="1" dirty="0">
                <a:solidFill>
                  <a:srgbClr val="FF0000"/>
                </a:solidFill>
              </a:rPr>
              <a:t>for </a:t>
            </a:r>
            <a:r>
              <a:rPr lang="en-US" sz="3200" dirty="0" smtClean="0">
                <a:solidFill>
                  <a:srgbClr val="FF0000"/>
                </a:solidFill>
              </a:rPr>
              <a:t>loops </a:t>
            </a:r>
            <a:r>
              <a:rPr lang="en-US" sz="3200" dirty="0" smtClean="0"/>
              <a:t>- all </a:t>
            </a:r>
            <a:r>
              <a:rPr lang="en-US" sz="3200" b="1" dirty="0"/>
              <a:t>conditionally </a:t>
            </a:r>
            <a:r>
              <a:rPr lang="en-US" sz="3200" b="1" dirty="0" smtClean="0"/>
              <a:t>execute code </a:t>
            </a:r>
            <a:r>
              <a:rPr lang="en-US" sz="3200" dirty="0"/>
              <a:t>depending on some </a:t>
            </a:r>
            <a:r>
              <a:rPr lang="en-US" sz="3200" dirty="0" smtClean="0"/>
              <a:t>test.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i="1" dirty="0"/>
          </a:p>
          <a:p>
            <a:pPr marL="457200" indent="-457200">
              <a:buFont typeface="Arial" pitchFamily="34" charset="0"/>
              <a:buChar char="•"/>
            </a:pPr>
            <a:r>
              <a:rPr lang="en-IN" sz="3200" i="1" dirty="0" smtClean="0"/>
              <a:t>Conditional </a:t>
            </a:r>
            <a:r>
              <a:rPr lang="en-IN" sz="3200" i="1" dirty="0"/>
              <a:t>branch </a:t>
            </a:r>
            <a:r>
              <a:rPr lang="en-IN" sz="3200" dirty="0"/>
              <a:t>instructions </a:t>
            </a:r>
            <a:r>
              <a:rPr lang="en-IN" sz="3200" b="1" dirty="0" smtClean="0"/>
              <a:t>perform </a:t>
            </a:r>
            <a:r>
              <a:rPr lang="en-US" sz="3200" b="1" dirty="0" smtClean="0"/>
              <a:t>a </a:t>
            </a:r>
            <a:r>
              <a:rPr lang="en-US" sz="3200" b="1" dirty="0"/>
              <a:t>test</a:t>
            </a:r>
            <a:r>
              <a:rPr lang="en-US" sz="3200" dirty="0"/>
              <a:t> and </a:t>
            </a:r>
            <a:r>
              <a:rPr lang="en-US" sz="3200" b="1" dirty="0">
                <a:solidFill>
                  <a:srgbClr val="FF0000"/>
                </a:solidFill>
              </a:rPr>
              <a:t>branch only if the test is TRUE. </a:t>
            </a:r>
            <a:endParaRPr lang="en-US" sz="3200" b="1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>
                <a:solidFill>
                  <a:srgbClr val="FF0000"/>
                </a:solidFill>
              </a:rPr>
              <a:t>Unconditional branch </a:t>
            </a:r>
            <a:r>
              <a:rPr lang="en-US" sz="3200" dirty="0" smtClean="0"/>
              <a:t>instructions</a:t>
            </a:r>
            <a:r>
              <a:rPr lang="en-US" sz="3200" dirty="0"/>
              <a:t>, called </a:t>
            </a:r>
            <a:r>
              <a:rPr lang="en-US" sz="3200" b="1" i="1" dirty="0"/>
              <a:t>jumps</a:t>
            </a:r>
            <a:r>
              <a:rPr lang="en-US" sz="3200" dirty="0"/>
              <a:t>, always branch.</a:t>
            </a:r>
          </a:p>
        </p:txBody>
      </p:sp>
      <p:sp>
        <p:nvSpPr>
          <p:cNvPr id="2" name="Rectangle 1"/>
          <p:cNvSpPr/>
          <p:nvPr/>
        </p:nvSpPr>
        <p:spPr>
          <a:xfrm>
            <a:off x="393895" y="-5303"/>
            <a:ext cx="2107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Branching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70949" y="6128211"/>
            <a:ext cx="109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Page 334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76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42607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Conditional Branches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RISC-V instruction set has </a:t>
            </a:r>
            <a:r>
              <a:rPr lang="en-US" sz="3200" b="1" dirty="0">
                <a:solidFill>
                  <a:srgbClr val="FF0000"/>
                </a:solidFill>
              </a:rPr>
              <a:t>six conditional branch instructions</a:t>
            </a:r>
            <a:r>
              <a:rPr lang="en-US" sz="3200" dirty="0"/>
              <a:t>, </a:t>
            </a:r>
            <a:r>
              <a:rPr lang="en-US" sz="3200" dirty="0" smtClean="0"/>
              <a:t>each of </a:t>
            </a:r>
            <a:r>
              <a:rPr lang="en-US" sz="3200" dirty="0"/>
              <a:t>which take </a:t>
            </a:r>
            <a:r>
              <a:rPr lang="en-US" sz="3200" b="1" dirty="0"/>
              <a:t>two source registers</a:t>
            </a:r>
            <a:r>
              <a:rPr lang="en-US" sz="3200" dirty="0"/>
              <a:t> and </a:t>
            </a:r>
            <a:r>
              <a:rPr lang="en-US" sz="3200" b="1" dirty="0"/>
              <a:t>a label indicating where to go</a:t>
            </a:r>
            <a:r>
              <a:rPr lang="en-US" sz="3200" b="1" dirty="0" smtClean="0"/>
              <a:t>.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err="1" smtClean="0"/>
              <a:t>beq</a:t>
            </a:r>
            <a:r>
              <a:rPr lang="en-US" sz="3200" b="1" dirty="0" smtClean="0"/>
              <a:t> </a:t>
            </a:r>
            <a:r>
              <a:rPr lang="en-US" sz="3200" b="1" dirty="0"/>
              <a:t>(</a:t>
            </a:r>
            <a:r>
              <a:rPr lang="en-US" sz="3200" b="1" i="1" dirty="0"/>
              <a:t>branch if equal</a:t>
            </a:r>
            <a:r>
              <a:rPr lang="en-US" sz="3200" b="1" dirty="0"/>
              <a:t>) </a:t>
            </a:r>
            <a:r>
              <a:rPr lang="en-US" sz="3200" dirty="0"/>
              <a:t>branches when the values in the two source </a:t>
            </a:r>
            <a:r>
              <a:rPr lang="en-US" sz="3200" dirty="0" smtClean="0"/>
              <a:t>registers are </a:t>
            </a:r>
            <a:r>
              <a:rPr lang="en-US" sz="3200" dirty="0"/>
              <a:t>equal.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err="1" smtClean="0"/>
              <a:t>bne</a:t>
            </a:r>
            <a:r>
              <a:rPr lang="en-US" sz="3200" b="1" dirty="0" smtClean="0"/>
              <a:t> </a:t>
            </a:r>
            <a:r>
              <a:rPr lang="en-US" sz="3200" b="1" dirty="0"/>
              <a:t>(</a:t>
            </a:r>
            <a:r>
              <a:rPr lang="en-US" sz="3200" b="1" i="1" dirty="0"/>
              <a:t>branch if not equal</a:t>
            </a:r>
            <a:r>
              <a:rPr lang="en-US" sz="3200" b="1" dirty="0"/>
              <a:t>) </a:t>
            </a:r>
            <a:r>
              <a:rPr lang="en-US" sz="3200" dirty="0"/>
              <a:t>branches when they </a:t>
            </a:r>
            <a:r>
              <a:rPr lang="en-US" sz="3200" dirty="0" smtClean="0"/>
              <a:t>are unequal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err="1" smtClean="0"/>
              <a:t>blt</a:t>
            </a:r>
            <a:r>
              <a:rPr lang="en-US" sz="3200" b="1" dirty="0" smtClean="0"/>
              <a:t> </a:t>
            </a:r>
            <a:r>
              <a:rPr lang="en-US" sz="3200" b="1" dirty="0"/>
              <a:t>(</a:t>
            </a:r>
            <a:r>
              <a:rPr lang="en-US" sz="3200" b="1" i="1" dirty="0"/>
              <a:t>branch if less than</a:t>
            </a:r>
            <a:r>
              <a:rPr lang="en-US" sz="3200" b="1" dirty="0"/>
              <a:t>) </a:t>
            </a:r>
            <a:r>
              <a:rPr lang="en-US" sz="3200" dirty="0"/>
              <a:t>branches when the value in the </a:t>
            </a:r>
            <a:r>
              <a:rPr lang="en-US" sz="3200" dirty="0" smtClean="0"/>
              <a:t>first source </a:t>
            </a:r>
            <a:r>
              <a:rPr lang="en-US" sz="3200" dirty="0"/>
              <a:t>register is less than the value in the </a:t>
            </a:r>
            <a:r>
              <a:rPr lang="en-US" sz="3200" dirty="0" smtClean="0"/>
              <a:t>second</a:t>
            </a:r>
          </a:p>
        </p:txBody>
      </p:sp>
    </p:spTree>
    <p:extLst>
      <p:ext uri="{BB962C8B-B14F-4D97-AF65-F5344CB8AC3E}">
        <p14:creationId xmlns:p14="http://schemas.microsoft.com/office/powerpoint/2010/main" val="174783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42607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Conditional Branches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err="1" smtClean="0"/>
              <a:t>bge</a:t>
            </a:r>
            <a:r>
              <a:rPr lang="en-US" sz="3200" b="1" dirty="0" smtClean="0"/>
              <a:t> </a:t>
            </a:r>
            <a:r>
              <a:rPr lang="en-US" sz="3200" b="1" dirty="0"/>
              <a:t>(</a:t>
            </a:r>
            <a:r>
              <a:rPr lang="en-US" sz="3200" b="1" i="1" dirty="0"/>
              <a:t>branch </a:t>
            </a:r>
            <a:r>
              <a:rPr lang="en-US" sz="3200" b="1" i="1" dirty="0" smtClean="0"/>
              <a:t>if greater </a:t>
            </a:r>
            <a:r>
              <a:rPr lang="en-US" sz="3200" b="1" i="1" dirty="0"/>
              <a:t>than or equal to</a:t>
            </a:r>
            <a:r>
              <a:rPr lang="en-US" sz="3200" b="1" dirty="0"/>
              <a:t>)</a:t>
            </a:r>
            <a:r>
              <a:rPr lang="en-US" sz="3200" dirty="0"/>
              <a:t> branches when the first is greater than or </a:t>
            </a:r>
            <a:r>
              <a:rPr lang="en-US" sz="3200" dirty="0" smtClean="0"/>
              <a:t>equal to </a:t>
            </a:r>
            <a:r>
              <a:rPr lang="en-US" sz="3200" dirty="0"/>
              <a:t>the second.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err="1" smtClean="0"/>
              <a:t>blt</a:t>
            </a:r>
            <a:r>
              <a:rPr lang="en-US" sz="3200" b="1" dirty="0" smtClean="0"/>
              <a:t> </a:t>
            </a:r>
            <a:r>
              <a:rPr lang="en-US" sz="3200" b="1" dirty="0"/>
              <a:t>and </a:t>
            </a:r>
            <a:r>
              <a:rPr lang="en-US" sz="3200" b="1" dirty="0" err="1"/>
              <a:t>bge</a:t>
            </a:r>
            <a:r>
              <a:rPr lang="en-US" sz="3200" b="1" dirty="0"/>
              <a:t> </a:t>
            </a:r>
            <a:r>
              <a:rPr lang="en-US" sz="3200" dirty="0"/>
              <a:t>treat the operands as signed numbers, </a:t>
            </a:r>
            <a:r>
              <a:rPr lang="en-US" sz="3200" dirty="0" smtClean="0"/>
              <a:t>while </a:t>
            </a:r>
            <a:r>
              <a:rPr lang="en-US" sz="3200" b="1" dirty="0" err="1" smtClean="0"/>
              <a:t>bltu</a:t>
            </a:r>
            <a:r>
              <a:rPr lang="en-US" sz="3200" b="1" dirty="0" smtClean="0"/>
              <a:t> </a:t>
            </a:r>
            <a:r>
              <a:rPr lang="en-US" sz="3200" b="1" dirty="0"/>
              <a:t>and </a:t>
            </a:r>
            <a:r>
              <a:rPr lang="en-US" sz="3200" b="1" dirty="0" err="1"/>
              <a:t>bgeu</a:t>
            </a:r>
            <a:r>
              <a:rPr lang="en-US" sz="3200" b="1" dirty="0"/>
              <a:t> </a:t>
            </a:r>
            <a:r>
              <a:rPr lang="en-US" sz="3200" dirty="0"/>
              <a:t>treat the operands as unsigned.</a:t>
            </a:r>
          </a:p>
        </p:txBody>
      </p:sp>
    </p:spTree>
    <p:extLst>
      <p:ext uri="{BB962C8B-B14F-4D97-AF65-F5344CB8AC3E}">
        <p14:creationId xmlns:p14="http://schemas.microsoft.com/office/powerpoint/2010/main" val="3180803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42607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Conditional Branches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Assembly code uses </a:t>
            </a:r>
            <a:r>
              <a:rPr lang="en-US" sz="3200" b="1" i="1" dirty="0"/>
              <a:t>labels</a:t>
            </a:r>
            <a:r>
              <a:rPr lang="en-US" sz="3200" i="1" dirty="0"/>
              <a:t> </a:t>
            </a:r>
            <a:r>
              <a:rPr lang="en-US" sz="3200" dirty="0"/>
              <a:t>to </a:t>
            </a:r>
            <a:r>
              <a:rPr lang="en-US" sz="3200" b="1" dirty="0">
                <a:solidFill>
                  <a:srgbClr val="FF0000"/>
                </a:solidFill>
              </a:rPr>
              <a:t>indicate instruction locations </a:t>
            </a:r>
            <a:r>
              <a:rPr lang="en-US" sz="3200" dirty="0"/>
              <a:t>in </a:t>
            </a:r>
            <a:r>
              <a:rPr lang="en-US" sz="3200" dirty="0" smtClean="0"/>
              <a:t>the program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b="1" dirty="0"/>
              <a:t>label refers to the instruction</a:t>
            </a:r>
            <a:r>
              <a:rPr lang="en-US" sz="3200" dirty="0"/>
              <a:t> just after the label.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When the assembly </a:t>
            </a:r>
            <a:r>
              <a:rPr lang="en-US" sz="3200" dirty="0"/>
              <a:t>code is translated into machine code, these labels </a:t>
            </a:r>
            <a:r>
              <a:rPr lang="en-US" sz="3200" dirty="0" smtClean="0"/>
              <a:t>correspond to </a:t>
            </a:r>
            <a:r>
              <a:rPr lang="en-US" sz="3200" dirty="0"/>
              <a:t>instruction addresses 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RISC-V </a:t>
            </a:r>
            <a:r>
              <a:rPr lang="en-US" sz="3200" dirty="0"/>
              <a:t>assembly labels are </a:t>
            </a:r>
            <a:r>
              <a:rPr lang="en-US" sz="3200" b="1" dirty="0"/>
              <a:t>followed by a colon (:).</a:t>
            </a:r>
          </a:p>
        </p:txBody>
      </p:sp>
    </p:spTree>
    <p:extLst>
      <p:ext uri="{BB962C8B-B14F-4D97-AF65-F5344CB8AC3E}">
        <p14:creationId xmlns:p14="http://schemas.microsoft.com/office/powerpoint/2010/main" val="287406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42607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Conditional Branches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25" t="11905" r="14662" b="66667"/>
          <a:stretch/>
        </p:blipFill>
        <p:spPr bwMode="auto">
          <a:xfrm>
            <a:off x="638628" y="870857"/>
            <a:ext cx="11137102" cy="3644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26154" y="4728427"/>
            <a:ext cx="115495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400" dirty="0"/>
              <a:t>When the </a:t>
            </a:r>
            <a:r>
              <a:rPr lang="en-IN" sz="2400" dirty="0" smtClean="0"/>
              <a:t>program </a:t>
            </a:r>
            <a:r>
              <a:rPr lang="en-US" sz="2400" dirty="0" smtClean="0"/>
              <a:t>reaches </a:t>
            </a:r>
            <a:r>
              <a:rPr lang="en-US" sz="2400" dirty="0"/>
              <a:t>the branch if equal instruction (</a:t>
            </a:r>
            <a:r>
              <a:rPr lang="en-US" sz="2400" dirty="0" err="1"/>
              <a:t>beq</a:t>
            </a:r>
            <a:r>
              <a:rPr lang="en-US" sz="2400" dirty="0"/>
              <a:t>), the value in s0 is equal </a:t>
            </a:r>
            <a:r>
              <a:rPr lang="en-US" sz="2400" dirty="0" smtClean="0"/>
              <a:t>to the </a:t>
            </a:r>
            <a:r>
              <a:rPr lang="en-US" sz="2400" dirty="0"/>
              <a:t>value in s1, so the branch is taken.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Thus</a:t>
            </a:r>
            <a:r>
              <a:rPr lang="en-US" sz="2400" dirty="0"/>
              <a:t>, the next instruction </a:t>
            </a:r>
            <a:r>
              <a:rPr lang="en-US" sz="2400" dirty="0" smtClean="0"/>
              <a:t>executed is </a:t>
            </a:r>
            <a:r>
              <a:rPr lang="en-US" sz="2400" dirty="0"/>
              <a:t>the add instruction just after the label called target.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 err="1"/>
              <a:t>addi</a:t>
            </a:r>
            <a:r>
              <a:rPr lang="en-US" sz="2400" dirty="0"/>
              <a:t> and </a:t>
            </a:r>
            <a:r>
              <a:rPr lang="en-US" sz="2400" dirty="0" smtClean="0"/>
              <a:t>sub instructions </a:t>
            </a:r>
            <a:r>
              <a:rPr lang="en-US" sz="2400" dirty="0"/>
              <a:t>between the branch and the label are not executed.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2248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42607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Conditional Branches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25" t="65476" r="13993" b="11309"/>
          <a:stretch/>
        </p:blipFill>
        <p:spPr bwMode="auto">
          <a:xfrm>
            <a:off x="393894" y="641027"/>
            <a:ext cx="11113477" cy="3869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094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14350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Jumps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dirty="0"/>
              <a:t>program can jump—that is, unconditionally branch—using one </a:t>
            </a:r>
            <a:r>
              <a:rPr lang="en-US" sz="3200" dirty="0" smtClean="0"/>
              <a:t>of three </a:t>
            </a:r>
            <a:r>
              <a:rPr lang="en-US" sz="3200" dirty="0"/>
              <a:t>instructions: </a:t>
            </a:r>
            <a:r>
              <a:rPr lang="en-US" sz="3200" b="1" i="1" dirty="0"/>
              <a:t>jump </a:t>
            </a:r>
            <a:r>
              <a:rPr lang="en-US" sz="3200" b="1" dirty="0"/>
              <a:t>(j), </a:t>
            </a:r>
            <a:r>
              <a:rPr lang="en-US" sz="3200" b="1" i="1" dirty="0"/>
              <a:t>jump and link </a:t>
            </a:r>
            <a:r>
              <a:rPr lang="en-US" sz="3200" b="1" dirty="0"/>
              <a:t>(</a:t>
            </a:r>
            <a:r>
              <a:rPr lang="en-US" sz="3200" b="1" dirty="0" err="1"/>
              <a:t>jal</a:t>
            </a:r>
            <a:r>
              <a:rPr lang="en-US" sz="3200" b="1" dirty="0"/>
              <a:t>), or </a:t>
            </a:r>
            <a:r>
              <a:rPr lang="en-US" sz="3200" b="1" i="1" dirty="0"/>
              <a:t>jump register </a:t>
            </a:r>
            <a:r>
              <a:rPr lang="en-US" sz="3200" b="1" dirty="0"/>
              <a:t>(</a:t>
            </a:r>
            <a:r>
              <a:rPr lang="en-US" sz="3200" b="1" dirty="0" err="1"/>
              <a:t>jr</a:t>
            </a:r>
            <a:r>
              <a:rPr lang="en-US" sz="3200" b="1" dirty="0" smtClean="0"/>
              <a:t>).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j jumps </a:t>
            </a:r>
            <a:r>
              <a:rPr lang="en-US" sz="3200" dirty="0"/>
              <a:t>directly to the instruction at the specified label.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i="1" dirty="0"/>
              <a:t>jump and link </a:t>
            </a:r>
            <a:r>
              <a:rPr lang="en-US" sz="3200" b="1" dirty="0"/>
              <a:t>instruction (</a:t>
            </a:r>
            <a:r>
              <a:rPr lang="en-US" sz="3200" b="1" dirty="0" err="1"/>
              <a:t>jal</a:t>
            </a:r>
            <a:r>
              <a:rPr lang="en-US" sz="3200" b="1" dirty="0"/>
              <a:t>) </a:t>
            </a:r>
            <a:r>
              <a:rPr lang="en-US" sz="3200" b="1" dirty="0" smtClean="0"/>
              <a:t>is used </a:t>
            </a:r>
            <a:r>
              <a:rPr lang="en-US" sz="3200" dirty="0" smtClean="0"/>
              <a:t>to </a:t>
            </a:r>
            <a:r>
              <a:rPr lang="en-US" sz="3200" dirty="0"/>
              <a:t>call a </a:t>
            </a:r>
            <a:r>
              <a:rPr lang="en-US" sz="3200" dirty="0" smtClean="0"/>
              <a:t>function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and </a:t>
            </a:r>
            <a:r>
              <a:rPr lang="en-US" sz="3200" dirty="0"/>
              <a:t>the </a:t>
            </a:r>
            <a:r>
              <a:rPr lang="en-US" sz="3200" b="1" i="1" dirty="0"/>
              <a:t>jump register </a:t>
            </a:r>
            <a:r>
              <a:rPr lang="en-US" sz="3200" b="1" dirty="0"/>
              <a:t>instruction (</a:t>
            </a:r>
            <a:r>
              <a:rPr lang="en-US" sz="3200" b="1" dirty="0" err="1"/>
              <a:t>jr</a:t>
            </a:r>
            <a:r>
              <a:rPr lang="en-US" sz="3200" b="1" dirty="0" smtClean="0"/>
              <a:t>)</a:t>
            </a:r>
            <a:r>
              <a:rPr lang="en-US" sz="3200" dirty="0" smtClean="0"/>
              <a:t> is used </a:t>
            </a:r>
            <a:r>
              <a:rPr lang="en-US" sz="3200" dirty="0"/>
              <a:t>to return from a function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987487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31" t="37897" r="27937" b="41468"/>
          <a:stretch/>
        </p:blipFill>
        <p:spPr bwMode="auto">
          <a:xfrm>
            <a:off x="393895" y="0"/>
            <a:ext cx="11453580" cy="368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393895" y="3687840"/>
            <a:ext cx="118168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Code </a:t>
            </a:r>
            <a:r>
              <a:rPr lang="en-US" sz="3200" dirty="0"/>
              <a:t>Example </a:t>
            </a:r>
            <a:r>
              <a:rPr lang="en-US" sz="3200" dirty="0" smtClean="0"/>
              <a:t>shows </a:t>
            </a:r>
            <a:r>
              <a:rPr lang="en-US" sz="3200" dirty="0"/>
              <a:t>the use of the j (jump) instruction to skip over three </a:t>
            </a:r>
            <a:r>
              <a:rPr lang="en-US" sz="3200" dirty="0" smtClean="0"/>
              <a:t>instructions and </a:t>
            </a:r>
            <a:r>
              <a:rPr lang="en-US" sz="3200" dirty="0"/>
              <a:t>continue at the add instruction after the label target. </a:t>
            </a:r>
            <a:r>
              <a:rPr lang="en-US" sz="3200" dirty="0" smtClean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After </a:t>
            </a:r>
            <a:r>
              <a:rPr lang="en-US" sz="3200" dirty="0"/>
              <a:t>the </a:t>
            </a:r>
            <a:r>
              <a:rPr lang="en-US" sz="3200" b="1" dirty="0" smtClean="0"/>
              <a:t>j </a:t>
            </a:r>
            <a:r>
              <a:rPr lang="en-US" sz="3200" dirty="0" smtClean="0"/>
              <a:t>instruction </a:t>
            </a:r>
            <a:r>
              <a:rPr lang="en-US" sz="3200" dirty="0"/>
              <a:t>executes, this program unconditionally continues </a:t>
            </a:r>
            <a:r>
              <a:rPr lang="en-US" sz="3200" dirty="0" smtClean="0"/>
              <a:t>executing the </a:t>
            </a:r>
            <a:r>
              <a:rPr lang="en-US" sz="3200" dirty="0"/>
              <a:t>add instruction at the label target. </a:t>
            </a:r>
            <a:r>
              <a:rPr lang="en-US" sz="3200" dirty="0" smtClean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All </a:t>
            </a:r>
            <a:r>
              <a:rPr lang="en-US" sz="3200" dirty="0"/>
              <a:t>of the instructions </a:t>
            </a:r>
            <a:r>
              <a:rPr lang="en-US" sz="3200" dirty="0" smtClean="0"/>
              <a:t>between the </a:t>
            </a:r>
            <a:r>
              <a:rPr lang="en-US" sz="3200" dirty="0"/>
              <a:t>jump and the label are skipped. </a:t>
            </a:r>
          </a:p>
        </p:txBody>
      </p:sp>
    </p:spTree>
    <p:extLst>
      <p:ext uri="{BB962C8B-B14F-4D97-AF65-F5344CB8AC3E}">
        <p14:creationId xmlns:p14="http://schemas.microsoft.com/office/powerpoint/2010/main" val="392058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46117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Conditional Statements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If, if/else, and switch/case statements are conditional statements </a:t>
            </a:r>
            <a:r>
              <a:rPr lang="en-US" sz="3200" dirty="0" smtClean="0"/>
              <a:t>commonly used </a:t>
            </a:r>
            <a:r>
              <a:rPr lang="en-US" sz="3200" dirty="0"/>
              <a:t>in high-level languages.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They </a:t>
            </a:r>
            <a:r>
              <a:rPr lang="en-US" sz="3200" dirty="0"/>
              <a:t>each conditionally execute </a:t>
            </a:r>
            <a:r>
              <a:rPr lang="en-US" sz="3200" dirty="0" smtClean="0"/>
              <a:t>a </a:t>
            </a:r>
            <a:r>
              <a:rPr lang="en-US" sz="3200" i="1" dirty="0" smtClean="0"/>
              <a:t>block </a:t>
            </a:r>
            <a:r>
              <a:rPr lang="en-US" sz="3200" dirty="0"/>
              <a:t>of code consisting of one or more statements</a:t>
            </a:r>
          </a:p>
        </p:txBody>
      </p:sp>
    </p:spTree>
    <p:extLst>
      <p:ext uri="{BB962C8B-B14F-4D97-AF65-F5344CB8AC3E}">
        <p14:creationId xmlns:p14="http://schemas.microsoft.com/office/powerpoint/2010/main" val="28457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2688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If Statements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An </a:t>
            </a:r>
            <a:r>
              <a:rPr lang="en-US" sz="3200" b="1" i="1" dirty="0"/>
              <a:t>if </a:t>
            </a:r>
            <a:r>
              <a:rPr lang="en-US" sz="3200" b="1" dirty="0"/>
              <a:t>statement executes </a:t>
            </a:r>
            <a:r>
              <a:rPr lang="en-US" sz="3200" dirty="0"/>
              <a:t>a block of code, the </a:t>
            </a:r>
            <a:r>
              <a:rPr lang="en-US" sz="3200" i="1" dirty="0"/>
              <a:t>if block</a:t>
            </a:r>
            <a:r>
              <a:rPr lang="en-US" sz="3200" dirty="0"/>
              <a:t>, only when a</a:t>
            </a:r>
          </a:p>
          <a:p>
            <a:r>
              <a:rPr lang="en-IN" sz="3200" b="1" dirty="0"/>
              <a:t>condition is met.</a:t>
            </a:r>
            <a:endParaRPr lang="en-US" sz="32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97" t="47024" r="27825" b="33928"/>
          <a:stretch/>
        </p:blipFill>
        <p:spPr bwMode="auto">
          <a:xfrm>
            <a:off x="393895" y="1718246"/>
            <a:ext cx="10930597" cy="32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11015" y="5090555"/>
            <a:ext cx="1181686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The assembly code for the if </a:t>
            </a:r>
            <a:r>
              <a:rPr lang="en-US" sz="2000" dirty="0" smtClean="0"/>
              <a:t>statement tests </a:t>
            </a:r>
            <a:r>
              <a:rPr lang="en-US" sz="2000" dirty="0"/>
              <a:t>the opposite condition of the one in the high-level code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/>
              <a:t>In Code Example, </a:t>
            </a:r>
            <a:r>
              <a:rPr lang="en-US" sz="2000" dirty="0"/>
              <a:t>the high-level code tests for apples = = oranges. </a:t>
            </a:r>
            <a:endParaRPr lang="en-US" sz="20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/>
              <a:t>The assembly </a:t>
            </a:r>
            <a:r>
              <a:rPr lang="en-US" sz="2000" dirty="0"/>
              <a:t>code tests for apples != oranges using </a:t>
            </a:r>
            <a:r>
              <a:rPr lang="en-US" sz="2000" dirty="0" err="1"/>
              <a:t>bne</a:t>
            </a:r>
            <a:r>
              <a:rPr lang="en-US" sz="2000" dirty="0"/>
              <a:t> to skip the if </a:t>
            </a:r>
            <a:r>
              <a:rPr lang="en-US" sz="2000" dirty="0" smtClean="0"/>
              <a:t>block if </a:t>
            </a:r>
            <a:r>
              <a:rPr lang="en-US" sz="2000" dirty="0"/>
              <a:t>the condition is not </a:t>
            </a:r>
            <a:r>
              <a:rPr lang="en-US" sz="2000" dirty="0" smtClean="0"/>
              <a:t>satisfied.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/>
              <a:t>Otherwise </a:t>
            </a:r>
            <a:r>
              <a:rPr lang="en-US" sz="2000" dirty="0"/>
              <a:t>(i.e., when apples = = oranges</a:t>
            </a:r>
            <a:r>
              <a:rPr lang="en-US" sz="2000" dirty="0" smtClean="0"/>
              <a:t>), the </a:t>
            </a:r>
            <a:r>
              <a:rPr lang="en-US" sz="2000" dirty="0"/>
              <a:t>branch is not taken, and the if block is executed.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1638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46871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If/else </a:t>
            </a:r>
            <a:r>
              <a:rPr lang="en-IN" sz="3600" b="1" dirty="0" smtClean="0"/>
              <a:t>Statements : 337</a:t>
            </a:r>
            <a:endParaRPr lang="en-IN" sz="3600" b="1" dirty="0"/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i="1" dirty="0"/>
              <a:t>If/else </a:t>
            </a:r>
            <a:r>
              <a:rPr lang="en-US" sz="3200" dirty="0"/>
              <a:t>statements execute one of two blocks of code, depending on </a:t>
            </a:r>
            <a:r>
              <a:rPr lang="en-US" sz="3200" dirty="0" smtClean="0"/>
              <a:t>a condition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When </a:t>
            </a:r>
            <a:r>
              <a:rPr lang="en-US" sz="3200" dirty="0"/>
              <a:t>the condition in the if statement is met, the </a:t>
            </a:r>
            <a:r>
              <a:rPr lang="en-US" sz="3200" i="1" dirty="0"/>
              <a:t>if </a:t>
            </a:r>
            <a:r>
              <a:rPr lang="en-US" sz="3200" dirty="0" smtClean="0"/>
              <a:t>block is </a:t>
            </a:r>
            <a:r>
              <a:rPr lang="en-US" sz="3200" dirty="0"/>
              <a:t>executed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Otherwise</a:t>
            </a:r>
            <a:r>
              <a:rPr lang="en-US" sz="3200" dirty="0"/>
              <a:t>, the </a:t>
            </a:r>
            <a:r>
              <a:rPr lang="en-US" sz="3200" i="1" dirty="0"/>
              <a:t>else </a:t>
            </a:r>
            <a:r>
              <a:rPr lang="en-US" sz="3200" dirty="0"/>
              <a:t>block is executed.</a:t>
            </a:r>
            <a:endParaRPr lang="en-US" sz="32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15" t="50000" r="7557" b="17659"/>
          <a:stretch/>
        </p:blipFill>
        <p:spPr bwMode="auto">
          <a:xfrm>
            <a:off x="618979" y="3195573"/>
            <a:ext cx="10366005" cy="3514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467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46646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Switch/case </a:t>
            </a:r>
            <a:r>
              <a:rPr lang="en-IN" sz="3600" b="1" dirty="0" smtClean="0"/>
              <a:t>Statements</a:t>
            </a:r>
            <a:endParaRPr lang="en-IN" sz="3600" b="1" dirty="0"/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i="1" dirty="0"/>
              <a:t>Switch/case </a:t>
            </a:r>
            <a:r>
              <a:rPr lang="en-US" sz="3200" dirty="0"/>
              <a:t>statements, also called simply </a:t>
            </a:r>
            <a:r>
              <a:rPr lang="en-US" sz="3200" b="1" i="1" dirty="0"/>
              <a:t>case </a:t>
            </a:r>
            <a:r>
              <a:rPr lang="en-US" sz="3200" b="1" dirty="0"/>
              <a:t>statements</a:t>
            </a:r>
            <a:r>
              <a:rPr lang="en-US" sz="3200" dirty="0"/>
              <a:t>, </a:t>
            </a:r>
            <a:r>
              <a:rPr lang="en-US" sz="3200" dirty="0" smtClean="0"/>
              <a:t>execute </a:t>
            </a:r>
            <a:r>
              <a:rPr lang="en-US" sz="3200" b="1" dirty="0" smtClean="0"/>
              <a:t>one </a:t>
            </a:r>
            <a:r>
              <a:rPr lang="en-US" sz="3200" b="1" dirty="0"/>
              <a:t>of several blocks of code</a:t>
            </a:r>
            <a:r>
              <a:rPr lang="en-US" sz="3200" dirty="0"/>
              <a:t>, depending on the conditions.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If </a:t>
            </a:r>
            <a:r>
              <a:rPr lang="en-US" sz="3200" dirty="0"/>
              <a:t>no </a:t>
            </a:r>
            <a:r>
              <a:rPr lang="en-US" sz="3200" dirty="0" smtClean="0"/>
              <a:t>conditions are </a:t>
            </a:r>
            <a:r>
              <a:rPr lang="en-US" sz="3200" dirty="0"/>
              <a:t>met, the </a:t>
            </a:r>
            <a:r>
              <a:rPr lang="en-US" sz="3200" b="1" i="1" dirty="0"/>
              <a:t>default </a:t>
            </a:r>
            <a:r>
              <a:rPr lang="en-US" sz="3200" b="1" dirty="0"/>
              <a:t>block </a:t>
            </a:r>
            <a:r>
              <a:rPr lang="en-US" sz="3200" dirty="0"/>
              <a:t>is executed.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dirty="0"/>
              <a:t>case statement </a:t>
            </a:r>
            <a:r>
              <a:rPr lang="en-US" sz="3200" dirty="0" smtClean="0"/>
              <a:t>is equivalent </a:t>
            </a:r>
            <a:r>
              <a:rPr lang="en-US" sz="3200" dirty="0"/>
              <a:t>to a </a:t>
            </a:r>
            <a:r>
              <a:rPr lang="en-US" sz="3200" b="1" dirty="0"/>
              <a:t>series of nested if/else</a:t>
            </a:r>
            <a:r>
              <a:rPr lang="en-US" sz="3200" dirty="0"/>
              <a:t> statements.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7370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40" t="11111" r="6296" b="11707"/>
          <a:stretch/>
        </p:blipFill>
        <p:spPr bwMode="auto">
          <a:xfrm>
            <a:off x="1024484" y="0"/>
            <a:ext cx="879728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396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13147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 smtClean="0"/>
              <a:t>Loops</a:t>
            </a:r>
            <a:endParaRPr lang="en-IN" sz="3600" b="1" dirty="0"/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Loops </a:t>
            </a:r>
            <a:r>
              <a:rPr lang="en-US" sz="3200" b="1" dirty="0"/>
              <a:t>repeatedly execute a block of code</a:t>
            </a:r>
            <a:r>
              <a:rPr lang="en-US" sz="3200" dirty="0"/>
              <a:t>, depending on a condition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/>
              <a:t>While loops </a:t>
            </a:r>
            <a:r>
              <a:rPr lang="en-US" sz="3200" dirty="0"/>
              <a:t>and </a:t>
            </a:r>
            <a:r>
              <a:rPr lang="en-US" sz="3200" b="1" dirty="0"/>
              <a:t>for loops </a:t>
            </a:r>
            <a:r>
              <a:rPr lang="en-US" sz="3200" dirty="0"/>
              <a:t>are commonly used in high-level languages.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14575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25106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While </a:t>
            </a:r>
            <a:r>
              <a:rPr lang="en-IN" sz="3600" b="1" dirty="0" smtClean="0"/>
              <a:t>Loops</a:t>
            </a:r>
            <a:endParaRPr lang="en-IN" sz="3600" b="1" dirty="0"/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i="1" dirty="0"/>
              <a:t>While </a:t>
            </a:r>
            <a:r>
              <a:rPr lang="en-US" sz="3200" dirty="0"/>
              <a:t>loops repeatedly execute a block of code while a condition is </a:t>
            </a:r>
            <a:r>
              <a:rPr lang="en-US" sz="3200" dirty="0" smtClean="0"/>
              <a:t>met— that </a:t>
            </a:r>
            <a:r>
              <a:rPr lang="en-US" sz="3200" dirty="0"/>
              <a:t>is, </a:t>
            </a:r>
            <a:r>
              <a:rPr lang="en-US" sz="3200" i="1" dirty="0"/>
              <a:t>until </a:t>
            </a:r>
            <a:r>
              <a:rPr lang="en-US" sz="3200" dirty="0"/>
              <a:t>a condition is </a:t>
            </a:r>
            <a:r>
              <a:rPr lang="en-US" sz="3200" i="1" dirty="0"/>
              <a:t>not </a:t>
            </a:r>
            <a:r>
              <a:rPr lang="en-US" sz="3200" dirty="0" smtClean="0"/>
              <a:t>met.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88" t="26389" r="27156" b="39285"/>
          <a:stretch/>
        </p:blipFill>
        <p:spPr bwMode="auto">
          <a:xfrm>
            <a:off x="454384" y="1901255"/>
            <a:ext cx="11268095" cy="4837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57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25106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While </a:t>
            </a:r>
            <a:r>
              <a:rPr lang="en-IN" sz="3600" b="1" dirty="0" smtClean="0"/>
              <a:t>Loops</a:t>
            </a:r>
            <a:endParaRPr lang="en-IN" sz="3600" b="1" dirty="0"/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b="1" i="1" dirty="0" smtClean="0"/>
              <a:t>Do/while </a:t>
            </a:r>
            <a:r>
              <a:rPr lang="en-US" sz="3200" b="1" dirty="0"/>
              <a:t>loops </a:t>
            </a:r>
            <a:r>
              <a:rPr lang="en-US" sz="3200" dirty="0"/>
              <a:t>are similar to while loops, but they execute the </a:t>
            </a:r>
            <a:r>
              <a:rPr lang="en-US" sz="3200" dirty="0" smtClean="0"/>
              <a:t>body of </a:t>
            </a:r>
            <a:r>
              <a:rPr lang="en-US" sz="3200" dirty="0"/>
              <a:t>the loop once before checking the condition.</a:t>
            </a:r>
            <a:endParaRPr lang="en-US" sz="32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63" t="29166" r="11650" b="39088"/>
          <a:stretch/>
        </p:blipFill>
        <p:spPr bwMode="auto">
          <a:xfrm>
            <a:off x="118122" y="2059332"/>
            <a:ext cx="11870682" cy="4784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459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20352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For Loops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It is very common to initialize a variable before a while loop, </a:t>
            </a:r>
            <a:r>
              <a:rPr lang="en-US" sz="3200" dirty="0" smtClean="0"/>
              <a:t>check that </a:t>
            </a:r>
            <a:r>
              <a:rPr lang="en-US" sz="3200" dirty="0"/>
              <a:t>variable in the loop condition, and change that variable each </a:t>
            </a:r>
            <a:r>
              <a:rPr lang="en-US" sz="3200" dirty="0" smtClean="0"/>
              <a:t>time through </a:t>
            </a:r>
            <a:r>
              <a:rPr lang="en-US" sz="3200" dirty="0"/>
              <a:t>the while loop.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i="1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smtClean="0"/>
              <a:t>For </a:t>
            </a:r>
            <a:r>
              <a:rPr lang="en-US" sz="3200" dirty="0"/>
              <a:t>loops are a convenient shorthand that </a:t>
            </a:r>
            <a:r>
              <a:rPr lang="en-US" sz="3200" dirty="0" smtClean="0"/>
              <a:t>combines the </a:t>
            </a:r>
            <a:r>
              <a:rPr lang="en-US" sz="3200" dirty="0"/>
              <a:t>initialization, condition check, and variable change in </a:t>
            </a:r>
            <a:r>
              <a:rPr lang="en-US" sz="3200" dirty="0" smtClean="0"/>
              <a:t>one place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high-level code format of the for loop is:</a:t>
            </a:r>
            <a:endParaRPr lang="en-US" sz="3200" b="1" dirty="0"/>
          </a:p>
        </p:txBody>
      </p:sp>
      <p:sp>
        <p:nvSpPr>
          <p:cNvPr id="3" name="Rectangle 2"/>
          <p:cNvSpPr/>
          <p:nvPr/>
        </p:nvSpPr>
        <p:spPr>
          <a:xfrm>
            <a:off x="1575583" y="4793958"/>
            <a:ext cx="91580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for (initialization; condition; loop operation)</a:t>
            </a:r>
          </a:p>
          <a:p>
            <a:r>
              <a:rPr lang="en-IN" sz="3600" b="1" dirty="0" smtClean="0"/>
              <a:t>	statement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47943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20352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For Loops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75138" y="2469828"/>
            <a:ext cx="118168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initialization code executes </a:t>
            </a:r>
            <a:r>
              <a:rPr lang="en-US" sz="3200" i="1" dirty="0"/>
              <a:t>before </a:t>
            </a:r>
            <a:r>
              <a:rPr lang="en-US" sz="3200" dirty="0"/>
              <a:t>the for loop begins.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condition is </a:t>
            </a:r>
            <a:r>
              <a:rPr lang="en-US" sz="3200" dirty="0"/>
              <a:t>tested at the </a:t>
            </a:r>
            <a:r>
              <a:rPr lang="en-US" sz="3200" i="1" dirty="0"/>
              <a:t>beginning of each </a:t>
            </a:r>
            <a:r>
              <a:rPr lang="en-US" sz="3200" dirty="0"/>
              <a:t>loop iteration.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If </a:t>
            </a:r>
            <a:r>
              <a:rPr lang="en-US" sz="3200" dirty="0"/>
              <a:t>the condition </a:t>
            </a:r>
            <a:r>
              <a:rPr lang="en-US" sz="3200" dirty="0" smtClean="0"/>
              <a:t>is not </a:t>
            </a:r>
            <a:r>
              <a:rPr lang="en-US" sz="3200" dirty="0"/>
              <a:t>met, the loop exits.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If </a:t>
            </a:r>
            <a:r>
              <a:rPr lang="en-US" sz="3200" dirty="0"/>
              <a:t>the condition is met, the statement (or </a:t>
            </a:r>
            <a:r>
              <a:rPr lang="en-US" sz="3200" dirty="0" smtClean="0"/>
              <a:t>statements) in </a:t>
            </a:r>
            <a:r>
              <a:rPr lang="en-US" sz="3200" dirty="0"/>
              <a:t>the loop body are executed.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loop operation executes at </a:t>
            </a:r>
            <a:r>
              <a:rPr lang="en-US" sz="3200" dirty="0" smtClean="0"/>
              <a:t>the </a:t>
            </a:r>
            <a:r>
              <a:rPr lang="en-US" sz="3200" i="1" dirty="0" smtClean="0"/>
              <a:t>end </a:t>
            </a:r>
            <a:r>
              <a:rPr lang="en-US" sz="3200" dirty="0"/>
              <a:t>of each loop iteration.</a:t>
            </a:r>
            <a:endParaRPr lang="en-US" sz="3200" b="1" dirty="0"/>
          </a:p>
        </p:txBody>
      </p:sp>
      <p:sp>
        <p:nvSpPr>
          <p:cNvPr id="3" name="Rectangle 2"/>
          <p:cNvSpPr/>
          <p:nvPr/>
        </p:nvSpPr>
        <p:spPr>
          <a:xfrm>
            <a:off x="858130" y="932933"/>
            <a:ext cx="91580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for (initialization; condition; loop operation)</a:t>
            </a:r>
          </a:p>
          <a:p>
            <a:r>
              <a:rPr lang="en-IN" sz="3600" b="1" dirty="0" smtClean="0"/>
              <a:t>	statement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49317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39" t="55953" r="11651" b="13491"/>
          <a:stretch/>
        </p:blipFill>
        <p:spPr bwMode="auto">
          <a:xfrm>
            <a:off x="188908" y="508000"/>
            <a:ext cx="11914477" cy="4598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0650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21" t="20905" r="8032" b="16595"/>
          <a:stretch/>
        </p:blipFill>
        <p:spPr bwMode="auto">
          <a:xfrm>
            <a:off x="268013" y="283779"/>
            <a:ext cx="11776841" cy="6371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087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4" t="20689" r="5367" b="15302"/>
          <a:stretch/>
        </p:blipFill>
        <p:spPr bwMode="auto">
          <a:xfrm>
            <a:off x="78830" y="283783"/>
            <a:ext cx="12044855" cy="6254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9973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39901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Function </a:t>
            </a:r>
            <a:r>
              <a:rPr lang="en-IN" sz="3600" b="1" dirty="0" smtClean="0"/>
              <a:t>Calls : 343</a:t>
            </a:r>
            <a:endParaRPr lang="en-IN" sz="3600" b="1" dirty="0"/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High-level </a:t>
            </a:r>
            <a:r>
              <a:rPr lang="en-US" sz="3200" dirty="0"/>
              <a:t>languages support </a:t>
            </a:r>
            <a:r>
              <a:rPr lang="en-US" sz="3200" b="1" i="1" dirty="0"/>
              <a:t>functions</a:t>
            </a:r>
            <a:r>
              <a:rPr lang="en-US" sz="3200" i="1" dirty="0"/>
              <a:t> </a:t>
            </a:r>
            <a:r>
              <a:rPr lang="en-US" sz="3200" dirty="0"/>
              <a:t>(also called </a:t>
            </a:r>
            <a:r>
              <a:rPr lang="en-US" sz="3200" i="1" dirty="0"/>
              <a:t>procedures </a:t>
            </a:r>
            <a:r>
              <a:rPr lang="en-US" sz="3200" dirty="0"/>
              <a:t>or </a:t>
            </a:r>
            <a:r>
              <a:rPr lang="en-US" sz="3200" i="1" dirty="0" smtClean="0"/>
              <a:t>subroutines</a:t>
            </a:r>
            <a:r>
              <a:rPr lang="en-US" sz="3200" dirty="0" smtClean="0"/>
              <a:t>) </a:t>
            </a:r>
            <a:r>
              <a:rPr lang="en-US" sz="3200" b="1" dirty="0" smtClean="0"/>
              <a:t>to </a:t>
            </a:r>
            <a:r>
              <a:rPr lang="en-US" sz="3200" b="1" dirty="0"/>
              <a:t>reuse common code </a:t>
            </a:r>
            <a:r>
              <a:rPr lang="en-US" sz="3200" dirty="0"/>
              <a:t>and to make a program more </a:t>
            </a:r>
            <a:r>
              <a:rPr lang="en-US" sz="3200" b="1" dirty="0" smtClean="0"/>
              <a:t>modular and </a:t>
            </a:r>
            <a:r>
              <a:rPr lang="en-US" sz="3200" b="1" dirty="0"/>
              <a:t>readable.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Functions </a:t>
            </a:r>
            <a:r>
              <a:rPr lang="en-US" sz="3200" dirty="0"/>
              <a:t>may have </a:t>
            </a:r>
            <a:r>
              <a:rPr lang="en-US" sz="3200" b="1" dirty="0"/>
              <a:t>inputs</a:t>
            </a:r>
            <a:r>
              <a:rPr lang="en-US" sz="3200" dirty="0"/>
              <a:t>, called </a:t>
            </a:r>
            <a:r>
              <a:rPr lang="en-US" sz="3200" b="1" i="1" dirty="0">
                <a:solidFill>
                  <a:srgbClr val="FF0000"/>
                </a:solidFill>
              </a:rPr>
              <a:t>arguments</a:t>
            </a:r>
            <a:r>
              <a:rPr lang="en-US" sz="3200" dirty="0"/>
              <a:t>, and an </a:t>
            </a:r>
            <a:r>
              <a:rPr lang="en-US" sz="3200" b="1" dirty="0" smtClean="0"/>
              <a:t>output</a:t>
            </a:r>
            <a:r>
              <a:rPr lang="en-US" sz="3200" dirty="0" smtClean="0"/>
              <a:t>, called </a:t>
            </a:r>
            <a:r>
              <a:rPr lang="en-US" sz="3200" dirty="0"/>
              <a:t>the </a:t>
            </a:r>
            <a:r>
              <a:rPr lang="en-US" sz="3200" b="1" i="1" dirty="0">
                <a:solidFill>
                  <a:srgbClr val="FF0000"/>
                </a:solidFill>
              </a:rPr>
              <a:t>return value</a:t>
            </a:r>
            <a:r>
              <a:rPr lang="en-US" sz="3200" dirty="0">
                <a:solidFill>
                  <a:srgbClr val="FF0000"/>
                </a:solidFill>
              </a:rPr>
              <a:t>. 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When </a:t>
            </a:r>
            <a:r>
              <a:rPr lang="en-US" sz="3200" dirty="0"/>
              <a:t>one function calls another, </a:t>
            </a:r>
            <a:r>
              <a:rPr lang="en-US" sz="3200" b="1" dirty="0"/>
              <a:t>the calling function, the </a:t>
            </a:r>
            <a:r>
              <a:rPr lang="en-US" sz="3200" b="1" i="1" dirty="0">
                <a:solidFill>
                  <a:srgbClr val="FF0000"/>
                </a:solidFill>
              </a:rPr>
              <a:t>caller</a:t>
            </a:r>
            <a:r>
              <a:rPr lang="en-US" sz="3200" dirty="0">
                <a:solidFill>
                  <a:srgbClr val="FF0000"/>
                </a:solidFill>
              </a:rPr>
              <a:t>, </a:t>
            </a:r>
            <a:r>
              <a:rPr lang="en-US" sz="3200" dirty="0" smtClean="0"/>
              <a:t>and the </a:t>
            </a:r>
            <a:r>
              <a:rPr lang="en-US" sz="3200" b="1" dirty="0"/>
              <a:t>called function, the </a:t>
            </a:r>
            <a:r>
              <a:rPr lang="en-US" sz="3200" b="1" i="1" dirty="0" err="1">
                <a:solidFill>
                  <a:srgbClr val="FF0000"/>
                </a:solidFill>
              </a:rPr>
              <a:t>callee</a:t>
            </a:r>
            <a:r>
              <a:rPr lang="en-US" sz="3200" b="1" dirty="0"/>
              <a:t>, </a:t>
            </a:r>
            <a:r>
              <a:rPr lang="en-US" sz="3200" dirty="0"/>
              <a:t>must agree on where to put </a:t>
            </a:r>
            <a:r>
              <a:rPr lang="en-US" sz="3200" dirty="0" smtClean="0"/>
              <a:t>the arguments </a:t>
            </a:r>
            <a:r>
              <a:rPr lang="en-IN" sz="3200" dirty="0" smtClean="0"/>
              <a:t>and </a:t>
            </a:r>
            <a:r>
              <a:rPr lang="en-IN" sz="3200" dirty="0"/>
              <a:t>the return value.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61341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1015" y="641028"/>
            <a:ext cx="1181686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In RISC-V programs, the </a:t>
            </a:r>
            <a:r>
              <a:rPr lang="en-US" sz="3200" b="1" dirty="0"/>
              <a:t>caller</a:t>
            </a:r>
            <a:r>
              <a:rPr lang="en-US" sz="3200" dirty="0"/>
              <a:t> </a:t>
            </a:r>
            <a:r>
              <a:rPr lang="en-US" sz="3200" dirty="0" smtClean="0"/>
              <a:t>conventionally places </a:t>
            </a:r>
            <a:r>
              <a:rPr lang="en-US" sz="3200" b="1" dirty="0">
                <a:solidFill>
                  <a:srgbClr val="FF0000"/>
                </a:solidFill>
              </a:rPr>
              <a:t>up to eight arguments in registers a0 to a7 </a:t>
            </a:r>
            <a:r>
              <a:rPr lang="en-US" sz="3200" b="1" dirty="0"/>
              <a:t>before</a:t>
            </a:r>
            <a:r>
              <a:rPr lang="en-US" sz="3200" dirty="0"/>
              <a:t> making </a:t>
            </a:r>
            <a:r>
              <a:rPr lang="en-US" sz="3200" dirty="0" smtClean="0"/>
              <a:t>the </a:t>
            </a:r>
            <a:r>
              <a:rPr lang="en-US" sz="3200" b="1" dirty="0" smtClean="0"/>
              <a:t>function </a:t>
            </a:r>
            <a:r>
              <a:rPr lang="en-US" sz="3200" b="1" dirty="0"/>
              <a:t>call</a:t>
            </a:r>
            <a:r>
              <a:rPr lang="en-US" sz="3200" b="1" dirty="0" smtClean="0"/>
              <a:t>,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and </a:t>
            </a:r>
            <a:r>
              <a:rPr lang="en-US" sz="3200" dirty="0"/>
              <a:t>the </a:t>
            </a:r>
            <a:r>
              <a:rPr lang="en-US" sz="3200" b="1" dirty="0" err="1"/>
              <a:t>callee</a:t>
            </a:r>
            <a:r>
              <a:rPr lang="en-US" sz="3200" b="1" dirty="0"/>
              <a:t> places </a:t>
            </a:r>
            <a:r>
              <a:rPr lang="en-US" sz="3200" b="1" dirty="0">
                <a:solidFill>
                  <a:srgbClr val="FF0000"/>
                </a:solidFill>
              </a:rPr>
              <a:t>the return value in register a0 </a:t>
            </a:r>
            <a:r>
              <a:rPr lang="en-US" sz="3200" dirty="0" smtClean="0"/>
              <a:t>before finishing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By </a:t>
            </a:r>
            <a:r>
              <a:rPr lang="en-US" sz="3200" dirty="0"/>
              <a:t>following this convention</a:t>
            </a:r>
            <a:r>
              <a:rPr lang="en-US" sz="3200" b="1" dirty="0"/>
              <a:t>, both functions know where </a:t>
            </a:r>
            <a:r>
              <a:rPr lang="en-US" sz="3200" b="1" dirty="0" smtClean="0"/>
              <a:t>to find </a:t>
            </a:r>
            <a:r>
              <a:rPr lang="en-US" sz="3200" b="1" dirty="0"/>
              <a:t>the arguments and return value</a:t>
            </a:r>
            <a:r>
              <a:rPr lang="en-US" sz="3200" dirty="0"/>
              <a:t>, even if the caller and </a:t>
            </a:r>
            <a:r>
              <a:rPr lang="en-US" sz="3200" dirty="0" err="1"/>
              <a:t>callee</a:t>
            </a:r>
            <a:r>
              <a:rPr lang="en-US" sz="3200" dirty="0"/>
              <a:t> </a:t>
            </a:r>
            <a:r>
              <a:rPr lang="en-US" sz="3200" dirty="0" smtClean="0"/>
              <a:t>were </a:t>
            </a:r>
            <a:r>
              <a:rPr lang="en-IN" sz="3200" dirty="0" smtClean="0"/>
              <a:t>written </a:t>
            </a:r>
            <a:r>
              <a:rPr lang="en-IN" sz="3200" dirty="0"/>
              <a:t>by different people.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52655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1015" y="641028"/>
            <a:ext cx="1181686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caller stores the </a:t>
            </a:r>
            <a:r>
              <a:rPr lang="en-US" sz="3200" b="1" dirty="0"/>
              <a:t>return address </a:t>
            </a:r>
            <a:r>
              <a:rPr lang="en-US" sz="3200" dirty="0"/>
              <a:t>in the </a:t>
            </a:r>
            <a:r>
              <a:rPr lang="en-US" sz="3200" b="1" i="1" dirty="0"/>
              <a:t>return address register </a:t>
            </a:r>
            <a:r>
              <a:rPr lang="en-US" sz="3200" b="1" i="1" dirty="0" smtClean="0"/>
              <a:t>(</a:t>
            </a:r>
            <a:r>
              <a:rPr lang="en-US" sz="3200" b="1" dirty="0" err="1" smtClean="0"/>
              <a:t>ra</a:t>
            </a:r>
            <a:r>
              <a:rPr lang="en-US" sz="3200" b="1" dirty="0" smtClean="0"/>
              <a:t>) </a:t>
            </a:r>
            <a:r>
              <a:rPr lang="en-US" sz="3200" dirty="0" smtClean="0"/>
              <a:t>at the </a:t>
            </a:r>
            <a:r>
              <a:rPr lang="en-US" sz="3200" b="1" dirty="0"/>
              <a:t>same time it jumps to the </a:t>
            </a:r>
            <a:r>
              <a:rPr lang="en-US" sz="3200" b="1" dirty="0" err="1"/>
              <a:t>callee</a:t>
            </a:r>
            <a:r>
              <a:rPr lang="en-US" sz="3200" b="1" dirty="0"/>
              <a:t> </a:t>
            </a:r>
            <a:r>
              <a:rPr lang="en-US" sz="3200" dirty="0"/>
              <a:t>using the jump and link </a:t>
            </a:r>
            <a:r>
              <a:rPr lang="en-US" sz="3200" dirty="0" smtClean="0"/>
              <a:t>instruction </a:t>
            </a:r>
            <a:r>
              <a:rPr lang="en-IN" sz="3200" dirty="0" smtClean="0"/>
              <a:t>(</a:t>
            </a:r>
            <a:r>
              <a:rPr lang="en-IN" sz="3200" dirty="0" err="1" smtClean="0"/>
              <a:t>jal</a:t>
            </a:r>
            <a:r>
              <a:rPr lang="en-IN" sz="3200" dirty="0" smtClean="0"/>
              <a:t>).</a:t>
            </a:r>
            <a:r>
              <a:rPr lang="en-US" sz="3200" dirty="0"/>
              <a:t>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 err="1"/>
              <a:t>callee</a:t>
            </a:r>
            <a:r>
              <a:rPr lang="en-US" sz="3200" dirty="0"/>
              <a:t> must not overwrite any architectural state or </a:t>
            </a:r>
            <a:r>
              <a:rPr lang="en-US" sz="3200" dirty="0" smtClean="0"/>
              <a:t>memory that </a:t>
            </a:r>
            <a:r>
              <a:rPr lang="en-US" sz="3200" dirty="0"/>
              <a:t>the caller is depending on.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Specifically</a:t>
            </a:r>
            <a:r>
              <a:rPr lang="en-US" sz="3200" dirty="0"/>
              <a:t>, the </a:t>
            </a:r>
            <a:r>
              <a:rPr lang="en-US" sz="3200" dirty="0" err="1"/>
              <a:t>callee</a:t>
            </a:r>
            <a:r>
              <a:rPr lang="en-US" sz="3200" dirty="0"/>
              <a:t> must leave </a:t>
            </a:r>
            <a:r>
              <a:rPr lang="en-US" sz="3200" dirty="0" smtClean="0"/>
              <a:t>the </a:t>
            </a:r>
            <a:r>
              <a:rPr lang="en-US" sz="3200" i="1" dirty="0" smtClean="0"/>
              <a:t>saved </a:t>
            </a:r>
            <a:r>
              <a:rPr lang="en-US" sz="3200" i="1" dirty="0"/>
              <a:t>registers </a:t>
            </a:r>
            <a:r>
              <a:rPr lang="en-US" sz="3200" dirty="0"/>
              <a:t>(s0−s11), the return address (</a:t>
            </a:r>
            <a:r>
              <a:rPr lang="en-US" sz="3200" dirty="0" err="1"/>
              <a:t>ra</a:t>
            </a:r>
            <a:r>
              <a:rPr lang="en-US" sz="3200" dirty="0"/>
              <a:t>), and the </a:t>
            </a:r>
            <a:r>
              <a:rPr lang="en-US" sz="3200" i="1" dirty="0"/>
              <a:t>stack</a:t>
            </a:r>
            <a:r>
              <a:rPr lang="en-US" sz="3200" dirty="0"/>
              <a:t>, a </a:t>
            </a:r>
            <a:r>
              <a:rPr lang="en-US" sz="3200" dirty="0" smtClean="0"/>
              <a:t>portion of </a:t>
            </a:r>
            <a:r>
              <a:rPr lang="en-US" sz="3200" dirty="0"/>
              <a:t>memory used for temporary variables, unmodified.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52766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53018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Function Calls and Returns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RISC-V uses the </a:t>
            </a:r>
            <a:r>
              <a:rPr lang="en-US" sz="3200" i="1" dirty="0"/>
              <a:t>jump and link </a:t>
            </a:r>
            <a:r>
              <a:rPr lang="en-US" sz="3200" dirty="0"/>
              <a:t>instruction (</a:t>
            </a:r>
            <a:r>
              <a:rPr lang="en-US" sz="3200" dirty="0" err="1"/>
              <a:t>jal</a:t>
            </a:r>
            <a:r>
              <a:rPr lang="en-US" sz="3200" dirty="0"/>
              <a:t>) to call a </a:t>
            </a:r>
            <a:r>
              <a:rPr lang="en-US" sz="3200" dirty="0" smtClean="0"/>
              <a:t>function and </a:t>
            </a:r>
            <a:r>
              <a:rPr lang="en-US" sz="3200" dirty="0"/>
              <a:t>the </a:t>
            </a:r>
            <a:r>
              <a:rPr lang="en-US" sz="3200" i="1" dirty="0"/>
              <a:t>jump register </a:t>
            </a:r>
            <a:r>
              <a:rPr lang="en-US" sz="3200" dirty="0"/>
              <a:t>instruction (</a:t>
            </a:r>
            <a:r>
              <a:rPr lang="en-US" sz="3200" dirty="0" err="1"/>
              <a:t>jr</a:t>
            </a:r>
            <a:r>
              <a:rPr lang="en-US" sz="3200" dirty="0"/>
              <a:t>) to return from a function.</a:t>
            </a:r>
            <a:endParaRPr lang="en-US" sz="3200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75" t="25577" r="11427" b="43651"/>
          <a:stretch/>
        </p:blipFill>
        <p:spPr bwMode="auto">
          <a:xfrm>
            <a:off x="294876" y="1941342"/>
            <a:ext cx="11619646" cy="4487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962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53018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Function Calls and Returns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Code Example </a:t>
            </a:r>
            <a:r>
              <a:rPr lang="en-US" sz="3200" dirty="0" smtClean="0"/>
              <a:t>shows </a:t>
            </a:r>
            <a:r>
              <a:rPr lang="en-US" sz="3200" dirty="0"/>
              <a:t>the main function calling the simple function.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main is the caller and simple is the </a:t>
            </a:r>
            <a:r>
              <a:rPr lang="en-US" sz="3200" dirty="0" err="1"/>
              <a:t>callee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simple </a:t>
            </a:r>
            <a:r>
              <a:rPr lang="en-US" sz="3200" dirty="0" smtClean="0"/>
              <a:t>function </a:t>
            </a:r>
            <a:r>
              <a:rPr lang="en-US" sz="3200" dirty="0"/>
              <a:t>is called with no input arguments and generates no return value; </a:t>
            </a:r>
            <a:r>
              <a:rPr lang="en-US" sz="3200" dirty="0" smtClean="0"/>
              <a:t>it just </a:t>
            </a:r>
            <a:r>
              <a:rPr lang="en-US" sz="3200" dirty="0"/>
              <a:t>returns to the caller</a:t>
            </a:r>
            <a:r>
              <a:rPr lang="en-US" sz="3200" dirty="0" smtClean="0"/>
              <a:t>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err="1" smtClean="0"/>
              <a:t>jal</a:t>
            </a:r>
            <a:r>
              <a:rPr lang="en-US" sz="3200" b="1" dirty="0" smtClean="0"/>
              <a:t> </a:t>
            </a:r>
            <a:r>
              <a:rPr lang="en-US" sz="3200" b="1" dirty="0"/>
              <a:t>and </a:t>
            </a:r>
            <a:r>
              <a:rPr lang="en-US" sz="3200" b="1" dirty="0" err="1"/>
              <a:t>jr</a:t>
            </a:r>
            <a:r>
              <a:rPr lang="en-US" sz="3200" b="1" dirty="0"/>
              <a:t> </a:t>
            </a:r>
            <a:r>
              <a:rPr lang="en-US" sz="3200" b="1" dirty="0" err="1"/>
              <a:t>ra</a:t>
            </a:r>
            <a:r>
              <a:rPr lang="en-US" sz="3200" b="1" dirty="0"/>
              <a:t> </a:t>
            </a:r>
            <a:r>
              <a:rPr lang="en-US" sz="3200" dirty="0"/>
              <a:t>are the two essential instructions needed for a </a:t>
            </a:r>
            <a:r>
              <a:rPr lang="en-US" sz="3200" dirty="0" smtClean="0"/>
              <a:t>function </a:t>
            </a:r>
            <a:r>
              <a:rPr lang="en-IN" sz="3200" dirty="0" smtClean="0"/>
              <a:t>call </a:t>
            </a:r>
            <a:r>
              <a:rPr lang="en-IN" sz="3200" dirty="0"/>
              <a:t>and return</a:t>
            </a:r>
            <a:r>
              <a:rPr lang="en-IN" sz="3200" dirty="0" smtClean="0"/>
              <a:t>.</a:t>
            </a:r>
            <a:r>
              <a:rPr lang="en-US" sz="3200" dirty="0"/>
              <a:t> 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02231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53018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Function Calls and Returns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main function calls </a:t>
            </a:r>
            <a:r>
              <a:rPr lang="en-US" sz="2800" dirty="0" smtClean="0"/>
              <a:t>the simple </a:t>
            </a:r>
            <a:r>
              <a:rPr lang="en-US" sz="2800" dirty="0"/>
              <a:t>function by executing </a:t>
            </a:r>
            <a:r>
              <a:rPr lang="en-US" sz="2800" dirty="0" err="1"/>
              <a:t>jal</a:t>
            </a:r>
            <a:r>
              <a:rPr lang="en-US" sz="2800" dirty="0"/>
              <a:t> simple, which performs two tasks: </a:t>
            </a:r>
            <a:endParaRPr lang="en-US" sz="2800" dirty="0" smtClean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 smtClean="0"/>
              <a:t>It jumps </a:t>
            </a:r>
            <a:r>
              <a:rPr lang="en-US" sz="2800" dirty="0"/>
              <a:t>to the target instruction located at simple (0x0000051C) </a:t>
            </a:r>
            <a:endParaRPr lang="en-US" sz="2800" dirty="0" smtClean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 smtClean="0"/>
              <a:t>and it stores </a:t>
            </a:r>
            <a:r>
              <a:rPr lang="en-US" sz="2800" dirty="0"/>
              <a:t>the </a:t>
            </a:r>
            <a:r>
              <a:rPr lang="en-US" sz="2800" i="1" dirty="0"/>
              <a:t>return address</a:t>
            </a:r>
            <a:r>
              <a:rPr lang="en-US" sz="2800" dirty="0"/>
              <a:t>, the address of the instruction after </a:t>
            </a:r>
            <a:r>
              <a:rPr lang="en-US" sz="2800" dirty="0" err="1"/>
              <a:t>jal</a:t>
            </a:r>
            <a:r>
              <a:rPr lang="en-US" sz="2800" dirty="0"/>
              <a:t> (in </a:t>
            </a:r>
            <a:r>
              <a:rPr lang="en-US" sz="2800" dirty="0" smtClean="0"/>
              <a:t>this case</a:t>
            </a:r>
            <a:r>
              <a:rPr lang="en-US" sz="2800" dirty="0"/>
              <a:t>, 0x00000304) in the return address register (</a:t>
            </a:r>
            <a:r>
              <a:rPr lang="en-US" sz="2800" dirty="0" err="1"/>
              <a:t>ra</a:t>
            </a:r>
            <a:r>
              <a:rPr lang="en-US" sz="2800" dirty="0" smtClean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programmer can </a:t>
            </a:r>
            <a:r>
              <a:rPr lang="en-US" sz="2800" dirty="0"/>
              <a:t>specify which register gets written with the return address, but </a:t>
            </a:r>
            <a:r>
              <a:rPr lang="en-US" sz="2800" dirty="0" smtClean="0"/>
              <a:t>the default </a:t>
            </a:r>
            <a:r>
              <a:rPr lang="en-US" sz="2800" dirty="0"/>
              <a:t>is </a:t>
            </a:r>
            <a:r>
              <a:rPr lang="en-US" sz="2800" dirty="0" err="1"/>
              <a:t>ra.</a:t>
            </a:r>
            <a:r>
              <a:rPr lang="en-US" sz="2800" dirty="0"/>
              <a:t>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So</a:t>
            </a:r>
            <a:r>
              <a:rPr lang="en-US" sz="2800" dirty="0"/>
              <a:t>, </a:t>
            </a:r>
            <a:r>
              <a:rPr lang="en-US" sz="2800" dirty="0" err="1"/>
              <a:t>jal</a:t>
            </a:r>
            <a:r>
              <a:rPr lang="en-US" sz="2800" dirty="0"/>
              <a:t> simple is equivalent to </a:t>
            </a:r>
            <a:r>
              <a:rPr lang="en-US" sz="2800" dirty="0" err="1"/>
              <a:t>jal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en-US" sz="2800" dirty="0"/>
              <a:t>, simple and is </a:t>
            </a:r>
            <a:r>
              <a:rPr lang="en-US" sz="2800" dirty="0" smtClean="0"/>
              <a:t>the preferred </a:t>
            </a:r>
            <a:r>
              <a:rPr lang="en-US" sz="2800" dirty="0"/>
              <a:t>style.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simple function returns immediately by </a:t>
            </a:r>
            <a:r>
              <a:rPr lang="en-US" sz="2800" dirty="0" smtClean="0"/>
              <a:t>executing the </a:t>
            </a:r>
            <a:r>
              <a:rPr lang="en-US" sz="2800" dirty="0"/>
              <a:t>instruction </a:t>
            </a:r>
            <a:r>
              <a:rPr lang="en-US" sz="2800" dirty="0" err="1"/>
              <a:t>jr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en-US" sz="2800" dirty="0"/>
              <a:t>, which jumps to the instruction address held in </a:t>
            </a:r>
            <a:r>
              <a:rPr lang="en-US" sz="2800" dirty="0" err="1"/>
              <a:t>ra.</a:t>
            </a: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main function then continues executing at this </a:t>
            </a:r>
            <a:r>
              <a:rPr lang="en-US" sz="2800" dirty="0" smtClean="0"/>
              <a:t>address (0x00000304</a:t>
            </a:r>
            <a:r>
              <a:rPr lang="en-US" sz="2800" dirty="0"/>
              <a:t>).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20664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70366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/>
              <a:t>Input Arguments and Return Values</a:t>
            </a:r>
            <a:endParaRPr lang="en-IN" sz="3600" b="1" dirty="0"/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By RISC-V convention, functions use a0 to a7 for input </a:t>
            </a:r>
            <a:r>
              <a:rPr lang="en-US" sz="3200" dirty="0" smtClean="0"/>
              <a:t>arguments and </a:t>
            </a:r>
            <a:r>
              <a:rPr lang="en-US" sz="3200" dirty="0"/>
              <a:t>a0 for the return value.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Code </a:t>
            </a:r>
            <a:r>
              <a:rPr lang="en-US" sz="3200" dirty="0" smtClean="0"/>
              <a:t>Example, </a:t>
            </a:r>
            <a:r>
              <a:rPr lang="en-US" sz="3200" dirty="0"/>
              <a:t>the </a:t>
            </a:r>
            <a:r>
              <a:rPr lang="en-US" sz="3200" dirty="0" smtClean="0"/>
              <a:t>function </a:t>
            </a:r>
            <a:r>
              <a:rPr lang="en-US" sz="3200" dirty="0" err="1" smtClean="0"/>
              <a:t>diffofsums</a:t>
            </a:r>
            <a:r>
              <a:rPr lang="en-US" sz="3200" dirty="0" smtClean="0"/>
              <a:t> </a:t>
            </a:r>
            <a:r>
              <a:rPr lang="en-US" sz="3200" dirty="0"/>
              <a:t>is called with four arguments and returns one </a:t>
            </a:r>
            <a:r>
              <a:rPr lang="en-US" sz="3200" dirty="0" smtClean="0"/>
              <a:t>result.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result </a:t>
            </a:r>
            <a:r>
              <a:rPr lang="en-US" sz="3200" dirty="0"/>
              <a:t>is a local variable, which we choose to keep in s3</a:t>
            </a:r>
            <a:r>
              <a:rPr lang="en-US" sz="3200" dirty="0" smtClean="0"/>
              <a:t>.</a:t>
            </a:r>
            <a:r>
              <a:rPr lang="en-US" sz="3200" dirty="0"/>
              <a:t>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According </a:t>
            </a:r>
            <a:r>
              <a:rPr lang="en-US" sz="3200" dirty="0"/>
              <a:t>to RISC-V convention, the calling function, main, </a:t>
            </a:r>
            <a:r>
              <a:rPr lang="en-US" sz="3200" dirty="0" smtClean="0"/>
              <a:t>places the </a:t>
            </a:r>
            <a:r>
              <a:rPr lang="en-US" sz="3200" dirty="0"/>
              <a:t>function arguments from left to right into the input registers, a0 </a:t>
            </a:r>
            <a:r>
              <a:rPr lang="en-US" sz="3200" dirty="0" smtClean="0"/>
              <a:t>to a7</a:t>
            </a:r>
            <a:r>
              <a:rPr lang="en-US" sz="3200" dirty="0"/>
              <a:t>, before calling the function.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called function, </a:t>
            </a:r>
            <a:r>
              <a:rPr lang="en-US" sz="3200" dirty="0" err="1"/>
              <a:t>diffofsums</a:t>
            </a:r>
            <a:r>
              <a:rPr lang="en-US" sz="3200" dirty="0"/>
              <a:t>, </a:t>
            </a:r>
            <a:r>
              <a:rPr lang="en-US" sz="3200" dirty="0" smtClean="0"/>
              <a:t>stores </a:t>
            </a:r>
            <a:r>
              <a:rPr lang="en-US" sz="3200" dirty="0"/>
              <a:t>the return value in the return register, a0.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When </a:t>
            </a:r>
            <a:r>
              <a:rPr lang="en-US" sz="3200" dirty="0"/>
              <a:t>a function with </a:t>
            </a:r>
            <a:r>
              <a:rPr lang="en-US" sz="3200" dirty="0" smtClean="0"/>
              <a:t>more than </a:t>
            </a:r>
            <a:r>
              <a:rPr lang="en-US" sz="3200" dirty="0"/>
              <a:t>eight arguments is called, the additional input arguments are </a:t>
            </a:r>
            <a:r>
              <a:rPr lang="en-US" sz="3200" dirty="0" smtClean="0"/>
              <a:t>placed </a:t>
            </a:r>
            <a:r>
              <a:rPr lang="en-IN" sz="3200" dirty="0" smtClean="0"/>
              <a:t>on </a:t>
            </a:r>
            <a:r>
              <a:rPr lang="en-IN" sz="3200" dirty="0"/>
              <a:t>the stack,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31489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34" t="20635" r="27603" b="29563"/>
          <a:stretch/>
        </p:blipFill>
        <p:spPr bwMode="auto">
          <a:xfrm>
            <a:off x="577668" y="0"/>
            <a:ext cx="1079247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1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The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stack is memory that is used as scratch space—that is, to </a:t>
            </a:r>
            <a:r>
              <a:rPr lang="en-US" sz="3200" dirty="0" smtClean="0"/>
              <a:t>save temporary </a:t>
            </a:r>
            <a:r>
              <a:rPr lang="en-US" sz="3200" dirty="0"/>
              <a:t>information within a function.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stack expands (uses </a:t>
            </a:r>
            <a:r>
              <a:rPr lang="en-US" sz="3200" dirty="0" smtClean="0"/>
              <a:t>more memory</a:t>
            </a:r>
            <a:r>
              <a:rPr lang="en-US" sz="3200" dirty="0"/>
              <a:t>) as the processor needs more scratch space and contracts (</a:t>
            </a:r>
            <a:r>
              <a:rPr lang="en-US" sz="3200" dirty="0" smtClean="0"/>
              <a:t>uses less </a:t>
            </a:r>
            <a:r>
              <a:rPr lang="en-US" sz="3200" dirty="0"/>
              <a:t>memory) when the processor no longer needs the variables </a:t>
            </a:r>
            <a:r>
              <a:rPr lang="en-US" sz="3200" dirty="0" smtClean="0"/>
              <a:t>stored </a:t>
            </a:r>
            <a:r>
              <a:rPr lang="en-IN" sz="3200" dirty="0" smtClean="0"/>
              <a:t>there.</a:t>
            </a:r>
            <a:r>
              <a:rPr lang="en-US" sz="3200" dirty="0"/>
              <a:t>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stack is a last-in-first-out (LIFO) queue.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last item </a:t>
            </a:r>
            <a:r>
              <a:rPr lang="en-US" sz="3200" i="1" dirty="0"/>
              <a:t>pushed </a:t>
            </a:r>
            <a:r>
              <a:rPr lang="en-US" sz="3200" dirty="0" smtClean="0"/>
              <a:t>onto </a:t>
            </a:r>
            <a:r>
              <a:rPr lang="en-US" sz="3200" dirty="0"/>
              <a:t>the stack (the </a:t>
            </a:r>
            <a:r>
              <a:rPr lang="en-US" sz="3200" dirty="0" smtClean="0"/>
              <a:t>top) </a:t>
            </a:r>
            <a:r>
              <a:rPr lang="en-US" sz="3200" dirty="0"/>
              <a:t>is the </a:t>
            </a:r>
            <a:r>
              <a:rPr lang="en-US" sz="3200" dirty="0" smtClean="0"/>
              <a:t>first one </a:t>
            </a:r>
            <a:r>
              <a:rPr lang="en-US" sz="3200" dirty="0"/>
              <a:t>that can be </a:t>
            </a:r>
            <a:r>
              <a:rPr lang="en-US" sz="3200" i="1" dirty="0"/>
              <a:t>popped </a:t>
            </a:r>
            <a:r>
              <a:rPr lang="en-US" sz="3200" dirty="0"/>
              <a:t>off (removed).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Each </a:t>
            </a:r>
            <a:r>
              <a:rPr lang="en-US" sz="3200" dirty="0"/>
              <a:t>function may allocate </a:t>
            </a:r>
            <a:r>
              <a:rPr lang="en-US" sz="3200" dirty="0" smtClean="0"/>
              <a:t>stack space </a:t>
            </a:r>
            <a:r>
              <a:rPr lang="en-US" sz="3200" dirty="0"/>
              <a:t>to store local variables and to use as scratch space, but the </a:t>
            </a:r>
            <a:r>
              <a:rPr lang="en-US" sz="3200" dirty="0" smtClean="0"/>
              <a:t>function must </a:t>
            </a:r>
            <a:r>
              <a:rPr lang="en-US" sz="3200" dirty="0" err="1"/>
              <a:t>deallocate</a:t>
            </a:r>
            <a:r>
              <a:rPr lang="en-US" sz="3200" dirty="0"/>
              <a:t> it before returning. 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84496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The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i="1" dirty="0"/>
              <a:t>top of the stack </a:t>
            </a:r>
            <a:r>
              <a:rPr lang="en-US" sz="3200" dirty="0"/>
              <a:t>is the </a:t>
            </a:r>
            <a:r>
              <a:rPr lang="en-US" sz="3200" dirty="0" smtClean="0"/>
              <a:t>most </a:t>
            </a:r>
            <a:r>
              <a:rPr lang="en-IN" sz="3200" dirty="0" smtClean="0"/>
              <a:t>recently </a:t>
            </a:r>
            <a:r>
              <a:rPr lang="en-IN" sz="3200" dirty="0"/>
              <a:t>allocated space</a:t>
            </a:r>
            <a:r>
              <a:rPr lang="en-IN" sz="3200" dirty="0" smtClean="0"/>
              <a:t>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dirty="0"/>
              <a:t>stack pointer, </a:t>
            </a:r>
            <a:r>
              <a:rPr lang="en-US" sz="3200" b="1" dirty="0" err="1"/>
              <a:t>sp</a:t>
            </a:r>
            <a:r>
              <a:rPr lang="en-US" sz="3200" b="1" dirty="0"/>
              <a:t> </a:t>
            </a:r>
            <a:r>
              <a:rPr lang="en-US" sz="3200" dirty="0"/>
              <a:t>(</a:t>
            </a:r>
            <a:r>
              <a:rPr lang="en-US" sz="3200" dirty="0" smtClean="0"/>
              <a:t>register 2</a:t>
            </a:r>
            <a:r>
              <a:rPr lang="en-US" sz="3200" dirty="0"/>
              <a:t>), is an ordinary RISC-V register that, by convention, </a:t>
            </a:r>
            <a:r>
              <a:rPr lang="en-US" sz="3200" i="1" dirty="0"/>
              <a:t>points </a:t>
            </a:r>
            <a:r>
              <a:rPr lang="en-US" sz="3200" dirty="0"/>
              <a:t>to </a:t>
            </a:r>
            <a:r>
              <a:rPr lang="en-US" sz="3200" dirty="0" smtClean="0"/>
              <a:t>the </a:t>
            </a:r>
            <a:r>
              <a:rPr lang="en-US" sz="3200" i="1" dirty="0" smtClean="0"/>
              <a:t>top </a:t>
            </a:r>
            <a:r>
              <a:rPr lang="en-US" sz="3200" i="1" dirty="0"/>
              <a:t>of the stack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err="1" smtClean="0"/>
              <a:t>sp</a:t>
            </a:r>
            <a:r>
              <a:rPr lang="en-US" sz="3200" dirty="0" smtClean="0"/>
              <a:t> points </a:t>
            </a:r>
            <a:r>
              <a:rPr lang="en-US" sz="3200" dirty="0"/>
              <a:t>to (gives the address of) </a:t>
            </a:r>
            <a:r>
              <a:rPr lang="en-US" sz="3200" dirty="0" smtClean="0"/>
              <a:t>data.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stack pointer (</a:t>
            </a:r>
            <a:r>
              <a:rPr lang="en-US" sz="3200" dirty="0" err="1"/>
              <a:t>sp</a:t>
            </a:r>
            <a:r>
              <a:rPr lang="en-US" sz="3200" dirty="0"/>
              <a:t>) starts at a high memory address and </a:t>
            </a:r>
            <a:r>
              <a:rPr lang="en-US" sz="3200" dirty="0" smtClean="0"/>
              <a:t>decrements </a:t>
            </a:r>
            <a:r>
              <a:rPr lang="en-IN" sz="3200" dirty="0" smtClean="0"/>
              <a:t>to </a:t>
            </a:r>
            <a:r>
              <a:rPr lang="en-IN" sz="3200" dirty="0"/>
              <a:t>expand as needed</a:t>
            </a:r>
            <a:endParaRPr lang="en-US" sz="3200" dirty="0" smtClean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32" t="40476" r="14774" b="31151"/>
          <a:stretch/>
        </p:blipFill>
        <p:spPr bwMode="auto">
          <a:xfrm>
            <a:off x="2380335" y="3688016"/>
            <a:ext cx="7000445" cy="2923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645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The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To solve this problem, a function saves registers on the stack </a:t>
            </a:r>
            <a:r>
              <a:rPr lang="en-US" sz="3200" dirty="0" smtClean="0"/>
              <a:t>and </a:t>
            </a:r>
            <a:r>
              <a:rPr lang="en-US" sz="3200" dirty="0"/>
              <a:t>then restores them from the stack before it returns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r>
              <a:rPr lang="en-US" sz="3200" dirty="0"/>
              <a:t>Specifically, it performs the following steps:</a:t>
            </a:r>
          </a:p>
          <a:p>
            <a:r>
              <a:rPr lang="en-US" sz="3200" dirty="0"/>
              <a:t>1. Makes space on the stack to store the values of one or more registers</a:t>
            </a:r>
          </a:p>
          <a:p>
            <a:r>
              <a:rPr lang="en-US" sz="3200" dirty="0"/>
              <a:t>2. Stores the values of the registers on the stack</a:t>
            </a:r>
          </a:p>
          <a:p>
            <a:r>
              <a:rPr lang="en-US" sz="3200" dirty="0"/>
              <a:t>3. Executes the function using the registers</a:t>
            </a:r>
          </a:p>
          <a:p>
            <a:r>
              <a:rPr lang="en-US" sz="3200" dirty="0"/>
              <a:t>4. Restores the original values of the registers from the stack</a:t>
            </a:r>
          </a:p>
          <a:p>
            <a:r>
              <a:rPr lang="en-US" sz="3200" dirty="0"/>
              <a:t>5. </a:t>
            </a:r>
            <a:r>
              <a:rPr lang="en-US" sz="3200" dirty="0" err="1"/>
              <a:t>Deallocates</a:t>
            </a:r>
            <a:r>
              <a:rPr lang="en-US" sz="3200" dirty="0"/>
              <a:t> space on the </a:t>
            </a:r>
            <a:r>
              <a:rPr lang="en-US" sz="3200" dirty="0" smtClean="0"/>
              <a:t>stack</a:t>
            </a:r>
          </a:p>
          <a:p>
            <a:endParaRPr lang="en-US" sz="3200" dirty="0"/>
          </a:p>
          <a:p>
            <a:r>
              <a:rPr lang="en-US" sz="3200" dirty="0"/>
              <a:t>The stack space that a function allocates for itself is called its </a:t>
            </a:r>
            <a:r>
              <a:rPr lang="en-US" sz="3200" b="1" i="1" dirty="0"/>
              <a:t>stack</a:t>
            </a:r>
          </a:p>
          <a:p>
            <a:r>
              <a:rPr lang="en-IN" sz="3200" b="1" i="1" dirty="0"/>
              <a:t>frame</a:t>
            </a:r>
            <a:r>
              <a:rPr lang="en-IN" sz="3200" b="1" dirty="0"/>
              <a:t>.</a:t>
            </a:r>
            <a:endParaRPr lang="en-US" sz="3200" b="1" dirty="0" smtClean="0"/>
          </a:p>
        </p:txBody>
      </p:sp>
    </p:spTree>
    <p:extLst>
      <p:ext uri="{BB962C8B-B14F-4D97-AF65-F5344CB8AC3E}">
        <p14:creationId xmlns:p14="http://schemas.microsoft.com/office/powerpoint/2010/main" val="23585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The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RISC-V divides registers into </a:t>
            </a:r>
            <a:r>
              <a:rPr lang="en-US" sz="3200" b="1" i="1" dirty="0"/>
              <a:t>preserved </a:t>
            </a:r>
            <a:r>
              <a:rPr lang="en-US" sz="3200" b="1" dirty="0"/>
              <a:t>and </a:t>
            </a:r>
            <a:r>
              <a:rPr lang="en-US" sz="3200" b="1" i="1" dirty="0" err="1"/>
              <a:t>nonpreserved</a:t>
            </a:r>
            <a:r>
              <a:rPr lang="en-US" sz="3200" b="1" i="1" dirty="0"/>
              <a:t> </a:t>
            </a:r>
            <a:r>
              <a:rPr lang="en-US" sz="3200" dirty="0"/>
              <a:t>categories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Preserved registers must contain the same values at the </a:t>
            </a:r>
            <a:r>
              <a:rPr lang="en-US" sz="3200" dirty="0" smtClean="0"/>
              <a:t>beginning and </a:t>
            </a:r>
            <a:r>
              <a:rPr lang="en-US" sz="3200" dirty="0"/>
              <a:t>end of a called function because the caller expects preserved </a:t>
            </a:r>
            <a:r>
              <a:rPr lang="en-US" sz="3200" dirty="0" smtClean="0"/>
              <a:t>register values </a:t>
            </a:r>
            <a:r>
              <a:rPr lang="en-US" sz="3200" dirty="0"/>
              <a:t>to be the same after the call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b="1" dirty="0"/>
              <a:t>preserved registers are s0 to s11 </a:t>
            </a:r>
            <a:r>
              <a:rPr lang="en-US" sz="3200" dirty="0" smtClean="0"/>
              <a:t>, </a:t>
            </a:r>
            <a:r>
              <a:rPr lang="en-US" sz="3200" dirty="0" err="1" smtClean="0"/>
              <a:t>sp</a:t>
            </a:r>
            <a:r>
              <a:rPr lang="en-US" sz="3200" dirty="0" smtClean="0"/>
              <a:t>, and </a:t>
            </a:r>
            <a:r>
              <a:rPr lang="en-US" sz="3200" dirty="0" err="1"/>
              <a:t>ra.</a:t>
            </a:r>
            <a:r>
              <a:rPr lang="en-US" sz="3200" dirty="0"/>
              <a:t>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dirty="0" err="1"/>
              <a:t>nonpreserved</a:t>
            </a:r>
            <a:r>
              <a:rPr lang="en-US" sz="3200" b="1" dirty="0"/>
              <a:t> registers</a:t>
            </a:r>
            <a:r>
              <a:rPr lang="en-US" sz="3200" dirty="0"/>
              <a:t>, also called </a:t>
            </a:r>
            <a:r>
              <a:rPr lang="en-US" sz="3200" b="1" i="1" dirty="0"/>
              <a:t>scratch </a:t>
            </a:r>
            <a:r>
              <a:rPr lang="en-US" sz="3200" b="1" dirty="0"/>
              <a:t>registers</a:t>
            </a:r>
            <a:r>
              <a:rPr lang="en-US" sz="3200" dirty="0"/>
              <a:t>, are </a:t>
            </a:r>
            <a:r>
              <a:rPr lang="en-US" sz="3200" dirty="0" smtClean="0"/>
              <a:t>t0 to </a:t>
            </a:r>
            <a:r>
              <a:rPr lang="en-US" sz="3200" dirty="0"/>
              <a:t>t6 (hence their name, </a:t>
            </a:r>
            <a:r>
              <a:rPr lang="en-US" sz="3200" i="1" dirty="0"/>
              <a:t>temporary</a:t>
            </a:r>
            <a:r>
              <a:rPr lang="en-US" sz="3200" dirty="0"/>
              <a:t>) and a0 to a7, the argument registers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3513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The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A function that does not call other functions is called </a:t>
            </a:r>
            <a:r>
              <a:rPr lang="en-US" sz="2800" b="1" dirty="0"/>
              <a:t>a </a:t>
            </a:r>
            <a:r>
              <a:rPr lang="en-US" sz="2800" b="1" i="1" dirty="0"/>
              <a:t>leaf </a:t>
            </a:r>
            <a:r>
              <a:rPr lang="en-US" sz="2800" b="1" i="1" dirty="0" smtClean="0"/>
              <a:t>function</a:t>
            </a:r>
            <a:r>
              <a:rPr lang="en-US" sz="2800" dirty="0" smtClean="0"/>
              <a:t>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 </a:t>
            </a:r>
            <a:r>
              <a:rPr lang="en-US" sz="2800" dirty="0"/>
              <a:t>function that does call others is called </a:t>
            </a:r>
            <a:r>
              <a:rPr lang="en-US" sz="2800" dirty="0" smtClean="0"/>
              <a:t>a </a:t>
            </a:r>
            <a:r>
              <a:rPr lang="en-US" sz="2800" b="1" i="1" dirty="0" err="1" smtClean="0"/>
              <a:t>nonleaf</a:t>
            </a:r>
            <a:r>
              <a:rPr lang="en-US" sz="2800" b="1" i="1" dirty="0" smtClean="0"/>
              <a:t> </a:t>
            </a:r>
            <a:r>
              <a:rPr lang="en-US" sz="2800" b="1" i="1" dirty="0"/>
              <a:t>function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Leaf </a:t>
            </a:r>
            <a:r>
              <a:rPr lang="en-US" sz="2800" dirty="0"/>
              <a:t>functions </a:t>
            </a:r>
            <a:r>
              <a:rPr lang="en-US" sz="2800" dirty="0" smtClean="0"/>
              <a:t>may </a:t>
            </a:r>
            <a:r>
              <a:rPr lang="en-US" sz="2800" dirty="0"/>
              <a:t>need to save </a:t>
            </a:r>
            <a:r>
              <a:rPr lang="en-US" sz="2800" dirty="0" smtClean="0"/>
              <a:t>non preserved </a:t>
            </a:r>
            <a:r>
              <a:rPr lang="en-US" sz="2800" dirty="0"/>
              <a:t>registers on the </a:t>
            </a:r>
            <a:r>
              <a:rPr lang="en-US" sz="2800" dirty="0" smtClean="0"/>
              <a:t>stack before </a:t>
            </a:r>
            <a:r>
              <a:rPr lang="en-US" sz="2800" dirty="0"/>
              <a:t>they call another function and then restore those registers afterward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Specifically, they must follow these rules</a:t>
            </a:r>
            <a:r>
              <a:rPr lang="en-US" sz="3200" dirty="0"/>
              <a:t>: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b="1" dirty="0"/>
              <a:t>Caller save rule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FF0000"/>
                </a:solidFill>
              </a:rPr>
              <a:t>Before a function call</a:t>
            </a:r>
            <a:r>
              <a:rPr lang="en-US" sz="2800" dirty="0"/>
              <a:t>, the caller must save </a:t>
            </a:r>
            <a:r>
              <a:rPr lang="en-US" sz="2800" dirty="0" smtClean="0"/>
              <a:t>any </a:t>
            </a:r>
            <a:r>
              <a:rPr lang="en-US" sz="2800" b="1" dirty="0" err="1" smtClean="0"/>
              <a:t>nonpreserved</a:t>
            </a:r>
            <a:r>
              <a:rPr lang="en-US" sz="2800" b="1" dirty="0" smtClean="0"/>
              <a:t> </a:t>
            </a:r>
            <a:r>
              <a:rPr lang="en-US" sz="2800" b="1" dirty="0"/>
              <a:t>registers </a:t>
            </a:r>
            <a:r>
              <a:rPr lang="en-US" sz="2800" dirty="0"/>
              <a:t>(t0–t6 and a0–a7) that it needs after </a:t>
            </a:r>
            <a:r>
              <a:rPr lang="en-US" sz="2800" dirty="0" smtClean="0"/>
              <a:t>the call</a:t>
            </a:r>
            <a:r>
              <a:rPr lang="en-US" sz="2800" dirty="0"/>
              <a:t>. </a:t>
            </a:r>
            <a:r>
              <a:rPr lang="en-US" sz="2800" b="1" dirty="0"/>
              <a:t>After the call, it must restore these registers </a:t>
            </a:r>
            <a:r>
              <a:rPr lang="en-US" sz="2800" dirty="0"/>
              <a:t>before using them</a:t>
            </a:r>
            <a:r>
              <a:rPr lang="en-US" sz="2800" dirty="0" smtClean="0"/>
              <a:t>.</a:t>
            </a:r>
          </a:p>
          <a:p>
            <a:pPr lvl="1"/>
            <a:endParaRPr lang="en-US" sz="2800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b="1" dirty="0" err="1"/>
              <a:t>Callee</a:t>
            </a:r>
            <a:r>
              <a:rPr lang="en-US" sz="2800" b="1" dirty="0"/>
              <a:t> save rule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FF0000"/>
                </a:solidFill>
              </a:rPr>
              <a:t>Before a </a:t>
            </a:r>
            <a:r>
              <a:rPr lang="en-US" sz="2800" dirty="0" err="1">
                <a:solidFill>
                  <a:srgbClr val="FF0000"/>
                </a:solidFill>
              </a:rPr>
              <a:t>callee</a:t>
            </a:r>
            <a:r>
              <a:rPr lang="en-US" sz="2800" dirty="0">
                <a:solidFill>
                  <a:srgbClr val="FF0000"/>
                </a:solidFill>
              </a:rPr>
              <a:t> disturbs </a:t>
            </a:r>
            <a:r>
              <a:rPr lang="en-US" sz="2800" dirty="0"/>
              <a:t>any of the </a:t>
            </a:r>
            <a:r>
              <a:rPr lang="en-US" sz="2800" b="1" dirty="0" smtClean="0"/>
              <a:t>preserved registers </a:t>
            </a:r>
            <a:r>
              <a:rPr lang="en-US" sz="2800" dirty="0"/>
              <a:t>(s0–s11 and </a:t>
            </a:r>
            <a:r>
              <a:rPr lang="en-US" sz="2800" dirty="0" err="1"/>
              <a:t>ra</a:t>
            </a:r>
            <a:r>
              <a:rPr lang="en-US" sz="2800" dirty="0"/>
              <a:t>), it must save the registers. </a:t>
            </a:r>
            <a:r>
              <a:rPr lang="en-US" sz="2800" b="1" dirty="0"/>
              <a:t>Before </a:t>
            </a:r>
            <a:r>
              <a:rPr lang="en-US" sz="2800" b="1" dirty="0" smtClean="0"/>
              <a:t>it returns</a:t>
            </a:r>
            <a:r>
              <a:rPr lang="en-US" sz="2800" dirty="0"/>
              <a:t>, it must restore these registers.</a:t>
            </a:r>
          </a:p>
        </p:txBody>
      </p:sp>
    </p:spTree>
    <p:extLst>
      <p:ext uri="{BB962C8B-B14F-4D97-AF65-F5344CB8AC3E}">
        <p14:creationId xmlns:p14="http://schemas.microsoft.com/office/powerpoint/2010/main" val="208953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The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b="1" i="1" dirty="0"/>
              <a:t>recursive function </a:t>
            </a:r>
            <a:r>
              <a:rPr lang="en-US" sz="3200" dirty="0"/>
              <a:t>is a </a:t>
            </a:r>
            <a:r>
              <a:rPr lang="en-US" sz="3200" dirty="0" err="1">
                <a:solidFill>
                  <a:srgbClr val="FF0000"/>
                </a:solidFill>
              </a:rPr>
              <a:t>nonleaf</a:t>
            </a:r>
            <a:r>
              <a:rPr lang="en-US" sz="3200" dirty="0">
                <a:solidFill>
                  <a:srgbClr val="FF0000"/>
                </a:solidFill>
              </a:rPr>
              <a:t> function that calls itself. </a:t>
            </a:r>
            <a:endParaRPr lang="en-US" sz="3200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Recursive functions </a:t>
            </a:r>
            <a:r>
              <a:rPr lang="en-US" sz="3200" dirty="0"/>
              <a:t>behave as </a:t>
            </a:r>
            <a:r>
              <a:rPr lang="en-US" sz="3200" b="1" dirty="0"/>
              <a:t>both caller and </a:t>
            </a:r>
            <a:r>
              <a:rPr lang="en-US" sz="3200" b="1" dirty="0" err="1"/>
              <a:t>callee</a:t>
            </a:r>
            <a:r>
              <a:rPr lang="en-US" sz="3200" b="1" dirty="0"/>
              <a:t> </a:t>
            </a:r>
            <a:r>
              <a:rPr lang="en-US" sz="3200" dirty="0"/>
              <a:t>and must save both </a:t>
            </a:r>
            <a:r>
              <a:rPr lang="en-US" sz="3200" dirty="0" smtClean="0"/>
              <a:t>preserved </a:t>
            </a:r>
            <a:r>
              <a:rPr lang="en-IN" sz="3200" dirty="0" smtClean="0"/>
              <a:t>and </a:t>
            </a:r>
            <a:r>
              <a:rPr lang="en-IN" sz="3200" dirty="0" err="1"/>
              <a:t>nonpreserved</a:t>
            </a:r>
            <a:r>
              <a:rPr lang="en-IN" sz="3200" dirty="0"/>
              <a:t> registers.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188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895" y="-5303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The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015" y="641028"/>
            <a:ext cx="1181686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b="1" i="1" dirty="0"/>
              <a:t>recursive function </a:t>
            </a:r>
            <a:r>
              <a:rPr lang="en-US" sz="3200" dirty="0"/>
              <a:t>is a </a:t>
            </a:r>
            <a:r>
              <a:rPr lang="en-US" sz="3200" dirty="0" err="1">
                <a:solidFill>
                  <a:srgbClr val="FF0000"/>
                </a:solidFill>
              </a:rPr>
              <a:t>nonleaf</a:t>
            </a:r>
            <a:r>
              <a:rPr lang="en-US" sz="3200" dirty="0">
                <a:solidFill>
                  <a:srgbClr val="FF0000"/>
                </a:solidFill>
              </a:rPr>
              <a:t> function that calls itself. </a:t>
            </a:r>
            <a:endParaRPr lang="en-US" sz="3200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Recursive functions </a:t>
            </a:r>
            <a:r>
              <a:rPr lang="en-US" sz="3200" dirty="0"/>
              <a:t>behave as </a:t>
            </a:r>
            <a:r>
              <a:rPr lang="en-US" sz="3200" b="1" dirty="0"/>
              <a:t>both caller and </a:t>
            </a:r>
            <a:r>
              <a:rPr lang="en-US" sz="3200" b="1" dirty="0" err="1"/>
              <a:t>callee</a:t>
            </a:r>
            <a:r>
              <a:rPr lang="en-US" sz="3200" b="1" dirty="0"/>
              <a:t> </a:t>
            </a:r>
            <a:r>
              <a:rPr lang="en-US" sz="3200" dirty="0"/>
              <a:t>and must save both </a:t>
            </a:r>
            <a:r>
              <a:rPr lang="en-US" sz="3200" dirty="0" smtClean="0"/>
              <a:t>preserved </a:t>
            </a:r>
            <a:r>
              <a:rPr lang="en-IN" sz="3200" dirty="0" smtClean="0"/>
              <a:t>and </a:t>
            </a:r>
            <a:r>
              <a:rPr lang="en-IN" sz="3200" dirty="0" err="1"/>
              <a:t>nonpreserved</a:t>
            </a:r>
            <a:r>
              <a:rPr lang="en-IN" sz="3200" dirty="0"/>
              <a:t> registers.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1427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18229" y="317862"/>
            <a:ext cx="58635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b="1" dirty="0"/>
              <a:t>Instruction execution </a:t>
            </a:r>
            <a:r>
              <a:rPr lang="en-IN" sz="4000" b="1" dirty="0" smtClean="0"/>
              <a:t>cycle</a:t>
            </a:r>
            <a:endParaRPr lang="en-IN" sz="40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4" t="37500" r="17570" b="25521"/>
          <a:stretch/>
        </p:blipFill>
        <p:spPr bwMode="auto">
          <a:xfrm>
            <a:off x="685800" y="1390649"/>
            <a:ext cx="11068050" cy="4762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542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1015" y="1079178"/>
            <a:ext cx="1181686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Programs </a:t>
            </a:r>
            <a:r>
              <a:rPr lang="en-US" sz="2800" dirty="0"/>
              <a:t>reside in the memory entered through input devices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Execution </a:t>
            </a:r>
            <a:r>
              <a:rPr lang="en-US" sz="2800" dirty="0"/>
              <a:t>of the program starts when the PC is set to point at the </a:t>
            </a:r>
            <a:r>
              <a:rPr lang="en-US" sz="2800" dirty="0" smtClean="0"/>
              <a:t>first instruction </a:t>
            </a:r>
            <a:r>
              <a:rPr lang="en-US" sz="2800" dirty="0"/>
              <a:t>of the program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PC </a:t>
            </a:r>
            <a:r>
              <a:rPr lang="en-US" sz="2800" dirty="0"/>
              <a:t>(Program counter) has address of the first instruction or </a:t>
            </a:r>
            <a:r>
              <a:rPr lang="en-US" sz="2800" dirty="0" smtClean="0"/>
              <a:t>next instruction </a:t>
            </a:r>
            <a:r>
              <a:rPr lang="en-US" sz="2800" dirty="0"/>
              <a:t>to be executed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contents of PC are transferred to MAR (Memory Address </a:t>
            </a:r>
            <a:r>
              <a:rPr lang="en-US" sz="2800" dirty="0" smtClean="0"/>
              <a:t>Register) and </a:t>
            </a:r>
            <a:r>
              <a:rPr lang="en-US" sz="2800" dirty="0"/>
              <a:t>send over system bus to memory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 </a:t>
            </a:r>
            <a:r>
              <a:rPr lang="en-US" sz="2800" dirty="0"/>
              <a:t>Read signal is sent to the memory by control unit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instruction addressed word) is fetched and loaded into </a:t>
            </a:r>
            <a:r>
              <a:rPr lang="en-US" sz="2800" dirty="0" smtClean="0"/>
              <a:t>MDR (Memory </a:t>
            </a:r>
            <a:r>
              <a:rPr lang="en-US" sz="2800" dirty="0"/>
              <a:t>Data Register) after duration of memory access time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contents of MDR transferred to IR (Instruction Register)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Now </a:t>
            </a:r>
            <a:r>
              <a:rPr lang="en-US" sz="2800" dirty="0"/>
              <a:t>the instruction is ready to be decoded and executed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211015" y="371292"/>
            <a:ext cx="110352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/>
              <a:t>Instruction execution </a:t>
            </a:r>
            <a:r>
              <a:rPr lang="en-IN" sz="3200" b="1" dirty="0" smtClean="0"/>
              <a:t>cycle: </a:t>
            </a:r>
            <a:r>
              <a:rPr lang="en-US" sz="3200" dirty="0"/>
              <a:t>Typical Operating Steps (Fetch Cycle)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68768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1015" y="1079178"/>
            <a:ext cx="1181686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If the instruction involves an operation by the ALU, Get operands for </a:t>
            </a:r>
            <a:r>
              <a:rPr lang="en-US" sz="2400" dirty="0" smtClean="0"/>
              <a:t>ALU from</a:t>
            </a:r>
            <a:endParaRPr lang="en-US" sz="2400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400" dirty="0" smtClean="0"/>
              <a:t>General </a:t>
            </a:r>
            <a:r>
              <a:rPr lang="en-US" sz="2400" dirty="0"/>
              <a:t>purpose register (</a:t>
            </a:r>
            <a:r>
              <a:rPr lang="en-US" sz="2400" dirty="0" smtClean="0"/>
              <a:t>R0,… Rn-1)</a:t>
            </a:r>
            <a:endParaRPr lang="en-US" sz="2400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400" dirty="0" smtClean="0"/>
              <a:t>Memory</a:t>
            </a:r>
            <a:endParaRPr lang="en-US" sz="2400" dirty="0"/>
          </a:p>
          <a:p>
            <a:pPr lvl="1"/>
            <a:r>
              <a:rPr lang="en-US" sz="2400" dirty="0" smtClean="0"/>
              <a:t>	(address to </a:t>
            </a:r>
            <a:r>
              <a:rPr lang="en-US" sz="2400" dirty="0"/>
              <a:t>MAR, Read </a:t>
            </a:r>
            <a:r>
              <a:rPr lang="en-US" sz="2400" dirty="0" err="1"/>
              <a:t>frm</a:t>
            </a:r>
            <a:r>
              <a:rPr lang="en-US" sz="2400" dirty="0"/>
              <a:t> </a:t>
            </a:r>
            <a:r>
              <a:rPr lang="en-US" sz="2400" dirty="0" err="1"/>
              <a:t>mem</a:t>
            </a:r>
            <a:r>
              <a:rPr lang="en-US" sz="2400" dirty="0"/>
              <a:t> data to MDR, to ALU)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After </a:t>
            </a:r>
            <a:r>
              <a:rPr lang="en-US" sz="2400" dirty="0"/>
              <a:t>one or two such repeated cycles, Perform operation in ALU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Store </a:t>
            </a:r>
            <a:r>
              <a:rPr lang="en-US" sz="2400" dirty="0"/>
              <a:t>the result back </a:t>
            </a:r>
            <a:r>
              <a:rPr lang="en-US" sz="2400" dirty="0" smtClean="0"/>
              <a:t>to:</a:t>
            </a:r>
            <a:endParaRPr lang="en-US" sz="2400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400" dirty="0" smtClean="0"/>
              <a:t>General </a:t>
            </a:r>
            <a:r>
              <a:rPr lang="en-US" sz="2400" dirty="0"/>
              <a:t>purpose register (R 0 </a:t>
            </a:r>
            <a:r>
              <a:rPr lang="en-US" sz="2400" dirty="0" err="1"/>
              <a:t>Rn</a:t>
            </a:r>
            <a:r>
              <a:rPr lang="en-US" sz="2400" dirty="0"/>
              <a:t> 1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400" dirty="0" smtClean="0"/>
              <a:t>Memory</a:t>
            </a:r>
            <a:endParaRPr lang="en-US" sz="2400" dirty="0"/>
          </a:p>
          <a:p>
            <a:pPr lvl="1"/>
            <a:r>
              <a:rPr lang="en-US" sz="2400" dirty="0" smtClean="0"/>
              <a:t>	(address to </a:t>
            </a:r>
            <a:r>
              <a:rPr lang="en-US" sz="2400" dirty="0"/>
              <a:t>MAR, result to MDR, Write to </a:t>
            </a:r>
            <a:r>
              <a:rPr lang="en-US" sz="2400" dirty="0" err="1" smtClean="0"/>
              <a:t>mem</a:t>
            </a:r>
            <a:r>
              <a:rPr lang="en-US" sz="2400" dirty="0" smtClean="0"/>
              <a:t>)</a:t>
            </a:r>
            <a:endParaRPr lang="en-US" sz="24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During </a:t>
            </a:r>
            <a:r>
              <a:rPr lang="en-US" sz="2400" dirty="0"/>
              <a:t>the execution, PC is incremented to point to the next instruction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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In addition to transferring data between memory and processor, </a:t>
            </a:r>
            <a:r>
              <a:rPr lang="en-US" sz="2400" dirty="0" smtClean="0"/>
              <a:t>computer accepts </a:t>
            </a:r>
            <a:r>
              <a:rPr lang="en-US" sz="2400" dirty="0"/>
              <a:t>data from input devices and sends data to output </a:t>
            </a:r>
            <a:r>
              <a:rPr lang="en-US" sz="2400" dirty="0" smtClean="0"/>
              <a:t>devices Instructions </a:t>
            </a:r>
            <a:r>
              <a:rPr lang="en-US" sz="2400" dirty="0"/>
              <a:t>to handle I/O transfers, I/O Address Register, I/O Data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Register </a:t>
            </a:r>
            <a:r>
              <a:rPr lang="en-US" sz="2400" dirty="0" err="1"/>
              <a:t>etc</a:t>
            </a:r>
            <a:r>
              <a:rPr lang="en-US" sz="2400" dirty="0"/>
              <a:t> provided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211015" y="371292"/>
            <a:ext cx="117541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/>
              <a:t>Instruction execution </a:t>
            </a:r>
            <a:r>
              <a:rPr lang="en-IN" sz="3200" b="1" dirty="0" smtClean="0"/>
              <a:t>cycle: </a:t>
            </a:r>
            <a:r>
              <a:rPr lang="en-US" sz="3200" dirty="0" smtClean="0"/>
              <a:t>Typical </a:t>
            </a:r>
            <a:r>
              <a:rPr lang="en-US" sz="3200" dirty="0"/>
              <a:t>Operating Steps (Execution Cycle)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981287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2B63E0D-5DEB-5C0A-F10F-759F864C8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4E3979A-EF04-3B2C-6A77-9B5999CECA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817748-A436-EBAA-9CD8-1E69FF685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2" y="609599"/>
            <a:ext cx="4815257" cy="1019175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000" b="1" dirty="0">
                <a:latin typeface="CIDFont+F3"/>
              </a:rPr>
              <a:t>Machine language </a:t>
            </a:r>
            <a:r>
              <a:rPr lang="en-US" sz="4000" dirty="0">
                <a:latin typeface="CIDFont+F3"/>
              </a:rPr>
              <a:t>-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xmlns="" id="{BD7EB6CB-FA55-FD6E-6FBB-5BD668FC2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400" dirty="0">
                <a:latin typeface="CIDFont+F2"/>
              </a:rPr>
              <a:t>Instructions, </a:t>
            </a:r>
          </a:p>
          <a:p>
            <a:r>
              <a:rPr lang="en-US" sz="2400" dirty="0">
                <a:latin typeface="CIDFont+F2"/>
              </a:rPr>
              <a:t>addressing modes, </a:t>
            </a:r>
          </a:p>
          <a:p>
            <a:r>
              <a:rPr lang="en-US" sz="2400" dirty="0">
                <a:latin typeface="CIDFont+F2"/>
              </a:rPr>
              <a:t>Stored program concept.</a:t>
            </a:r>
          </a:p>
          <a:p>
            <a:r>
              <a:rPr lang="en-US" sz="2400" dirty="0">
                <a:latin typeface="CIDFont+F2"/>
              </a:rPr>
              <a:t> Evolution of the RISC Architecture.</a:t>
            </a:r>
            <a:endParaRPr lang="en-IN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83080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60117"/>
          </a:xfrm>
        </p:spPr>
        <p:txBody>
          <a:bodyPr/>
          <a:lstStyle/>
          <a:p>
            <a:r>
              <a:rPr lang="en-IN" b="1" dirty="0"/>
              <a:t>MACHINE LANGUAGE</a:t>
            </a:r>
            <a:r>
              <a:rPr lang="en-IN" b="1" dirty="0" smtClean="0"/>
              <a:t>…page 355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422030" y="1786597"/>
            <a:ext cx="1138076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Assembly language is convenient for humans to read. </a:t>
            </a: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However</a:t>
            </a:r>
            <a:r>
              <a:rPr lang="en-US" sz="3200" dirty="0"/>
              <a:t>, </a:t>
            </a:r>
            <a:r>
              <a:rPr lang="en-US" sz="3200" dirty="0" smtClean="0"/>
              <a:t>digital circuits </a:t>
            </a:r>
            <a:r>
              <a:rPr lang="en-US" sz="3200" dirty="0"/>
              <a:t>understand only 1’s and 0’s. </a:t>
            </a: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Therefore</a:t>
            </a:r>
            <a:r>
              <a:rPr lang="en-US" sz="3200" dirty="0"/>
              <a:t>, a program written </a:t>
            </a:r>
            <a:r>
              <a:rPr lang="en-US" sz="3200" dirty="0" smtClean="0"/>
              <a:t>in assembly </a:t>
            </a:r>
            <a:r>
              <a:rPr lang="en-US" sz="3200" dirty="0"/>
              <a:t>language is translated from mnemonics to a </a:t>
            </a:r>
            <a:r>
              <a:rPr lang="en-US" sz="3200" dirty="0" smtClean="0"/>
              <a:t>representation using </a:t>
            </a:r>
            <a:r>
              <a:rPr lang="en-US" sz="3200" dirty="0"/>
              <a:t>only 1’s and 0’s, called </a:t>
            </a:r>
            <a:r>
              <a:rPr lang="en-US" sz="3200" i="1" dirty="0"/>
              <a:t>machine language</a:t>
            </a:r>
            <a:r>
              <a:rPr lang="en-US" sz="3200" dirty="0"/>
              <a:t>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67156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60117"/>
          </a:xfrm>
        </p:spPr>
        <p:txBody>
          <a:bodyPr/>
          <a:lstStyle/>
          <a:p>
            <a:r>
              <a:rPr lang="en-IN" b="1" dirty="0"/>
              <a:t>MACHINE LANGUAGE</a:t>
            </a:r>
            <a:r>
              <a:rPr lang="en-IN" b="1" dirty="0" smtClean="0"/>
              <a:t>…page 355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422030" y="1786597"/>
            <a:ext cx="1138076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RISC-V uses 32-bit instructions.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Even </a:t>
            </a:r>
            <a:r>
              <a:rPr lang="en-US" sz="3200" dirty="0"/>
              <a:t>though some instructions may </a:t>
            </a:r>
            <a:r>
              <a:rPr lang="en-US" sz="3200" dirty="0" smtClean="0"/>
              <a:t>not require </a:t>
            </a:r>
            <a:r>
              <a:rPr lang="en-US" sz="3200" dirty="0"/>
              <a:t>all 32 bits of encoding, variable-length instructions would </a:t>
            </a:r>
            <a:r>
              <a:rPr lang="en-US" sz="3200" dirty="0" smtClean="0"/>
              <a:t>add complexity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Simplicity </a:t>
            </a:r>
            <a:r>
              <a:rPr lang="en-US" sz="3200" dirty="0"/>
              <a:t>would also encourage a single-instruction </a:t>
            </a:r>
            <a:r>
              <a:rPr lang="en-US" sz="3200" dirty="0" smtClean="0"/>
              <a:t>format, but </a:t>
            </a:r>
            <a:r>
              <a:rPr lang="en-US" sz="3200" dirty="0"/>
              <a:t>that is too restrictive.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This </a:t>
            </a:r>
            <a:r>
              <a:rPr lang="en-US" sz="3200" dirty="0"/>
              <a:t>issue allows </a:t>
            </a:r>
            <a:r>
              <a:rPr lang="en-US" sz="3200" dirty="0" smtClean="0"/>
              <a:t>to </a:t>
            </a:r>
            <a:r>
              <a:rPr lang="en-US" sz="3200" dirty="0"/>
              <a:t>introduce the </a:t>
            </a:r>
            <a:r>
              <a:rPr lang="en-US" sz="3200" dirty="0" smtClean="0"/>
              <a:t>last </a:t>
            </a:r>
            <a:r>
              <a:rPr lang="en-IN" sz="3200" dirty="0" smtClean="0"/>
              <a:t>design </a:t>
            </a:r>
            <a:r>
              <a:rPr lang="en-IN" sz="3200" dirty="0"/>
              <a:t>principle</a:t>
            </a:r>
            <a:r>
              <a:rPr lang="en-IN" sz="3200" dirty="0" smtClean="0"/>
              <a:t>: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dirty="0"/>
          </a:p>
          <a:p>
            <a:r>
              <a:rPr lang="en-US" sz="3200" b="1" dirty="0" smtClean="0"/>
              <a:t>Design </a:t>
            </a:r>
            <a:r>
              <a:rPr lang="en-US" sz="3200" b="1" dirty="0"/>
              <a:t>Principle 4</a:t>
            </a:r>
            <a:r>
              <a:rPr lang="en-US" sz="3200" dirty="0"/>
              <a:t>: Good design demands good compromises</a:t>
            </a:r>
            <a:r>
              <a:rPr lang="en-US" sz="3200" dirty="0" smtClean="0"/>
              <a:t>.</a:t>
            </a:r>
          </a:p>
          <a:p>
            <a:r>
              <a:rPr lang="en-US" sz="3200" dirty="0"/>
              <a:t>RISC-V makes the compromise of defining four main instruction</a:t>
            </a:r>
          </a:p>
          <a:p>
            <a:r>
              <a:rPr lang="en-US" sz="3200" dirty="0"/>
              <a:t>formats: </a:t>
            </a:r>
            <a:r>
              <a:rPr lang="en-US" sz="3200" b="1" i="1" dirty="0"/>
              <a:t>R-type</a:t>
            </a:r>
            <a:r>
              <a:rPr lang="en-US" sz="3200" b="1" dirty="0"/>
              <a:t>, </a:t>
            </a:r>
            <a:r>
              <a:rPr lang="en-US" sz="3200" b="1" i="1" dirty="0"/>
              <a:t>I-type</a:t>
            </a:r>
            <a:r>
              <a:rPr lang="en-US" sz="3200" b="1" dirty="0"/>
              <a:t>, </a:t>
            </a:r>
            <a:r>
              <a:rPr lang="en-US" sz="3200" b="1" i="1" dirty="0"/>
              <a:t>S/B-type</a:t>
            </a:r>
            <a:r>
              <a:rPr lang="en-US" sz="3200" b="1" dirty="0"/>
              <a:t>, and </a:t>
            </a:r>
            <a:r>
              <a:rPr lang="en-US" sz="3200" b="1" i="1" dirty="0"/>
              <a:t>U/J-type</a:t>
            </a:r>
            <a:r>
              <a:rPr lang="en-US" sz="3200" b="1" dirty="0"/>
              <a:t>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27862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dirty="0" smtClean="0"/>
              <a:t>INSTRUCTION FORMATS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RISC-V has four </a:t>
            </a:r>
            <a:r>
              <a:rPr lang="en-US" sz="3200" dirty="0"/>
              <a:t>main </a:t>
            </a:r>
            <a:r>
              <a:rPr lang="en-US" sz="3200" dirty="0" smtClean="0"/>
              <a:t>instruction formats</a:t>
            </a:r>
            <a:r>
              <a:rPr lang="en-US" sz="3200" dirty="0"/>
              <a:t>: </a:t>
            </a:r>
            <a:r>
              <a:rPr lang="en-US" sz="3200" b="1" i="1" dirty="0"/>
              <a:t>R-type</a:t>
            </a:r>
            <a:r>
              <a:rPr lang="en-US" sz="3200" b="1" dirty="0"/>
              <a:t>, </a:t>
            </a:r>
            <a:r>
              <a:rPr lang="en-US" sz="3200" b="1" i="1" dirty="0"/>
              <a:t>I-type</a:t>
            </a:r>
            <a:r>
              <a:rPr lang="en-US" sz="3200" b="1" dirty="0"/>
              <a:t>, </a:t>
            </a:r>
            <a:r>
              <a:rPr lang="en-US" sz="3200" b="1" i="1" dirty="0"/>
              <a:t>S/B-type</a:t>
            </a:r>
            <a:r>
              <a:rPr lang="en-US" sz="3200" b="1" dirty="0"/>
              <a:t>, and </a:t>
            </a:r>
            <a:r>
              <a:rPr lang="en-US" sz="3200" b="1" i="1" dirty="0"/>
              <a:t>U/J-type</a:t>
            </a:r>
            <a:r>
              <a:rPr lang="en-US" sz="3200" b="1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i="1" dirty="0"/>
              <a:t>R-type </a:t>
            </a:r>
            <a:r>
              <a:rPr lang="en-US" sz="3200" b="1" dirty="0"/>
              <a:t>(</a:t>
            </a:r>
            <a:r>
              <a:rPr lang="en-US" sz="3200" b="1" i="1" dirty="0"/>
              <a:t>register</a:t>
            </a:r>
            <a:r>
              <a:rPr lang="en-US" sz="3200" b="1" dirty="0"/>
              <a:t>) instructions</a:t>
            </a:r>
            <a:r>
              <a:rPr lang="en-US" sz="3200" dirty="0"/>
              <a:t>, such as add s0, s1, s2, operate </a:t>
            </a:r>
            <a:r>
              <a:rPr lang="en-US" sz="3200" dirty="0" smtClean="0"/>
              <a:t>on three </a:t>
            </a:r>
            <a:r>
              <a:rPr lang="en-US" sz="3200" dirty="0"/>
              <a:t>registers.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i="1" dirty="0" smtClean="0"/>
              <a:t>I-type </a:t>
            </a:r>
            <a:r>
              <a:rPr lang="en-US" sz="3200" b="1" dirty="0"/>
              <a:t>(immediate) instructions</a:t>
            </a:r>
            <a:r>
              <a:rPr lang="en-US" sz="3200" dirty="0"/>
              <a:t>, such as </a:t>
            </a:r>
            <a:r>
              <a:rPr lang="en-US" sz="3200" dirty="0" err="1"/>
              <a:t>addi</a:t>
            </a:r>
            <a:r>
              <a:rPr lang="en-US" sz="3200" dirty="0"/>
              <a:t> s3, s4, </a:t>
            </a:r>
            <a:r>
              <a:rPr lang="en-US" sz="3200" dirty="0" smtClean="0"/>
              <a:t>42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i="1" dirty="0" smtClean="0"/>
              <a:t>S/B-type </a:t>
            </a:r>
            <a:r>
              <a:rPr lang="en-US" sz="3200" b="1" dirty="0"/>
              <a:t>(store/branch) instructions</a:t>
            </a:r>
            <a:r>
              <a:rPr lang="en-US" sz="3200" dirty="0"/>
              <a:t>, such as </a:t>
            </a:r>
            <a:r>
              <a:rPr lang="en-US" sz="3200" dirty="0" err="1"/>
              <a:t>sw</a:t>
            </a:r>
            <a:r>
              <a:rPr lang="en-US" sz="3200" dirty="0"/>
              <a:t> a0, 4(</a:t>
            </a:r>
            <a:r>
              <a:rPr lang="en-US" sz="3200" dirty="0" err="1"/>
              <a:t>sp</a:t>
            </a:r>
            <a:r>
              <a:rPr lang="en-US" sz="3200" dirty="0"/>
              <a:t>) </a:t>
            </a:r>
            <a:r>
              <a:rPr lang="en-US" sz="3200" dirty="0" smtClean="0"/>
              <a:t>or </a:t>
            </a:r>
            <a:r>
              <a:rPr lang="en-US" sz="3200" dirty="0" err="1" smtClean="0"/>
              <a:t>beq</a:t>
            </a:r>
            <a:r>
              <a:rPr lang="en-US" sz="3200" dirty="0" smtClean="0"/>
              <a:t> </a:t>
            </a:r>
            <a:r>
              <a:rPr lang="en-US" sz="3200" dirty="0"/>
              <a:t>a0,a1,L1, operate on two registers and a 12- or 13-bit </a:t>
            </a:r>
            <a:r>
              <a:rPr lang="en-US" sz="3200" dirty="0" smtClean="0"/>
              <a:t>signed immediate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i="1" dirty="0" smtClean="0"/>
              <a:t>U/J-type </a:t>
            </a:r>
            <a:r>
              <a:rPr lang="en-US" sz="3200" b="1" dirty="0"/>
              <a:t>(upper immediate/jump) instructions</a:t>
            </a:r>
            <a:r>
              <a:rPr lang="en-US" sz="3200" dirty="0"/>
              <a:t>, such </a:t>
            </a:r>
            <a:r>
              <a:rPr lang="en-US" sz="3200" dirty="0" smtClean="0"/>
              <a:t>as </a:t>
            </a:r>
            <a:r>
              <a:rPr lang="en-US" sz="3200" dirty="0" err="1" smtClean="0"/>
              <a:t>jal</a:t>
            </a:r>
            <a:r>
              <a:rPr lang="en-US" sz="3200" dirty="0" smtClean="0"/>
              <a:t> </a:t>
            </a:r>
            <a:r>
              <a:rPr lang="en-US" sz="3200" dirty="0" err="1"/>
              <a:t>ra</a:t>
            </a:r>
            <a:r>
              <a:rPr lang="en-US" sz="3200" dirty="0"/>
              <a:t>, factorial, operate on one register and a 20- or 21-bit immediate.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76077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dirty="0"/>
              <a:t>R-Type Instructions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R-type (</a:t>
            </a:r>
            <a:r>
              <a:rPr lang="en-US" sz="3200" i="1" dirty="0"/>
              <a:t>register</a:t>
            </a:r>
            <a:r>
              <a:rPr lang="en-US" sz="3200" dirty="0"/>
              <a:t>-type) instructions use three registers as operands: two </a:t>
            </a:r>
            <a:r>
              <a:rPr lang="en-US" sz="3200" dirty="0" err="1" smtClean="0"/>
              <a:t>ascsources</a:t>
            </a:r>
            <a:r>
              <a:rPr lang="en-US" sz="3200" dirty="0" smtClean="0"/>
              <a:t> </a:t>
            </a:r>
            <a:r>
              <a:rPr lang="en-US" sz="3200" dirty="0"/>
              <a:t>and one as a destination. </a:t>
            </a:r>
            <a:r>
              <a:rPr lang="en-US" sz="3200" dirty="0" smtClean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Figure </a:t>
            </a:r>
            <a:r>
              <a:rPr lang="en-US" sz="3200" dirty="0"/>
              <a:t>shows the R-type </a:t>
            </a:r>
            <a:r>
              <a:rPr lang="en-US" sz="3200" dirty="0" smtClean="0"/>
              <a:t>machine </a:t>
            </a:r>
            <a:r>
              <a:rPr lang="en-US" sz="3200" dirty="0"/>
              <a:t>instruction format.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32-bit instruction has six fields: </a:t>
            </a:r>
            <a:r>
              <a:rPr lang="en-US" sz="3200" b="1" dirty="0"/>
              <a:t>funct7</a:t>
            </a:r>
            <a:r>
              <a:rPr lang="en-US" sz="3200" dirty="0"/>
              <a:t>, </a:t>
            </a:r>
            <a:r>
              <a:rPr lang="en-US" sz="3200" b="1" dirty="0"/>
              <a:t>rs2</a:t>
            </a:r>
            <a:r>
              <a:rPr lang="en-US" sz="3200" dirty="0"/>
              <a:t>, </a:t>
            </a:r>
            <a:r>
              <a:rPr lang="en-US" sz="3200" b="1" dirty="0" smtClean="0"/>
              <a:t>rs1</a:t>
            </a:r>
            <a:r>
              <a:rPr lang="en-US" sz="3200" dirty="0" smtClean="0"/>
              <a:t>, </a:t>
            </a:r>
            <a:r>
              <a:rPr lang="en-US" sz="3200" b="1" dirty="0" smtClean="0"/>
              <a:t>funct3</a:t>
            </a:r>
            <a:r>
              <a:rPr lang="en-US" sz="3200" dirty="0"/>
              <a:t>, </a:t>
            </a:r>
            <a:r>
              <a:rPr lang="en-US" sz="3200" b="1" dirty="0" err="1"/>
              <a:t>rd</a:t>
            </a:r>
            <a:r>
              <a:rPr lang="en-US" sz="3200" dirty="0"/>
              <a:t>, and </a:t>
            </a:r>
            <a:r>
              <a:rPr lang="en-US" sz="3200" b="1" dirty="0"/>
              <a:t>op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Each </a:t>
            </a:r>
            <a:r>
              <a:rPr lang="en-US" sz="3200" dirty="0"/>
              <a:t>field is three to seven bits, as indicated.</a:t>
            </a:r>
            <a:endParaRPr lang="en-IN" sz="3200" b="1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1" t="28846" r="19905" b="57341"/>
          <a:stretch/>
        </p:blipFill>
        <p:spPr bwMode="auto">
          <a:xfrm>
            <a:off x="848303" y="4156668"/>
            <a:ext cx="9519586" cy="255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847266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dirty="0"/>
              <a:t>I</a:t>
            </a:r>
            <a:r>
              <a:rPr lang="en-IN" b="1" dirty="0" smtClean="0"/>
              <a:t>-Type </a:t>
            </a:r>
            <a:r>
              <a:rPr lang="en-IN" b="1" dirty="0"/>
              <a:t>Instructions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I-type (</a:t>
            </a:r>
            <a:r>
              <a:rPr lang="en-US" sz="3200" i="1" dirty="0"/>
              <a:t>immediate</a:t>
            </a:r>
            <a:r>
              <a:rPr lang="en-US" sz="3200" dirty="0"/>
              <a:t>) instructions use two register operands and one </a:t>
            </a:r>
            <a:r>
              <a:rPr lang="en-US" sz="3200" dirty="0" smtClean="0"/>
              <a:t>immediate </a:t>
            </a:r>
            <a:r>
              <a:rPr lang="en-IN" sz="3200" dirty="0" smtClean="0"/>
              <a:t>operand</a:t>
            </a:r>
            <a:r>
              <a:rPr lang="en-IN" sz="3200" dirty="0"/>
              <a:t>. </a:t>
            </a:r>
            <a:endParaRPr lang="en-IN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I-type </a:t>
            </a:r>
            <a:r>
              <a:rPr lang="en-IN" sz="3200" dirty="0"/>
              <a:t>instructions include </a:t>
            </a:r>
            <a:r>
              <a:rPr lang="en-IN" sz="3200" dirty="0" err="1"/>
              <a:t>addi</a:t>
            </a:r>
            <a:r>
              <a:rPr lang="en-IN" sz="3200" dirty="0"/>
              <a:t>, </a:t>
            </a:r>
            <a:r>
              <a:rPr lang="en-IN" sz="3200" dirty="0" err="1"/>
              <a:t>andi</a:t>
            </a:r>
            <a:r>
              <a:rPr lang="en-IN" sz="3200" dirty="0"/>
              <a:t>, </a:t>
            </a:r>
            <a:r>
              <a:rPr lang="en-IN" sz="3200" dirty="0" err="1"/>
              <a:t>ori</a:t>
            </a:r>
            <a:r>
              <a:rPr lang="en-IN" sz="3200" dirty="0"/>
              <a:t>, and </a:t>
            </a:r>
            <a:r>
              <a:rPr lang="en-IN" sz="3200" dirty="0" err="1" smtClean="0"/>
              <a:t>xori</a:t>
            </a:r>
            <a:r>
              <a:rPr lang="en-IN" sz="3200" dirty="0" smtClean="0"/>
              <a:t>, </a:t>
            </a:r>
            <a:r>
              <a:rPr lang="en-US" sz="3200" dirty="0" smtClean="0"/>
              <a:t>loads </a:t>
            </a:r>
            <a:r>
              <a:rPr lang="en-US" sz="3200" dirty="0"/>
              <a:t>(</a:t>
            </a:r>
            <a:r>
              <a:rPr lang="en-US" sz="3200" dirty="0" err="1"/>
              <a:t>lw</a:t>
            </a:r>
            <a:r>
              <a:rPr lang="en-US" sz="3200" dirty="0"/>
              <a:t>, </a:t>
            </a:r>
            <a:r>
              <a:rPr lang="en-US" sz="3200" dirty="0" err="1"/>
              <a:t>lh</a:t>
            </a:r>
            <a:r>
              <a:rPr lang="en-US" sz="3200" dirty="0"/>
              <a:t>, </a:t>
            </a:r>
            <a:r>
              <a:rPr lang="en-US" sz="3200" dirty="0" err="1"/>
              <a:t>lb</a:t>
            </a:r>
            <a:r>
              <a:rPr lang="en-US" sz="3200" dirty="0"/>
              <a:t>, </a:t>
            </a:r>
            <a:r>
              <a:rPr lang="en-US" sz="3200" dirty="0" err="1"/>
              <a:t>lhu</a:t>
            </a:r>
            <a:r>
              <a:rPr lang="en-US" sz="3200" dirty="0"/>
              <a:t>, and </a:t>
            </a:r>
            <a:r>
              <a:rPr lang="en-US" sz="3200" dirty="0" err="1"/>
              <a:t>lbu</a:t>
            </a:r>
            <a:r>
              <a:rPr lang="en-US" sz="3200" dirty="0"/>
              <a:t>), and register jumps (</a:t>
            </a:r>
            <a:r>
              <a:rPr lang="en-US" sz="3200" dirty="0" err="1"/>
              <a:t>jalr</a:t>
            </a:r>
            <a:r>
              <a:rPr lang="en-US" sz="3200" dirty="0"/>
              <a:t>).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Figure below shows </a:t>
            </a:r>
            <a:r>
              <a:rPr lang="en-US" sz="3200" dirty="0"/>
              <a:t>the I-type machine instruction format.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It </a:t>
            </a:r>
            <a:r>
              <a:rPr lang="en-US" sz="3200" dirty="0"/>
              <a:t>is similar to R-type </a:t>
            </a:r>
            <a:r>
              <a:rPr lang="en-US" sz="3200" dirty="0" smtClean="0"/>
              <a:t>but includes </a:t>
            </a:r>
            <a:r>
              <a:rPr lang="en-US" sz="3200" dirty="0"/>
              <a:t>a 12-bit immediate field </a:t>
            </a:r>
            <a:r>
              <a:rPr lang="en-US" sz="3200" b="1" dirty="0" err="1"/>
              <a:t>imm</a:t>
            </a:r>
            <a:r>
              <a:rPr lang="en-US" sz="3200" b="1" dirty="0"/>
              <a:t> </a:t>
            </a:r>
            <a:r>
              <a:rPr lang="en-US" sz="3200" dirty="0"/>
              <a:t>instead of the </a:t>
            </a:r>
            <a:r>
              <a:rPr lang="en-US" sz="3200" b="1" dirty="0"/>
              <a:t>funct7 </a:t>
            </a:r>
            <a:r>
              <a:rPr lang="en-US" sz="3200" dirty="0"/>
              <a:t>and </a:t>
            </a:r>
            <a:r>
              <a:rPr lang="en-US" sz="3200" b="1" dirty="0"/>
              <a:t>rs2 </a:t>
            </a:r>
            <a:r>
              <a:rPr lang="en-US" sz="3200" dirty="0"/>
              <a:t>fields.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/>
              <a:t>rs1 </a:t>
            </a:r>
            <a:r>
              <a:rPr lang="en-US" sz="3200" dirty="0"/>
              <a:t>and </a:t>
            </a:r>
            <a:r>
              <a:rPr lang="en-US" sz="3200" b="1" dirty="0" err="1"/>
              <a:t>imm</a:t>
            </a:r>
            <a:r>
              <a:rPr lang="en-US" sz="3200" b="1" dirty="0"/>
              <a:t> </a:t>
            </a:r>
            <a:r>
              <a:rPr lang="en-US" sz="3200" dirty="0"/>
              <a:t>are the source operands, and </a:t>
            </a:r>
            <a:r>
              <a:rPr lang="en-US" sz="3200" b="1" dirty="0" err="1"/>
              <a:t>rd</a:t>
            </a:r>
            <a:r>
              <a:rPr lang="en-US" sz="3200" b="1" dirty="0"/>
              <a:t> </a:t>
            </a:r>
            <a:r>
              <a:rPr lang="en-US" sz="3200" dirty="0"/>
              <a:t>is the destination register.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3040305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16" t="63984" r="19819" b="21226"/>
          <a:stretch/>
        </p:blipFill>
        <p:spPr bwMode="auto">
          <a:xfrm>
            <a:off x="900333" y="1800665"/>
            <a:ext cx="10803980" cy="3038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827215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dirty="0"/>
              <a:t>S/B-Type Instructions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S/B-type (</a:t>
            </a:r>
            <a:r>
              <a:rPr lang="en-US" sz="3200" i="1" dirty="0"/>
              <a:t>store/branch</a:t>
            </a:r>
            <a:r>
              <a:rPr lang="en-US" sz="3200" dirty="0"/>
              <a:t>) instructions use </a:t>
            </a:r>
            <a:r>
              <a:rPr lang="en-US" sz="3200" dirty="0" smtClean="0"/>
              <a:t>two register </a:t>
            </a:r>
            <a:r>
              <a:rPr lang="en-US" sz="3200" dirty="0"/>
              <a:t>operands and one immediate operand.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Both of the register </a:t>
            </a:r>
            <a:r>
              <a:rPr lang="en-US" sz="3200" dirty="0"/>
              <a:t>operands are source registers (</a:t>
            </a:r>
            <a:r>
              <a:rPr lang="en-US" sz="3200" b="1" dirty="0"/>
              <a:t>rs1 </a:t>
            </a:r>
            <a:r>
              <a:rPr lang="en-US" sz="3200" dirty="0"/>
              <a:t>and </a:t>
            </a:r>
            <a:r>
              <a:rPr lang="en-US" sz="3200" b="1" dirty="0"/>
              <a:t>rs2</a:t>
            </a:r>
            <a:r>
              <a:rPr lang="en-US" sz="3200" dirty="0"/>
              <a:t>) in </a:t>
            </a:r>
            <a:r>
              <a:rPr lang="en-US" sz="3200" dirty="0" smtClean="0"/>
              <a:t>S/B-type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Figure shows </a:t>
            </a:r>
            <a:r>
              <a:rPr lang="en-US" sz="3200" dirty="0"/>
              <a:t>the S/B-type machine instruction format.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instruction replaces the </a:t>
            </a:r>
            <a:r>
              <a:rPr lang="en-US" sz="3200" b="1" dirty="0"/>
              <a:t>funct7 </a:t>
            </a:r>
            <a:r>
              <a:rPr lang="en-US" sz="3200" dirty="0"/>
              <a:t>and </a:t>
            </a:r>
            <a:r>
              <a:rPr lang="en-US" sz="3200" b="1" dirty="0" err="1"/>
              <a:t>rd</a:t>
            </a:r>
            <a:r>
              <a:rPr lang="en-US" sz="3200" b="1" dirty="0"/>
              <a:t> </a:t>
            </a:r>
            <a:r>
              <a:rPr lang="en-US" sz="3200" dirty="0"/>
              <a:t>fields of R-type </a:t>
            </a:r>
            <a:r>
              <a:rPr lang="en-US" sz="3200" dirty="0" smtClean="0"/>
              <a:t>instructions with </a:t>
            </a:r>
            <a:r>
              <a:rPr lang="en-US" sz="3200" dirty="0"/>
              <a:t>the 12-bit immediate </a:t>
            </a:r>
            <a:r>
              <a:rPr lang="en-US" sz="3200" b="1" dirty="0" err="1"/>
              <a:t>imm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Thus</a:t>
            </a:r>
            <a:r>
              <a:rPr lang="en-US" sz="3200" dirty="0"/>
              <a:t>, this immediate field is split </a:t>
            </a:r>
            <a:r>
              <a:rPr lang="en-US" sz="3200" dirty="0" smtClean="0"/>
              <a:t>across two </a:t>
            </a:r>
            <a:r>
              <a:rPr lang="en-US" sz="3200" dirty="0"/>
              <a:t>bit ranges, bits 31:25 and bits 11:7, of the instruction.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15749752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2" t="27831" r="16355" b="57379"/>
          <a:stretch/>
        </p:blipFill>
        <p:spPr bwMode="auto">
          <a:xfrm>
            <a:off x="717452" y="1856935"/>
            <a:ext cx="11125207" cy="2743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831808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dirty="0"/>
              <a:t>S/B-Type Instructions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Store instructions use S-type and branch instructions use B-type.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S- and B-type formats differ only in how the immediate is encoded.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/>
              <a:t>S-type instructions encode a 12-bit signed (two’s complement) </a:t>
            </a:r>
            <a:r>
              <a:rPr lang="en-IN" sz="3200" dirty="0" smtClean="0"/>
              <a:t>immediate, w</a:t>
            </a:r>
            <a:r>
              <a:rPr lang="en-US" sz="3200" dirty="0" err="1" smtClean="0"/>
              <a:t>ith</a:t>
            </a:r>
            <a:r>
              <a:rPr lang="en-US" sz="3200" dirty="0" smtClean="0"/>
              <a:t> </a:t>
            </a:r>
            <a:r>
              <a:rPr lang="en-US" sz="3200" dirty="0"/>
              <a:t>the top seven bits (</a:t>
            </a:r>
            <a:r>
              <a:rPr lang="en-US" sz="3200" b="1" dirty="0"/>
              <a:t>imm</a:t>
            </a:r>
            <a:r>
              <a:rPr lang="en-US" sz="3200" dirty="0"/>
              <a:t>11:5) in bits 31:25 of the instruction </a:t>
            </a:r>
            <a:r>
              <a:rPr lang="en-US" sz="3200" dirty="0" smtClean="0"/>
              <a:t>and the </a:t>
            </a:r>
            <a:r>
              <a:rPr lang="en-US" sz="3200" dirty="0"/>
              <a:t>lower five bits (</a:t>
            </a:r>
            <a:r>
              <a:rPr lang="en-US" sz="3200" b="1" dirty="0"/>
              <a:t>imm</a:t>
            </a:r>
            <a:r>
              <a:rPr lang="en-US" sz="3200" dirty="0"/>
              <a:t>4:0) in bits 11:7 of the instruction.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6704297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dirty="0"/>
              <a:t>S/B-Type Instructions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B-type instructions encode a 13-bit signed immediate representing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i="1" dirty="0"/>
              <a:t>branch offset</a:t>
            </a:r>
            <a:r>
              <a:rPr lang="en-US" sz="3200" dirty="0"/>
              <a:t>, but only 12 of the bits are encoded in the instruction.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least significant bit is always 0, because branch amounts </a:t>
            </a:r>
            <a:r>
              <a:rPr lang="en-US" sz="3200" dirty="0" smtClean="0"/>
              <a:t>are always </a:t>
            </a:r>
            <a:r>
              <a:rPr lang="en-US" sz="3200" dirty="0"/>
              <a:t>an even number of </a:t>
            </a:r>
            <a:r>
              <a:rPr lang="en-US" sz="3200" dirty="0" smtClean="0"/>
              <a:t>bytes.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3249669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dirty="0"/>
              <a:t>U/J-Type Instructions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U/J-type (</a:t>
            </a:r>
            <a:r>
              <a:rPr lang="en-US" sz="3200" i="1" dirty="0"/>
              <a:t>upper immediate/jump</a:t>
            </a:r>
            <a:r>
              <a:rPr lang="en-US" sz="3200" dirty="0"/>
              <a:t>) instructions have one destination </a:t>
            </a:r>
            <a:r>
              <a:rPr lang="en-US" sz="3200" dirty="0" smtClean="0"/>
              <a:t>register operand </a:t>
            </a:r>
            <a:r>
              <a:rPr lang="en-US" sz="3200" b="1" dirty="0" err="1"/>
              <a:t>rd</a:t>
            </a:r>
            <a:r>
              <a:rPr lang="en-US" sz="3200" b="1" dirty="0"/>
              <a:t> </a:t>
            </a:r>
            <a:r>
              <a:rPr lang="en-US" sz="3200" dirty="0"/>
              <a:t>and a 20-bit immediate field, as shown in </a:t>
            </a:r>
            <a:r>
              <a:rPr lang="en-US" sz="3200" dirty="0" smtClean="0"/>
              <a:t>Figure.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U/J-type </a:t>
            </a:r>
            <a:r>
              <a:rPr lang="en-IN" sz="3200" dirty="0"/>
              <a:t>instructions have a 7-bit </a:t>
            </a:r>
            <a:r>
              <a:rPr lang="en-IN" sz="3200" dirty="0" err="1"/>
              <a:t>opcode</a:t>
            </a:r>
            <a:r>
              <a:rPr lang="en-IN" sz="3200" dirty="0"/>
              <a:t>. </a:t>
            </a:r>
            <a:endParaRPr lang="en-IN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In U-type </a:t>
            </a:r>
            <a:r>
              <a:rPr lang="en-US" sz="3200" dirty="0" smtClean="0"/>
              <a:t>instructions</a:t>
            </a:r>
            <a:r>
              <a:rPr lang="en-US" sz="3200" dirty="0"/>
              <a:t>, the remaining bits specify the most significant 20 bits of </a:t>
            </a:r>
            <a:r>
              <a:rPr lang="en-US" sz="3200" dirty="0" smtClean="0"/>
              <a:t>a 32-bit </a:t>
            </a:r>
            <a:r>
              <a:rPr lang="en-US" sz="3200" dirty="0"/>
              <a:t>immediate.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J-type instructions, the remaining 20 bits </a:t>
            </a:r>
            <a:r>
              <a:rPr lang="en-US" sz="3200" dirty="0" smtClean="0"/>
              <a:t>specify the </a:t>
            </a:r>
            <a:r>
              <a:rPr lang="en-US" sz="3200" dirty="0"/>
              <a:t>most significant 20 bits of a 21-bit immediate jump offset.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As with B-type </a:t>
            </a:r>
            <a:r>
              <a:rPr lang="en-US" sz="3200" dirty="0"/>
              <a:t>instructions, the least significant bit of the immediate is always </a:t>
            </a:r>
            <a:r>
              <a:rPr lang="en-US" sz="3200" dirty="0" smtClean="0"/>
              <a:t>0 and </a:t>
            </a:r>
            <a:r>
              <a:rPr lang="en-US" sz="3200" dirty="0"/>
              <a:t>is not encoded in the J-type instruction.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85968932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87" t="36048" r="33677" b="44643"/>
          <a:stretch/>
        </p:blipFill>
        <p:spPr bwMode="auto">
          <a:xfrm>
            <a:off x="1012874" y="1744394"/>
            <a:ext cx="10182607" cy="3418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794533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dirty="0"/>
              <a:t>Immediate Encodings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RISC-V uses 32-bit signed </a:t>
            </a:r>
            <a:r>
              <a:rPr lang="en-US" sz="3200" dirty="0" err="1"/>
              <a:t>immediates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Only </a:t>
            </a:r>
            <a:r>
              <a:rPr lang="en-US" sz="3200" dirty="0"/>
              <a:t>12 to 21 bits of the </a:t>
            </a:r>
            <a:r>
              <a:rPr lang="en-US" sz="3200" dirty="0" smtClean="0"/>
              <a:t>immediate are </a:t>
            </a:r>
            <a:r>
              <a:rPr lang="en-US" sz="3200" dirty="0"/>
              <a:t>encoded in the instruction.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Figure shows </a:t>
            </a:r>
            <a:r>
              <a:rPr lang="en-US" sz="3200" dirty="0"/>
              <a:t>how </a:t>
            </a:r>
            <a:r>
              <a:rPr lang="en-US" sz="3200" dirty="0" err="1" smtClean="0"/>
              <a:t>immediates</a:t>
            </a:r>
            <a:r>
              <a:rPr lang="en-US" sz="3200" dirty="0" smtClean="0"/>
              <a:t> are </a:t>
            </a:r>
            <a:r>
              <a:rPr lang="en-US" sz="3200" dirty="0"/>
              <a:t>formed for each instruction type.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I- </a:t>
            </a:r>
            <a:r>
              <a:rPr lang="en-US" sz="3200" dirty="0"/>
              <a:t>and S-type </a:t>
            </a:r>
            <a:r>
              <a:rPr lang="en-US" sz="3200" dirty="0" smtClean="0"/>
              <a:t>instructions encode </a:t>
            </a:r>
            <a:r>
              <a:rPr lang="en-US" sz="3200" dirty="0"/>
              <a:t>12-bit signed </a:t>
            </a:r>
            <a:r>
              <a:rPr lang="en-US" sz="3200" dirty="0" err="1"/>
              <a:t>immediates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J- </a:t>
            </a:r>
            <a:r>
              <a:rPr lang="en-US" sz="3200" dirty="0"/>
              <a:t>and B-type instructions use 21- </a:t>
            </a:r>
            <a:r>
              <a:rPr lang="en-US" sz="3200" dirty="0" smtClean="0"/>
              <a:t>and 13-bit </a:t>
            </a:r>
            <a:r>
              <a:rPr lang="en-US" sz="3200" dirty="0"/>
              <a:t>signed </a:t>
            </a:r>
            <a:r>
              <a:rPr lang="en-US" sz="3200" dirty="0" err="1"/>
              <a:t>immediates</a:t>
            </a:r>
            <a:r>
              <a:rPr lang="en-US" sz="3200" dirty="0"/>
              <a:t>, where the least significant bit is always </a:t>
            </a:r>
            <a:r>
              <a:rPr lang="en-US" sz="3200" dirty="0" smtClean="0"/>
              <a:t>0.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U-type </a:t>
            </a:r>
            <a:r>
              <a:rPr lang="en-US" sz="3200" dirty="0"/>
              <a:t>instructions encode the top 20 bits of </a:t>
            </a:r>
            <a:r>
              <a:rPr lang="en-US" sz="3200" dirty="0" smtClean="0"/>
              <a:t>a </a:t>
            </a:r>
            <a:r>
              <a:rPr lang="en-IN" sz="3200" dirty="0" smtClean="0"/>
              <a:t>32-bit immediate</a:t>
            </a:r>
            <a:r>
              <a:rPr lang="en-US" sz="3200" dirty="0" smtClean="0"/>
              <a:t>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57056381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56" t="56589" r="11504" b="23280"/>
          <a:stretch/>
        </p:blipFill>
        <p:spPr bwMode="auto">
          <a:xfrm>
            <a:off x="689315" y="2011680"/>
            <a:ext cx="10860834" cy="2729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496282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dirty="0"/>
              <a:t>Addressing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An </a:t>
            </a:r>
            <a:r>
              <a:rPr lang="en-US" sz="3200" i="1" dirty="0"/>
              <a:t>addressing mode </a:t>
            </a:r>
            <a:r>
              <a:rPr lang="en-US" sz="3200" dirty="0"/>
              <a:t>defines </a:t>
            </a:r>
            <a:r>
              <a:rPr lang="en-US" sz="3200" b="1" dirty="0"/>
              <a:t>how an instruction specifies its </a:t>
            </a:r>
            <a:r>
              <a:rPr lang="en-US" sz="3200" b="1" dirty="0" smtClean="0"/>
              <a:t>operands.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RISC-V </a:t>
            </a:r>
            <a:r>
              <a:rPr lang="en-IN" sz="3200" dirty="0"/>
              <a:t>uses </a:t>
            </a:r>
            <a:r>
              <a:rPr lang="en-IN" sz="3200" b="1" dirty="0">
                <a:solidFill>
                  <a:srgbClr val="FF0000"/>
                </a:solidFill>
              </a:rPr>
              <a:t>four</a:t>
            </a:r>
            <a:r>
              <a:rPr lang="en-IN" sz="3200" dirty="0">
                <a:solidFill>
                  <a:srgbClr val="FF0000"/>
                </a:solidFill>
              </a:rPr>
              <a:t> main modes</a:t>
            </a:r>
            <a:r>
              <a:rPr lang="en-IN" sz="3200" dirty="0"/>
              <a:t>: </a:t>
            </a:r>
            <a:r>
              <a:rPr lang="en-IN" sz="3200" b="1" i="1" dirty="0"/>
              <a:t>register</a:t>
            </a:r>
            <a:r>
              <a:rPr lang="en-IN" sz="3200" b="1" dirty="0"/>
              <a:t>, </a:t>
            </a:r>
            <a:r>
              <a:rPr lang="en-IN" sz="3200" b="1" i="1" dirty="0"/>
              <a:t>immediate</a:t>
            </a:r>
            <a:r>
              <a:rPr lang="en-IN" sz="3200" b="1" dirty="0"/>
              <a:t>, </a:t>
            </a:r>
            <a:r>
              <a:rPr lang="en-IN" sz="3200" b="1" i="1" dirty="0" smtClean="0"/>
              <a:t>base</a:t>
            </a:r>
            <a:r>
              <a:rPr lang="en-IN" sz="3200" b="1" dirty="0" smtClean="0"/>
              <a:t>, and </a:t>
            </a:r>
            <a:r>
              <a:rPr lang="en-IN" sz="3200" b="1" i="1" dirty="0"/>
              <a:t>PC-relative </a:t>
            </a:r>
            <a:r>
              <a:rPr lang="en-IN" sz="3200" b="1" dirty="0" smtClean="0"/>
              <a:t>addressing.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first three modes (register, immediate, and </a:t>
            </a:r>
            <a:r>
              <a:rPr lang="en-US" sz="3200" dirty="0" smtClean="0"/>
              <a:t>base addressing</a:t>
            </a:r>
            <a:r>
              <a:rPr lang="en-US" sz="3200" dirty="0"/>
              <a:t>) define </a:t>
            </a:r>
            <a:r>
              <a:rPr lang="en-US" sz="3200" b="1" dirty="0">
                <a:solidFill>
                  <a:srgbClr val="FF0000"/>
                </a:solidFill>
              </a:rPr>
              <a:t>modes of reading and writing operands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last mode </a:t>
            </a:r>
            <a:r>
              <a:rPr lang="en-US" sz="3200" dirty="0"/>
              <a:t>(PC-relative addressing) defines a</a:t>
            </a:r>
            <a:r>
              <a:rPr lang="en-US" sz="3200" b="1" dirty="0">
                <a:solidFill>
                  <a:srgbClr val="FF0000"/>
                </a:solidFill>
              </a:rPr>
              <a:t> mode of writing the </a:t>
            </a:r>
            <a:r>
              <a:rPr lang="en-US" sz="3200" b="1" dirty="0" smtClean="0">
                <a:solidFill>
                  <a:srgbClr val="FF0000"/>
                </a:solidFill>
              </a:rPr>
              <a:t>program </a:t>
            </a:r>
            <a:r>
              <a:rPr lang="en-IN" sz="3200" b="1" dirty="0" smtClean="0">
                <a:solidFill>
                  <a:srgbClr val="FF0000"/>
                </a:solidFill>
              </a:rPr>
              <a:t>counter </a:t>
            </a:r>
            <a:r>
              <a:rPr lang="en-IN" sz="3200" b="1" dirty="0">
                <a:solidFill>
                  <a:srgbClr val="FF0000"/>
                </a:solidFill>
              </a:rPr>
              <a:t>(PC).</a:t>
            </a:r>
          </a:p>
        </p:txBody>
      </p:sp>
    </p:spTree>
    <p:extLst>
      <p:ext uri="{BB962C8B-B14F-4D97-AF65-F5344CB8AC3E}">
        <p14:creationId xmlns:p14="http://schemas.microsoft.com/office/powerpoint/2010/main" val="1052714914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dirty="0"/>
              <a:t>Register-Only Addressing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i="1" dirty="0"/>
              <a:t>Register-only addressing </a:t>
            </a:r>
            <a:r>
              <a:rPr lang="en-US" sz="3200" dirty="0"/>
              <a:t>uses registers for all source and </a:t>
            </a:r>
            <a:r>
              <a:rPr lang="en-US" sz="3200" dirty="0" smtClean="0"/>
              <a:t>destination operands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All </a:t>
            </a:r>
            <a:r>
              <a:rPr lang="en-US" sz="3200" dirty="0"/>
              <a:t>R-type instructions use register-only addressing.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497386695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dirty="0"/>
              <a:t>Immediate Addressing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i="1" dirty="0"/>
              <a:t>Immediate addressing </a:t>
            </a:r>
            <a:r>
              <a:rPr lang="en-US" sz="3200" dirty="0"/>
              <a:t>uses </a:t>
            </a:r>
            <a:r>
              <a:rPr lang="en-US" sz="3200" b="1" dirty="0">
                <a:solidFill>
                  <a:srgbClr val="FF0000"/>
                </a:solidFill>
              </a:rPr>
              <a:t>an immediate, along with registers</a:t>
            </a:r>
            <a:r>
              <a:rPr lang="en-US" sz="3200" dirty="0"/>
              <a:t>, as operands.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Some </a:t>
            </a:r>
            <a:r>
              <a:rPr lang="en-US" sz="3200" b="1" dirty="0">
                <a:solidFill>
                  <a:srgbClr val="FF0000"/>
                </a:solidFill>
              </a:rPr>
              <a:t>I-type instructions</a:t>
            </a:r>
            <a:r>
              <a:rPr lang="en-US" sz="3200" dirty="0"/>
              <a:t>, such as </a:t>
            </a:r>
            <a:r>
              <a:rPr lang="en-US" sz="3200" b="1" dirty="0"/>
              <a:t>add immediate (</a:t>
            </a:r>
            <a:r>
              <a:rPr lang="en-US" sz="3200" b="1" dirty="0" err="1"/>
              <a:t>addi</a:t>
            </a:r>
            <a:r>
              <a:rPr lang="en-US" sz="3200" b="1" dirty="0"/>
              <a:t>) and </a:t>
            </a:r>
            <a:r>
              <a:rPr lang="en-US" sz="3200" b="1" dirty="0" err="1"/>
              <a:t>xori</a:t>
            </a:r>
            <a:r>
              <a:rPr lang="en-US" sz="3200" b="1" dirty="0"/>
              <a:t>, </a:t>
            </a:r>
            <a:r>
              <a:rPr lang="en-US" sz="3200" b="1" dirty="0" smtClean="0"/>
              <a:t>use immediate </a:t>
            </a:r>
            <a:r>
              <a:rPr lang="en-US" sz="3200" b="1" dirty="0"/>
              <a:t>addressing</a:t>
            </a:r>
            <a:r>
              <a:rPr lang="en-US" sz="3200" dirty="0"/>
              <a:t> with a 12-bit signed immediate.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Shift instructions with </a:t>
            </a:r>
            <a:r>
              <a:rPr lang="en-US" sz="3200" dirty="0"/>
              <a:t>an immediate shift amount (</a:t>
            </a:r>
            <a:r>
              <a:rPr lang="en-US" sz="3200" dirty="0" err="1"/>
              <a:t>slli</a:t>
            </a:r>
            <a:r>
              <a:rPr lang="en-US" sz="3200" dirty="0"/>
              <a:t>, </a:t>
            </a:r>
            <a:r>
              <a:rPr lang="en-US" sz="3200" dirty="0" err="1"/>
              <a:t>srli</a:t>
            </a:r>
            <a:r>
              <a:rPr lang="en-US" sz="3200" dirty="0"/>
              <a:t>, and </a:t>
            </a:r>
            <a:r>
              <a:rPr lang="en-US" sz="3200" dirty="0" err="1"/>
              <a:t>srai</a:t>
            </a:r>
            <a:r>
              <a:rPr lang="en-US" sz="3200" dirty="0"/>
              <a:t>) are </a:t>
            </a:r>
            <a:r>
              <a:rPr lang="en-US" sz="3200" dirty="0" smtClean="0"/>
              <a:t>I-type instructions </a:t>
            </a:r>
            <a:r>
              <a:rPr lang="en-US" sz="3200" dirty="0"/>
              <a:t>that encode the 5-bit unsigned immediate shift amount </a:t>
            </a:r>
            <a:r>
              <a:rPr lang="en-US" sz="3200" dirty="0" smtClean="0"/>
              <a:t>in </a:t>
            </a:r>
            <a:r>
              <a:rPr lang="en-US" sz="3200" b="1" dirty="0" smtClean="0"/>
              <a:t>imm</a:t>
            </a:r>
            <a:r>
              <a:rPr lang="en-US" sz="3200" dirty="0" smtClean="0"/>
              <a:t>4:0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Load </a:t>
            </a:r>
            <a:r>
              <a:rPr lang="en-US" sz="3200" dirty="0"/>
              <a:t>instructions (</a:t>
            </a:r>
            <a:r>
              <a:rPr lang="en-US" sz="3200" dirty="0" err="1"/>
              <a:t>lb</a:t>
            </a:r>
            <a:r>
              <a:rPr lang="en-US" sz="3200" dirty="0"/>
              <a:t>, </a:t>
            </a:r>
            <a:r>
              <a:rPr lang="en-US" sz="3200" dirty="0" err="1"/>
              <a:t>lh</a:t>
            </a:r>
            <a:r>
              <a:rPr lang="en-US" sz="3200" dirty="0"/>
              <a:t>, and </a:t>
            </a:r>
            <a:r>
              <a:rPr lang="en-US" sz="3200" dirty="0" err="1"/>
              <a:t>lw</a:t>
            </a:r>
            <a:r>
              <a:rPr lang="en-US" sz="3200" dirty="0"/>
              <a:t>) use the I-type instruction </a:t>
            </a:r>
            <a:r>
              <a:rPr lang="en-US" sz="3200" dirty="0" smtClean="0"/>
              <a:t>format </a:t>
            </a:r>
            <a:r>
              <a:rPr lang="en-IN" sz="3200" dirty="0" smtClean="0"/>
              <a:t>but </a:t>
            </a:r>
            <a:r>
              <a:rPr lang="en-IN" sz="3200" dirty="0"/>
              <a:t>use base addressing,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421091135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dirty="0"/>
              <a:t>Base Addressing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b="1" dirty="0"/>
              <a:t>Memory access instructions</a:t>
            </a:r>
            <a:r>
              <a:rPr lang="en-US" sz="3200" dirty="0"/>
              <a:t>, such as load word (</a:t>
            </a:r>
            <a:r>
              <a:rPr lang="en-US" sz="3200" dirty="0" err="1"/>
              <a:t>lw</a:t>
            </a:r>
            <a:r>
              <a:rPr lang="en-US" sz="3200" dirty="0"/>
              <a:t>) and store </a:t>
            </a:r>
            <a:r>
              <a:rPr lang="en-US" sz="3200" dirty="0" smtClean="0"/>
              <a:t>word (</a:t>
            </a:r>
            <a:r>
              <a:rPr lang="en-US" sz="3200" dirty="0" err="1" smtClean="0"/>
              <a:t>sw</a:t>
            </a:r>
            <a:r>
              <a:rPr lang="en-US" sz="3200" dirty="0"/>
              <a:t>), use </a:t>
            </a:r>
            <a:r>
              <a:rPr lang="en-US" sz="3200" i="1" dirty="0"/>
              <a:t>base addressing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effective address of the memory </a:t>
            </a:r>
            <a:r>
              <a:rPr lang="en-US" sz="3200" dirty="0" smtClean="0"/>
              <a:t>operand is </a:t>
            </a:r>
            <a:r>
              <a:rPr lang="en-US" sz="3200" dirty="0"/>
              <a:t>calculated by adding the base address in register </a:t>
            </a:r>
            <a:r>
              <a:rPr lang="en-US" sz="3200" b="1" dirty="0"/>
              <a:t>rs1 </a:t>
            </a:r>
            <a:r>
              <a:rPr lang="en-US" sz="3200" dirty="0"/>
              <a:t>to the </a:t>
            </a:r>
            <a:r>
              <a:rPr lang="en-US" sz="3200" dirty="0" smtClean="0"/>
              <a:t>sign extended 12-bit </a:t>
            </a:r>
            <a:r>
              <a:rPr lang="en-US" sz="3200" dirty="0"/>
              <a:t>offset found in the immediate field.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Loads </a:t>
            </a:r>
            <a:r>
              <a:rPr lang="en-US" sz="3200" dirty="0"/>
              <a:t>are </a:t>
            </a:r>
            <a:r>
              <a:rPr lang="en-US" sz="3200" dirty="0" smtClean="0"/>
              <a:t>I-type instructions </a:t>
            </a:r>
            <a:r>
              <a:rPr lang="en-US" sz="3200" dirty="0"/>
              <a:t>and stores are S-type instructions.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79276416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dirty="0"/>
              <a:t>PC-Relative Addressing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Branch and jump and link (</a:t>
            </a:r>
            <a:r>
              <a:rPr lang="en-US" sz="3200" dirty="0" err="1"/>
              <a:t>jal</a:t>
            </a:r>
            <a:r>
              <a:rPr lang="en-US" sz="3200" dirty="0"/>
              <a:t>) instructions use </a:t>
            </a:r>
            <a:r>
              <a:rPr lang="en-US" sz="3200" i="1" dirty="0"/>
              <a:t>PC-relative </a:t>
            </a:r>
            <a:r>
              <a:rPr lang="en-US" sz="3200" i="1" dirty="0" smtClean="0"/>
              <a:t>addressing </a:t>
            </a:r>
            <a:r>
              <a:rPr lang="en-US" sz="3200" dirty="0" smtClean="0"/>
              <a:t>to </a:t>
            </a:r>
            <a:r>
              <a:rPr lang="en-US" sz="3200" dirty="0"/>
              <a:t>specify the new value of the PC.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signed offset encoded in </a:t>
            </a:r>
            <a:r>
              <a:rPr lang="en-US" sz="3200" dirty="0" smtClean="0"/>
              <a:t>the immediate </a:t>
            </a:r>
            <a:r>
              <a:rPr lang="en-US" sz="3200" dirty="0"/>
              <a:t>field is added to the PC to obtain the target address, the </a:t>
            </a:r>
            <a:r>
              <a:rPr lang="en-US" sz="3200" dirty="0" smtClean="0"/>
              <a:t>new PC</a:t>
            </a:r>
            <a:r>
              <a:rPr lang="en-US" sz="3200" dirty="0"/>
              <a:t>; hence, the target address is said to be relative to the current </a:t>
            </a:r>
            <a:r>
              <a:rPr lang="en-US" sz="3200" dirty="0" smtClean="0"/>
              <a:t>PC.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Branches </a:t>
            </a:r>
            <a:r>
              <a:rPr lang="en-US" sz="3200" dirty="0"/>
              <a:t>and </a:t>
            </a:r>
            <a:r>
              <a:rPr lang="en-US" sz="3200" dirty="0" err="1"/>
              <a:t>jal</a:t>
            </a:r>
            <a:r>
              <a:rPr lang="en-US" sz="3200" dirty="0"/>
              <a:t> use a 13- and 21-bit signed immediate, respectively</a:t>
            </a:r>
            <a:r>
              <a:rPr lang="en-US" sz="3200" dirty="0" smtClean="0"/>
              <a:t>, </a:t>
            </a:r>
            <a:r>
              <a:rPr lang="en-US" sz="3200" dirty="0"/>
              <a:t>for the offset. 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694452791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dirty="0"/>
              <a:t>PC-Relative Addressing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most significant bits of the offset are encoded </a:t>
            </a:r>
            <a:r>
              <a:rPr lang="en-US" sz="3200" dirty="0" smtClean="0"/>
              <a:t>in the </a:t>
            </a:r>
            <a:r>
              <a:rPr lang="en-US" sz="3200" dirty="0"/>
              <a:t>12- and 20-bit immediate fields of the B- and J-type instructions.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offset’s </a:t>
            </a:r>
            <a:r>
              <a:rPr lang="en-US" sz="3200" dirty="0"/>
              <a:t>least significant bit is always 0, so it is not encoded in the </a:t>
            </a:r>
            <a:r>
              <a:rPr lang="en-US" sz="3200" dirty="0" smtClean="0"/>
              <a:t>instruction.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 err="1"/>
              <a:t>auipc</a:t>
            </a:r>
            <a:r>
              <a:rPr lang="en-US" sz="3200" dirty="0"/>
              <a:t> (add upper immediate to PC) instruction also </a:t>
            </a:r>
            <a:r>
              <a:rPr lang="en-US" sz="3200" dirty="0" smtClean="0"/>
              <a:t>uses </a:t>
            </a:r>
            <a:r>
              <a:rPr lang="en-IN" sz="3200" dirty="0" smtClean="0"/>
              <a:t>PC-relative addressing.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/>
              <a:t>example, the instruction </a:t>
            </a:r>
            <a:r>
              <a:rPr lang="en-US" sz="3200" dirty="0" err="1"/>
              <a:t>auipc</a:t>
            </a:r>
            <a:r>
              <a:rPr lang="en-US" sz="3200" dirty="0"/>
              <a:t> s3, </a:t>
            </a:r>
            <a:r>
              <a:rPr lang="en-US" sz="3200" dirty="0" smtClean="0"/>
              <a:t>0xABCDE places </a:t>
            </a:r>
            <a:r>
              <a:rPr lang="en-US" sz="3200" dirty="0"/>
              <a:t>PC + 0xABCDE000 in s3.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03656956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i="1" dirty="0"/>
              <a:t>stored program </a:t>
            </a:r>
            <a:r>
              <a:rPr lang="en-IN" b="1" dirty="0"/>
              <a:t>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A program written in machine language is a series of 32-bit </a:t>
            </a:r>
            <a:r>
              <a:rPr lang="en-US" sz="3200" dirty="0" smtClean="0"/>
              <a:t>numbers representing </a:t>
            </a:r>
            <a:r>
              <a:rPr lang="en-US" sz="3200" dirty="0"/>
              <a:t>the instructions.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Like </a:t>
            </a:r>
            <a:r>
              <a:rPr lang="en-US" sz="3200" dirty="0"/>
              <a:t>other binary numbers, these </a:t>
            </a:r>
            <a:r>
              <a:rPr lang="en-US" sz="3200" dirty="0" smtClean="0"/>
              <a:t>instructions can </a:t>
            </a:r>
            <a:r>
              <a:rPr lang="en-US" sz="3200" dirty="0"/>
              <a:t>be stored in memory.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This </a:t>
            </a:r>
            <a:r>
              <a:rPr lang="en-US" sz="3200" dirty="0"/>
              <a:t>is called the </a:t>
            </a:r>
            <a:r>
              <a:rPr lang="en-US" sz="3200" b="1" i="1" dirty="0"/>
              <a:t>stored program </a:t>
            </a:r>
            <a:r>
              <a:rPr lang="en-US" sz="3200" b="1" dirty="0"/>
              <a:t>concept</a:t>
            </a:r>
            <a:r>
              <a:rPr lang="en-US" sz="3200" dirty="0"/>
              <a:t>, </a:t>
            </a:r>
            <a:r>
              <a:rPr lang="en-US" sz="3200" dirty="0" smtClean="0"/>
              <a:t>and it </a:t>
            </a:r>
            <a:r>
              <a:rPr lang="en-US" sz="3200" dirty="0"/>
              <a:t>is a key reason why computers are so powerful.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Running </a:t>
            </a:r>
            <a:r>
              <a:rPr lang="en-US" sz="3200" dirty="0"/>
              <a:t>a </a:t>
            </a:r>
            <a:r>
              <a:rPr lang="en-US" sz="3200" dirty="0" smtClean="0"/>
              <a:t>different program </a:t>
            </a:r>
            <a:r>
              <a:rPr lang="en-US" sz="3200" dirty="0"/>
              <a:t>does not require large amounts of time and effort to </a:t>
            </a:r>
            <a:r>
              <a:rPr lang="en-US" sz="3200" dirty="0" smtClean="0"/>
              <a:t>reconfigure or </a:t>
            </a:r>
            <a:r>
              <a:rPr lang="en-US" sz="3200" dirty="0"/>
              <a:t>rewire hardware; it only requires writing a new program to memory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5626256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760117"/>
          </a:xfrm>
        </p:spPr>
        <p:txBody>
          <a:bodyPr/>
          <a:lstStyle/>
          <a:p>
            <a:pPr algn="l"/>
            <a:r>
              <a:rPr lang="en-IN" b="1" i="1" dirty="0"/>
              <a:t>stored program </a:t>
            </a:r>
            <a:r>
              <a:rPr lang="en-IN" b="1" dirty="0"/>
              <a:t>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984739"/>
            <a:ext cx="1138076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contrast to dedicated hardware, the stored program offers </a:t>
            </a:r>
            <a:r>
              <a:rPr lang="en-US" sz="3200" dirty="0" smtClean="0"/>
              <a:t>general purpose computing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this way, a computer can execute </a:t>
            </a:r>
            <a:r>
              <a:rPr lang="en-US" sz="3200" dirty="0" smtClean="0"/>
              <a:t>applications ranging </a:t>
            </a:r>
            <a:r>
              <a:rPr lang="en-US" sz="3200" dirty="0"/>
              <a:t>from a calculator to a word processor to a video player </a:t>
            </a:r>
            <a:r>
              <a:rPr lang="en-US" sz="3200" dirty="0" smtClean="0"/>
              <a:t>simply by </a:t>
            </a:r>
            <a:r>
              <a:rPr lang="en-US" sz="3200" dirty="0"/>
              <a:t>changing the stored program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0054680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478763"/>
          </a:xfrm>
        </p:spPr>
        <p:txBody>
          <a:bodyPr>
            <a:normAutofit fontScale="90000"/>
          </a:bodyPr>
          <a:lstStyle/>
          <a:p>
            <a:pPr algn="l"/>
            <a:r>
              <a:rPr lang="en-IN" b="1" i="1" dirty="0"/>
              <a:t>stored program </a:t>
            </a:r>
            <a:r>
              <a:rPr lang="en-IN" b="1" dirty="0"/>
              <a:t>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8" y="548641"/>
            <a:ext cx="11380763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Instructions </a:t>
            </a:r>
            <a:r>
              <a:rPr lang="en-US" sz="3200" dirty="0"/>
              <a:t>in a stored program are retrieved, or </a:t>
            </a:r>
            <a:r>
              <a:rPr lang="en-US" sz="3200" i="1" dirty="0"/>
              <a:t>fetched</a:t>
            </a:r>
            <a:r>
              <a:rPr lang="en-US" sz="3200" dirty="0"/>
              <a:t>, </a:t>
            </a:r>
            <a:r>
              <a:rPr lang="en-US" sz="3200" dirty="0" smtClean="0"/>
              <a:t>from memory </a:t>
            </a:r>
            <a:r>
              <a:rPr lang="en-US" sz="3200" dirty="0"/>
              <a:t>and executed by the processor</a:t>
            </a:r>
            <a:r>
              <a:rPr lang="en-US" sz="3200" dirty="0" smtClean="0"/>
              <a:t>.</a:t>
            </a:r>
            <a:r>
              <a:rPr lang="en-IN" sz="3200" dirty="0"/>
              <a:t> </a:t>
            </a:r>
            <a:endParaRPr lang="en-IN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Even </a:t>
            </a:r>
            <a:r>
              <a:rPr lang="en-IN" sz="3200" dirty="0"/>
              <a:t>large, complex </a:t>
            </a:r>
            <a:r>
              <a:rPr lang="en-IN" sz="3200" dirty="0" smtClean="0"/>
              <a:t>programs </a:t>
            </a:r>
            <a:r>
              <a:rPr lang="en-US" sz="3200" dirty="0" smtClean="0"/>
              <a:t>are </a:t>
            </a:r>
            <a:r>
              <a:rPr lang="en-US" sz="3200" dirty="0"/>
              <a:t>simply a series of memory accesses and instruction </a:t>
            </a:r>
            <a:r>
              <a:rPr lang="en-US" sz="3200" dirty="0" smtClean="0"/>
              <a:t>executions.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Figure shows </a:t>
            </a:r>
            <a:r>
              <a:rPr lang="en-US" sz="3200" dirty="0"/>
              <a:t>how machine instructions are stored in </a:t>
            </a:r>
            <a:r>
              <a:rPr lang="en-US" sz="3200" dirty="0" smtClean="0"/>
              <a:t>memory.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RISC-V programs, the instructions are normally stored </a:t>
            </a:r>
            <a:r>
              <a:rPr lang="en-US" sz="3200" dirty="0" smtClean="0"/>
              <a:t>starting at </a:t>
            </a:r>
            <a:r>
              <a:rPr lang="en-US" sz="3200" dirty="0"/>
              <a:t>low addresses, but this may differ for each implementation</a:t>
            </a:r>
            <a:r>
              <a:rPr lang="en-US" sz="3200" dirty="0" smtClean="0"/>
              <a:t>.</a:t>
            </a:r>
            <a:r>
              <a:rPr lang="en-US" sz="3200" dirty="0"/>
              <a:t>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To </a:t>
            </a:r>
            <a:r>
              <a:rPr lang="en-US" sz="3200" dirty="0"/>
              <a:t>run or execute the stored program, the processor fetches </a:t>
            </a:r>
            <a:r>
              <a:rPr lang="en-US" sz="3200" dirty="0" smtClean="0"/>
              <a:t>the instructions </a:t>
            </a:r>
            <a:r>
              <a:rPr lang="en-US" sz="3200" dirty="0"/>
              <a:t>from memory sequentially.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fetched instructions </a:t>
            </a:r>
            <a:r>
              <a:rPr lang="en-US" sz="3200" dirty="0" smtClean="0"/>
              <a:t>are then </a:t>
            </a:r>
            <a:r>
              <a:rPr lang="en-US" sz="3200" dirty="0"/>
              <a:t>decoded and executed by the digital hardware.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address of </a:t>
            </a:r>
            <a:r>
              <a:rPr lang="en-US" sz="3200" dirty="0" smtClean="0"/>
              <a:t>the current </a:t>
            </a:r>
            <a:r>
              <a:rPr lang="en-US" sz="3200" dirty="0"/>
              <a:t>instruction is kept in the 32-bit program counter (PC) register.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53650674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17" t="22490" r="34140" b="14242"/>
          <a:stretch/>
        </p:blipFill>
        <p:spPr bwMode="auto">
          <a:xfrm>
            <a:off x="1406769" y="309489"/>
            <a:ext cx="5570805" cy="6262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487462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478763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EVOLUTION OF THE RISC-V ARCHITECTURE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323558" y="829993"/>
            <a:ext cx="1160584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RISC-V was designed to be a commercially viable, </a:t>
            </a:r>
            <a:r>
              <a:rPr lang="en-US" sz="3200" b="1" dirty="0"/>
              <a:t>open-source </a:t>
            </a:r>
            <a:r>
              <a:rPr lang="en-US" sz="3200" b="1" dirty="0" smtClean="0"/>
              <a:t>computer architecture</a:t>
            </a:r>
            <a:r>
              <a:rPr lang="en-US" sz="3200" b="1" dirty="0"/>
              <a:t>,</a:t>
            </a:r>
            <a:r>
              <a:rPr lang="en-US" sz="3200" dirty="0"/>
              <a:t> that is robust, efficient, and flexible.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RISC-V differentiates itself </a:t>
            </a:r>
            <a:r>
              <a:rPr lang="en-US" sz="3200" dirty="0"/>
              <a:t>from other architectures because it is open </a:t>
            </a:r>
            <a:r>
              <a:rPr lang="en-US" sz="3200" dirty="0" smtClean="0"/>
              <a:t>source.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Uses</a:t>
            </a:r>
            <a:r>
              <a:rPr lang="en-US" sz="3200" dirty="0" smtClean="0"/>
              <a:t> </a:t>
            </a:r>
            <a:r>
              <a:rPr lang="en-US" sz="3200" b="1" dirty="0" smtClean="0"/>
              <a:t>base instruction </a:t>
            </a:r>
            <a:r>
              <a:rPr lang="en-US" sz="3200" b="1" dirty="0"/>
              <a:t>sets </a:t>
            </a:r>
            <a:r>
              <a:rPr lang="en-US" sz="3200" dirty="0"/>
              <a:t>to ease compatibility, supports the full range of </a:t>
            </a:r>
            <a:r>
              <a:rPr lang="en-US" sz="3200" dirty="0" smtClean="0"/>
              <a:t>microarchitectures, from </a:t>
            </a:r>
            <a:r>
              <a:rPr lang="en-US" sz="3200" dirty="0"/>
              <a:t>embedded systems to high-performance </a:t>
            </a:r>
            <a:r>
              <a:rPr lang="en-US" sz="3200" dirty="0" smtClean="0"/>
              <a:t>computers.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688623024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478763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/>
              <a:t>RISC-V Base Instruction Sets and 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3558" y="829993"/>
            <a:ext cx="1160584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RISC-V includes various base instruction sets and extensions so that </a:t>
            </a:r>
            <a:r>
              <a:rPr lang="en-US" sz="3200" dirty="0" smtClean="0"/>
              <a:t>it can </a:t>
            </a:r>
            <a:r>
              <a:rPr lang="en-US" sz="3200" dirty="0"/>
              <a:t>support a broad range of processors—from small, inexpensive </a:t>
            </a:r>
            <a:r>
              <a:rPr lang="en-US" sz="3200" dirty="0" smtClean="0"/>
              <a:t>embedded </a:t>
            </a:r>
            <a:r>
              <a:rPr lang="en-IN" sz="3200" dirty="0" smtClean="0"/>
              <a:t>processors </a:t>
            </a:r>
            <a:r>
              <a:rPr lang="en-IN" sz="3200" dirty="0"/>
              <a:t>to </a:t>
            </a:r>
            <a:r>
              <a:rPr lang="en-IN" sz="3200" dirty="0" smtClean="0"/>
              <a:t>high-performance, multicore</a:t>
            </a:r>
            <a:r>
              <a:rPr lang="en-IN" sz="3200" dirty="0"/>
              <a:t>, multithreaded systems</a:t>
            </a:r>
            <a:r>
              <a:rPr lang="en-IN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RISC-V has 32-, 64-, and 128-bit </a:t>
            </a:r>
            <a:r>
              <a:rPr lang="en-US" sz="3200" dirty="0" smtClean="0"/>
              <a:t>base </a:t>
            </a:r>
            <a:r>
              <a:rPr lang="en-IN" sz="3200" dirty="0" smtClean="0"/>
              <a:t>instruction </a:t>
            </a:r>
            <a:r>
              <a:rPr lang="en-IN" sz="3200" dirty="0"/>
              <a:t>sets</a:t>
            </a:r>
            <a:r>
              <a:rPr lang="en-IN" sz="3200" dirty="0" smtClean="0"/>
              <a:t>: </a:t>
            </a:r>
            <a:r>
              <a:rPr lang="en-IN" sz="3200" dirty="0"/>
              <a:t>RV32I/E, RV64I, and RV128I</a:t>
            </a:r>
            <a:r>
              <a:rPr lang="en-IN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Along </a:t>
            </a:r>
            <a:r>
              <a:rPr lang="en-US" sz="3200" dirty="0" smtClean="0"/>
              <a:t>with </a:t>
            </a:r>
            <a:r>
              <a:rPr lang="en-US" sz="3200" dirty="0"/>
              <a:t>these base architectures, RISC-V also defines the extensions listed </a:t>
            </a:r>
            <a:r>
              <a:rPr lang="en-US" sz="3200" dirty="0" smtClean="0"/>
              <a:t>in t</a:t>
            </a:r>
            <a:r>
              <a:rPr lang="en-IN" sz="3200" dirty="0" smtClean="0"/>
              <a:t>able.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27060764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19" t="16328" r="13583" b="26567"/>
          <a:stretch/>
        </p:blipFill>
        <p:spPr bwMode="auto">
          <a:xfrm>
            <a:off x="1448972" y="0"/>
            <a:ext cx="8314006" cy="6758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9817391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478763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Comparison of RISC-V and MIPS Architectures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323558" y="829993"/>
            <a:ext cx="1160584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RISC-V architecture has many similarities to the MIPS </a:t>
            </a:r>
            <a:r>
              <a:rPr lang="en-US" sz="3200" dirty="0" smtClean="0"/>
              <a:t>architecture.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Similarities </a:t>
            </a:r>
            <a:r>
              <a:rPr lang="en-US" sz="3200" dirty="0"/>
              <a:t>include assembly and machine code formats, </a:t>
            </a:r>
            <a:r>
              <a:rPr lang="en-US" sz="3200" dirty="0" smtClean="0"/>
              <a:t>instruction mnemonics</a:t>
            </a:r>
            <a:r>
              <a:rPr lang="en-US" sz="3200" dirty="0"/>
              <a:t>, register naming, and stack and calling </a:t>
            </a:r>
            <a:r>
              <a:rPr lang="en-US" sz="3200" dirty="0" smtClean="0"/>
              <a:t>conventions.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Differences </a:t>
            </a:r>
            <a:r>
              <a:rPr lang="en-US" sz="3200" dirty="0"/>
              <a:t>include RISC-V’s immediate sizes and encodings, </a:t>
            </a:r>
            <a:r>
              <a:rPr lang="en-US" sz="3200" dirty="0" smtClean="0"/>
              <a:t>branching relative </a:t>
            </a:r>
            <a:r>
              <a:rPr lang="en-US" sz="3200" dirty="0"/>
              <a:t>to PC (instead of PC+4), both branches and jumps </a:t>
            </a:r>
            <a:r>
              <a:rPr lang="en-US" sz="3200" dirty="0" smtClean="0"/>
              <a:t>being PC-relative</a:t>
            </a:r>
            <a:r>
              <a:rPr lang="en-US" sz="3200" dirty="0"/>
              <a:t>, removal of the branch delay slot from MIPS, a strict </a:t>
            </a:r>
            <a:r>
              <a:rPr lang="en-US" sz="3200" dirty="0" smtClean="0"/>
              <a:t>definition of </a:t>
            </a:r>
            <a:r>
              <a:rPr lang="en-US" sz="3200" dirty="0"/>
              <a:t>source and destination register instruction fields, different </a:t>
            </a:r>
            <a:r>
              <a:rPr lang="en-US" sz="3200" dirty="0" smtClean="0"/>
              <a:t>numbers of </a:t>
            </a:r>
            <a:r>
              <a:rPr lang="en-US" sz="3200" dirty="0"/>
              <a:t>temporary, saved, and argument registers, and more </a:t>
            </a:r>
            <a:r>
              <a:rPr lang="en-US" sz="3200" dirty="0" smtClean="0"/>
              <a:t>extensibility by </a:t>
            </a:r>
            <a:r>
              <a:rPr lang="en-US" sz="3200" dirty="0"/>
              <a:t>including more control bits in the instruction.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050330868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04653-07E8-79D6-9F5B-12B79EC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6" y="140215"/>
            <a:ext cx="10364451" cy="478763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Comparison of RISC-V and ARM Architectures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323558" y="829993"/>
            <a:ext cx="1160584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ARM’s similarities to RISC-V include its small number of </a:t>
            </a:r>
            <a:r>
              <a:rPr lang="en-US" sz="3200" dirty="0" smtClean="0"/>
              <a:t>machine code </a:t>
            </a:r>
            <a:r>
              <a:rPr lang="en-US" sz="3200" dirty="0"/>
              <a:t>formats and assembly instructions and similar stack and </a:t>
            </a:r>
            <a:r>
              <a:rPr lang="en-US" sz="3200" dirty="0" smtClean="0"/>
              <a:t>calling conventions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ARM </a:t>
            </a:r>
            <a:r>
              <a:rPr lang="en-US" sz="3200" dirty="0"/>
              <a:t>differs from RISC-V by including conditional </a:t>
            </a:r>
            <a:r>
              <a:rPr lang="en-US" sz="3200" dirty="0" smtClean="0"/>
              <a:t>execution, complex </a:t>
            </a:r>
            <a:r>
              <a:rPr lang="en-US" sz="3200" dirty="0"/>
              <a:t>indexing modes for accessing memory, its ability </a:t>
            </a:r>
            <a:r>
              <a:rPr lang="en-US" sz="3200" dirty="0" smtClean="0"/>
              <a:t>to push </a:t>
            </a:r>
            <a:r>
              <a:rPr lang="en-US" sz="3200" dirty="0"/>
              <a:t>and pop multiple registers onto/off the stack using a </a:t>
            </a:r>
            <a:r>
              <a:rPr lang="en-US" sz="3200" dirty="0" smtClean="0"/>
              <a:t>single instruction, optionally </a:t>
            </a:r>
            <a:r>
              <a:rPr lang="en-US" sz="3200" dirty="0"/>
              <a:t>shifted source registers, and unconventional </a:t>
            </a:r>
            <a:r>
              <a:rPr lang="en-US" sz="3200" dirty="0" smtClean="0"/>
              <a:t>immediate </a:t>
            </a:r>
            <a:r>
              <a:rPr lang="en-IN" sz="3200" dirty="0" smtClean="0"/>
              <a:t>encodings</a:t>
            </a:r>
            <a:r>
              <a:rPr lang="en-IN" sz="3200" dirty="0"/>
              <a:t>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225722626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911" y="2053421"/>
            <a:ext cx="10364451" cy="2912474"/>
          </a:xfrm>
        </p:spPr>
        <p:txBody>
          <a:bodyPr>
            <a:noAutofit/>
          </a:bodyPr>
          <a:lstStyle/>
          <a:p>
            <a:r>
              <a:rPr lang="en-IN" sz="23900" dirty="0" smtClean="0">
                <a:latin typeface="Forte" pitchFamily="66" charset="0"/>
              </a:rPr>
              <a:t>end</a:t>
            </a:r>
            <a:endParaRPr lang="en-IN" sz="23900" dirty="0">
              <a:latin typeface="Forte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77350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5241</TotalTime>
  <Words>9724</Words>
  <Application>Microsoft Office PowerPoint</Application>
  <PresentationFormat>Custom</PresentationFormat>
  <Paragraphs>967</Paragraphs>
  <Slides>179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179</vt:i4>
      </vt:variant>
    </vt:vector>
  </HeadingPairs>
  <TitlesOfParts>
    <vt:vector size="180" baseType="lpstr">
      <vt:lpstr>Droplet</vt:lpstr>
      <vt:lpstr>COMPUTER ORGANIZATION AND ARCHITECTURE</vt:lpstr>
      <vt:lpstr>MODULE 1</vt:lpstr>
      <vt:lpstr>Basic Structure of computers :–</vt:lpstr>
      <vt:lpstr>WHY COMPUTER ORGANIZATION AND ARCHITECTURE?</vt:lpstr>
      <vt:lpstr>PowerPoint Presentation</vt:lpstr>
      <vt:lpstr>PowerPoint Presentation</vt:lpstr>
      <vt:lpstr>FUNCTIONAL UNITS:</vt:lpstr>
      <vt:lpstr>Input &amp; Output unit</vt:lpstr>
      <vt:lpstr>Input &amp; Output unit</vt:lpstr>
      <vt:lpstr>Memory Unit (MU)</vt:lpstr>
      <vt:lpstr>Arithmetic Logical Unit (ALU)</vt:lpstr>
      <vt:lpstr>Control Unit</vt:lpstr>
      <vt:lpstr>Central Processing Unit (CPU)</vt:lpstr>
      <vt:lpstr>Basic operational concepts</vt:lpstr>
      <vt:lpstr>Basic operational concepts</vt:lpstr>
      <vt:lpstr>PowerPoint Presentation</vt:lpstr>
      <vt:lpstr>PowerPoint Presentation</vt:lpstr>
      <vt:lpstr>PowerPoint Presentation</vt:lpstr>
      <vt:lpstr>PowerPoint Presentation</vt:lpstr>
      <vt:lpstr>Operating Steps (fetch cycle)</vt:lpstr>
      <vt:lpstr>Operating Steps (Execution Cycle)</vt:lpstr>
      <vt:lpstr>PowerPoint Presentation</vt:lpstr>
      <vt:lpstr>Memory map</vt:lpstr>
      <vt:lpstr>Example RISC-V memory map</vt:lpstr>
      <vt:lpstr>The Text Segment</vt:lpstr>
      <vt:lpstr>The Global Data Segment</vt:lpstr>
      <vt:lpstr>Dynamic data segment</vt:lpstr>
      <vt:lpstr>Exception handler , OS, and and I/O Segments</vt:lpstr>
      <vt:lpstr>Memory Location, Addresses, and Operation</vt:lpstr>
      <vt:lpstr>Memory Location, Addresses, and Operation</vt:lpstr>
      <vt:lpstr>Memory Location, Addresses, and Operation</vt:lpstr>
      <vt:lpstr>Memory Location, Addresses, and Operation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Byte addressability</vt:lpstr>
      <vt:lpstr>Byte addressability</vt:lpstr>
      <vt:lpstr>Byte addressability(Endianness)</vt:lpstr>
      <vt:lpstr>PowerPoint Presentation</vt:lpstr>
      <vt:lpstr>PowerPoint Presentation</vt:lpstr>
      <vt:lpstr>PowerPoint Presentation</vt:lpstr>
      <vt:lpstr>CISC vs RISC architectures:-</vt:lpstr>
      <vt:lpstr>CISC –Complex Instruction Set Computer</vt:lpstr>
      <vt:lpstr>Main Objectives of CISC: </vt:lpstr>
      <vt:lpstr>Characteristics of CISC</vt:lpstr>
      <vt:lpstr>PowerPoint Presentation</vt:lpstr>
      <vt:lpstr>PowerPoint Presentation</vt:lpstr>
      <vt:lpstr>RISC (Reduced Instruction Set Computer)</vt:lpstr>
      <vt:lpstr>Main Objective of RISC:</vt:lpstr>
      <vt:lpstr>Basic Principles of RISC</vt:lpstr>
      <vt:lpstr>PowerPoint Presentation</vt:lpstr>
      <vt:lpstr>PowerPoint Presentation</vt:lpstr>
      <vt:lpstr>PowerPoint Presentation</vt:lpstr>
      <vt:lpstr>PowerPoint Presentation</vt:lpstr>
      <vt:lpstr>RISC vs RISC Architectures</vt:lpstr>
      <vt:lpstr>PowerPoint Presentation</vt:lpstr>
      <vt:lpstr>PowerPoint Presentation</vt:lpstr>
      <vt:lpstr>Assembly language</vt:lpstr>
      <vt:lpstr>Assembly language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Operands: Registers, Memory, and Constants</vt:lpstr>
      <vt:lpstr>Operands: Registers, Memory, and Constants</vt:lpstr>
      <vt:lpstr>Operands: Registers</vt:lpstr>
      <vt:lpstr>Operands: Registers</vt:lpstr>
      <vt:lpstr>The Register Set</vt:lpstr>
      <vt:lpstr>PowerPoint Presentation</vt:lpstr>
      <vt:lpstr>The Register Set</vt:lpstr>
      <vt:lpstr>Constants/Immediates</vt:lpstr>
      <vt:lpstr>PowerPoint Presentation</vt:lpstr>
      <vt:lpstr>Operands: Memory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WRITING MEMORY </vt:lpstr>
      <vt:lpstr>WRITING MEMORY </vt:lpstr>
      <vt:lpstr>PowerPoint Presentation</vt:lpstr>
      <vt:lpstr>Generating 12-Bit Constants </vt:lpstr>
      <vt:lpstr>Generating 32-bit Constants </vt:lpstr>
      <vt:lpstr>PowerPoint Presentation</vt:lpstr>
      <vt:lpstr>PowerPoint Presentation</vt:lpstr>
      <vt:lpstr>Common directives include</vt:lpstr>
      <vt:lpstr>PowerPoint Presentation</vt:lpstr>
      <vt:lpstr>Assembling </vt:lpstr>
      <vt:lpstr>PowerPoint Presentation</vt:lpstr>
      <vt:lpstr>PowerPoint Presentation</vt:lpstr>
      <vt:lpstr>Programming concepts -</vt:lpstr>
      <vt:lpstr>PROGRAMMING CONCEPTS…page 331</vt:lpstr>
      <vt:lpstr>PROGRAM FLOW</vt:lpstr>
      <vt:lpstr>PowerPoint Presentation</vt:lpstr>
      <vt:lpstr>Logical, Shift, and Multiply Instructions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Machine language -</vt:lpstr>
      <vt:lpstr>MACHINE LANGUAGE…page 355</vt:lpstr>
      <vt:lpstr>MACHINE LANGUAGE…page 355</vt:lpstr>
      <vt:lpstr>INSTRUCTION FORMATS</vt:lpstr>
      <vt:lpstr>R-Type Instructions</vt:lpstr>
      <vt:lpstr>I-Type Instructions</vt:lpstr>
      <vt:lpstr>PowerPoint Presentation</vt:lpstr>
      <vt:lpstr>S/B-Type Instructions</vt:lpstr>
      <vt:lpstr>PowerPoint Presentation</vt:lpstr>
      <vt:lpstr>S/B-Type Instructions</vt:lpstr>
      <vt:lpstr>S/B-Type Instructions</vt:lpstr>
      <vt:lpstr>U/J-Type Instructions</vt:lpstr>
      <vt:lpstr>PowerPoint Presentation</vt:lpstr>
      <vt:lpstr>Immediate Encodings</vt:lpstr>
      <vt:lpstr>PowerPoint Presentation</vt:lpstr>
      <vt:lpstr>Addressing Modes</vt:lpstr>
      <vt:lpstr>Register-Only Addressing</vt:lpstr>
      <vt:lpstr>Immediate Addressing</vt:lpstr>
      <vt:lpstr>Base Addressing</vt:lpstr>
      <vt:lpstr>PC-Relative Addressing</vt:lpstr>
      <vt:lpstr>PC-Relative Addressing</vt:lpstr>
      <vt:lpstr>stored program concept</vt:lpstr>
      <vt:lpstr>stored program concept</vt:lpstr>
      <vt:lpstr>stored program concept</vt:lpstr>
      <vt:lpstr>PowerPoint Presentation</vt:lpstr>
      <vt:lpstr>EVOLUTION OF THE RISC-V ARCHITECTURE</vt:lpstr>
      <vt:lpstr>RISC-V Base Instruction Sets and Extensions</vt:lpstr>
      <vt:lpstr>PowerPoint Presentation</vt:lpstr>
      <vt:lpstr>Comparison of RISC-V and MIPS Architectures</vt:lpstr>
      <vt:lpstr>Comparison of RISC-V and ARM Architectures</vt:lpstr>
      <vt:lpstr>end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AND ARCHITECTURE</dc:title>
  <dc:creator>aiswarya640@hotmail.com</dc:creator>
  <cp:lastModifiedBy>User</cp:lastModifiedBy>
  <cp:revision>165</cp:revision>
  <dcterms:created xsi:type="dcterms:W3CDTF">2025-11-23T01:06:49Z</dcterms:created>
  <dcterms:modified xsi:type="dcterms:W3CDTF">2026-01-04T02:44:05Z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