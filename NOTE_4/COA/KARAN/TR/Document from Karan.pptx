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Lustria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RTzcVfMV5e2a43sIpIL2WQH5O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ustri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37" name="Google Shape;3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38" name="Google Shape;3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5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3" type="body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4" type="body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2" type="body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64" name="Google Shape;6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9"/>
          <p:cNvSpPr txBox="1"/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b="0"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/>
          <p:nvPr>
            <p:ph idx="2" type="pic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8" name="Google Shape;68;p2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72" name="Google Shape;7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0"/>
          <p:cNvSpPr txBox="1"/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/>
          <p:nvPr>
            <p:ph idx="2" type="pic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76" name="Google Shape;76;p3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1"/>
          <p:cNvSpPr txBox="1"/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" type="body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2" name="Google Shape;82;p3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" type="body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8" name="Google Shape;88;p32"/>
          <p:cNvSpPr txBox="1"/>
          <p:nvPr>
            <p:ph idx="2" type="body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9" name="Google Shape;89;p3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2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3" name="Google Shape;93;p3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3"/>
          <p:cNvSpPr txBox="1"/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" type="body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97" name="Google Shape;97;p3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" type="body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3" name="Google Shape;103;p34"/>
          <p:cNvSpPr txBox="1"/>
          <p:nvPr>
            <p:ph idx="2" type="body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4" name="Google Shape;104;p34"/>
          <p:cNvSpPr txBox="1"/>
          <p:nvPr>
            <p:ph idx="3" type="body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5" name="Google Shape;105;p34"/>
          <p:cNvSpPr txBox="1"/>
          <p:nvPr>
            <p:ph idx="4" type="body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6" name="Google Shape;106;p34"/>
          <p:cNvSpPr txBox="1"/>
          <p:nvPr>
            <p:ph idx="5" type="body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7" name="Google Shape;107;p34"/>
          <p:cNvSpPr txBox="1"/>
          <p:nvPr>
            <p:ph idx="6" type="body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8" name="Google Shape;108;p3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12" name="Google Shape;11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3" name="Google Shape;1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4" name="Google Shape;1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5"/>
          <p:cNvSpPr txBox="1"/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" type="body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17" name="Google Shape;117;p35"/>
          <p:cNvSpPr/>
          <p:nvPr>
            <p:ph idx="2" type="pic"/>
          </p:nvPr>
        </p:nvSpPr>
        <p:spPr>
          <a:xfrm>
            <a:off x="1018102" y="1938918"/>
            <a:ext cx="3092368" cy="160295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18" name="Google Shape;118;p35"/>
          <p:cNvSpPr txBox="1"/>
          <p:nvPr>
            <p:ph idx="3" type="body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19" name="Google Shape;119;p35"/>
          <p:cNvSpPr txBox="1"/>
          <p:nvPr>
            <p:ph idx="4" type="body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0" name="Google Shape;120;p35"/>
          <p:cNvSpPr/>
          <p:nvPr>
            <p:ph idx="5" type="pic"/>
          </p:nvPr>
        </p:nvSpPr>
        <p:spPr>
          <a:xfrm>
            <a:off x="4545743" y="1939094"/>
            <a:ext cx="3092368" cy="160816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1" name="Google Shape;121;p35"/>
          <p:cNvSpPr txBox="1"/>
          <p:nvPr>
            <p:ph idx="6" type="body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2" name="Google Shape;122;p35"/>
          <p:cNvSpPr txBox="1"/>
          <p:nvPr>
            <p:ph idx="7" type="body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3" name="Google Shape;123;p35"/>
          <p:cNvSpPr/>
          <p:nvPr>
            <p:ph idx="8" type="pic"/>
          </p:nvPr>
        </p:nvSpPr>
        <p:spPr>
          <a:xfrm>
            <a:off x="8075698" y="1934432"/>
            <a:ext cx="3092368" cy="160729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4" name="Google Shape;124;p35"/>
          <p:cNvSpPr txBox="1"/>
          <p:nvPr>
            <p:ph idx="9" type="body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5" name="Google Shape;125;p3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5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" type="body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6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7"/>
          <p:cNvSpPr txBox="1"/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" type="body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1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2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1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2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</a:pPr>
            <a:r>
              <a:t/>
            </a:r>
            <a:endParaRPr/>
          </a:p>
        </p:txBody>
      </p:sp>
      <p:sp>
        <p:nvSpPr>
          <p:cNvPr id="157" name="Google Shape;157;p1"/>
          <p:cNvSpPr txBox="1"/>
          <p:nvPr>
            <p:ph idx="1" type="subTitle"/>
          </p:nvPr>
        </p:nvSpPr>
        <p:spPr>
          <a:xfrm>
            <a:off x="6652947" y="4482450"/>
            <a:ext cx="5040785" cy="172402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3D Person Working In A Home Office" id="158" name="Google Shape;158;p1"/>
          <p:cNvPicPr preferRelativeResize="0"/>
          <p:nvPr/>
        </p:nvPicPr>
        <p:blipFill rotWithShape="1">
          <a:blip r:embed="rId3">
            <a:alphaModFix/>
          </a:blip>
          <a:srcRect b="-1" l="0" r="-1" t="259"/>
          <a:stretch/>
        </p:blipFill>
        <p:spPr>
          <a:xfrm>
            <a:off x="-3756" y="0"/>
            <a:ext cx="1218893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"/>
          <p:cNvSpPr txBox="1"/>
          <p:nvPr/>
        </p:nvSpPr>
        <p:spPr>
          <a:xfrm>
            <a:off x="622261" y="0"/>
            <a:ext cx="12061371" cy="321874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Lustria"/>
              <a:buNone/>
            </a:pPr>
            <a:r>
              <a:rPr b="0" i="0" lang="en-US" sz="6000" u="none" cap="none" strike="noStrike">
                <a:solidFill>
                  <a:srgbClr val="0070C0"/>
                </a:solidFill>
                <a:latin typeface="Lustria"/>
                <a:ea typeface="Lustria"/>
                <a:cs typeface="Lustria"/>
                <a:sym typeface="Lustria"/>
              </a:rPr>
              <a:t>COMPUTER ORGANISATION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Lustria"/>
              <a:buNone/>
            </a:pPr>
            <a:r>
              <a:rPr b="0" i="0" lang="en-US" sz="6000" u="none" cap="none" strike="noStrike">
                <a:solidFill>
                  <a:srgbClr val="0070C0"/>
                </a:solidFill>
                <a:latin typeface="Lustria"/>
                <a:ea typeface="Lustria"/>
                <a:cs typeface="Lustria"/>
                <a:sym typeface="Lustria"/>
              </a:rPr>
              <a:t>&amp;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Lustria"/>
              <a:buNone/>
            </a:pPr>
            <a:r>
              <a:rPr b="0" i="0" lang="en-US" sz="6000" u="none" cap="none" strike="noStrike">
                <a:solidFill>
                  <a:srgbClr val="0070C0"/>
                </a:solidFill>
                <a:latin typeface="Lustria"/>
                <a:ea typeface="Lustria"/>
                <a:cs typeface="Lustria"/>
                <a:sym typeface="Lustria"/>
              </a:rPr>
              <a:t>ARCHITECTURE</a:t>
            </a:r>
            <a:endParaRPr b="0" i="0" sz="6000" u="none" cap="none" strike="noStrike">
              <a:solidFill>
                <a:srgbClr val="0070C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6589836" y="4048283"/>
            <a:ext cx="4941173" cy="144774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PBCST404</a:t>
            </a:r>
            <a:endParaRPr/>
          </a:p>
          <a:p>
            <a:pPr indent="0" lvl="0" marL="0" marR="0" rtl="0" algn="r">
              <a:spcBef>
                <a:spcPts val="13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MODULE 1 </a:t>
            </a:r>
            <a:endParaRPr/>
          </a:p>
          <a:p>
            <a:pPr indent="0" lvl="0" marL="0" marR="0" rtl="0" algn="r">
              <a:spcBef>
                <a:spcPts val="13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6589836" y="5638616"/>
            <a:ext cx="4941173" cy="81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70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DHANYA PG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870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ASST. PROFESSOR, CSE</a:t>
            </a:r>
            <a:endParaRPr b="1" i="0" sz="3600" u="none" cap="none" strike="noStrik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 txBox="1"/>
          <p:nvPr>
            <p:ph type="title"/>
          </p:nvPr>
        </p:nvSpPr>
        <p:spPr>
          <a:xfrm>
            <a:off x="913795" y="211756"/>
            <a:ext cx="10353762" cy="103952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stria"/>
              <a:buNone/>
            </a:pPr>
            <a:r>
              <a:rPr lang="en-US" sz="4800"/>
              <a:t>BASIC OPERATIONAL CONCEPTS</a:t>
            </a:r>
            <a:endParaRPr sz="4800"/>
          </a:p>
        </p:txBody>
      </p:sp>
      <p:sp>
        <p:nvSpPr>
          <p:cNvPr id="167" name="Google Shape;167;p2"/>
          <p:cNvSpPr txBox="1"/>
          <p:nvPr>
            <p:ph idx="1" type="body"/>
          </p:nvPr>
        </p:nvSpPr>
        <p:spPr>
          <a:xfrm>
            <a:off x="185057" y="1097280"/>
            <a:ext cx="11723914" cy="535164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3600"/>
          </a:p>
          <a:p>
            <a:pPr indent="0" lvl="0" marL="36900" rtl="0" algn="l">
              <a:spcBef>
                <a:spcPts val="1320"/>
              </a:spcBef>
              <a:spcAft>
                <a:spcPts val="0"/>
              </a:spcAft>
              <a:buSzPts val="2520"/>
              <a:buNone/>
            </a:pPr>
            <a:r>
              <a:rPr lang="en-US" sz="3600"/>
              <a:t>How a Processor Executes a Program??</a:t>
            </a:r>
            <a:endParaRPr/>
          </a:p>
          <a:p>
            <a:pPr indent="-270000" lvl="1" marL="720000" rtl="0" algn="l">
              <a:spcBef>
                <a:spcPts val="1160"/>
              </a:spcBef>
              <a:spcAft>
                <a:spcPts val="0"/>
              </a:spcAft>
              <a:buSzPts val="1960"/>
              <a:buChar char="🞚"/>
            </a:pPr>
            <a:r>
              <a:rPr lang="en-US" sz="2800"/>
              <a:t>The Fetch, Decode, Execute Cycle with Memory</a:t>
            </a:r>
            <a:endParaRPr/>
          </a:p>
          <a:p>
            <a:pPr indent="-163320" lvl="1" marL="720000" rtl="0" algn="l">
              <a:spcBef>
                <a:spcPts val="10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lang="en-US" sz="3200"/>
              <a:t>A program is a list of instructions stored in the computer's memory.</a:t>
            </a:r>
            <a:endParaRPr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lang="en-US" sz="3200"/>
              <a:t>The processor fetches instructions one by one from memory.</a:t>
            </a:r>
            <a:endParaRPr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lang="en-US" sz="3200"/>
              <a:t>The data the instructions need (operands) are also stored in memory.</a:t>
            </a:r>
            <a:endParaRPr/>
          </a:p>
          <a:p>
            <a:pPr indent="0" lvl="1" marL="450000" rtl="0" algn="l">
              <a:spcBef>
                <a:spcPts val="10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314" y="39913"/>
            <a:ext cx="10167258" cy="67781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44378" y="105878"/>
            <a:ext cx="11848699" cy="659330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3200"/>
              <a:t>Steps to Execute LOAD </a:t>
            </a:r>
            <a:r>
              <a:rPr lang="en-US" sz="3200"/>
              <a:t>R2, LOC </a:t>
            </a:r>
            <a:endParaRPr b="1" sz="3200"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b="1" lang="en-US" sz="3200"/>
              <a:t>Fetch:</a:t>
            </a:r>
            <a:r>
              <a:rPr lang="en-US" sz="3200"/>
              <a:t> Bring the instruction itself from memory into the processor.</a:t>
            </a:r>
            <a:endParaRPr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b="1" lang="en-US" sz="3200"/>
              <a:t>Decode:</a:t>
            </a:r>
            <a:r>
              <a:rPr lang="en-US" sz="3200"/>
              <a:t> The Control Unit determines this is a "Load" operation.</a:t>
            </a:r>
            <a:endParaRPr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b="1" lang="en-US" sz="3200"/>
              <a:t>Fetch Operand:</a:t>
            </a:r>
            <a:r>
              <a:rPr lang="en-US" sz="3200"/>
              <a:t> Get the data from memory address LOC.</a:t>
            </a:r>
            <a:endParaRPr/>
          </a:p>
          <a:p>
            <a:pPr indent="-306000" lvl="0" marL="342900" rtl="0" algn="l">
              <a:spcBef>
                <a:spcPts val="1240"/>
              </a:spcBef>
              <a:spcAft>
                <a:spcPts val="0"/>
              </a:spcAft>
              <a:buSzPts val="2240"/>
              <a:buChar char="◈"/>
            </a:pPr>
            <a:r>
              <a:rPr b="1" lang="en-US" sz="3200"/>
              <a:t>Execute:</a:t>
            </a:r>
            <a:r>
              <a:rPr lang="en-US" sz="3200"/>
              <a:t> Store that data into register R2.</a:t>
            </a:r>
            <a:br>
              <a:rPr lang="en-US" sz="3200"/>
            </a:br>
            <a:endParaRPr sz="3200"/>
          </a:p>
        </p:txBody>
      </p:sp>
      <p:pic>
        <p:nvPicPr>
          <p:cNvPr descr="A diagram of a loading process&#10;&#10;AI-generated content may be incorrect." id="178" name="Google Shape;1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47" y="3788229"/>
            <a:ext cx="11666506" cy="3069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/>
          <p:nvPr>
            <p:ph idx="1" type="body"/>
          </p:nvPr>
        </p:nvSpPr>
        <p:spPr>
          <a:xfrm>
            <a:off x="913794" y="478971"/>
            <a:ext cx="11191119" cy="585651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3080"/>
              <a:buNone/>
            </a:pPr>
            <a:r>
              <a:rPr lang="en-US" sz="4400"/>
              <a:t>Eg:  Load R2, LOC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b="1" lang="en-US" sz="2800"/>
              <a:t>Meaning:</a:t>
            </a:r>
            <a:r>
              <a:rPr lang="en-US" sz="2800"/>
              <a:t> Copy the data from memory address LOC into processor register R2.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b="1" lang="en-US" sz="2800"/>
              <a:t>Key Point:</a:t>
            </a:r>
            <a:r>
              <a:rPr lang="en-US" sz="2800"/>
              <a:t> Memory is </a:t>
            </a:r>
            <a:r>
              <a:rPr b="1" lang="en-US" sz="2800"/>
              <a:t>read</a:t>
            </a:r>
            <a:r>
              <a:rPr lang="en-US" sz="2800"/>
              <a:t>; Register R2 is </a:t>
            </a:r>
            <a:r>
              <a:rPr b="1" lang="en-US" sz="2800"/>
              <a:t>overwritten</a:t>
            </a:r>
            <a:r>
              <a:rPr lang="en-US"/>
              <a:t>.</a:t>
            </a:r>
            <a:endParaRPr/>
          </a:p>
        </p:txBody>
      </p:sp>
      <p:pic>
        <p:nvPicPr>
          <p:cNvPr descr="A diagram of a diagram&#10;&#10;AI-generated content may be incorrect."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440" y="3076047"/>
            <a:ext cx="11191119" cy="3781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idx="1" type="body"/>
          </p:nvPr>
        </p:nvSpPr>
        <p:spPr>
          <a:xfrm>
            <a:off x="297952" y="76199"/>
            <a:ext cx="11691990" cy="661227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US" sz="3600"/>
              <a:t>Add R4, R2, R3</a:t>
            </a:r>
            <a:br>
              <a:rPr lang="en-US" sz="2800"/>
            </a:br>
            <a:r>
              <a:rPr b="1" lang="en-US" sz="2800"/>
              <a:t>Meaning:</a:t>
            </a:r>
            <a:r>
              <a:rPr lang="en-US" sz="2800"/>
              <a:t> R4 ← R2 + R3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After the operands have been loaded from memory into processor registers arithmetic &amp; logical operations can be performed.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Adds the contents of R2 and R3, places the sum in R4.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Operands (R2, R3) are </a:t>
            </a:r>
            <a:r>
              <a:rPr b="1" lang="en-US" sz="2800"/>
              <a:t>preserved</a:t>
            </a:r>
            <a:r>
              <a:rPr lang="en-US" sz="2800"/>
              <a:t>. Destination (R4) is </a:t>
            </a:r>
            <a:r>
              <a:rPr b="1" lang="en-US" sz="2800"/>
              <a:t>overwritten</a:t>
            </a:r>
            <a:r>
              <a:rPr lang="en-US" sz="2800"/>
              <a:t>.</a:t>
            </a:r>
            <a:endParaRPr sz="2800"/>
          </a:p>
        </p:txBody>
      </p:sp>
      <p:pic>
        <p:nvPicPr>
          <p:cNvPr descr="A diagram of a hexagon with a plus and a line&#10;&#10;AI-generated content may be incorrect."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6723" y="3429000"/>
            <a:ext cx="9391961" cy="3421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idx="1" type="body"/>
          </p:nvPr>
        </p:nvSpPr>
        <p:spPr>
          <a:xfrm>
            <a:off x="391886" y="318499"/>
            <a:ext cx="11625943" cy="62364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US" sz="3600"/>
              <a:t>Store R4, LOC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b="1" lang="en-US" sz="2800"/>
              <a:t>Meaning:</a:t>
            </a:r>
            <a:r>
              <a:rPr lang="en-US" sz="2800"/>
              <a:t> Copy the data from register R4 to memory address LOC.</a:t>
            </a:r>
            <a:br>
              <a:rPr lang="en-US" sz="2800"/>
            </a:br>
            <a:r>
              <a:rPr lang="en-US" sz="2800"/>
              <a:t>Register R4 is </a:t>
            </a:r>
            <a:r>
              <a:rPr b="1" lang="en-US" sz="2800"/>
              <a:t>read/preserved</a:t>
            </a:r>
            <a:r>
              <a:rPr lang="en-US" sz="2800"/>
              <a:t>. Memory at LOC is </a:t>
            </a:r>
            <a:r>
              <a:rPr b="1" lang="en-US" sz="2800"/>
              <a:t>overwritten</a:t>
            </a:r>
            <a:r>
              <a:rPr lang="en-US" sz="2800"/>
              <a:t>.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A black line with a black arrow pointing to the right&#10;&#10;AI-generated content may be incorrect.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49" y="2504338"/>
            <a:ext cx="12001702" cy="405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587141" y="317634"/>
            <a:ext cx="11232682" cy="607354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b="1" lang="en-US" sz="3600"/>
              <a:t>Initiating Memory Transfers (Load/Store)</a:t>
            </a:r>
            <a:endParaRPr/>
          </a:p>
          <a:p>
            <a:pPr indent="0" lvl="0" marL="36900" rtl="0" algn="l">
              <a:spcBef>
                <a:spcPts val="1160"/>
              </a:spcBef>
              <a:spcAft>
                <a:spcPts val="0"/>
              </a:spcAft>
              <a:buSzPts val="1960"/>
              <a:buNone/>
            </a:pPr>
            <a:r>
              <a:rPr lang="en-US" sz="2800"/>
              <a:t>For </a:t>
            </a:r>
            <a:r>
              <a:rPr b="1" lang="en-US" sz="2800"/>
              <a:t>Load</a:t>
            </a:r>
            <a:r>
              <a:rPr lang="en-US" sz="2800"/>
              <a:t> and </a:t>
            </a:r>
            <a:r>
              <a:rPr b="1" lang="en-US" sz="2800"/>
              <a:t>Store</a:t>
            </a:r>
            <a:r>
              <a:rPr lang="en-US" sz="2800"/>
              <a:t>, the processor must talk to the memory unit:</a:t>
            </a:r>
            <a:endParaRPr/>
          </a:p>
          <a:p>
            <a:pPr indent="-270000" lvl="1" marL="720000" rtl="0" algn="l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Send the </a:t>
            </a:r>
            <a:r>
              <a:rPr b="1" lang="en-US" sz="2400"/>
              <a:t>address</a:t>
            </a:r>
            <a:r>
              <a:rPr lang="en-US" sz="2400"/>
              <a:t> (e.g., LOC) to the memory.</a:t>
            </a:r>
            <a:endParaRPr/>
          </a:p>
          <a:p>
            <a:pPr indent="-270000" lvl="1" marL="720000" rtl="0" algn="l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Send the appropriate </a:t>
            </a:r>
            <a:r>
              <a:rPr b="1" lang="en-US" sz="2400"/>
              <a:t>control signal</a:t>
            </a:r>
            <a:r>
              <a:rPr lang="en-US" sz="2400"/>
              <a:t> (Read or Write).</a:t>
            </a:r>
            <a:endParaRPr/>
          </a:p>
          <a:p>
            <a:pPr indent="-270000" lvl="1" marL="720000" rtl="0" algn="l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Transfer the </a:t>
            </a:r>
            <a:r>
              <a:rPr b="1" lang="en-US" sz="2400"/>
              <a:t>data</a:t>
            </a:r>
            <a:r>
              <a:rPr lang="en-US" sz="2400"/>
              <a:t> (to processor for Load, from processor for Store).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A diagram of a bus&#10;&#10;AI-generated content may be incorrect." id="202" name="Google Shape;2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580" y="3134239"/>
            <a:ext cx="7971592" cy="3625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90066" y="2022681"/>
            <a:ext cx="2862943" cy="244344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ctr"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US" sz="3600"/>
              <a:t>Processor Components &amp; Memory Interface</a:t>
            </a:r>
            <a:endParaRPr sz="3600"/>
          </a:p>
        </p:txBody>
      </p:sp>
      <p:pic>
        <p:nvPicPr>
          <p:cNvPr descr="A diagram of a computer&#10;&#10;AI-generated content may be incorrect."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8886" y="0"/>
            <a:ext cx="9133114" cy="685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240632" y="356135"/>
            <a:ext cx="11733195" cy="642967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The processor contains several key components</a:t>
            </a:r>
            <a:endParaRPr/>
          </a:p>
          <a:p>
            <a:pPr indent="-270000" lvl="1" marL="720000" rtl="0" algn="l">
              <a:spcBef>
                <a:spcPts val="1000"/>
              </a:spcBef>
              <a:spcAft>
                <a:spcPts val="0"/>
              </a:spcAft>
              <a:buSzPts val="1400"/>
              <a:buChar char="🞚"/>
            </a:pPr>
            <a:r>
              <a:rPr lang="en-US" sz="2000"/>
              <a:t>Arithmetic Logic Unit (ALU)</a:t>
            </a:r>
            <a:endParaRPr/>
          </a:p>
          <a:p>
            <a:pPr indent="-270000" lvl="1" marL="720000" rtl="0" algn="l">
              <a:spcBef>
                <a:spcPts val="1000"/>
              </a:spcBef>
              <a:spcAft>
                <a:spcPts val="0"/>
              </a:spcAft>
              <a:buSzPts val="1400"/>
              <a:buChar char="🞚"/>
            </a:pPr>
            <a:r>
              <a:rPr lang="en-US" sz="2000"/>
              <a:t>Control Circuitry</a:t>
            </a:r>
            <a:endParaRPr/>
          </a:p>
          <a:p>
            <a:pPr indent="-270000" lvl="1" marL="720000" rtl="0" algn="l">
              <a:spcBef>
                <a:spcPts val="1000"/>
              </a:spcBef>
              <a:spcAft>
                <a:spcPts val="0"/>
              </a:spcAft>
              <a:buSzPts val="1400"/>
              <a:buChar char="🞚"/>
            </a:pPr>
            <a:r>
              <a:rPr lang="en-US" sz="2000"/>
              <a:t>Specialized Registers</a:t>
            </a:r>
            <a:endParaRPr/>
          </a:p>
          <a:p>
            <a:pPr indent="-270000" lvl="1" marL="720000" rtl="0" algn="l">
              <a:spcBef>
                <a:spcPts val="1000"/>
              </a:spcBef>
              <a:spcAft>
                <a:spcPts val="0"/>
              </a:spcAft>
              <a:buSzPts val="1400"/>
              <a:buChar char="🞚"/>
            </a:pPr>
            <a:r>
              <a:rPr lang="en-US" sz="2000"/>
              <a:t>General-Purpose Registers</a:t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0" lvl="0" marL="36900" rtl="0" algn="l">
              <a:spcBef>
                <a:spcPts val="1080"/>
              </a:spcBef>
              <a:spcAft>
                <a:spcPts val="0"/>
              </a:spcAft>
              <a:buSzPts val="1680"/>
              <a:buNone/>
            </a:pPr>
            <a:r>
              <a:rPr b="1" lang="en-US" sz="2400"/>
              <a:t>Specialized Processor Registers</a:t>
            </a:r>
            <a:endParaRPr/>
          </a:p>
          <a:p>
            <a:pPr indent="0" lvl="0" marL="36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 </a:t>
            </a:r>
            <a:endParaRPr/>
          </a:p>
          <a:p>
            <a:pPr indent="0" lvl="1" marL="414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b="1" lang="en-US"/>
              <a:t>INSTRUCTION REGISTER (IR)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en-US"/>
              <a:t>Holds the instruction currently being executed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en-US"/>
              <a:t>IR makes the control circuits to generate timing signals for execution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en-US"/>
              <a:t>Once fetched from memory, the instruction is placed in IR.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en-US"/>
              <a:t>IR is the primary driver of control flow inside the CPU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idx="1" type="body"/>
          </p:nvPr>
        </p:nvSpPr>
        <p:spPr>
          <a:xfrm>
            <a:off x="913795" y="587141"/>
            <a:ext cx="10353762" cy="520405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PROGRAM COUNTER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Contains the memory address of the next instruction to be fetched and executed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Instruction Pointer – points to the next instruction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36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PURPOSE REGISTERS (R0 to Rn-1)</a:t>
            </a:r>
            <a:endParaRPr/>
          </a:p>
          <a:p>
            <a:pPr indent="0" lvl="0" marL="36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Called as processor registers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Fast storage locations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Temporarily stores data and addresses while CPU executes instructions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913795" y="587141"/>
            <a:ext cx="10353762" cy="5765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en-US" sz="2800"/>
              <a:t>PROCESSOR- MEMORY INTERFACE</a:t>
            </a:r>
            <a:endParaRPr/>
          </a:p>
          <a:p>
            <a:pPr indent="0" lvl="0" marL="36900" rtl="0" algn="l">
              <a:spcBef>
                <a:spcPts val="11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Control circuits which manages the transfer of data between the main memory and the processor.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If a word is to be read from the memory , the interface sends the address of that word to the memory along with a Read control signal.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The interface waits for the word to be retrieved , then transfers it to the appropriate processor register.  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uter system&#10;&#10;AI-generated content may be incorrect." id="228" name="Google Shape;22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337" y="48923"/>
            <a:ext cx="10345325" cy="680907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4" name="Google Shape;234;p14"/>
          <p:cNvSpPr txBox="1"/>
          <p:nvPr>
            <p:ph idx="1" type="body"/>
          </p:nvPr>
        </p:nvSpPr>
        <p:spPr>
          <a:xfrm>
            <a:off x="206829" y="330132"/>
            <a:ext cx="5021422" cy="58844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1610"/>
              <a:buNone/>
            </a:pPr>
            <a:r>
              <a:rPr lang="en-US" sz="2300">
                <a:solidFill>
                  <a:srgbClr val="DADADA"/>
                </a:solidFill>
              </a:rPr>
              <a:t>MAR :- MEMORY ADDRESS REGISTER</a:t>
            </a:r>
            <a:endParaRPr/>
          </a:p>
          <a:p>
            <a:pPr indent="-203764" lvl="0" marL="342900" rtl="0" algn="l"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 sz="2300">
              <a:solidFill>
                <a:srgbClr val="DADADA"/>
              </a:solidFill>
            </a:endParaRPr>
          </a:p>
          <a:p>
            <a:pPr indent="-306000" lvl="0" marL="342900" rtl="0" algn="l"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 sz="2300">
                <a:solidFill>
                  <a:srgbClr val="DADADA"/>
                </a:solidFill>
              </a:rPr>
              <a:t>It holds the address of the location to be accessed</a:t>
            </a:r>
            <a:endParaRPr/>
          </a:p>
          <a:p>
            <a:pPr indent="-203764" lvl="0" marL="342900" rtl="0" algn="l"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 sz="2300">
              <a:solidFill>
                <a:srgbClr val="DADADA"/>
              </a:solidFill>
            </a:endParaRPr>
          </a:p>
          <a:p>
            <a:pPr indent="0" lvl="0" marL="36900" rtl="0" algn="l"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rPr lang="en-US" sz="2300">
                <a:solidFill>
                  <a:srgbClr val="DADADA"/>
                </a:solidFill>
              </a:rPr>
              <a:t>MDR :- MEMORY DATA REGISTER</a:t>
            </a:r>
            <a:endParaRPr/>
          </a:p>
          <a:p>
            <a:pPr indent="-203764" lvl="0" marL="342900" rtl="0" algn="l"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 sz="2300">
              <a:solidFill>
                <a:srgbClr val="DADADA"/>
              </a:solidFill>
            </a:endParaRPr>
          </a:p>
          <a:p>
            <a:pPr indent="-306000" lvl="0" marL="342900" rtl="0" algn="l"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 sz="2300">
                <a:solidFill>
                  <a:srgbClr val="DADADA"/>
                </a:solidFill>
              </a:rPr>
              <a:t> It contains the data to written into or read out of the address location.</a:t>
            </a:r>
            <a:endParaRPr/>
          </a:p>
          <a:p>
            <a:pPr indent="-203764" lvl="0" marL="342900" rtl="0" algn="l"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 sz="2300">
              <a:solidFill>
                <a:srgbClr val="DADADA"/>
              </a:solidFill>
            </a:endParaRPr>
          </a:p>
          <a:p>
            <a:pPr indent="-306000" lvl="0" marL="342900" rtl="0" algn="l"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 sz="2300">
                <a:solidFill>
                  <a:srgbClr val="DADADA"/>
                </a:solidFill>
              </a:rPr>
              <a:t>MAR &amp; MDR facilitates the communication with the memory</a:t>
            </a:r>
            <a:endParaRPr/>
          </a:p>
        </p:txBody>
      </p:sp>
      <p:pic>
        <p:nvPicPr>
          <p:cNvPr descr="A diagram of a computer program&#10;&#10;AI-generated content may be incorrect." id="235" name="Google Shape;23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8251" y="330132"/>
            <a:ext cx="6963749" cy="619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idx="1" type="body"/>
          </p:nvPr>
        </p:nvSpPr>
        <p:spPr>
          <a:xfrm>
            <a:off x="144379" y="288759"/>
            <a:ext cx="11829447" cy="649705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en-US" sz="2800"/>
              <a:t>FETCH CYCLE</a:t>
            </a:r>
            <a:endParaRPr/>
          </a:p>
          <a:p>
            <a:pPr indent="-181540" lvl="0" marL="342900" rtl="0" algn="l">
              <a:spcBef>
                <a:spcPts val="11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Programs reside in the memory, entered through input devices 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PC (Program counter) has address of the first instruction or next instruction to be executed 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The contents of PC are transferred to MAR (Memory Address Register) and send over system bus to memory 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A Read signal is sent to the memory by control unit 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The instruction (addressed word) is fetched and loaded into MDR (Memory Data Register) after duration of memory access time 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The contents of MDR transferred to IR (Instruction Register) </a:t>
            </a:r>
            <a:endParaRPr/>
          </a:p>
          <a:p>
            <a:pPr indent="-306000" lvl="0" marL="342900" rtl="0" algn="l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Now the instruction is ready to be decoded and executed 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539015" y="452387"/>
            <a:ext cx="10728542" cy="603504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just"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en-US" sz="2800"/>
              <a:t>EXECUTION CYCLE</a:t>
            </a:r>
            <a:endParaRPr/>
          </a:p>
          <a:p>
            <a:pPr indent="-181540" lvl="0" marL="342900" rtl="0" algn="just">
              <a:spcBef>
                <a:spcPts val="11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  <a:p>
            <a:pPr indent="-306000" lvl="0" marL="342900" rtl="0" algn="just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Get operands for ALU from: </a:t>
            </a:r>
            <a:endParaRPr/>
          </a:p>
          <a:p>
            <a:pPr indent="-270000" lvl="1" marL="720000" rtl="0" algn="just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General-purpose register (R0, … Rn-1) </a:t>
            </a:r>
            <a:endParaRPr/>
          </a:p>
          <a:p>
            <a:pPr indent="-270000" lvl="1" marL="720000" rtl="0" algn="just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Memory (address to MAR, Read from memory, data to MDR, to ALU) </a:t>
            </a:r>
            <a:endParaRPr/>
          </a:p>
          <a:p>
            <a:pPr indent="-306000" lvl="0" marL="342900" rtl="0" algn="just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Perform operation in ALU </a:t>
            </a:r>
            <a:endParaRPr/>
          </a:p>
          <a:p>
            <a:pPr indent="-306000" lvl="0" marL="342900" rtl="0" algn="just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Store the result back to: </a:t>
            </a:r>
            <a:endParaRPr/>
          </a:p>
          <a:p>
            <a:pPr indent="-270000" lvl="1" marL="720000" rtl="0" algn="just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General-purpose register (R0, … Rn-1) </a:t>
            </a:r>
            <a:endParaRPr/>
          </a:p>
          <a:p>
            <a:pPr indent="-270000" lvl="1" marL="720000" rtl="0" algn="just">
              <a:spcBef>
                <a:spcPts val="1080"/>
              </a:spcBef>
              <a:spcAft>
                <a:spcPts val="0"/>
              </a:spcAft>
              <a:buSzPts val="1680"/>
              <a:buChar char="🞚"/>
            </a:pPr>
            <a:r>
              <a:rPr lang="en-US" sz="2400"/>
              <a:t>Memory (address to MAR, result to MDR, Write to memory) </a:t>
            </a:r>
            <a:endParaRPr/>
          </a:p>
          <a:p>
            <a:pPr indent="-306000" lvl="0" marL="342900" rtl="0" algn="just">
              <a:spcBef>
                <a:spcPts val="1160"/>
              </a:spcBef>
              <a:spcAft>
                <a:spcPts val="0"/>
              </a:spcAft>
              <a:buSzPts val="1960"/>
              <a:buChar char="◈"/>
            </a:pPr>
            <a:r>
              <a:rPr lang="en-US" sz="2800"/>
              <a:t>During the execution, PC is incremented to point to the next instruction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/>
          <p:nvPr>
            <p:ph idx="1" type="body"/>
          </p:nvPr>
        </p:nvSpPr>
        <p:spPr>
          <a:xfrm>
            <a:off x="1838238" y="2261839"/>
            <a:ext cx="7950655" cy="246416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8050"/>
              <a:buNone/>
            </a:pPr>
            <a:r>
              <a:rPr lang="en-US" sz="11500">
                <a:latin typeface="Arial"/>
                <a:ea typeface="Arial"/>
                <a:cs typeface="Arial"/>
                <a:sym typeface="Arial"/>
              </a:rPr>
              <a:t>Thankyou</a:t>
            </a:r>
            <a:endParaRPr sz="1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2025-12-10T03:48:17Z</dcterms:created>
  <dc:creator>DHANYA P G</dc:creator>
</cp:coreProperties>
</file>