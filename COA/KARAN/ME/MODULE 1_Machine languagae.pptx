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06" r:id="rId23"/>
    <p:sldId id="298" r:id="rId24"/>
    <p:sldId id="300" r:id="rId25"/>
    <p:sldId id="299" r:id="rId26"/>
    <p:sldId id="301" r:id="rId27"/>
    <p:sldId id="302" r:id="rId28"/>
    <p:sldId id="303" r:id="rId29"/>
    <p:sldId id="304" r:id="rId30"/>
    <p:sldId id="305"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307" r:id="rId45"/>
    <p:sldId id="308" r:id="rId46"/>
    <p:sldId id="309" r:id="rId47"/>
    <p:sldId id="310" r:id="rId48"/>
    <p:sldId id="29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4348B-FCCD-4DB6-9E65-C09CA0E50193}" type="datetimeFigureOut">
              <a:rPr lang="en-IN" smtClean="0"/>
              <a:t>13-01-2026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FC043-D5E6-42EE-9483-9D65455D3C3F}" type="slidenum">
              <a:rPr lang="en-IN" smtClean="0"/>
              <a:t>‹#›</a:t>
            </a:fld>
            <a:endParaRPr lang="en-IN"/>
          </a:p>
        </p:txBody>
      </p:sp>
    </p:spTree>
    <p:extLst>
      <p:ext uri="{BB962C8B-B14F-4D97-AF65-F5344CB8AC3E}">
        <p14:creationId xmlns:p14="http://schemas.microsoft.com/office/powerpoint/2010/main" val="664956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A8FC043-D5E6-42EE-9483-9D65455D3C3F}" type="slidenum">
              <a:rPr lang="en-IN" smtClean="0"/>
              <a:t>2</a:t>
            </a:fld>
            <a:endParaRPr lang="en-IN"/>
          </a:p>
        </p:txBody>
      </p:sp>
    </p:spTree>
    <p:extLst>
      <p:ext uri="{BB962C8B-B14F-4D97-AF65-F5344CB8AC3E}">
        <p14:creationId xmlns:p14="http://schemas.microsoft.com/office/powerpoint/2010/main" val="2003945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A8FC043-D5E6-42EE-9483-9D65455D3C3F}" type="slidenum">
              <a:rPr lang="en-IN" smtClean="0"/>
              <a:t>14</a:t>
            </a:fld>
            <a:endParaRPr lang="en-IN"/>
          </a:p>
        </p:txBody>
      </p:sp>
    </p:spTree>
    <p:extLst>
      <p:ext uri="{BB962C8B-B14F-4D97-AF65-F5344CB8AC3E}">
        <p14:creationId xmlns:p14="http://schemas.microsoft.com/office/powerpoint/2010/main" val="2127597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BFB0F70-E404-4B4C-AA96-AD2CFE17A155}" type="datetime1">
              <a:rPr lang="en-IN" smtClean="0"/>
              <a:t>13-01-2026</a:t>
            </a:fld>
            <a:endParaRPr lang="en-IN"/>
          </a:p>
        </p:txBody>
      </p:sp>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417154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4E56D3-EF0C-4179-BE21-5E8E109FBA56}" type="datetime1">
              <a:rPr lang="en-IN" smtClean="0"/>
              <a:t>13-01-2026</a:t>
            </a:fld>
            <a:endParaRPr lang="en-IN"/>
          </a:p>
        </p:txBody>
      </p:sp>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243009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0BB2D8-4E9E-4821-989C-70C8AC9E5DF1}" type="datetime1">
              <a:rPr lang="en-IN" smtClean="0"/>
              <a:t>13-01-2026</a:t>
            </a:fld>
            <a:endParaRPr lang="en-IN"/>
          </a:p>
        </p:txBody>
      </p:sp>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2876606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5D31981-AEAF-4613-938A-031FA948DB36}" type="datetime1">
              <a:rPr lang="en-IN" smtClean="0"/>
              <a:t>13-01-2026</a:t>
            </a:fld>
            <a:endParaRPr lang="en-IN"/>
          </a:p>
        </p:txBody>
      </p:sp>
      <p:sp>
        <p:nvSpPr>
          <p:cNvPr id="6" name="Footer Placeholder 5"/>
          <p:cNvSpPr>
            <a:spLocks noGrp="1"/>
          </p:cNvSpPr>
          <p:nvPr>
            <p:ph type="ftr" sz="quarter" idx="11"/>
          </p:nvPr>
        </p:nvSpPr>
        <p:spPr/>
        <p:txBody>
          <a:bodyPr/>
          <a:lstStyle/>
          <a:p>
            <a:r>
              <a:rPr lang="en-IN" smtClean="0"/>
              <a:t>Reshma S</a:t>
            </a:r>
            <a:endParaRPr lang="en-IN"/>
          </a:p>
        </p:txBody>
      </p:sp>
      <p:sp>
        <p:nvSpPr>
          <p:cNvPr id="7" name="Slide Number Placeholder 6"/>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140600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267D8A1-68C7-4CF5-A819-C5FA31A23159}" type="datetime1">
              <a:rPr lang="en-IN" smtClean="0"/>
              <a:t>13-01-2026</a:t>
            </a:fld>
            <a:endParaRPr lang="en-IN"/>
          </a:p>
        </p:txBody>
      </p:sp>
      <p:sp>
        <p:nvSpPr>
          <p:cNvPr id="8" name="Footer Placeholder 7"/>
          <p:cNvSpPr>
            <a:spLocks noGrp="1"/>
          </p:cNvSpPr>
          <p:nvPr>
            <p:ph type="ftr" sz="quarter" idx="11"/>
          </p:nvPr>
        </p:nvSpPr>
        <p:spPr/>
        <p:txBody>
          <a:bodyPr/>
          <a:lstStyle/>
          <a:p>
            <a:r>
              <a:rPr lang="en-IN" smtClean="0"/>
              <a:t>Reshma S</a:t>
            </a:r>
            <a:endParaRPr lang="en-IN"/>
          </a:p>
        </p:txBody>
      </p:sp>
      <p:sp>
        <p:nvSpPr>
          <p:cNvPr id="9" name="Slide Number Placeholder 8"/>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400608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1B20447-142B-492C-B681-BDD9445670BA}" type="datetime1">
              <a:rPr lang="en-IN" smtClean="0"/>
              <a:t>13-01-2026</a:t>
            </a:fld>
            <a:endParaRPr lang="en-IN"/>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2252509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8CD582-A71E-419E-BBF1-DCF672D58A14}" type="datetime1">
              <a:rPr lang="en-IN" smtClean="0"/>
              <a:t>13-01-2026</a:t>
            </a:fld>
            <a:endParaRPr lang="en-IN"/>
          </a:p>
        </p:txBody>
      </p:sp>
      <p:sp>
        <p:nvSpPr>
          <p:cNvPr id="3" name="Footer Placeholder 2"/>
          <p:cNvSpPr>
            <a:spLocks noGrp="1"/>
          </p:cNvSpPr>
          <p:nvPr>
            <p:ph type="ftr" sz="quarter" idx="11"/>
          </p:nvPr>
        </p:nvSpPr>
        <p:spPr/>
        <p:txBody>
          <a:bodyPr/>
          <a:lstStyle/>
          <a:p>
            <a:r>
              <a:rPr lang="en-IN" smtClean="0"/>
              <a:t>Reshma S</a:t>
            </a:r>
            <a:endParaRPr lang="en-IN"/>
          </a:p>
        </p:txBody>
      </p:sp>
      <p:sp>
        <p:nvSpPr>
          <p:cNvPr id="4" name="Slide Number Placeholder 3"/>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193643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E9B98A-7F58-4063-8162-549F7C37EB47}" type="datetime1">
              <a:rPr lang="en-IN" smtClean="0"/>
              <a:t>13-01-2026</a:t>
            </a:fld>
            <a:endParaRPr lang="en-IN"/>
          </a:p>
        </p:txBody>
      </p:sp>
      <p:sp>
        <p:nvSpPr>
          <p:cNvPr id="6" name="Footer Placeholder 5"/>
          <p:cNvSpPr>
            <a:spLocks noGrp="1"/>
          </p:cNvSpPr>
          <p:nvPr>
            <p:ph type="ftr" sz="quarter" idx="11"/>
          </p:nvPr>
        </p:nvSpPr>
        <p:spPr/>
        <p:txBody>
          <a:bodyPr/>
          <a:lstStyle/>
          <a:p>
            <a:r>
              <a:rPr lang="en-IN" smtClean="0"/>
              <a:t>Reshma S</a:t>
            </a:r>
            <a:endParaRPr lang="en-IN"/>
          </a:p>
        </p:txBody>
      </p:sp>
      <p:sp>
        <p:nvSpPr>
          <p:cNvPr id="7" name="Slide Number Placeholder 6"/>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1503027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A236D5-A119-4831-B7CD-6298E41AC166}" type="datetime1">
              <a:rPr lang="en-IN" smtClean="0"/>
              <a:t>13-01-2026</a:t>
            </a:fld>
            <a:endParaRPr lang="en-IN"/>
          </a:p>
        </p:txBody>
      </p:sp>
      <p:sp>
        <p:nvSpPr>
          <p:cNvPr id="6" name="Footer Placeholder 5"/>
          <p:cNvSpPr>
            <a:spLocks noGrp="1"/>
          </p:cNvSpPr>
          <p:nvPr>
            <p:ph type="ftr" sz="quarter" idx="11"/>
          </p:nvPr>
        </p:nvSpPr>
        <p:spPr/>
        <p:txBody>
          <a:bodyPr/>
          <a:lstStyle/>
          <a:p>
            <a:r>
              <a:rPr lang="en-IN" smtClean="0"/>
              <a:t>Reshma S</a:t>
            </a:r>
            <a:endParaRPr lang="en-IN"/>
          </a:p>
        </p:txBody>
      </p:sp>
      <p:sp>
        <p:nvSpPr>
          <p:cNvPr id="7" name="Slide Number Placeholder 6"/>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2782655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A7CD62-D185-4B50-A507-0D0944F02B62}" type="datetime1">
              <a:rPr lang="en-IN" smtClean="0"/>
              <a:t>13-01-2026</a:t>
            </a:fld>
            <a:endParaRPr lang="en-IN"/>
          </a:p>
        </p:txBody>
      </p:sp>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88589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7DD4BA7-B67C-4C26-80B2-07B56C309871}" type="datetime1">
              <a:rPr lang="en-IN" smtClean="0"/>
              <a:t>13-01-2026</a:t>
            </a:fld>
            <a:endParaRPr lang="en-IN"/>
          </a:p>
        </p:txBody>
      </p:sp>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a:t>
            </a:fld>
            <a:endParaRPr lang="en-IN"/>
          </a:p>
        </p:txBody>
      </p:sp>
    </p:spTree>
    <p:extLst>
      <p:ext uri="{BB962C8B-B14F-4D97-AF65-F5344CB8AC3E}">
        <p14:creationId xmlns:p14="http://schemas.microsoft.com/office/powerpoint/2010/main" val="4012946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EDE48C-27E0-46C3-9D4F-CFC9067005DA}" type="datetime1">
              <a:rPr lang="en-IN" smtClean="0"/>
              <a:t>13-01-2026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Reshma S</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66FA4D-2C83-4AD9-8B7F-568D7F129F64}" type="slidenum">
              <a:rPr lang="en-IN" smtClean="0"/>
              <a:t>‹#›</a:t>
            </a:fld>
            <a:endParaRPr lang="en-IN"/>
          </a:p>
        </p:txBody>
      </p:sp>
    </p:spTree>
    <p:extLst>
      <p:ext uri="{BB962C8B-B14F-4D97-AF65-F5344CB8AC3E}">
        <p14:creationId xmlns:p14="http://schemas.microsoft.com/office/powerpoint/2010/main" val="377083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MODULE 1 </a:t>
            </a:r>
            <a:endParaRPr lang="en-IN" dirty="0"/>
          </a:p>
        </p:txBody>
      </p:sp>
      <p:sp>
        <p:nvSpPr>
          <p:cNvPr id="3" name="Subtitle 2"/>
          <p:cNvSpPr>
            <a:spLocks noGrp="1"/>
          </p:cNvSpPr>
          <p:nvPr>
            <p:ph type="subTitle" idx="1"/>
          </p:nvPr>
        </p:nvSpPr>
        <p:spPr/>
        <p:txBody>
          <a:bodyPr/>
          <a:lstStyle/>
          <a:p>
            <a:pPr algn="just"/>
            <a:r>
              <a:rPr lang="en-US" dirty="0" smtClean="0"/>
              <a:t>Machine language - Instructions, addressing modes, Stored program concept. </a:t>
            </a:r>
          </a:p>
          <a:p>
            <a:pPr algn="just"/>
            <a:r>
              <a:rPr lang="en-US" dirty="0" smtClean="0"/>
              <a:t>Evolution of the RISC Architecture. </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a:t>
            </a:fld>
            <a:endParaRPr lang="en-IN"/>
          </a:p>
        </p:txBody>
      </p:sp>
    </p:spTree>
    <p:extLst>
      <p:ext uri="{BB962C8B-B14F-4D97-AF65-F5344CB8AC3E}">
        <p14:creationId xmlns:p14="http://schemas.microsoft.com/office/powerpoint/2010/main" val="14384319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IN" dirty="0" smtClean="0"/>
              <a:t>MACHINE LANGUAGE</a:t>
            </a:r>
            <a:endParaRPr lang="en-IN" dirty="0"/>
          </a:p>
        </p:txBody>
      </p:sp>
      <p:sp>
        <p:nvSpPr>
          <p:cNvPr id="3" name="Content Placeholder 2"/>
          <p:cNvSpPr>
            <a:spLocks noGrp="1"/>
          </p:cNvSpPr>
          <p:nvPr>
            <p:ph idx="1"/>
          </p:nvPr>
        </p:nvSpPr>
        <p:spPr/>
        <p:txBody>
          <a:bodyPr/>
          <a:lstStyle/>
          <a:p>
            <a:pPr algn="just"/>
            <a:r>
              <a:rPr lang="en-US" dirty="0"/>
              <a:t>A</a:t>
            </a:r>
            <a:r>
              <a:rPr lang="en-US" dirty="0" smtClean="0"/>
              <a:t> program written in assembly language is translated from mnemonics to a representation using only 1’s and 0’s, called machine language. </a:t>
            </a:r>
          </a:p>
          <a:p>
            <a:pPr algn="just"/>
            <a:r>
              <a:rPr lang="en-US" dirty="0" smtClean="0"/>
              <a:t>RISC-V uses 32-bit instructions. </a:t>
            </a:r>
          </a:p>
          <a:p>
            <a:pPr algn="just"/>
            <a:r>
              <a:rPr lang="en-US" dirty="0" smtClean="0"/>
              <a:t>Again, regularity supports simplicity, and the most regular choice is to encode all instructions as words that can be stored in memory</a:t>
            </a:r>
            <a:endParaRPr lang="en-IN" dirty="0"/>
          </a:p>
        </p:txBody>
      </p:sp>
      <p:sp>
        <p:nvSpPr>
          <p:cNvPr id="4" name="Footer Placeholder 3"/>
          <p:cNvSpPr>
            <a:spLocks noGrp="1"/>
          </p:cNvSpPr>
          <p:nvPr>
            <p:ph type="ftr" sz="quarter" idx="11"/>
          </p:nvPr>
        </p:nvSpPr>
        <p:spPr/>
        <p:txBody>
          <a:bodyPr/>
          <a:lstStyle/>
          <a:p>
            <a:pPr algn="just"/>
            <a:r>
              <a:rPr lang="en-IN" smtClean="0"/>
              <a:t>Reshma S</a:t>
            </a:r>
            <a:endParaRPr lang="en-IN"/>
          </a:p>
        </p:txBody>
      </p:sp>
      <p:sp>
        <p:nvSpPr>
          <p:cNvPr id="5" name="Slide Number Placeholder 4"/>
          <p:cNvSpPr>
            <a:spLocks noGrp="1"/>
          </p:cNvSpPr>
          <p:nvPr>
            <p:ph type="sldNum" sz="quarter" idx="12"/>
          </p:nvPr>
        </p:nvSpPr>
        <p:spPr/>
        <p:txBody>
          <a:bodyPr/>
          <a:lstStyle/>
          <a:p>
            <a:pPr algn="just"/>
            <a:fld id="{1666FA4D-2C83-4AD9-8B7F-568D7F129F64}" type="slidenum">
              <a:rPr lang="en-IN" smtClean="0"/>
              <a:pPr algn="just"/>
              <a:t>2</a:t>
            </a:fld>
            <a:endParaRPr lang="en-IN"/>
          </a:p>
        </p:txBody>
      </p:sp>
    </p:spTree>
    <p:extLst>
      <p:ext uri="{BB962C8B-B14F-4D97-AF65-F5344CB8AC3E}">
        <p14:creationId xmlns:p14="http://schemas.microsoft.com/office/powerpoint/2010/main" val="2336773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Principle 4:</a:t>
            </a:r>
            <a:endParaRPr lang="en-IN" dirty="0"/>
          </a:p>
        </p:txBody>
      </p:sp>
      <p:sp>
        <p:nvSpPr>
          <p:cNvPr id="3" name="Content Placeholder 2"/>
          <p:cNvSpPr>
            <a:spLocks noGrp="1"/>
          </p:cNvSpPr>
          <p:nvPr>
            <p:ph idx="1"/>
          </p:nvPr>
        </p:nvSpPr>
        <p:spPr/>
        <p:txBody>
          <a:bodyPr/>
          <a:lstStyle/>
          <a:p>
            <a:r>
              <a:rPr lang="en-US" dirty="0" smtClean="0"/>
              <a:t>Good design demands good compromises.</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a:t>
            </a:fld>
            <a:endParaRPr lang="en-IN"/>
          </a:p>
        </p:txBody>
      </p:sp>
    </p:spTree>
    <p:extLst>
      <p:ext uri="{BB962C8B-B14F-4D97-AF65-F5344CB8AC3E}">
        <p14:creationId xmlns:p14="http://schemas.microsoft.com/office/powerpoint/2010/main" val="12311638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Instructions</a:t>
            </a:r>
            <a:endParaRPr lang="en-IN" dirty="0"/>
          </a:p>
        </p:txBody>
      </p:sp>
      <p:sp>
        <p:nvSpPr>
          <p:cNvPr id="3" name="Content Placeholder 2"/>
          <p:cNvSpPr>
            <a:spLocks noGrp="1"/>
          </p:cNvSpPr>
          <p:nvPr>
            <p:ph idx="1"/>
          </p:nvPr>
        </p:nvSpPr>
        <p:spPr/>
        <p:txBody>
          <a:bodyPr>
            <a:normAutofit lnSpcReduction="10000"/>
          </a:bodyPr>
          <a:lstStyle/>
          <a:p>
            <a:pPr algn="just"/>
            <a:r>
              <a:rPr lang="en-US" dirty="0" smtClean="0"/>
              <a:t>RISC-V makes the compromise of defining four main instruction formats: </a:t>
            </a:r>
            <a:r>
              <a:rPr lang="en-US" b="1" dirty="0" smtClean="0"/>
              <a:t>R-type, I-type, S/B-type, </a:t>
            </a:r>
            <a:r>
              <a:rPr lang="en-US" dirty="0" smtClean="0"/>
              <a:t>and</a:t>
            </a:r>
            <a:r>
              <a:rPr lang="en-US" b="1" dirty="0" smtClean="0"/>
              <a:t> U/J-type.</a:t>
            </a:r>
          </a:p>
          <a:p>
            <a:pPr algn="just"/>
            <a:r>
              <a:rPr lang="en-US" dirty="0" smtClean="0"/>
              <a:t>R-type (register) instructions, such as </a:t>
            </a:r>
            <a:r>
              <a:rPr lang="en-US" b="1" dirty="0" smtClean="0"/>
              <a:t>add s0, s1, s2</a:t>
            </a:r>
            <a:r>
              <a:rPr lang="en-US" dirty="0" smtClean="0"/>
              <a:t>, operate on three </a:t>
            </a:r>
            <a:r>
              <a:rPr lang="en-US" b="1" dirty="0" smtClean="0"/>
              <a:t>registers</a:t>
            </a:r>
          </a:p>
          <a:p>
            <a:pPr algn="just"/>
            <a:r>
              <a:rPr lang="en-US" dirty="0" smtClean="0"/>
              <a:t>I-type (</a:t>
            </a:r>
            <a:r>
              <a:rPr lang="en-US" b="1" dirty="0" smtClean="0"/>
              <a:t>immediate</a:t>
            </a:r>
            <a:r>
              <a:rPr lang="en-US" dirty="0" smtClean="0"/>
              <a:t>) instructions, such as </a:t>
            </a:r>
            <a:r>
              <a:rPr lang="en-US" b="1" dirty="0" err="1" smtClean="0"/>
              <a:t>addi</a:t>
            </a:r>
            <a:r>
              <a:rPr lang="en-US" b="1" dirty="0" smtClean="0"/>
              <a:t> s3, s4, 42, </a:t>
            </a:r>
            <a:r>
              <a:rPr lang="en-US" dirty="0" smtClean="0"/>
              <a:t>and</a:t>
            </a:r>
          </a:p>
          <a:p>
            <a:pPr algn="just"/>
            <a:r>
              <a:rPr lang="en-US" dirty="0" smtClean="0"/>
              <a:t> S/B-type (</a:t>
            </a:r>
            <a:r>
              <a:rPr lang="en-US" b="1" dirty="0" smtClean="0"/>
              <a:t>store/branch</a:t>
            </a:r>
            <a:r>
              <a:rPr lang="en-US" dirty="0" smtClean="0"/>
              <a:t>) instructions, such as </a:t>
            </a:r>
            <a:r>
              <a:rPr lang="en-US" b="1" dirty="0" err="1" smtClean="0"/>
              <a:t>sw</a:t>
            </a:r>
            <a:r>
              <a:rPr lang="en-US" b="1" dirty="0" smtClean="0"/>
              <a:t> a0, 4(</a:t>
            </a:r>
            <a:r>
              <a:rPr lang="en-US" b="1" dirty="0" err="1" smtClean="0"/>
              <a:t>sp</a:t>
            </a:r>
            <a:r>
              <a:rPr lang="en-US" b="1" dirty="0" smtClean="0"/>
              <a:t>) </a:t>
            </a:r>
            <a:r>
              <a:rPr lang="en-US" dirty="0" smtClean="0"/>
              <a:t>or</a:t>
            </a:r>
            <a:r>
              <a:rPr lang="en-US" b="1" dirty="0" smtClean="0"/>
              <a:t> </a:t>
            </a:r>
          </a:p>
          <a:p>
            <a:pPr marL="0" indent="0" algn="just">
              <a:buNone/>
            </a:pPr>
            <a:r>
              <a:rPr lang="en-US" b="1" dirty="0"/>
              <a:t> </a:t>
            </a:r>
            <a:r>
              <a:rPr lang="en-US" b="1" dirty="0" smtClean="0"/>
              <a:t>   </a:t>
            </a:r>
            <a:r>
              <a:rPr lang="en-US" b="1" dirty="0" err="1" smtClean="0"/>
              <a:t>beq</a:t>
            </a:r>
            <a:r>
              <a:rPr lang="en-US" b="1" dirty="0" smtClean="0"/>
              <a:t> a0,a1,L1</a:t>
            </a:r>
            <a:r>
              <a:rPr lang="en-US" dirty="0" smtClean="0"/>
              <a:t>, operate on two registers and a 12- or 13-bit signed immediate.</a:t>
            </a:r>
          </a:p>
          <a:p>
            <a:pPr algn="just"/>
            <a:r>
              <a:rPr lang="en-US" b="1" dirty="0" smtClean="0"/>
              <a:t>U/J-type</a:t>
            </a:r>
            <a:r>
              <a:rPr lang="en-US" dirty="0" smtClean="0"/>
              <a:t> (</a:t>
            </a:r>
            <a:r>
              <a:rPr lang="en-US" b="1" dirty="0" smtClean="0"/>
              <a:t>upper</a:t>
            </a:r>
            <a:r>
              <a:rPr lang="en-US" dirty="0" smtClean="0"/>
              <a:t> </a:t>
            </a:r>
            <a:r>
              <a:rPr lang="en-US" b="1" dirty="0" smtClean="0"/>
              <a:t>immediate/jump</a:t>
            </a:r>
            <a:r>
              <a:rPr lang="en-US" dirty="0" smtClean="0"/>
              <a:t>) instructions, such as </a:t>
            </a:r>
            <a:r>
              <a:rPr lang="en-US" b="1" dirty="0" err="1" smtClean="0"/>
              <a:t>jal</a:t>
            </a:r>
            <a:r>
              <a:rPr lang="en-US" b="1" dirty="0" smtClean="0"/>
              <a:t> </a:t>
            </a:r>
            <a:r>
              <a:rPr lang="en-US" b="1" dirty="0" err="1" smtClean="0"/>
              <a:t>ra</a:t>
            </a:r>
            <a:r>
              <a:rPr lang="en-US" dirty="0" smtClean="0"/>
              <a:t>, </a:t>
            </a:r>
            <a:r>
              <a:rPr lang="en-US" b="1" dirty="0" smtClean="0"/>
              <a:t>factorial</a:t>
            </a:r>
            <a:r>
              <a:rPr lang="en-US" dirty="0" smtClean="0"/>
              <a:t>, operate on one register and a 20- or 21-bit immediate.</a:t>
            </a:r>
            <a:endParaRPr lang="en-IN" dirty="0"/>
          </a:p>
        </p:txBody>
      </p:sp>
      <p:sp>
        <p:nvSpPr>
          <p:cNvPr id="4" name="Footer Placeholder 3"/>
          <p:cNvSpPr>
            <a:spLocks noGrp="1"/>
          </p:cNvSpPr>
          <p:nvPr>
            <p:ph type="ftr" sz="quarter" idx="11"/>
          </p:nvPr>
        </p:nvSpPr>
        <p:spPr/>
        <p:txBody>
          <a:bodyPr/>
          <a:lstStyle/>
          <a:p>
            <a:r>
              <a:rPr lang="en-IN" smtClean="0"/>
              <a:t>Reshma S</a:t>
            </a:r>
            <a:endParaRPr lang="en-IN" dirty="0"/>
          </a:p>
        </p:txBody>
      </p:sp>
      <p:sp>
        <p:nvSpPr>
          <p:cNvPr id="5" name="Slide Number Placeholder 4"/>
          <p:cNvSpPr>
            <a:spLocks noGrp="1"/>
          </p:cNvSpPr>
          <p:nvPr>
            <p:ph type="sldNum" sz="quarter" idx="12"/>
          </p:nvPr>
        </p:nvSpPr>
        <p:spPr/>
        <p:txBody>
          <a:bodyPr/>
          <a:lstStyle/>
          <a:p>
            <a:fld id="{1666FA4D-2C83-4AD9-8B7F-568D7F129F64}" type="slidenum">
              <a:rPr lang="en-IN" smtClean="0"/>
              <a:t>4</a:t>
            </a:fld>
            <a:endParaRPr lang="en-IN" dirty="0"/>
          </a:p>
        </p:txBody>
      </p:sp>
    </p:spTree>
    <p:extLst>
      <p:ext uri="{BB962C8B-B14F-4D97-AF65-F5344CB8AC3E}">
        <p14:creationId xmlns:p14="http://schemas.microsoft.com/office/powerpoint/2010/main" val="32593707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R-Type Instructions</a:t>
            </a:r>
            <a:endParaRPr lang="en-IN" dirty="0"/>
          </a:p>
        </p:txBody>
      </p:sp>
      <p:sp>
        <p:nvSpPr>
          <p:cNvPr id="3" name="Content Placeholder 2"/>
          <p:cNvSpPr>
            <a:spLocks noGrp="1"/>
          </p:cNvSpPr>
          <p:nvPr>
            <p:ph idx="1"/>
          </p:nvPr>
        </p:nvSpPr>
        <p:spPr>
          <a:xfrm>
            <a:off x="138023" y="1406106"/>
            <a:ext cx="11800935" cy="4770857"/>
          </a:xfrm>
        </p:spPr>
        <p:txBody>
          <a:bodyPr/>
          <a:lstStyle/>
          <a:p>
            <a:r>
              <a:rPr lang="en-US" dirty="0" smtClean="0"/>
              <a:t>R-type (register-type) instructions use three registers as operands: two as sources and one as a destination.</a:t>
            </a:r>
          </a:p>
          <a:p>
            <a:r>
              <a:rPr lang="en-US" dirty="0" smtClean="0"/>
              <a:t>The 32-bit instruction has six fields: funct7, rs2, rs1, funct3, </a:t>
            </a:r>
            <a:r>
              <a:rPr lang="en-US" dirty="0" err="1" smtClean="0"/>
              <a:t>rd</a:t>
            </a:r>
            <a:r>
              <a:rPr lang="en-US" dirty="0" smtClean="0"/>
              <a:t>, and op. </a:t>
            </a:r>
            <a:endParaRPr lang="en-IN" dirty="0"/>
          </a:p>
        </p:txBody>
      </p:sp>
      <p:pic>
        <p:nvPicPr>
          <p:cNvPr id="4" name="Picture 3"/>
          <p:cNvPicPr>
            <a:picLocks noChangeAspect="1"/>
          </p:cNvPicPr>
          <p:nvPr/>
        </p:nvPicPr>
        <p:blipFill>
          <a:blip r:embed="rId2"/>
          <a:stretch>
            <a:fillRect/>
          </a:stretch>
        </p:blipFill>
        <p:spPr>
          <a:xfrm>
            <a:off x="138023" y="4232393"/>
            <a:ext cx="6637331" cy="1223116"/>
          </a:xfrm>
          <a:prstGeom prst="rect">
            <a:avLst/>
          </a:prstGeom>
        </p:spPr>
      </p:pic>
      <p:pic>
        <p:nvPicPr>
          <p:cNvPr id="5" name="Picture 4"/>
          <p:cNvPicPr>
            <a:picLocks noChangeAspect="1"/>
          </p:cNvPicPr>
          <p:nvPr/>
        </p:nvPicPr>
        <p:blipFill>
          <a:blip r:embed="rId3"/>
          <a:stretch>
            <a:fillRect/>
          </a:stretch>
        </p:blipFill>
        <p:spPr>
          <a:xfrm>
            <a:off x="5535430" y="3947811"/>
            <a:ext cx="6226080" cy="1356478"/>
          </a:xfrm>
          <a:prstGeom prst="rect">
            <a:avLst/>
          </a:prstGeom>
        </p:spPr>
      </p:pic>
      <p:sp>
        <p:nvSpPr>
          <p:cNvPr id="6" name="Footer Placeholder 5"/>
          <p:cNvSpPr>
            <a:spLocks noGrp="1"/>
          </p:cNvSpPr>
          <p:nvPr>
            <p:ph type="ftr" sz="quarter" idx="11"/>
          </p:nvPr>
        </p:nvSpPr>
        <p:spPr/>
        <p:txBody>
          <a:bodyPr/>
          <a:lstStyle/>
          <a:p>
            <a:r>
              <a:rPr lang="en-IN" smtClean="0"/>
              <a:t>Reshma S</a:t>
            </a:r>
            <a:endParaRPr lang="en-IN" dirty="0"/>
          </a:p>
        </p:txBody>
      </p:sp>
      <p:sp>
        <p:nvSpPr>
          <p:cNvPr id="7" name="Slide Number Placeholder 6"/>
          <p:cNvSpPr>
            <a:spLocks noGrp="1"/>
          </p:cNvSpPr>
          <p:nvPr>
            <p:ph type="sldNum" sz="quarter" idx="12"/>
          </p:nvPr>
        </p:nvSpPr>
        <p:spPr/>
        <p:txBody>
          <a:bodyPr/>
          <a:lstStyle/>
          <a:p>
            <a:fld id="{1666FA4D-2C83-4AD9-8B7F-568D7F129F64}" type="slidenum">
              <a:rPr lang="en-IN" smtClean="0"/>
              <a:t>5</a:t>
            </a:fld>
            <a:endParaRPr lang="en-IN"/>
          </a:p>
        </p:txBody>
      </p:sp>
    </p:spTree>
    <p:extLst>
      <p:ext uri="{BB962C8B-B14F-4D97-AF65-F5344CB8AC3E}">
        <p14:creationId xmlns:p14="http://schemas.microsoft.com/office/powerpoint/2010/main" val="4041801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327552" y="2083386"/>
            <a:ext cx="10336979" cy="1672958"/>
          </a:xfrm>
          <a:prstGeom prst="rect">
            <a:avLst/>
          </a:prstGeom>
        </p:spPr>
      </p:pic>
      <p:sp>
        <p:nvSpPr>
          <p:cNvPr id="7" name="Rectangle 6"/>
          <p:cNvSpPr/>
          <p:nvPr/>
        </p:nvSpPr>
        <p:spPr>
          <a:xfrm>
            <a:off x="2574487" y="3848183"/>
            <a:ext cx="5300490" cy="369332"/>
          </a:xfrm>
          <a:prstGeom prst="rect">
            <a:avLst/>
          </a:prstGeom>
        </p:spPr>
        <p:txBody>
          <a:bodyPr wrap="none">
            <a:spAutoFit/>
          </a:bodyPr>
          <a:lstStyle/>
          <a:p>
            <a:r>
              <a:rPr lang="en-IN" dirty="0"/>
              <a:t>Figure 6.14 More machine code for R-type instructions</a:t>
            </a:r>
          </a:p>
        </p:txBody>
      </p:sp>
      <p:sp>
        <p:nvSpPr>
          <p:cNvPr id="3" name="Footer Placeholder 2"/>
          <p:cNvSpPr>
            <a:spLocks noGrp="1"/>
          </p:cNvSpPr>
          <p:nvPr>
            <p:ph type="ftr" sz="quarter" idx="11"/>
          </p:nvPr>
        </p:nvSpPr>
        <p:spPr/>
        <p:txBody>
          <a:bodyPr/>
          <a:lstStyle/>
          <a:p>
            <a:r>
              <a:rPr lang="en-IN" smtClean="0"/>
              <a:t>Reshma S</a:t>
            </a:r>
            <a:endParaRPr lang="en-IN"/>
          </a:p>
        </p:txBody>
      </p:sp>
      <p:sp>
        <p:nvSpPr>
          <p:cNvPr id="4" name="Slide Number Placeholder 3"/>
          <p:cNvSpPr>
            <a:spLocks noGrp="1"/>
          </p:cNvSpPr>
          <p:nvPr>
            <p:ph type="sldNum" sz="quarter" idx="12"/>
          </p:nvPr>
        </p:nvSpPr>
        <p:spPr/>
        <p:txBody>
          <a:bodyPr/>
          <a:lstStyle/>
          <a:p>
            <a:fld id="{1666FA4D-2C83-4AD9-8B7F-568D7F129F64}" type="slidenum">
              <a:rPr lang="en-IN" smtClean="0"/>
              <a:t>6</a:t>
            </a:fld>
            <a:endParaRPr lang="en-IN"/>
          </a:p>
        </p:txBody>
      </p:sp>
    </p:spTree>
    <p:extLst>
      <p:ext uri="{BB962C8B-B14F-4D97-AF65-F5344CB8AC3E}">
        <p14:creationId xmlns:p14="http://schemas.microsoft.com/office/powerpoint/2010/main" val="3654722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TRANSLATING R-TYPE ASSEMBLY INSTRUCTIONS INTO MACHINE CODE </a:t>
            </a:r>
            <a:endParaRPr lang="en-US" dirty="0" smtClean="0"/>
          </a:p>
          <a:p>
            <a:r>
              <a:rPr lang="en-US" dirty="0" smtClean="0"/>
              <a:t>Translate </a:t>
            </a:r>
            <a:r>
              <a:rPr lang="en-US" dirty="0"/>
              <a:t>the following RISC-V assembly instruction into machine language: </a:t>
            </a:r>
            <a:endParaRPr lang="en-US" dirty="0" smtClean="0"/>
          </a:p>
          <a:p>
            <a:pPr marL="0" indent="0">
              <a:buNone/>
            </a:pPr>
            <a:r>
              <a:rPr lang="en-US" b="1" i="1" dirty="0" smtClean="0"/>
              <a:t> add </a:t>
            </a:r>
            <a:r>
              <a:rPr lang="en-US" b="1" i="1" dirty="0"/>
              <a:t>t3, s4, s5</a:t>
            </a:r>
            <a:endParaRPr lang="en-IN" b="1" i="1"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7</a:t>
            </a:fld>
            <a:endParaRPr lang="en-IN"/>
          </a:p>
        </p:txBody>
      </p:sp>
    </p:spTree>
    <p:extLst>
      <p:ext uri="{BB962C8B-B14F-4D97-AF65-F5344CB8AC3E}">
        <p14:creationId xmlns:p14="http://schemas.microsoft.com/office/powerpoint/2010/main" val="2982916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Solution::::</a:t>
            </a:r>
            <a:endParaRPr lang="en-IN" u="sng" dirty="0"/>
          </a:p>
        </p:txBody>
      </p:sp>
      <p:sp>
        <p:nvSpPr>
          <p:cNvPr id="3" name="Content Placeholder 2"/>
          <p:cNvSpPr>
            <a:spLocks noGrp="1"/>
          </p:cNvSpPr>
          <p:nvPr>
            <p:ph idx="1"/>
          </p:nvPr>
        </p:nvSpPr>
        <p:spPr/>
        <p:txBody>
          <a:bodyPr/>
          <a:lstStyle/>
          <a:p>
            <a:pPr algn="just"/>
            <a:r>
              <a:rPr lang="en-US" dirty="0"/>
              <a:t>t3, s4, and s5 are registers 28, 20, and 21</a:t>
            </a:r>
            <a:r>
              <a:rPr lang="en-US" dirty="0" smtClean="0"/>
              <a:t>.</a:t>
            </a:r>
          </a:p>
          <a:p>
            <a:pPr algn="just"/>
            <a:r>
              <a:rPr lang="en-US" dirty="0"/>
              <a:t>add has an </a:t>
            </a:r>
            <a:r>
              <a:rPr lang="en-US" dirty="0" err="1"/>
              <a:t>opcode</a:t>
            </a:r>
            <a:r>
              <a:rPr lang="en-US" dirty="0"/>
              <a:t> of 51 (</a:t>
            </a:r>
            <a:r>
              <a:rPr lang="en-US" dirty="0" smtClean="0"/>
              <a:t>0110011) </a:t>
            </a:r>
            <a:r>
              <a:rPr lang="en-US" dirty="0"/>
              <a:t>and function codes of funct7 = 0 and funct3 = 0. </a:t>
            </a:r>
            <a:endParaRPr lang="en-US" dirty="0" smtClean="0"/>
          </a:p>
          <a:p>
            <a:pPr algn="just"/>
            <a:r>
              <a:rPr lang="en-US" dirty="0"/>
              <a:t>The easiest way to write the machine language in hexadecimal is to first write it in binary, then look at consecutive groups of four bits, which </a:t>
            </a:r>
            <a:r>
              <a:rPr lang="en-US" dirty="0" smtClean="0"/>
              <a:t>correspond </a:t>
            </a:r>
            <a:r>
              <a:rPr lang="en-US" dirty="0"/>
              <a:t>to hexadecimal digits (indicated by blue underbars). Hence, the machine language instruction is 0x015A0E33.</a:t>
            </a:r>
            <a:endParaRPr lang="en-IN" dirty="0"/>
          </a:p>
        </p:txBody>
      </p:sp>
      <p:pic>
        <p:nvPicPr>
          <p:cNvPr id="4" name="Picture 3"/>
          <p:cNvPicPr>
            <a:picLocks noChangeAspect="1"/>
          </p:cNvPicPr>
          <p:nvPr/>
        </p:nvPicPr>
        <p:blipFill>
          <a:blip r:embed="rId2"/>
          <a:stretch>
            <a:fillRect/>
          </a:stretch>
        </p:blipFill>
        <p:spPr>
          <a:xfrm>
            <a:off x="2297179" y="4856341"/>
            <a:ext cx="7810237" cy="1320622"/>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8</a:t>
            </a:fld>
            <a:endParaRPr lang="en-IN"/>
          </a:p>
        </p:txBody>
      </p:sp>
    </p:spTree>
    <p:extLst>
      <p:ext uri="{BB962C8B-B14F-4D97-AF65-F5344CB8AC3E}">
        <p14:creationId xmlns:p14="http://schemas.microsoft.com/office/powerpoint/2010/main" val="37817946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l-Type Instructions</a:t>
            </a:r>
          </a:p>
        </p:txBody>
      </p:sp>
      <p:sp>
        <p:nvSpPr>
          <p:cNvPr id="3" name="Content Placeholder 2"/>
          <p:cNvSpPr>
            <a:spLocks noGrp="1"/>
          </p:cNvSpPr>
          <p:nvPr>
            <p:ph idx="1"/>
          </p:nvPr>
        </p:nvSpPr>
        <p:spPr>
          <a:xfrm>
            <a:off x="838200" y="1311215"/>
            <a:ext cx="11135264" cy="4865748"/>
          </a:xfrm>
        </p:spPr>
        <p:txBody>
          <a:bodyPr/>
          <a:lstStyle/>
          <a:p>
            <a:r>
              <a:rPr lang="en-IN" dirty="0" smtClean="0"/>
              <a:t>I-type </a:t>
            </a:r>
            <a:r>
              <a:rPr lang="en-IN" dirty="0"/>
              <a:t>(immediate) instructions use two register operands and one </a:t>
            </a:r>
            <a:r>
              <a:rPr lang="en-IN" dirty="0" smtClean="0"/>
              <a:t>immediate operand</a:t>
            </a:r>
            <a:r>
              <a:rPr lang="en-IN" dirty="0"/>
              <a:t>. </a:t>
            </a:r>
            <a:endParaRPr lang="en-IN" dirty="0" smtClean="0"/>
          </a:p>
          <a:p>
            <a:r>
              <a:rPr lang="en-IN" dirty="0" smtClean="0"/>
              <a:t>I-type </a:t>
            </a:r>
            <a:r>
              <a:rPr lang="en-IN" dirty="0"/>
              <a:t>instructions include </a:t>
            </a:r>
            <a:r>
              <a:rPr lang="en-IN" b="1" dirty="0" err="1"/>
              <a:t>addi</a:t>
            </a:r>
            <a:r>
              <a:rPr lang="en-IN" dirty="0"/>
              <a:t>, </a:t>
            </a:r>
            <a:r>
              <a:rPr lang="en-IN" b="1" dirty="0" err="1"/>
              <a:t>andi</a:t>
            </a:r>
            <a:r>
              <a:rPr lang="en-IN" dirty="0"/>
              <a:t>, </a:t>
            </a:r>
            <a:r>
              <a:rPr lang="en-IN" b="1" dirty="0" err="1"/>
              <a:t>ori</a:t>
            </a:r>
            <a:r>
              <a:rPr lang="en-IN" dirty="0"/>
              <a:t>, and </a:t>
            </a:r>
            <a:r>
              <a:rPr lang="en-IN" b="1" dirty="0" err="1"/>
              <a:t>xori</a:t>
            </a:r>
            <a:r>
              <a:rPr lang="en-IN" dirty="0"/>
              <a:t>, </a:t>
            </a:r>
            <a:r>
              <a:rPr lang="en-IN" b="1" dirty="0"/>
              <a:t>loads</a:t>
            </a:r>
            <a:r>
              <a:rPr lang="en-IN" dirty="0"/>
              <a:t> (</a:t>
            </a:r>
            <a:r>
              <a:rPr lang="en-IN" b="1" dirty="0" err="1"/>
              <a:t>lw</a:t>
            </a:r>
            <a:r>
              <a:rPr lang="en-IN" dirty="0"/>
              <a:t>, </a:t>
            </a:r>
            <a:r>
              <a:rPr lang="en-IN" b="1" dirty="0" err="1"/>
              <a:t>lh</a:t>
            </a:r>
            <a:r>
              <a:rPr lang="en-IN" dirty="0"/>
              <a:t>, </a:t>
            </a:r>
            <a:r>
              <a:rPr lang="en-IN" b="1" dirty="0" err="1"/>
              <a:t>lb</a:t>
            </a:r>
            <a:r>
              <a:rPr lang="en-IN" dirty="0"/>
              <a:t>, </a:t>
            </a:r>
            <a:r>
              <a:rPr lang="en-IN" b="1" dirty="0" err="1"/>
              <a:t>lhu</a:t>
            </a:r>
            <a:r>
              <a:rPr lang="en-IN" dirty="0"/>
              <a:t>, and </a:t>
            </a:r>
            <a:r>
              <a:rPr lang="en-IN" b="1" dirty="0" err="1"/>
              <a:t>lbu</a:t>
            </a:r>
            <a:r>
              <a:rPr lang="en-IN" dirty="0"/>
              <a:t>), and </a:t>
            </a:r>
            <a:r>
              <a:rPr lang="en-IN" b="1" dirty="0"/>
              <a:t>register</a:t>
            </a:r>
            <a:r>
              <a:rPr lang="en-IN" dirty="0"/>
              <a:t> </a:t>
            </a:r>
            <a:r>
              <a:rPr lang="en-IN" b="1" dirty="0"/>
              <a:t>jumps</a:t>
            </a:r>
            <a:r>
              <a:rPr lang="en-IN" dirty="0"/>
              <a:t> (</a:t>
            </a:r>
            <a:r>
              <a:rPr lang="en-IN" b="1" dirty="0" err="1"/>
              <a:t>jalr</a:t>
            </a:r>
            <a:r>
              <a:rPr lang="en-IN" dirty="0" smtClean="0"/>
              <a:t>).</a:t>
            </a:r>
          </a:p>
          <a:p>
            <a:r>
              <a:rPr lang="en-US" dirty="0" smtClean="0"/>
              <a:t> </a:t>
            </a:r>
            <a:r>
              <a:rPr lang="en-US" dirty="0"/>
              <a:t>It is similar to R-type but includes a </a:t>
            </a:r>
            <a:r>
              <a:rPr lang="en-US" b="1" dirty="0"/>
              <a:t>12-bit immediate field </a:t>
            </a:r>
            <a:r>
              <a:rPr lang="en-US" b="1" dirty="0" err="1"/>
              <a:t>imm</a:t>
            </a:r>
            <a:r>
              <a:rPr lang="en-US" b="1" dirty="0"/>
              <a:t> </a:t>
            </a:r>
            <a:r>
              <a:rPr lang="en-US" dirty="0"/>
              <a:t>instead of the funct7 and rs2 fields. </a:t>
            </a:r>
            <a:r>
              <a:rPr lang="en-US" b="1" dirty="0"/>
              <a:t>rs1 and </a:t>
            </a:r>
            <a:r>
              <a:rPr lang="en-US" b="1" dirty="0" err="1"/>
              <a:t>imm</a:t>
            </a:r>
            <a:r>
              <a:rPr lang="en-US" b="1" dirty="0"/>
              <a:t> are the source operands, and </a:t>
            </a:r>
            <a:r>
              <a:rPr lang="en-US" b="1" dirty="0" err="1"/>
              <a:t>rd</a:t>
            </a:r>
            <a:r>
              <a:rPr lang="en-US" b="1" dirty="0"/>
              <a:t> is the destination register</a:t>
            </a:r>
            <a:endParaRPr lang="en-IN" b="1" dirty="0"/>
          </a:p>
        </p:txBody>
      </p:sp>
      <p:pic>
        <p:nvPicPr>
          <p:cNvPr id="4" name="Picture 3"/>
          <p:cNvPicPr>
            <a:picLocks noChangeAspect="1"/>
          </p:cNvPicPr>
          <p:nvPr/>
        </p:nvPicPr>
        <p:blipFill>
          <a:blip r:embed="rId2"/>
          <a:stretch>
            <a:fillRect/>
          </a:stretch>
        </p:blipFill>
        <p:spPr>
          <a:xfrm>
            <a:off x="1403880" y="4364966"/>
            <a:ext cx="7671107" cy="1699267"/>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9</a:t>
            </a:fld>
            <a:endParaRPr lang="en-IN"/>
          </a:p>
        </p:txBody>
      </p:sp>
    </p:spTree>
    <p:extLst>
      <p:ext uri="{BB962C8B-B14F-4D97-AF65-F5344CB8AC3E}">
        <p14:creationId xmlns:p14="http://schemas.microsoft.com/office/powerpoint/2010/main" val="2324116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511072" y="1979673"/>
            <a:ext cx="10092360" cy="3360077"/>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10</a:t>
            </a:fld>
            <a:endParaRPr lang="en-IN"/>
          </a:p>
        </p:txBody>
      </p:sp>
    </p:spTree>
    <p:extLst>
      <p:ext uri="{BB962C8B-B14F-4D97-AF65-F5344CB8AC3E}">
        <p14:creationId xmlns:p14="http://schemas.microsoft.com/office/powerpoint/2010/main" val="39292811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TRANSLATING I-TYPE ASSEMBLY INSTRUCTIONS INTO MACHINE CODE </a:t>
            </a:r>
            <a:br>
              <a:rPr lang="en-US" dirty="0"/>
            </a:br>
            <a:endParaRPr lang="en-IN" dirty="0"/>
          </a:p>
        </p:txBody>
      </p:sp>
      <p:sp>
        <p:nvSpPr>
          <p:cNvPr id="3" name="Content Placeholder 2"/>
          <p:cNvSpPr>
            <a:spLocks noGrp="1"/>
          </p:cNvSpPr>
          <p:nvPr>
            <p:ph idx="1"/>
          </p:nvPr>
        </p:nvSpPr>
        <p:spPr/>
        <p:txBody>
          <a:bodyPr/>
          <a:lstStyle/>
          <a:p>
            <a:r>
              <a:rPr lang="en-US" dirty="0" smtClean="0"/>
              <a:t>Translate </a:t>
            </a:r>
            <a:r>
              <a:rPr lang="en-US" dirty="0"/>
              <a:t>the following assembly instruction into machine language. </a:t>
            </a:r>
            <a:r>
              <a:rPr lang="en-US" dirty="0" err="1"/>
              <a:t>lw</a:t>
            </a:r>
            <a:r>
              <a:rPr lang="en-US" dirty="0"/>
              <a:t> t3, −</a:t>
            </a:r>
            <a:r>
              <a:rPr lang="en-US" dirty="0" smtClean="0"/>
              <a:t>36(s4)</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11</a:t>
            </a:fld>
            <a:endParaRPr lang="en-IN"/>
          </a:p>
        </p:txBody>
      </p:sp>
    </p:spTree>
    <p:extLst>
      <p:ext uri="{BB962C8B-B14F-4D97-AF65-F5344CB8AC3E}">
        <p14:creationId xmlns:p14="http://schemas.microsoft.com/office/powerpoint/2010/main" val="11556182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IN" dirty="0"/>
          </a:p>
        </p:txBody>
      </p:sp>
      <p:sp>
        <p:nvSpPr>
          <p:cNvPr id="3" name="Content Placeholder 2"/>
          <p:cNvSpPr>
            <a:spLocks noGrp="1"/>
          </p:cNvSpPr>
          <p:nvPr>
            <p:ph idx="1"/>
          </p:nvPr>
        </p:nvSpPr>
        <p:spPr/>
        <p:txBody>
          <a:bodyPr/>
          <a:lstStyle/>
          <a:p>
            <a:r>
              <a:rPr lang="en-US" dirty="0"/>
              <a:t>t3, and s4 are registers 28 and 20. rs1 (s4 = x20) specifies the base address, and </a:t>
            </a:r>
            <a:r>
              <a:rPr lang="en-US" dirty="0" err="1"/>
              <a:t>rd</a:t>
            </a:r>
            <a:r>
              <a:rPr lang="en-US" dirty="0"/>
              <a:t> (t3 = x28) specifies the destination. </a:t>
            </a:r>
            <a:endParaRPr lang="en-US" dirty="0" smtClean="0"/>
          </a:p>
          <a:p>
            <a:r>
              <a:rPr lang="en-US" dirty="0" smtClean="0"/>
              <a:t>The </a:t>
            </a:r>
            <a:r>
              <a:rPr lang="en-US" dirty="0"/>
              <a:t>immediate, </a:t>
            </a:r>
            <a:r>
              <a:rPr lang="en-US" dirty="0" err="1"/>
              <a:t>imm</a:t>
            </a:r>
            <a:r>
              <a:rPr lang="en-US" dirty="0"/>
              <a:t>, encodes the 12-bit offset (−36</a:t>
            </a:r>
            <a:r>
              <a:rPr lang="en-US" dirty="0" smtClean="0"/>
              <a:t>)</a:t>
            </a:r>
          </a:p>
          <a:p>
            <a:r>
              <a:rPr lang="en-US" dirty="0" err="1"/>
              <a:t>lw</a:t>
            </a:r>
            <a:r>
              <a:rPr lang="en-US" dirty="0"/>
              <a:t> has an op of 3 (</a:t>
            </a:r>
            <a:r>
              <a:rPr lang="en-US" dirty="0" smtClean="0"/>
              <a:t>0000011) </a:t>
            </a:r>
            <a:r>
              <a:rPr lang="en-US" dirty="0"/>
              <a:t>and funct3 of 2 (</a:t>
            </a:r>
            <a:r>
              <a:rPr lang="en-US" dirty="0" smtClean="0"/>
              <a:t>010). </a:t>
            </a:r>
            <a:endParaRPr lang="en-IN" dirty="0"/>
          </a:p>
        </p:txBody>
      </p:sp>
      <p:pic>
        <p:nvPicPr>
          <p:cNvPr id="4" name="Picture 3"/>
          <p:cNvPicPr>
            <a:picLocks noChangeAspect="1"/>
          </p:cNvPicPr>
          <p:nvPr/>
        </p:nvPicPr>
        <p:blipFill>
          <a:blip r:embed="rId2"/>
          <a:stretch>
            <a:fillRect/>
          </a:stretch>
        </p:blipFill>
        <p:spPr>
          <a:xfrm>
            <a:off x="1870520" y="4093832"/>
            <a:ext cx="8897124" cy="1651360"/>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12</a:t>
            </a:fld>
            <a:endParaRPr lang="en-IN"/>
          </a:p>
        </p:txBody>
      </p:sp>
    </p:spTree>
    <p:extLst>
      <p:ext uri="{BB962C8B-B14F-4D97-AF65-F5344CB8AC3E}">
        <p14:creationId xmlns:p14="http://schemas.microsoft.com/office/powerpoint/2010/main" val="41519936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S/B-Type Instructions</a:t>
            </a:r>
            <a:endParaRPr lang="en-IN" dirty="0"/>
          </a:p>
        </p:txBody>
      </p:sp>
      <p:sp>
        <p:nvSpPr>
          <p:cNvPr id="3" name="Content Placeholder 2"/>
          <p:cNvSpPr>
            <a:spLocks noGrp="1"/>
          </p:cNvSpPr>
          <p:nvPr>
            <p:ph idx="1"/>
          </p:nvPr>
        </p:nvSpPr>
        <p:spPr>
          <a:xfrm>
            <a:off x="240500" y="1483743"/>
            <a:ext cx="10807460" cy="4719099"/>
          </a:xfrm>
        </p:spPr>
        <p:txBody>
          <a:bodyPr/>
          <a:lstStyle/>
          <a:p>
            <a:pPr lvl="1" algn="just"/>
            <a:r>
              <a:rPr lang="en-US" dirty="0" smtClean="0"/>
              <a:t>S/B-type </a:t>
            </a:r>
            <a:r>
              <a:rPr lang="en-US" dirty="0"/>
              <a:t>(store/branch) instructions use two register operands and one immediate operand. </a:t>
            </a:r>
            <a:endParaRPr lang="en-US" dirty="0" smtClean="0"/>
          </a:p>
          <a:p>
            <a:pPr lvl="1" algn="just"/>
            <a:r>
              <a:rPr lang="en-US" dirty="0" smtClean="0"/>
              <a:t>However</a:t>
            </a:r>
            <a:r>
              <a:rPr lang="en-US" dirty="0"/>
              <a:t>, both of the register operands are source registers (rs1 and rs2) in S/B-type, whereas I-type instructions use one source register (rs1) and one destination register (</a:t>
            </a:r>
            <a:r>
              <a:rPr lang="en-US" dirty="0" err="1"/>
              <a:t>rd</a:t>
            </a:r>
            <a:r>
              <a:rPr lang="en-US" dirty="0"/>
              <a:t>). </a:t>
            </a:r>
            <a:endParaRPr lang="en-US" dirty="0" smtClean="0"/>
          </a:p>
          <a:p>
            <a:pPr lvl="1" algn="just"/>
            <a:endParaRPr lang="en-IN" dirty="0"/>
          </a:p>
        </p:txBody>
      </p:sp>
      <p:pic>
        <p:nvPicPr>
          <p:cNvPr id="4" name="Picture 3"/>
          <p:cNvPicPr>
            <a:picLocks noChangeAspect="1"/>
          </p:cNvPicPr>
          <p:nvPr/>
        </p:nvPicPr>
        <p:blipFill>
          <a:blip r:embed="rId2"/>
          <a:stretch>
            <a:fillRect/>
          </a:stretch>
        </p:blipFill>
        <p:spPr>
          <a:xfrm>
            <a:off x="1306260" y="3770051"/>
            <a:ext cx="8675940" cy="1837118"/>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13</a:t>
            </a:fld>
            <a:endParaRPr lang="en-IN"/>
          </a:p>
        </p:txBody>
      </p:sp>
    </p:spTree>
    <p:extLst>
      <p:ext uri="{BB962C8B-B14F-4D97-AF65-F5344CB8AC3E}">
        <p14:creationId xmlns:p14="http://schemas.microsoft.com/office/powerpoint/2010/main" val="38717002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3"/>
          <a:stretch>
            <a:fillRect/>
          </a:stretch>
        </p:blipFill>
        <p:spPr>
          <a:xfrm>
            <a:off x="1639020" y="915273"/>
            <a:ext cx="7566210" cy="5238858"/>
          </a:xfrm>
          <a:prstGeom prst="rect">
            <a:avLst/>
          </a:prstGeom>
        </p:spPr>
      </p:pic>
      <p:sp>
        <p:nvSpPr>
          <p:cNvPr id="3" name="Footer Placeholder 2"/>
          <p:cNvSpPr>
            <a:spLocks noGrp="1"/>
          </p:cNvSpPr>
          <p:nvPr>
            <p:ph type="ftr" sz="quarter" idx="11"/>
          </p:nvPr>
        </p:nvSpPr>
        <p:spPr/>
        <p:txBody>
          <a:bodyPr/>
          <a:lstStyle/>
          <a:p>
            <a:r>
              <a:rPr lang="en-IN" dirty="0" err="1" smtClean="0"/>
              <a:t>Reshma</a:t>
            </a:r>
            <a:r>
              <a:rPr lang="en-IN" dirty="0" smtClean="0"/>
              <a:t> S</a:t>
            </a:r>
            <a:endParaRPr lang="en-IN" dirty="0"/>
          </a:p>
        </p:txBody>
      </p:sp>
      <p:sp>
        <p:nvSpPr>
          <p:cNvPr id="5" name="Slide Number Placeholder 4"/>
          <p:cNvSpPr>
            <a:spLocks noGrp="1"/>
          </p:cNvSpPr>
          <p:nvPr>
            <p:ph type="sldNum" sz="quarter" idx="12"/>
          </p:nvPr>
        </p:nvSpPr>
        <p:spPr/>
        <p:txBody>
          <a:bodyPr/>
          <a:lstStyle/>
          <a:p>
            <a:fld id="{1666FA4D-2C83-4AD9-8B7F-568D7F129F64}" type="slidenum">
              <a:rPr lang="en-IN" smtClean="0"/>
              <a:t>14</a:t>
            </a:fld>
            <a:endParaRPr lang="en-IN"/>
          </a:p>
        </p:txBody>
      </p:sp>
    </p:spTree>
    <p:extLst>
      <p:ext uri="{BB962C8B-B14F-4D97-AF65-F5344CB8AC3E}">
        <p14:creationId xmlns:p14="http://schemas.microsoft.com/office/powerpoint/2010/main" val="3624397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19637" y="1975449"/>
            <a:ext cx="5729077" cy="2657819"/>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15</a:t>
            </a:fld>
            <a:endParaRPr lang="en-IN"/>
          </a:p>
        </p:txBody>
      </p:sp>
    </p:spTree>
    <p:extLst>
      <p:ext uri="{BB962C8B-B14F-4D97-AF65-F5344CB8AC3E}">
        <p14:creationId xmlns:p14="http://schemas.microsoft.com/office/powerpoint/2010/main" val="33904074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310" y="-252413"/>
            <a:ext cx="10515600" cy="1325563"/>
          </a:xfrm>
        </p:spPr>
        <p:txBody>
          <a:bodyPr/>
          <a:lstStyle/>
          <a:p>
            <a:r>
              <a:rPr lang="en-US" dirty="0" smtClean="0"/>
              <a:t>Solution:::</a:t>
            </a:r>
            <a:endParaRPr lang="en-IN" dirty="0"/>
          </a:p>
        </p:txBody>
      </p:sp>
      <p:sp>
        <p:nvSpPr>
          <p:cNvPr id="3" name="Content Placeholder 2"/>
          <p:cNvSpPr>
            <a:spLocks noGrp="1"/>
          </p:cNvSpPr>
          <p:nvPr>
            <p:ph idx="1"/>
          </p:nvPr>
        </p:nvSpPr>
        <p:spPr>
          <a:xfrm>
            <a:off x="591103" y="678312"/>
            <a:ext cx="10515600" cy="4351338"/>
          </a:xfrm>
        </p:spPr>
        <p:txBody>
          <a:bodyPr/>
          <a:lstStyle/>
          <a:p>
            <a:r>
              <a:rPr lang="en-US" dirty="0" smtClean="0"/>
              <a:t>s8 </a:t>
            </a:r>
            <a:r>
              <a:rPr lang="en-US" dirty="0"/>
              <a:t>and s9 are registers 24 and 25. </a:t>
            </a:r>
            <a:endParaRPr lang="en-US" dirty="0" smtClean="0"/>
          </a:p>
          <a:p>
            <a:r>
              <a:rPr lang="en-US" dirty="0" smtClean="0"/>
              <a:t>So</a:t>
            </a:r>
            <a:r>
              <a:rPr lang="en-US" dirty="0"/>
              <a:t>, rs1 is 24 and rs2 is 25. The label L1 is 0xEB0 − 0x354 = 0xB5C (2908) bytes before the </a:t>
            </a:r>
            <a:r>
              <a:rPr lang="en-US" dirty="0" err="1"/>
              <a:t>bne</a:t>
            </a:r>
            <a:r>
              <a:rPr lang="en-US" dirty="0"/>
              <a:t> instruction. </a:t>
            </a:r>
            <a:endParaRPr lang="en-US" dirty="0" smtClean="0"/>
          </a:p>
          <a:p>
            <a:r>
              <a:rPr lang="en-US" dirty="0" smtClean="0"/>
              <a:t>So</a:t>
            </a:r>
            <a:r>
              <a:rPr lang="en-US" dirty="0"/>
              <a:t>, the 13-bit immediate is −2908 (</a:t>
            </a:r>
            <a:r>
              <a:rPr lang="en-US" dirty="0" smtClean="0"/>
              <a:t>1010010100100).</a:t>
            </a:r>
          </a:p>
          <a:p>
            <a:r>
              <a:rPr lang="nl-NL" dirty="0" smtClean="0"/>
              <a:t>op </a:t>
            </a:r>
            <a:r>
              <a:rPr lang="nl-NL" dirty="0"/>
              <a:t>is 99 (</a:t>
            </a:r>
            <a:r>
              <a:rPr lang="nl-NL" dirty="0" smtClean="0"/>
              <a:t>1100011) </a:t>
            </a:r>
            <a:r>
              <a:rPr lang="nl-NL" dirty="0"/>
              <a:t>and funct3 is 1 (</a:t>
            </a:r>
            <a:r>
              <a:rPr lang="nl-NL" dirty="0" smtClean="0"/>
              <a:t>001)</a:t>
            </a:r>
            <a:endParaRPr lang="en-IN" dirty="0"/>
          </a:p>
        </p:txBody>
      </p:sp>
      <p:pic>
        <p:nvPicPr>
          <p:cNvPr id="4" name="Picture 3"/>
          <p:cNvPicPr>
            <a:picLocks noChangeAspect="1"/>
          </p:cNvPicPr>
          <p:nvPr/>
        </p:nvPicPr>
        <p:blipFill>
          <a:blip r:embed="rId2"/>
          <a:stretch>
            <a:fillRect/>
          </a:stretch>
        </p:blipFill>
        <p:spPr>
          <a:xfrm>
            <a:off x="438896" y="3269411"/>
            <a:ext cx="10220966" cy="2562045"/>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16</a:t>
            </a:fld>
            <a:endParaRPr lang="en-IN"/>
          </a:p>
        </p:txBody>
      </p:sp>
    </p:spTree>
    <p:extLst>
      <p:ext uri="{BB962C8B-B14F-4D97-AF65-F5344CB8AC3E}">
        <p14:creationId xmlns:p14="http://schemas.microsoft.com/office/powerpoint/2010/main" val="11459321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U/J-type </a:t>
            </a:r>
            <a:r>
              <a:rPr lang="en-US" dirty="0"/>
              <a:t>instructions </a:t>
            </a:r>
            <a:endParaRPr lang="en-IN" dirty="0"/>
          </a:p>
        </p:txBody>
      </p:sp>
      <p:sp>
        <p:nvSpPr>
          <p:cNvPr id="3" name="Content Placeholder 2"/>
          <p:cNvSpPr>
            <a:spLocks noGrp="1"/>
          </p:cNvSpPr>
          <p:nvPr>
            <p:ph idx="1"/>
          </p:nvPr>
        </p:nvSpPr>
        <p:spPr>
          <a:xfrm>
            <a:off x="207034" y="1777042"/>
            <a:ext cx="11146766" cy="4399921"/>
          </a:xfrm>
        </p:spPr>
        <p:txBody>
          <a:bodyPr/>
          <a:lstStyle/>
          <a:p>
            <a:pPr algn="just"/>
            <a:r>
              <a:rPr lang="en-US" dirty="0" smtClean="0"/>
              <a:t>U/J-type </a:t>
            </a:r>
            <a:r>
              <a:rPr lang="en-US" dirty="0"/>
              <a:t>(</a:t>
            </a:r>
            <a:r>
              <a:rPr lang="en-US" b="1" dirty="0"/>
              <a:t>upper immediate/jump</a:t>
            </a:r>
            <a:r>
              <a:rPr lang="en-US" dirty="0"/>
              <a:t>) instructions have one destination </a:t>
            </a:r>
            <a:r>
              <a:rPr lang="en-US" dirty="0" smtClean="0"/>
              <a:t>register </a:t>
            </a:r>
            <a:r>
              <a:rPr lang="en-US" dirty="0"/>
              <a:t>operand </a:t>
            </a:r>
            <a:r>
              <a:rPr lang="en-US" dirty="0" err="1"/>
              <a:t>rd</a:t>
            </a:r>
            <a:r>
              <a:rPr lang="en-US" dirty="0"/>
              <a:t> </a:t>
            </a:r>
            <a:r>
              <a:rPr lang="en-US" dirty="0" smtClean="0"/>
              <a:t>and </a:t>
            </a:r>
            <a:r>
              <a:rPr lang="en-US" dirty="0"/>
              <a:t>a 20-bit immediate </a:t>
            </a:r>
            <a:r>
              <a:rPr lang="en-US" dirty="0" smtClean="0"/>
              <a:t>field</a:t>
            </a:r>
          </a:p>
          <a:p>
            <a:pPr algn="just"/>
            <a:r>
              <a:rPr lang="en-US" dirty="0"/>
              <a:t>Like other formats, U/J-type instructions have a 7-bit </a:t>
            </a:r>
            <a:r>
              <a:rPr lang="en-US" dirty="0" err="1"/>
              <a:t>opcode</a:t>
            </a:r>
            <a:r>
              <a:rPr lang="en-US" dirty="0"/>
              <a:t>. </a:t>
            </a:r>
            <a:endParaRPr lang="en-US" dirty="0" smtClean="0"/>
          </a:p>
          <a:p>
            <a:pPr algn="just"/>
            <a:r>
              <a:rPr lang="en-US" dirty="0" smtClean="0"/>
              <a:t>In </a:t>
            </a:r>
            <a:r>
              <a:rPr lang="en-US" dirty="0"/>
              <a:t>U-type instructions, the remaining bits specify the most significant 20 bits of a 32-bit immediate. </a:t>
            </a:r>
            <a:endParaRPr lang="en-US" dirty="0" smtClean="0"/>
          </a:p>
          <a:p>
            <a:pPr algn="just"/>
            <a:r>
              <a:rPr lang="en-US" dirty="0" smtClean="0"/>
              <a:t>In </a:t>
            </a:r>
            <a:r>
              <a:rPr lang="en-US" dirty="0"/>
              <a:t>J-type instructions, the remaining 20 bits specify the most significant 20 bits of a 21-bit immediate jump offset. </a:t>
            </a:r>
            <a:endParaRPr lang="en-US" dirty="0" smtClean="0"/>
          </a:p>
          <a:p>
            <a:pPr algn="just"/>
            <a:r>
              <a:rPr lang="en-US" dirty="0" smtClean="0"/>
              <a:t>As </a:t>
            </a:r>
            <a:r>
              <a:rPr lang="en-US" dirty="0"/>
              <a:t>with B-type instructions, the least significant bit of the immediate is always 0 and is not encoded in the J-type instruction.</a:t>
            </a:r>
            <a:endParaRPr lang="en-IN" dirty="0"/>
          </a:p>
        </p:txBody>
      </p:sp>
      <p:sp>
        <p:nvSpPr>
          <p:cNvPr id="4" name="Footer Placeholder 3"/>
          <p:cNvSpPr>
            <a:spLocks noGrp="1"/>
          </p:cNvSpPr>
          <p:nvPr>
            <p:ph type="ftr" sz="quarter" idx="11"/>
          </p:nvPr>
        </p:nvSpPr>
        <p:spPr/>
        <p:txBody>
          <a:bodyPr/>
          <a:lstStyle/>
          <a:p>
            <a:r>
              <a:rPr lang="en-IN" dirty="0" err="1" smtClean="0"/>
              <a:t>Reshma</a:t>
            </a:r>
            <a:r>
              <a:rPr lang="en-IN" dirty="0" smtClean="0"/>
              <a:t> S</a:t>
            </a:r>
            <a:endParaRPr lang="en-IN" dirty="0"/>
          </a:p>
        </p:txBody>
      </p:sp>
      <p:sp>
        <p:nvSpPr>
          <p:cNvPr id="5" name="Slide Number Placeholder 4"/>
          <p:cNvSpPr>
            <a:spLocks noGrp="1"/>
          </p:cNvSpPr>
          <p:nvPr>
            <p:ph type="sldNum" sz="quarter" idx="12"/>
          </p:nvPr>
        </p:nvSpPr>
        <p:spPr/>
        <p:txBody>
          <a:bodyPr/>
          <a:lstStyle/>
          <a:p>
            <a:fld id="{1666FA4D-2C83-4AD9-8B7F-568D7F129F64}" type="slidenum">
              <a:rPr lang="en-IN" smtClean="0"/>
              <a:t>17</a:t>
            </a:fld>
            <a:endParaRPr lang="en-IN"/>
          </a:p>
        </p:txBody>
      </p:sp>
    </p:spTree>
    <p:extLst>
      <p:ext uri="{BB962C8B-B14F-4D97-AF65-F5344CB8AC3E}">
        <p14:creationId xmlns:p14="http://schemas.microsoft.com/office/powerpoint/2010/main" val="7144799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651179" y="1906439"/>
            <a:ext cx="10260511" cy="3588588"/>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18</a:t>
            </a:fld>
            <a:endParaRPr lang="en-IN"/>
          </a:p>
        </p:txBody>
      </p:sp>
    </p:spTree>
    <p:extLst>
      <p:ext uri="{BB962C8B-B14F-4D97-AF65-F5344CB8AC3E}">
        <p14:creationId xmlns:p14="http://schemas.microsoft.com/office/powerpoint/2010/main" val="35349227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46268" y="2066266"/>
            <a:ext cx="6962562" cy="3376888"/>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19</a:t>
            </a:fld>
            <a:endParaRPr lang="en-IN"/>
          </a:p>
        </p:txBody>
      </p:sp>
    </p:spTree>
    <p:extLst>
      <p:ext uri="{BB962C8B-B14F-4D97-AF65-F5344CB8AC3E}">
        <p14:creationId xmlns:p14="http://schemas.microsoft.com/office/powerpoint/2010/main" val="39382794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Immediate Encodings</a:t>
            </a:r>
            <a:endParaRPr lang="en-IN" dirty="0"/>
          </a:p>
        </p:txBody>
      </p:sp>
      <p:sp>
        <p:nvSpPr>
          <p:cNvPr id="3" name="Content Placeholder 2"/>
          <p:cNvSpPr>
            <a:spLocks noGrp="1"/>
          </p:cNvSpPr>
          <p:nvPr>
            <p:ph idx="1"/>
          </p:nvPr>
        </p:nvSpPr>
        <p:spPr/>
        <p:txBody>
          <a:bodyPr/>
          <a:lstStyle/>
          <a:p>
            <a:r>
              <a:rPr lang="en-US" dirty="0" smtClean="0"/>
              <a:t>RISC-V </a:t>
            </a:r>
            <a:r>
              <a:rPr lang="en-US" dirty="0"/>
              <a:t>uses 32-bit signed </a:t>
            </a:r>
            <a:r>
              <a:rPr lang="en-US" dirty="0" err="1"/>
              <a:t>immediates</a:t>
            </a:r>
            <a:r>
              <a:rPr lang="en-US" dirty="0" smtClean="0"/>
              <a:t>.</a:t>
            </a:r>
          </a:p>
          <a:p>
            <a:r>
              <a:rPr lang="en-US" dirty="0" smtClean="0"/>
              <a:t> </a:t>
            </a:r>
            <a:r>
              <a:rPr lang="en-US" dirty="0"/>
              <a:t>Only 12 to 21 bits of the </a:t>
            </a:r>
            <a:r>
              <a:rPr lang="en-US" dirty="0" smtClean="0"/>
              <a:t>immediate </a:t>
            </a:r>
            <a:r>
              <a:rPr lang="en-US" dirty="0"/>
              <a:t>are encoded in the instruction</a:t>
            </a:r>
            <a:r>
              <a:rPr lang="en-US" dirty="0" smtClean="0"/>
              <a:t>.</a:t>
            </a:r>
          </a:p>
          <a:p>
            <a:r>
              <a:rPr lang="en-US" dirty="0"/>
              <a:t>I- and S-type instructions encode 12-bit signed </a:t>
            </a:r>
            <a:r>
              <a:rPr lang="en-US" dirty="0" err="1"/>
              <a:t>immediates</a:t>
            </a:r>
            <a:r>
              <a:rPr lang="en-US" dirty="0"/>
              <a:t>. </a:t>
            </a:r>
            <a:endParaRPr lang="en-US" dirty="0" smtClean="0"/>
          </a:p>
          <a:p>
            <a:r>
              <a:rPr lang="en-US" dirty="0" smtClean="0"/>
              <a:t>J- </a:t>
            </a:r>
            <a:r>
              <a:rPr lang="en-US" dirty="0"/>
              <a:t>and B-type instructions use 21- and 13-bit signed </a:t>
            </a:r>
            <a:r>
              <a:rPr lang="en-US" dirty="0" err="1"/>
              <a:t>immediates</a:t>
            </a:r>
            <a:r>
              <a:rPr lang="en-US" dirty="0"/>
              <a:t>, where the least significant bit is always 0</a:t>
            </a:r>
            <a:endParaRPr lang="en-IN" dirty="0"/>
          </a:p>
        </p:txBody>
      </p:sp>
      <p:pic>
        <p:nvPicPr>
          <p:cNvPr id="4" name="Picture 3"/>
          <p:cNvPicPr>
            <a:picLocks noChangeAspect="1"/>
          </p:cNvPicPr>
          <p:nvPr/>
        </p:nvPicPr>
        <p:blipFill>
          <a:blip r:embed="rId2"/>
          <a:stretch>
            <a:fillRect/>
          </a:stretch>
        </p:blipFill>
        <p:spPr>
          <a:xfrm>
            <a:off x="1079057" y="4528751"/>
            <a:ext cx="8445222" cy="1518366"/>
          </a:xfrm>
          <a:prstGeom prst="rect">
            <a:avLst/>
          </a:prstGeom>
        </p:spPr>
      </p:pic>
      <p:sp>
        <p:nvSpPr>
          <p:cNvPr id="5" name="Footer Placeholder 4"/>
          <p:cNvSpPr>
            <a:spLocks noGrp="1"/>
          </p:cNvSpPr>
          <p:nvPr>
            <p:ph type="ftr" sz="quarter" idx="11"/>
          </p:nvPr>
        </p:nvSpPr>
        <p:spPr/>
        <p:txBody>
          <a:bodyPr/>
          <a:lstStyle/>
          <a:p>
            <a:r>
              <a:rPr lang="en-IN" smtClean="0"/>
              <a:t>Reshma S</a:t>
            </a:r>
            <a:endParaRPr lang="en-IN"/>
          </a:p>
        </p:txBody>
      </p:sp>
      <p:sp>
        <p:nvSpPr>
          <p:cNvPr id="6" name="Slide Number Placeholder 5"/>
          <p:cNvSpPr>
            <a:spLocks noGrp="1"/>
          </p:cNvSpPr>
          <p:nvPr>
            <p:ph type="sldNum" sz="quarter" idx="12"/>
          </p:nvPr>
        </p:nvSpPr>
        <p:spPr/>
        <p:txBody>
          <a:bodyPr/>
          <a:lstStyle/>
          <a:p>
            <a:fld id="{1666FA4D-2C83-4AD9-8B7F-568D7F129F64}" type="slidenum">
              <a:rPr lang="en-IN" smtClean="0"/>
              <a:t>20</a:t>
            </a:fld>
            <a:endParaRPr lang="en-IN"/>
          </a:p>
        </p:txBody>
      </p:sp>
    </p:spTree>
    <p:extLst>
      <p:ext uri="{BB962C8B-B14F-4D97-AF65-F5344CB8AC3E}">
        <p14:creationId xmlns:p14="http://schemas.microsoft.com/office/powerpoint/2010/main" val="13603748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48086" y="2249994"/>
            <a:ext cx="11321403" cy="2770579"/>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21</a:t>
            </a:fld>
            <a:endParaRPr lang="en-IN"/>
          </a:p>
        </p:txBody>
      </p:sp>
    </p:spTree>
    <p:extLst>
      <p:ext uri="{BB962C8B-B14F-4D97-AF65-F5344CB8AC3E}">
        <p14:creationId xmlns:p14="http://schemas.microsoft.com/office/powerpoint/2010/main" val="10962549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OPCODE::</a:t>
            </a:r>
            <a:endParaRPr lang="en-IN" dirty="0"/>
          </a:p>
        </p:txBody>
      </p:sp>
      <p:pic>
        <p:nvPicPr>
          <p:cNvPr id="6" name="Content Placeholder 5"/>
          <p:cNvPicPr>
            <a:picLocks noGrp="1" noChangeAspect="1"/>
          </p:cNvPicPr>
          <p:nvPr>
            <p:ph idx="1"/>
          </p:nvPr>
        </p:nvPicPr>
        <p:blipFill>
          <a:blip r:embed="rId2"/>
          <a:stretch>
            <a:fillRect/>
          </a:stretch>
        </p:blipFill>
        <p:spPr>
          <a:xfrm>
            <a:off x="1023797" y="2011819"/>
            <a:ext cx="5296359" cy="3513124"/>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22</a:t>
            </a:fld>
            <a:endParaRPr lang="en-IN"/>
          </a:p>
        </p:txBody>
      </p:sp>
    </p:spTree>
    <p:extLst>
      <p:ext uri="{BB962C8B-B14F-4D97-AF65-F5344CB8AC3E}">
        <p14:creationId xmlns:p14="http://schemas.microsoft.com/office/powerpoint/2010/main" val="15524029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R-Type ALU Instructions</a:t>
            </a:r>
          </a:p>
        </p:txBody>
      </p:sp>
      <p:sp>
        <p:nvSpPr>
          <p:cNvPr id="3" name="Content Placeholder 2"/>
          <p:cNvSpPr>
            <a:spLocks noGrp="1"/>
          </p:cNvSpPr>
          <p:nvPr>
            <p:ph idx="1"/>
          </p:nvPr>
        </p:nvSpPr>
        <p:spPr/>
        <p:txBody>
          <a:bodyPr/>
          <a:lstStyle/>
          <a:p>
            <a:r>
              <a:rPr lang="en-IN" dirty="0"/>
              <a:t>OPCODE: </a:t>
            </a:r>
            <a:r>
              <a:rPr lang="en-IN" dirty="0" smtClean="0"/>
              <a:t>0110011</a:t>
            </a:r>
          </a:p>
          <a:p>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23</a:t>
            </a:fld>
            <a:endParaRPr lang="en-IN"/>
          </a:p>
        </p:txBody>
      </p:sp>
      <p:pic>
        <p:nvPicPr>
          <p:cNvPr id="8" name="Picture 7"/>
          <p:cNvPicPr>
            <a:picLocks noChangeAspect="1"/>
          </p:cNvPicPr>
          <p:nvPr/>
        </p:nvPicPr>
        <p:blipFill>
          <a:blip r:embed="rId2"/>
          <a:stretch>
            <a:fillRect/>
          </a:stretch>
        </p:blipFill>
        <p:spPr>
          <a:xfrm>
            <a:off x="1398040" y="2243850"/>
            <a:ext cx="5917159" cy="3871295"/>
          </a:xfrm>
          <a:prstGeom prst="rect">
            <a:avLst/>
          </a:prstGeom>
        </p:spPr>
      </p:pic>
    </p:spTree>
    <p:extLst>
      <p:ext uri="{BB962C8B-B14F-4D97-AF65-F5344CB8AC3E}">
        <p14:creationId xmlns:p14="http://schemas.microsoft.com/office/powerpoint/2010/main" val="26984417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Immediate ALU </a:t>
            </a:r>
            <a:r>
              <a:rPr lang="en-IN" dirty="0" smtClean="0"/>
              <a:t/>
            </a:r>
            <a:br>
              <a:rPr lang="en-IN" dirty="0" smtClean="0"/>
            </a:br>
            <a:r>
              <a:rPr lang="en-IN" dirty="0" smtClean="0"/>
              <a:t>OPCODE</a:t>
            </a:r>
            <a:r>
              <a:rPr lang="en-IN" dirty="0"/>
              <a:t>: 0010011</a:t>
            </a:r>
          </a:p>
        </p:txBody>
      </p:sp>
      <p:pic>
        <p:nvPicPr>
          <p:cNvPr id="8" name="Content Placeholder 7"/>
          <p:cNvPicPr>
            <a:picLocks noGrp="1" noChangeAspect="1"/>
          </p:cNvPicPr>
          <p:nvPr>
            <p:ph idx="1"/>
          </p:nvPr>
        </p:nvPicPr>
        <p:blipFill>
          <a:blip r:embed="rId2"/>
          <a:stretch>
            <a:fillRect/>
          </a:stretch>
        </p:blipFill>
        <p:spPr>
          <a:xfrm>
            <a:off x="1534015" y="1794883"/>
            <a:ext cx="6091737" cy="4230951"/>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24</a:t>
            </a:fld>
            <a:endParaRPr lang="en-IN"/>
          </a:p>
        </p:txBody>
      </p:sp>
    </p:spTree>
    <p:extLst>
      <p:ext uri="{BB962C8B-B14F-4D97-AF65-F5344CB8AC3E}">
        <p14:creationId xmlns:p14="http://schemas.microsoft.com/office/powerpoint/2010/main" val="23911328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B-type::</a:t>
            </a:r>
            <a:endParaRPr lang="en-IN" dirty="0"/>
          </a:p>
        </p:txBody>
      </p:sp>
      <p:sp>
        <p:nvSpPr>
          <p:cNvPr id="3" name="Content Placeholder 2"/>
          <p:cNvSpPr>
            <a:spLocks noGrp="1"/>
          </p:cNvSpPr>
          <p:nvPr>
            <p:ph idx="1"/>
          </p:nvPr>
        </p:nvSpPr>
        <p:spPr/>
        <p:txBody>
          <a:bodyPr/>
          <a:lstStyle/>
          <a:p>
            <a:r>
              <a:rPr lang="en-IN" dirty="0" smtClean="0"/>
              <a:t>1100011  </a:t>
            </a:r>
            <a:r>
              <a:rPr lang="en-IN" dirty="0"/>
              <a:t>(decimal 99)</a:t>
            </a:r>
          </a:p>
          <a:p>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25</a:t>
            </a:fld>
            <a:endParaRPr lang="en-IN"/>
          </a:p>
        </p:txBody>
      </p:sp>
      <p:pic>
        <p:nvPicPr>
          <p:cNvPr id="10" name="Picture 9"/>
          <p:cNvPicPr>
            <a:picLocks noChangeAspect="1"/>
          </p:cNvPicPr>
          <p:nvPr/>
        </p:nvPicPr>
        <p:blipFill>
          <a:blip r:embed="rId2"/>
          <a:stretch>
            <a:fillRect/>
          </a:stretch>
        </p:blipFill>
        <p:spPr>
          <a:xfrm>
            <a:off x="994441" y="2389517"/>
            <a:ext cx="8753407" cy="3476925"/>
          </a:xfrm>
          <a:prstGeom prst="rect">
            <a:avLst/>
          </a:prstGeom>
        </p:spPr>
      </p:pic>
    </p:spTree>
    <p:extLst>
      <p:ext uri="{BB962C8B-B14F-4D97-AF65-F5344CB8AC3E}">
        <p14:creationId xmlns:p14="http://schemas.microsoft.com/office/powerpoint/2010/main" val="30870474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Load Instructions (I-Type)</a:t>
            </a:r>
          </a:p>
        </p:txBody>
      </p:sp>
      <p:sp>
        <p:nvSpPr>
          <p:cNvPr id="3" name="Content Placeholder 2"/>
          <p:cNvSpPr>
            <a:spLocks noGrp="1"/>
          </p:cNvSpPr>
          <p:nvPr>
            <p:ph idx="1"/>
          </p:nvPr>
        </p:nvSpPr>
        <p:spPr/>
        <p:txBody>
          <a:bodyPr/>
          <a:lstStyle/>
          <a:p>
            <a:r>
              <a:rPr lang="en-IN" dirty="0" smtClean="0"/>
              <a:t>OPCODE:: 0000011</a:t>
            </a:r>
            <a:endParaRPr lang="en-IN" dirty="0"/>
          </a:p>
          <a:p>
            <a:endParaRPr lang="en-IN" dirty="0" smtClean="0"/>
          </a:p>
          <a:p>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26</a:t>
            </a:fld>
            <a:endParaRPr lang="en-IN"/>
          </a:p>
        </p:txBody>
      </p:sp>
      <p:pic>
        <p:nvPicPr>
          <p:cNvPr id="6" name="Picture 5"/>
          <p:cNvPicPr>
            <a:picLocks noChangeAspect="1"/>
          </p:cNvPicPr>
          <p:nvPr/>
        </p:nvPicPr>
        <p:blipFill>
          <a:blip r:embed="rId2"/>
          <a:stretch>
            <a:fillRect/>
          </a:stretch>
        </p:blipFill>
        <p:spPr>
          <a:xfrm>
            <a:off x="1373038" y="2286794"/>
            <a:ext cx="7772400" cy="3428999"/>
          </a:xfrm>
          <a:prstGeom prst="rect">
            <a:avLst/>
          </a:prstGeom>
        </p:spPr>
      </p:pic>
    </p:spTree>
    <p:extLst>
      <p:ext uri="{BB962C8B-B14F-4D97-AF65-F5344CB8AC3E}">
        <p14:creationId xmlns:p14="http://schemas.microsoft.com/office/powerpoint/2010/main" val="14012773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Store Instructions (S-Type)</a:t>
            </a:r>
          </a:p>
        </p:txBody>
      </p:sp>
      <p:sp>
        <p:nvSpPr>
          <p:cNvPr id="3" name="Content Placeholder 2"/>
          <p:cNvSpPr>
            <a:spLocks noGrp="1"/>
          </p:cNvSpPr>
          <p:nvPr>
            <p:ph idx="1"/>
          </p:nvPr>
        </p:nvSpPr>
        <p:spPr/>
        <p:txBody>
          <a:bodyPr/>
          <a:lstStyle/>
          <a:p>
            <a:r>
              <a:rPr lang="en-IN" dirty="0"/>
              <a:t>OPCODE: 0100011</a:t>
            </a:r>
          </a:p>
          <a:p>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27</a:t>
            </a:fld>
            <a:endParaRPr lang="en-IN"/>
          </a:p>
        </p:txBody>
      </p:sp>
      <p:pic>
        <p:nvPicPr>
          <p:cNvPr id="6" name="Picture 5"/>
          <p:cNvPicPr>
            <a:picLocks noChangeAspect="1"/>
          </p:cNvPicPr>
          <p:nvPr/>
        </p:nvPicPr>
        <p:blipFill>
          <a:blip r:embed="rId2"/>
          <a:stretch>
            <a:fillRect/>
          </a:stretch>
        </p:blipFill>
        <p:spPr>
          <a:xfrm>
            <a:off x="677000" y="2761031"/>
            <a:ext cx="8018426" cy="2233936"/>
          </a:xfrm>
          <a:prstGeom prst="rect">
            <a:avLst/>
          </a:prstGeom>
        </p:spPr>
      </p:pic>
    </p:spTree>
    <p:extLst>
      <p:ext uri="{BB962C8B-B14F-4D97-AF65-F5344CB8AC3E}">
        <p14:creationId xmlns:p14="http://schemas.microsoft.com/office/powerpoint/2010/main" val="6504985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RISC-V Integer Registers (x0 – x31)</a:t>
            </a:r>
          </a:p>
        </p:txBody>
      </p:sp>
      <p:pic>
        <p:nvPicPr>
          <p:cNvPr id="6" name="Content Placeholder 5"/>
          <p:cNvPicPr>
            <a:picLocks noGrp="1" noChangeAspect="1"/>
          </p:cNvPicPr>
          <p:nvPr>
            <p:ph idx="1"/>
          </p:nvPr>
        </p:nvPicPr>
        <p:blipFill>
          <a:blip r:embed="rId2"/>
          <a:stretch>
            <a:fillRect/>
          </a:stretch>
        </p:blipFill>
        <p:spPr>
          <a:xfrm>
            <a:off x="838200" y="1279526"/>
            <a:ext cx="6802823" cy="4706660"/>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28</a:t>
            </a:fld>
            <a:endParaRPr lang="en-IN"/>
          </a:p>
        </p:txBody>
      </p:sp>
    </p:spTree>
    <p:extLst>
      <p:ext uri="{BB962C8B-B14F-4D97-AF65-F5344CB8AC3E}">
        <p14:creationId xmlns:p14="http://schemas.microsoft.com/office/powerpoint/2010/main" val="8347826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838200" y="523036"/>
            <a:ext cx="5633801" cy="5326640"/>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29</a:t>
            </a:fld>
            <a:endParaRPr lang="en-IN"/>
          </a:p>
        </p:txBody>
      </p:sp>
    </p:spTree>
    <p:extLst>
      <p:ext uri="{BB962C8B-B14F-4D97-AF65-F5344CB8AC3E}">
        <p14:creationId xmlns:p14="http://schemas.microsoft.com/office/powerpoint/2010/main" val="28357187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30</a:t>
            </a:fld>
            <a:endParaRPr lang="en-IN"/>
          </a:p>
        </p:txBody>
      </p:sp>
      <p:pic>
        <p:nvPicPr>
          <p:cNvPr id="6" name="Picture 5"/>
          <p:cNvPicPr>
            <a:picLocks noChangeAspect="1"/>
          </p:cNvPicPr>
          <p:nvPr/>
        </p:nvPicPr>
        <p:blipFill>
          <a:blip r:embed="rId2"/>
          <a:stretch>
            <a:fillRect/>
          </a:stretch>
        </p:blipFill>
        <p:spPr>
          <a:xfrm>
            <a:off x="2690437" y="1969373"/>
            <a:ext cx="6048438" cy="3094333"/>
          </a:xfrm>
          <a:prstGeom prst="rect">
            <a:avLst/>
          </a:prstGeom>
        </p:spPr>
      </p:pic>
    </p:spTree>
    <p:extLst>
      <p:ext uri="{BB962C8B-B14F-4D97-AF65-F5344CB8AC3E}">
        <p14:creationId xmlns:p14="http://schemas.microsoft.com/office/powerpoint/2010/main" val="11025239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a:t>
            </a:r>
            <a:endParaRPr lang="en-IN" dirty="0"/>
          </a:p>
        </p:txBody>
      </p:sp>
      <p:sp>
        <p:nvSpPr>
          <p:cNvPr id="3" name="Content Placeholder 2"/>
          <p:cNvSpPr>
            <a:spLocks noGrp="1"/>
          </p:cNvSpPr>
          <p:nvPr>
            <p:ph idx="1"/>
          </p:nvPr>
        </p:nvSpPr>
        <p:spPr/>
        <p:txBody>
          <a:bodyPr>
            <a:normAutofit fontScale="92500"/>
          </a:bodyPr>
          <a:lstStyle/>
          <a:p>
            <a:r>
              <a:rPr lang="en-US" dirty="0" smtClean="0"/>
              <a:t>An </a:t>
            </a:r>
            <a:r>
              <a:rPr lang="en-US" dirty="0"/>
              <a:t>addressing mode defines how an instruction specifies its operands. This section summarizes the modes used for addressing instruction operands. </a:t>
            </a:r>
            <a:endParaRPr lang="en-US" dirty="0" smtClean="0"/>
          </a:p>
          <a:p>
            <a:r>
              <a:rPr lang="en-US" dirty="0" smtClean="0"/>
              <a:t>RISC-V </a:t>
            </a:r>
            <a:r>
              <a:rPr lang="en-US" dirty="0"/>
              <a:t>uses four main modes: register, immediate, base, and PC-relative addressing. </a:t>
            </a:r>
            <a:endParaRPr lang="en-US" dirty="0" smtClean="0"/>
          </a:p>
          <a:p>
            <a:r>
              <a:rPr lang="en-US" dirty="0" smtClean="0"/>
              <a:t>Most </a:t>
            </a:r>
            <a:r>
              <a:rPr lang="en-US" dirty="0"/>
              <a:t>other architectures provide similar addressing modes, so understanding these modes helps you learn other assembly languages. </a:t>
            </a:r>
            <a:endParaRPr lang="en-US" dirty="0" smtClean="0"/>
          </a:p>
          <a:p>
            <a:r>
              <a:rPr lang="en-US" dirty="0" smtClean="0"/>
              <a:t>The </a:t>
            </a:r>
            <a:r>
              <a:rPr lang="en-US" dirty="0"/>
              <a:t>first three modes (</a:t>
            </a:r>
            <a:r>
              <a:rPr lang="en-US" b="1" dirty="0"/>
              <a:t>register, immediate, and base addressing</a:t>
            </a:r>
            <a:r>
              <a:rPr lang="en-US" dirty="0"/>
              <a:t>) define modes of </a:t>
            </a:r>
            <a:r>
              <a:rPr lang="en-US" b="1" dirty="0"/>
              <a:t>reading and writing operands</a:t>
            </a:r>
            <a:r>
              <a:rPr lang="en-US" dirty="0"/>
              <a:t>. </a:t>
            </a:r>
            <a:endParaRPr lang="en-US" dirty="0" smtClean="0"/>
          </a:p>
          <a:p>
            <a:r>
              <a:rPr lang="en-US" dirty="0" smtClean="0"/>
              <a:t>The </a:t>
            </a:r>
            <a:r>
              <a:rPr lang="en-US" dirty="0"/>
              <a:t>last mode (</a:t>
            </a:r>
            <a:r>
              <a:rPr lang="en-US" b="1" dirty="0"/>
              <a:t>PC-relative addressing</a:t>
            </a:r>
            <a:r>
              <a:rPr lang="en-US" dirty="0"/>
              <a:t>) defines a </a:t>
            </a:r>
            <a:r>
              <a:rPr lang="en-US" b="1" dirty="0"/>
              <a:t>mode of writing the program counter (PC).</a:t>
            </a:r>
            <a:endParaRPr lang="en-IN" b="1"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31</a:t>
            </a:fld>
            <a:endParaRPr lang="en-IN"/>
          </a:p>
        </p:txBody>
      </p:sp>
    </p:spTree>
    <p:extLst>
      <p:ext uri="{BB962C8B-B14F-4D97-AF65-F5344CB8AC3E}">
        <p14:creationId xmlns:p14="http://schemas.microsoft.com/office/powerpoint/2010/main" val="35934369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Register-Only Addressing</a:t>
            </a:r>
            <a:endParaRPr lang="en-IN" dirty="0"/>
          </a:p>
        </p:txBody>
      </p:sp>
      <p:sp>
        <p:nvSpPr>
          <p:cNvPr id="3" name="Content Placeholder 2"/>
          <p:cNvSpPr>
            <a:spLocks noGrp="1"/>
          </p:cNvSpPr>
          <p:nvPr>
            <p:ph idx="1"/>
          </p:nvPr>
        </p:nvSpPr>
        <p:spPr/>
        <p:txBody>
          <a:bodyPr/>
          <a:lstStyle/>
          <a:p>
            <a:r>
              <a:rPr lang="en-US" dirty="0" smtClean="0"/>
              <a:t>Register-only </a:t>
            </a:r>
            <a:r>
              <a:rPr lang="en-US" dirty="0"/>
              <a:t>addressing uses registers for all source and destination operands. </a:t>
            </a:r>
            <a:endParaRPr lang="en-US" dirty="0" smtClean="0"/>
          </a:p>
          <a:p>
            <a:pPr algn="just"/>
            <a:r>
              <a:rPr lang="en-US" dirty="0" smtClean="0"/>
              <a:t>All </a:t>
            </a:r>
            <a:r>
              <a:rPr lang="en-US" dirty="0"/>
              <a:t>R-type instructions use register-only addressing.</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32</a:t>
            </a:fld>
            <a:endParaRPr lang="en-IN"/>
          </a:p>
        </p:txBody>
      </p:sp>
    </p:spTree>
    <p:extLst>
      <p:ext uri="{BB962C8B-B14F-4D97-AF65-F5344CB8AC3E}">
        <p14:creationId xmlns:p14="http://schemas.microsoft.com/office/powerpoint/2010/main" val="19030701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Immediate Addressing</a:t>
            </a:r>
            <a:endParaRPr lang="en-IN" dirty="0"/>
          </a:p>
        </p:txBody>
      </p:sp>
      <p:sp>
        <p:nvSpPr>
          <p:cNvPr id="3" name="Content Placeholder 2"/>
          <p:cNvSpPr>
            <a:spLocks noGrp="1"/>
          </p:cNvSpPr>
          <p:nvPr>
            <p:ph idx="1"/>
          </p:nvPr>
        </p:nvSpPr>
        <p:spPr/>
        <p:txBody>
          <a:bodyPr/>
          <a:lstStyle/>
          <a:p>
            <a:pPr algn="just"/>
            <a:r>
              <a:rPr lang="en-US" dirty="0" smtClean="0"/>
              <a:t>Immediate </a:t>
            </a:r>
            <a:r>
              <a:rPr lang="en-US" dirty="0"/>
              <a:t>addressing uses an immediate, along with registers, as operands. </a:t>
            </a:r>
            <a:endParaRPr lang="en-US" dirty="0" smtClean="0"/>
          </a:p>
          <a:p>
            <a:pPr algn="just"/>
            <a:r>
              <a:rPr lang="en-US" dirty="0" smtClean="0"/>
              <a:t>Some </a:t>
            </a:r>
            <a:r>
              <a:rPr lang="en-US" dirty="0"/>
              <a:t>I-type instructions, such as add immediate (</a:t>
            </a:r>
            <a:r>
              <a:rPr lang="en-US" dirty="0" err="1"/>
              <a:t>addi</a:t>
            </a:r>
            <a:r>
              <a:rPr lang="en-US" dirty="0"/>
              <a:t>) and </a:t>
            </a:r>
            <a:r>
              <a:rPr lang="en-US" dirty="0" err="1"/>
              <a:t>xori</a:t>
            </a:r>
            <a:r>
              <a:rPr lang="en-US" dirty="0"/>
              <a:t>, use immediate addressing with a 12-bit signed immediate. </a:t>
            </a:r>
            <a:endParaRPr lang="en-US" dirty="0" smtClean="0"/>
          </a:p>
          <a:p>
            <a:pPr algn="just"/>
            <a:r>
              <a:rPr lang="en-US" dirty="0" smtClean="0"/>
              <a:t>Shift </a:t>
            </a:r>
            <a:r>
              <a:rPr lang="en-US" dirty="0"/>
              <a:t>instructions with an immediate shift amount (</a:t>
            </a:r>
            <a:r>
              <a:rPr lang="en-US" dirty="0" err="1"/>
              <a:t>slli</a:t>
            </a:r>
            <a:r>
              <a:rPr lang="en-US" dirty="0"/>
              <a:t>, </a:t>
            </a:r>
            <a:r>
              <a:rPr lang="en-US" dirty="0" err="1"/>
              <a:t>srli</a:t>
            </a:r>
            <a:r>
              <a:rPr lang="en-US" dirty="0"/>
              <a:t>, and </a:t>
            </a:r>
            <a:r>
              <a:rPr lang="en-US" dirty="0" err="1"/>
              <a:t>srai</a:t>
            </a:r>
            <a:r>
              <a:rPr lang="en-US" dirty="0"/>
              <a:t>) are I-type instructions that encode the 5-bit unsigned immediate shift amount in imm4:0. </a:t>
            </a:r>
            <a:endParaRPr lang="en-US" dirty="0" smtClean="0"/>
          </a:p>
          <a:p>
            <a:pPr algn="just"/>
            <a:r>
              <a:rPr lang="en-US" dirty="0" smtClean="0"/>
              <a:t>Load </a:t>
            </a:r>
            <a:r>
              <a:rPr lang="en-US" dirty="0"/>
              <a:t>instructions (</a:t>
            </a:r>
            <a:r>
              <a:rPr lang="en-US" dirty="0" err="1"/>
              <a:t>lb</a:t>
            </a:r>
            <a:r>
              <a:rPr lang="en-US" dirty="0"/>
              <a:t>, </a:t>
            </a:r>
            <a:r>
              <a:rPr lang="en-US" dirty="0" err="1"/>
              <a:t>lh</a:t>
            </a:r>
            <a:r>
              <a:rPr lang="en-US" dirty="0"/>
              <a:t>, and </a:t>
            </a:r>
            <a:r>
              <a:rPr lang="en-US" dirty="0" err="1"/>
              <a:t>lw</a:t>
            </a:r>
            <a:r>
              <a:rPr lang="en-US" dirty="0"/>
              <a:t>) use the I-type instruction format but use base addressing, which is discussed next.</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33</a:t>
            </a:fld>
            <a:endParaRPr lang="en-IN"/>
          </a:p>
        </p:txBody>
      </p:sp>
    </p:spTree>
    <p:extLst>
      <p:ext uri="{BB962C8B-B14F-4D97-AF65-F5344CB8AC3E}">
        <p14:creationId xmlns:p14="http://schemas.microsoft.com/office/powerpoint/2010/main" val="19796766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Addressing</a:t>
            </a:r>
            <a:endParaRPr lang="en-IN" dirty="0"/>
          </a:p>
        </p:txBody>
      </p:sp>
      <p:sp>
        <p:nvSpPr>
          <p:cNvPr id="3" name="Content Placeholder 2"/>
          <p:cNvSpPr>
            <a:spLocks noGrp="1"/>
          </p:cNvSpPr>
          <p:nvPr>
            <p:ph idx="1"/>
          </p:nvPr>
        </p:nvSpPr>
        <p:spPr/>
        <p:txBody>
          <a:bodyPr/>
          <a:lstStyle/>
          <a:p>
            <a:pPr algn="just"/>
            <a:r>
              <a:rPr lang="en-US" dirty="0" smtClean="0"/>
              <a:t>Memory </a:t>
            </a:r>
            <a:r>
              <a:rPr lang="en-US" dirty="0"/>
              <a:t>access instructions, such as load word (</a:t>
            </a:r>
            <a:r>
              <a:rPr lang="en-US" dirty="0" err="1"/>
              <a:t>lw</a:t>
            </a:r>
            <a:r>
              <a:rPr lang="en-US" dirty="0"/>
              <a:t>) and store word (</a:t>
            </a:r>
            <a:r>
              <a:rPr lang="en-US" dirty="0" err="1"/>
              <a:t>sw</a:t>
            </a:r>
            <a:r>
              <a:rPr lang="en-US" dirty="0"/>
              <a:t>), use base addressing. </a:t>
            </a:r>
            <a:endParaRPr lang="en-US" dirty="0" smtClean="0"/>
          </a:p>
          <a:p>
            <a:pPr algn="just"/>
            <a:r>
              <a:rPr lang="en-US" dirty="0" smtClean="0"/>
              <a:t>The </a:t>
            </a:r>
            <a:r>
              <a:rPr lang="en-US" dirty="0"/>
              <a:t>effective address of the memory </a:t>
            </a:r>
            <a:r>
              <a:rPr lang="en-US" dirty="0" err="1"/>
              <a:t>oper</a:t>
            </a:r>
            <a:r>
              <a:rPr lang="en-US" dirty="0"/>
              <a:t> and is calculated by adding the base address in register rs1 to the sign- extended 12-bit offset found in the immediate field</a:t>
            </a:r>
            <a:r>
              <a:rPr lang="en-US" dirty="0" smtClean="0"/>
              <a:t>.</a:t>
            </a:r>
          </a:p>
          <a:p>
            <a:pPr algn="just"/>
            <a:r>
              <a:rPr lang="en-US" dirty="0" smtClean="0"/>
              <a:t> </a:t>
            </a:r>
            <a:r>
              <a:rPr lang="en-US" dirty="0"/>
              <a:t>Loads are I-type instructions and stores are S-type instructions.</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34</a:t>
            </a:fld>
            <a:endParaRPr lang="en-IN"/>
          </a:p>
        </p:txBody>
      </p:sp>
    </p:spTree>
    <p:extLst>
      <p:ext uri="{BB962C8B-B14F-4D97-AF65-F5344CB8AC3E}">
        <p14:creationId xmlns:p14="http://schemas.microsoft.com/office/powerpoint/2010/main" val="36821744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PC-Relative Addressing</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b="1" dirty="0" smtClean="0"/>
              <a:t>Branch </a:t>
            </a:r>
            <a:r>
              <a:rPr lang="en-US" b="1" dirty="0"/>
              <a:t>and jump and link (</a:t>
            </a:r>
            <a:r>
              <a:rPr lang="en-US" b="1" dirty="0" err="1"/>
              <a:t>jal</a:t>
            </a:r>
            <a:r>
              <a:rPr lang="en-US" b="1" dirty="0"/>
              <a:t>) instructions use PC-relative addressing to specify the new value of the PC. </a:t>
            </a:r>
            <a:endParaRPr lang="en-US" b="1" dirty="0" smtClean="0"/>
          </a:p>
          <a:p>
            <a:pPr algn="just"/>
            <a:r>
              <a:rPr lang="en-US" dirty="0" smtClean="0"/>
              <a:t>The </a:t>
            </a:r>
            <a:r>
              <a:rPr lang="en-US" dirty="0"/>
              <a:t>signed offset encoded in the immediate field is added to the PC to obtain the target address, the new PC; hence, the target address is said to be relative to the current PC. </a:t>
            </a:r>
            <a:endParaRPr lang="en-US" dirty="0" smtClean="0"/>
          </a:p>
          <a:p>
            <a:pPr algn="just"/>
            <a:r>
              <a:rPr lang="en-US" dirty="0" smtClean="0"/>
              <a:t>Branches </a:t>
            </a:r>
            <a:r>
              <a:rPr lang="en-US" dirty="0"/>
              <a:t>and </a:t>
            </a:r>
            <a:r>
              <a:rPr lang="en-US" dirty="0" err="1"/>
              <a:t>jal</a:t>
            </a:r>
            <a:r>
              <a:rPr lang="en-US" dirty="0"/>
              <a:t> use a 13- and 21-bit signed immediate, respectively, or the offset. </a:t>
            </a:r>
            <a:endParaRPr lang="en-US" dirty="0" smtClean="0"/>
          </a:p>
          <a:p>
            <a:pPr algn="just"/>
            <a:r>
              <a:rPr lang="en-US" dirty="0" smtClean="0"/>
              <a:t>The </a:t>
            </a:r>
            <a:r>
              <a:rPr lang="en-US" dirty="0"/>
              <a:t>most significant bits of the offset are encoded in the 12- and 20-bit immediate fields of the B- and J-type instructions. </a:t>
            </a:r>
            <a:endParaRPr lang="en-US" dirty="0" smtClean="0"/>
          </a:p>
          <a:p>
            <a:pPr algn="just"/>
            <a:r>
              <a:rPr lang="en-US" dirty="0" smtClean="0"/>
              <a:t>The </a:t>
            </a:r>
            <a:r>
              <a:rPr lang="en-US" dirty="0"/>
              <a:t>offset’s least significant bit is always 0, so it is not encoded in the instruction. </a:t>
            </a:r>
            <a:endParaRPr lang="en-US" dirty="0" smtClean="0"/>
          </a:p>
          <a:p>
            <a:pPr algn="just"/>
            <a:r>
              <a:rPr lang="en-US" dirty="0" smtClean="0"/>
              <a:t>The </a:t>
            </a:r>
            <a:r>
              <a:rPr lang="en-US" b="1" dirty="0" err="1"/>
              <a:t>auipc</a:t>
            </a:r>
            <a:r>
              <a:rPr lang="en-US" dirty="0"/>
              <a:t> (add upper immediate to PC) instruction also uses PC-relative addressing. For example, the instruction </a:t>
            </a:r>
            <a:r>
              <a:rPr lang="en-US" dirty="0" err="1"/>
              <a:t>auipc</a:t>
            </a:r>
            <a:r>
              <a:rPr lang="en-US" dirty="0"/>
              <a:t> s3, 0xABCDE places PC + 0xABCDE000 in s3.</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35</a:t>
            </a:fld>
            <a:endParaRPr lang="en-IN"/>
          </a:p>
        </p:txBody>
      </p:sp>
    </p:spTree>
    <p:extLst>
      <p:ext uri="{BB962C8B-B14F-4D97-AF65-F5344CB8AC3E}">
        <p14:creationId xmlns:p14="http://schemas.microsoft.com/office/powerpoint/2010/main" val="19142470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Interpreting Machine Language Code </a:t>
            </a:r>
            <a:endParaRPr lang="en-IN" dirty="0"/>
          </a:p>
        </p:txBody>
      </p:sp>
      <p:sp>
        <p:nvSpPr>
          <p:cNvPr id="3" name="Content Placeholder 2"/>
          <p:cNvSpPr>
            <a:spLocks noGrp="1"/>
          </p:cNvSpPr>
          <p:nvPr>
            <p:ph idx="1"/>
          </p:nvPr>
        </p:nvSpPr>
        <p:spPr/>
        <p:txBody>
          <a:bodyPr/>
          <a:lstStyle/>
          <a:p>
            <a:r>
              <a:rPr lang="en-US" dirty="0" smtClean="0"/>
              <a:t>To </a:t>
            </a:r>
            <a:r>
              <a:rPr lang="en-US" dirty="0"/>
              <a:t>interpret machine language, one must decipher the fields of each 32-bit instruction word. </a:t>
            </a:r>
            <a:endParaRPr lang="en-US" dirty="0" smtClean="0"/>
          </a:p>
          <a:p>
            <a:r>
              <a:rPr lang="en-US" dirty="0" smtClean="0"/>
              <a:t>Different </a:t>
            </a:r>
            <a:r>
              <a:rPr lang="en-US" dirty="0"/>
              <a:t>instructions use different formats, but all formats share a 7-bit </a:t>
            </a:r>
            <a:r>
              <a:rPr lang="en-US" dirty="0" err="1"/>
              <a:t>opcode</a:t>
            </a:r>
            <a:r>
              <a:rPr lang="en-US" dirty="0"/>
              <a:t> field. </a:t>
            </a:r>
            <a:endParaRPr lang="en-US" dirty="0" smtClean="0"/>
          </a:p>
          <a:p>
            <a:r>
              <a:rPr lang="en-US" dirty="0" smtClean="0"/>
              <a:t>Thus</a:t>
            </a:r>
            <a:r>
              <a:rPr lang="en-US" dirty="0"/>
              <a:t>, the best place to begin is to look at the </a:t>
            </a:r>
            <a:r>
              <a:rPr lang="en-US" dirty="0" err="1"/>
              <a:t>opcode</a:t>
            </a:r>
            <a:r>
              <a:rPr lang="en-US" dirty="0"/>
              <a:t> to determine if it is an R-, I-, S/B-, or U/J-type instruction.</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36</a:t>
            </a:fld>
            <a:endParaRPr lang="en-IN"/>
          </a:p>
        </p:txBody>
      </p:sp>
    </p:spTree>
    <p:extLst>
      <p:ext uri="{BB962C8B-B14F-4D97-AF65-F5344CB8AC3E}">
        <p14:creationId xmlns:p14="http://schemas.microsoft.com/office/powerpoint/2010/main" val="35746636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TRANSLATING MACHINE LANGUAGE TO ASSEMBLY LANGUAGE</a:t>
            </a:r>
            <a:endParaRPr lang="en-IN" dirty="0"/>
          </a:p>
        </p:txBody>
      </p:sp>
      <p:pic>
        <p:nvPicPr>
          <p:cNvPr id="4" name="Content Placeholder 3"/>
          <p:cNvPicPr>
            <a:picLocks noGrp="1" noChangeAspect="1"/>
          </p:cNvPicPr>
          <p:nvPr>
            <p:ph idx="1"/>
          </p:nvPr>
        </p:nvPicPr>
        <p:blipFill>
          <a:blip r:embed="rId2"/>
          <a:stretch>
            <a:fillRect/>
          </a:stretch>
        </p:blipFill>
        <p:spPr>
          <a:xfrm>
            <a:off x="668139" y="2027208"/>
            <a:ext cx="10359030" cy="2449901"/>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37</a:t>
            </a:fld>
            <a:endParaRPr lang="en-IN"/>
          </a:p>
        </p:txBody>
      </p:sp>
    </p:spTree>
    <p:extLst>
      <p:ext uri="{BB962C8B-B14F-4D97-AF65-F5344CB8AC3E}">
        <p14:creationId xmlns:p14="http://schemas.microsoft.com/office/powerpoint/2010/main" val="31914061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IN" dirty="0"/>
          </a:p>
        </p:txBody>
      </p:sp>
      <p:pic>
        <p:nvPicPr>
          <p:cNvPr id="4" name="Content Placeholder 3"/>
          <p:cNvPicPr>
            <a:picLocks noGrp="1" noChangeAspect="1"/>
          </p:cNvPicPr>
          <p:nvPr>
            <p:ph idx="1"/>
          </p:nvPr>
        </p:nvPicPr>
        <p:blipFill>
          <a:blip r:embed="rId2"/>
          <a:stretch>
            <a:fillRect/>
          </a:stretch>
        </p:blipFill>
        <p:spPr>
          <a:xfrm>
            <a:off x="1010728" y="1541294"/>
            <a:ext cx="4967378" cy="883875"/>
          </a:xfrm>
          <a:prstGeom prst="rect">
            <a:avLst/>
          </a:prstGeom>
        </p:spPr>
      </p:pic>
      <p:sp>
        <p:nvSpPr>
          <p:cNvPr id="5" name="Rectangle 4"/>
          <p:cNvSpPr/>
          <p:nvPr/>
        </p:nvSpPr>
        <p:spPr>
          <a:xfrm>
            <a:off x="572218" y="2586824"/>
            <a:ext cx="10781581" cy="1754326"/>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dirty="0" err="1" smtClean="0"/>
              <a:t>opcode</a:t>
            </a:r>
            <a:r>
              <a:rPr lang="en-US" dirty="0" smtClean="0"/>
              <a:t> determines how to interpret the rest of the bits.</a:t>
            </a:r>
          </a:p>
          <a:p>
            <a:pPr marL="285750" indent="-285750">
              <a:buFont typeface="Arial" panose="020B0604020202020204" pitchFamily="34" charset="0"/>
              <a:buChar char="•"/>
            </a:pPr>
            <a:r>
              <a:rPr lang="en-US" dirty="0" smtClean="0"/>
              <a:t>The first instruction’s </a:t>
            </a:r>
            <a:r>
              <a:rPr lang="en-US" dirty="0" err="1" smtClean="0"/>
              <a:t>opcode</a:t>
            </a:r>
            <a:r>
              <a:rPr lang="en-US" dirty="0" smtClean="0"/>
              <a:t> is 0110011. </a:t>
            </a:r>
          </a:p>
          <a:p>
            <a:pPr marL="285750" indent="-285750">
              <a:buFont typeface="Arial" panose="020B0604020202020204" pitchFamily="34" charset="0"/>
              <a:buChar char="•"/>
            </a:pPr>
            <a:r>
              <a:rPr lang="en-US" dirty="0"/>
              <a:t>I</a:t>
            </a:r>
            <a:r>
              <a:rPr lang="en-US" dirty="0" smtClean="0"/>
              <a:t>t is an R-type instruction and we can divide the rest of the bits into the R-type fields.</a:t>
            </a:r>
          </a:p>
          <a:p>
            <a:pPr marL="285750" indent="-285750">
              <a:buFont typeface="Arial" panose="020B0604020202020204" pitchFamily="34" charset="0"/>
              <a:buChar char="•"/>
            </a:pPr>
            <a:r>
              <a:rPr lang="en-US" dirty="0"/>
              <a:t>The second instruction’s </a:t>
            </a:r>
            <a:r>
              <a:rPr lang="en-US" dirty="0" err="1"/>
              <a:t>opcode</a:t>
            </a:r>
            <a:r>
              <a:rPr lang="en-US" dirty="0"/>
              <a:t> is </a:t>
            </a:r>
            <a:r>
              <a:rPr lang="en-US" dirty="0" smtClean="0"/>
              <a:t>0010011 </a:t>
            </a:r>
            <a:r>
              <a:rPr lang="en-US" dirty="0"/>
              <a:t>, which means it is an I-type instruction</a:t>
            </a:r>
          </a:p>
          <a:p>
            <a:endParaRPr lang="en-US" dirty="0" smtClean="0"/>
          </a:p>
          <a:p>
            <a:endParaRPr lang="en-IN" dirty="0"/>
          </a:p>
        </p:txBody>
      </p:sp>
      <p:pic>
        <p:nvPicPr>
          <p:cNvPr id="6" name="Picture 5"/>
          <p:cNvPicPr>
            <a:picLocks noChangeAspect="1"/>
          </p:cNvPicPr>
          <p:nvPr/>
        </p:nvPicPr>
        <p:blipFill>
          <a:blip r:embed="rId3"/>
          <a:stretch>
            <a:fillRect/>
          </a:stretch>
        </p:blipFill>
        <p:spPr>
          <a:xfrm>
            <a:off x="2296064" y="3979367"/>
            <a:ext cx="7132608" cy="1858000"/>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7" name="Slide Number Placeholder 6"/>
          <p:cNvSpPr>
            <a:spLocks noGrp="1"/>
          </p:cNvSpPr>
          <p:nvPr>
            <p:ph type="sldNum" sz="quarter" idx="12"/>
          </p:nvPr>
        </p:nvSpPr>
        <p:spPr/>
        <p:txBody>
          <a:bodyPr/>
          <a:lstStyle/>
          <a:p>
            <a:fld id="{1666FA4D-2C83-4AD9-8B7F-568D7F129F64}" type="slidenum">
              <a:rPr lang="en-IN" smtClean="0"/>
              <a:t>38</a:t>
            </a:fld>
            <a:endParaRPr lang="en-IN"/>
          </a:p>
        </p:txBody>
      </p:sp>
    </p:spTree>
    <p:extLst>
      <p:ext uri="{BB962C8B-B14F-4D97-AF65-F5344CB8AC3E}">
        <p14:creationId xmlns:p14="http://schemas.microsoft.com/office/powerpoint/2010/main" val="22422866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Power of the Stored Program</a:t>
            </a:r>
            <a:endParaRPr lang="en-IN" dirty="0"/>
          </a:p>
        </p:txBody>
      </p:sp>
      <p:sp>
        <p:nvSpPr>
          <p:cNvPr id="3" name="Content Placeholder 2"/>
          <p:cNvSpPr>
            <a:spLocks noGrp="1"/>
          </p:cNvSpPr>
          <p:nvPr>
            <p:ph idx="1"/>
          </p:nvPr>
        </p:nvSpPr>
        <p:spPr>
          <a:xfrm>
            <a:off x="362309" y="1345721"/>
            <a:ext cx="10991491" cy="4831242"/>
          </a:xfrm>
        </p:spPr>
        <p:txBody>
          <a:bodyPr/>
          <a:lstStyle/>
          <a:p>
            <a:pPr algn="just"/>
            <a:r>
              <a:rPr lang="en-US" dirty="0" smtClean="0"/>
              <a:t>A </a:t>
            </a:r>
            <a:r>
              <a:rPr lang="en-US" dirty="0"/>
              <a:t>program written in machine language is a series of 32-bit numbers representing the instructions. </a:t>
            </a:r>
            <a:endParaRPr lang="en-US" dirty="0" smtClean="0"/>
          </a:p>
          <a:p>
            <a:pPr algn="just"/>
            <a:r>
              <a:rPr lang="en-US" dirty="0" smtClean="0"/>
              <a:t>Like </a:t>
            </a:r>
            <a:r>
              <a:rPr lang="en-US" dirty="0"/>
              <a:t>other binary numbers, these instructions can be stored in memory. </a:t>
            </a:r>
            <a:r>
              <a:rPr lang="en-US" dirty="0" smtClean="0"/>
              <a:t>This </a:t>
            </a:r>
            <a:r>
              <a:rPr lang="en-US" dirty="0"/>
              <a:t>is called the stored program concept, and it is a key reason why computers are so powerful. </a:t>
            </a:r>
            <a:endParaRPr lang="en-US" dirty="0" smtClean="0"/>
          </a:p>
          <a:p>
            <a:pPr algn="just"/>
            <a:r>
              <a:rPr lang="en-US" dirty="0" smtClean="0"/>
              <a:t>Instructions </a:t>
            </a:r>
            <a:r>
              <a:rPr lang="en-US" dirty="0"/>
              <a:t>in a stored program are retrieved, or fetched, from memory and executed by the processor. </a:t>
            </a:r>
            <a:endParaRPr lang="en-US" dirty="0" smtClean="0"/>
          </a:p>
          <a:p>
            <a:pPr algn="just"/>
            <a:r>
              <a:rPr lang="en-US" dirty="0" smtClean="0"/>
              <a:t>Even </a:t>
            </a:r>
            <a:r>
              <a:rPr lang="en-US" dirty="0"/>
              <a:t>large, complex programs are simply a series of memory accesses and instruction executions</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39</a:t>
            </a:fld>
            <a:endParaRPr lang="en-IN"/>
          </a:p>
        </p:txBody>
      </p:sp>
    </p:spTree>
    <p:extLst>
      <p:ext uri="{BB962C8B-B14F-4D97-AF65-F5344CB8AC3E}">
        <p14:creationId xmlns:p14="http://schemas.microsoft.com/office/powerpoint/2010/main" val="22478873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smtClean="0"/>
              <a:t>To </a:t>
            </a:r>
            <a:r>
              <a:rPr lang="en-US" dirty="0"/>
              <a:t>run or execute the stored program, the processor fetches the instructions from memory sequentially. </a:t>
            </a:r>
            <a:endParaRPr lang="en-US" dirty="0" smtClean="0"/>
          </a:p>
          <a:p>
            <a:pPr algn="just"/>
            <a:r>
              <a:rPr lang="en-US" dirty="0" smtClean="0"/>
              <a:t>The </a:t>
            </a:r>
            <a:r>
              <a:rPr lang="en-US" dirty="0"/>
              <a:t>fetched instructions are then decoded and executed by the digital hardware. </a:t>
            </a:r>
            <a:endParaRPr lang="en-US" dirty="0" smtClean="0"/>
          </a:p>
          <a:p>
            <a:pPr algn="just"/>
            <a:r>
              <a:rPr lang="en-US" dirty="0" smtClean="0"/>
              <a:t>The </a:t>
            </a:r>
            <a:r>
              <a:rPr lang="en-US" dirty="0"/>
              <a:t>address of the current instruction is kept in the 32-bit program counter (PC) register.</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40</a:t>
            </a:fld>
            <a:endParaRPr lang="en-IN"/>
          </a:p>
        </p:txBody>
      </p:sp>
    </p:spTree>
    <p:extLst>
      <p:ext uri="{BB962C8B-B14F-4D97-AF65-F5344CB8AC3E}">
        <p14:creationId xmlns:p14="http://schemas.microsoft.com/office/powerpoint/2010/main" val="204707503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3302" y="1952168"/>
            <a:ext cx="3910123" cy="4152610"/>
          </a:xfrm>
          <a:prstGeom prst="rect">
            <a:avLst/>
          </a:prstGeom>
        </p:spPr>
      </p:pic>
      <p:sp>
        <p:nvSpPr>
          <p:cNvPr id="5" name="Rectangle 4"/>
          <p:cNvSpPr/>
          <p:nvPr/>
        </p:nvSpPr>
        <p:spPr>
          <a:xfrm>
            <a:off x="516896" y="5564840"/>
            <a:ext cx="2750368" cy="369332"/>
          </a:xfrm>
          <a:prstGeom prst="rect">
            <a:avLst/>
          </a:prstGeom>
        </p:spPr>
        <p:txBody>
          <a:bodyPr wrap="none">
            <a:spAutoFit/>
          </a:bodyPr>
          <a:lstStyle/>
          <a:p>
            <a:r>
              <a:rPr lang="en-IN" dirty="0"/>
              <a:t>Figure 6.29 Stored </a:t>
            </a:r>
            <a:r>
              <a:rPr lang="en-IN" dirty="0" smtClean="0"/>
              <a:t>program</a:t>
            </a:r>
            <a:endParaRPr lang="en-IN" dirty="0"/>
          </a:p>
        </p:txBody>
      </p:sp>
      <p:sp>
        <p:nvSpPr>
          <p:cNvPr id="6" name="Rectangle 5"/>
          <p:cNvSpPr/>
          <p:nvPr/>
        </p:nvSpPr>
        <p:spPr>
          <a:xfrm>
            <a:off x="3942272" y="2061713"/>
            <a:ext cx="7686136" cy="1477328"/>
          </a:xfrm>
          <a:prstGeom prst="rect">
            <a:avLst/>
          </a:prstGeom>
        </p:spPr>
        <p:txBody>
          <a:bodyPr wrap="square">
            <a:spAutoFit/>
          </a:bodyPr>
          <a:lstStyle/>
          <a:p>
            <a:pPr marL="285750" indent="-285750">
              <a:buFont typeface="Arial" panose="020B0604020202020204" pitchFamily="34" charset="0"/>
              <a:buChar char="•"/>
            </a:pPr>
            <a:r>
              <a:rPr lang="en-US" dirty="0"/>
              <a:t>To execute the </a:t>
            </a:r>
            <a:r>
              <a:rPr lang="en-US" dirty="0" smtClean="0"/>
              <a:t>code, </a:t>
            </a:r>
            <a:r>
              <a:rPr lang="en-US" dirty="0"/>
              <a:t>the PC is initialized to address 0x00000830</a:t>
            </a:r>
            <a:r>
              <a:rPr lang="en-US" dirty="0" smtClean="0"/>
              <a:t>.</a:t>
            </a:r>
          </a:p>
          <a:p>
            <a:pPr marL="285750" indent="-285750">
              <a:buFont typeface="Arial" panose="020B0604020202020204" pitchFamily="34" charset="0"/>
              <a:buChar char="•"/>
            </a:pPr>
            <a:r>
              <a:rPr lang="en-US" dirty="0" smtClean="0"/>
              <a:t> </a:t>
            </a:r>
            <a:r>
              <a:rPr lang="en-US" dirty="0"/>
              <a:t>The processor fetches the instruction at that memory address and executes the instruction, 0x01498933 (add s2, s3, s4). </a:t>
            </a:r>
            <a:endParaRPr lang="en-US" dirty="0" smtClean="0"/>
          </a:p>
          <a:p>
            <a:pPr marL="285750" indent="-285750">
              <a:buFont typeface="Arial" panose="020B0604020202020204" pitchFamily="34" charset="0"/>
              <a:buChar char="•"/>
            </a:pPr>
            <a:r>
              <a:rPr lang="en-US" dirty="0" smtClean="0"/>
              <a:t>The </a:t>
            </a:r>
            <a:r>
              <a:rPr lang="en-US" dirty="0"/>
              <a:t>processor then increments the PC by 4 to 0x00000834, fetches and executes that instruction, and repeats.</a:t>
            </a:r>
            <a:endParaRPr lang="en-IN" dirty="0"/>
          </a:p>
        </p:txBody>
      </p:sp>
      <p:sp>
        <p:nvSpPr>
          <p:cNvPr id="3" name="Footer Placeholder 2"/>
          <p:cNvSpPr>
            <a:spLocks noGrp="1"/>
          </p:cNvSpPr>
          <p:nvPr>
            <p:ph type="ftr" sz="quarter" idx="11"/>
          </p:nvPr>
        </p:nvSpPr>
        <p:spPr/>
        <p:txBody>
          <a:bodyPr/>
          <a:lstStyle/>
          <a:p>
            <a:r>
              <a:rPr lang="en-IN" smtClean="0"/>
              <a:t>Reshma S</a:t>
            </a:r>
            <a:endParaRPr lang="en-IN"/>
          </a:p>
        </p:txBody>
      </p:sp>
      <p:sp>
        <p:nvSpPr>
          <p:cNvPr id="7" name="Slide Number Placeholder 6"/>
          <p:cNvSpPr>
            <a:spLocks noGrp="1"/>
          </p:cNvSpPr>
          <p:nvPr>
            <p:ph type="sldNum" sz="quarter" idx="12"/>
          </p:nvPr>
        </p:nvSpPr>
        <p:spPr/>
        <p:txBody>
          <a:bodyPr/>
          <a:lstStyle/>
          <a:p>
            <a:fld id="{1666FA4D-2C83-4AD9-8B7F-568D7F129F64}" type="slidenum">
              <a:rPr lang="en-IN" smtClean="0"/>
              <a:t>41</a:t>
            </a:fld>
            <a:endParaRPr lang="en-IN"/>
          </a:p>
        </p:txBody>
      </p:sp>
    </p:spTree>
    <p:extLst>
      <p:ext uri="{BB962C8B-B14F-4D97-AF65-F5344CB8AC3E}">
        <p14:creationId xmlns:p14="http://schemas.microsoft.com/office/powerpoint/2010/main" val="7472931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The architectural state of a microprocessor holds everything necessary to determine what a program will do. </a:t>
            </a:r>
            <a:endParaRPr lang="en-US" dirty="0" smtClean="0"/>
          </a:p>
          <a:p>
            <a:pPr algn="just"/>
            <a:r>
              <a:rPr lang="en-US" dirty="0" smtClean="0"/>
              <a:t>For </a:t>
            </a:r>
            <a:r>
              <a:rPr lang="en-US" dirty="0"/>
              <a:t>RISC-V, the architectural state includes the memory, register file, and PC. </a:t>
            </a:r>
            <a:endParaRPr lang="en-US" dirty="0" smtClean="0"/>
          </a:p>
          <a:p>
            <a:pPr algn="just"/>
            <a:r>
              <a:rPr lang="en-US" dirty="0" smtClean="0"/>
              <a:t>If </a:t>
            </a:r>
            <a:r>
              <a:rPr lang="en-US" dirty="0"/>
              <a:t>the operating system (OS) saves the architectural state at some point in the program, it can interrupt the program, do something else, and then restore the state such that the program continues properly, unaware that it was ever interrupted.</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42</a:t>
            </a:fld>
            <a:endParaRPr lang="en-IN"/>
          </a:p>
        </p:txBody>
      </p:sp>
    </p:spTree>
    <p:extLst>
      <p:ext uri="{BB962C8B-B14F-4D97-AF65-F5344CB8AC3E}">
        <p14:creationId xmlns:p14="http://schemas.microsoft.com/office/powerpoint/2010/main" val="7739567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 OF THE RISC-V ARCHITECTURE</a:t>
            </a:r>
            <a:endParaRPr lang="en-IN" dirty="0"/>
          </a:p>
        </p:txBody>
      </p:sp>
      <p:sp>
        <p:nvSpPr>
          <p:cNvPr id="3" name="Content Placeholder 2"/>
          <p:cNvSpPr>
            <a:spLocks noGrp="1"/>
          </p:cNvSpPr>
          <p:nvPr>
            <p:ph idx="1"/>
          </p:nvPr>
        </p:nvSpPr>
        <p:spPr/>
        <p:txBody>
          <a:bodyPr>
            <a:normAutofit lnSpcReduction="10000"/>
          </a:bodyPr>
          <a:lstStyle/>
          <a:p>
            <a:pPr algn="just"/>
            <a:r>
              <a:rPr lang="en-US" dirty="0"/>
              <a:t>RISC-V was designed to be a commercially viable, open-source computer architecture, that is robust, efficient, and flexible. </a:t>
            </a:r>
            <a:endParaRPr lang="en-US" dirty="0" smtClean="0"/>
          </a:p>
          <a:p>
            <a:pPr algn="just"/>
            <a:r>
              <a:rPr lang="en-US" dirty="0" smtClean="0"/>
              <a:t>RISC-V </a:t>
            </a:r>
            <a:r>
              <a:rPr lang="en-US" dirty="0"/>
              <a:t>differentiates itself from other architectures because </a:t>
            </a:r>
            <a:endParaRPr lang="en-US" dirty="0" smtClean="0"/>
          </a:p>
          <a:p>
            <a:pPr lvl="1" algn="just"/>
            <a:r>
              <a:rPr lang="en-US" dirty="0" smtClean="0"/>
              <a:t>it </a:t>
            </a:r>
            <a:r>
              <a:rPr lang="en-US" dirty="0"/>
              <a:t>is open source</a:t>
            </a:r>
            <a:r>
              <a:rPr lang="en-US" dirty="0" smtClean="0"/>
              <a:t>,</a:t>
            </a:r>
          </a:p>
          <a:p>
            <a:pPr lvl="1" algn="just"/>
            <a:r>
              <a:rPr lang="en-US" dirty="0" smtClean="0"/>
              <a:t> </a:t>
            </a:r>
            <a:r>
              <a:rPr lang="en-US" dirty="0"/>
              <a:t>uses base instruction sets to ease compatibility, </a:t>
            </a:r>
            <a:endParaRPr lang="en-US" dirty="0" smtClean="0"/>
          </a:p>
          <a:p>
            <a:pPr lvl="1" algn="just"/>
            <a:r>
              <a:rPr lang="en-US" dirty="0" smtClean="0"/>
              <a:t>supports </a:t>
            </a:r>
            <a:r>
              <a:rPr lang="en-US" dirty="0"/>
              <a:t>the full range of micro architectures, </a:t>
            </a:r>
            <a:endParaRPr lang="en-US" dirty="0" smtClean="0"/>
          </a:p>
          <a:p>
            <a:pPr lvl="1" algn="just"/>
            <a:r>
              <a:rPr lang="en-US" dirty="0" smtClean="0"/>
              <a:t>from </a:t>
            </a:r>
            <a:r>
              <a:rPr lang="en-US" dirty="0"/>
              <a:t>embedded systems to high-performance computers, </a:t>
            </a:r>
            <a:endParaRPr lang="en-US" dirty="0" smtClean="0"/>
          </a:p>
          <a:p>
            <a:pPr lvl="1" algn="just"/>
            <a:r>
              <a:rPr lang="en-US" dirty="0" smtClean="0"/>
              <a:t>offers </a:t>
            </a:r>
            <a:r>
              <a:rPr lang="en-US" dirty="0"/>
              <a:t>both defined and customizable extensions, </a:t>
            </a:r>
            <a:endParaRPr lang="en-US" dirty="0" smtClean="0"/>
          </a:p>
          <a:p>
            <a:pPr lvl="1" algn="just"/>
            <a:r>
              <a:rPr lang="en-US" dirty="0" smtClean="0"/>
              <a:t>and </a:t>
            </a:r>
            <a:r>
              <a:rPr lang="en-US" dirty="0"/>
              <a:t>provides features, such as compressed instructions and RV128I, that optimize hardware and support both existing and future designs, ensuring the architecture’s longevity</a:t>
            </a:r>
            <a:r>
              <a:rPr lang="en-US" dirty="0" smtClean="0"/>
              <a:t>.</a:t>
            </a:r>
            <a:endParaRPr lang="en-IN" dirty="0"/>
          </a:p>
        </p:txBody>
      </p:sp>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43</a:t>
            </a:fld>
            <a:endParaRPr lang="en-IN"/>
          </a:p>
        </p:txBody>
      </p:sp>
    </p:spTree>
    <p:extLst>
      <p:ext uri="{BB962C8B-B14F-4D97-AF65-F5344CB8AC3E}">
        <p14:creationId xmlns:p14="http://schemas.microsoft.com/office/powerpoint/2010/main" val="22590693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6" name="Content Placeholder 5"/>
          <p:cNvPicPr>
            <a:picLocks noGrp="1" noChangeAspect="1"/>
          </p:cNvPicPr>
          <p:nvPr>
            <p:ph idx="1"/>
          </p:nvPr>
        </p:nvPicPr>
        <p:blipFill>
          <a:blip r:embed="rId2"/>
          <a:stretch>
            <a:fillRect/>
          </a:stretch>
        </p:blipFill>
        <p:spPr>
          <a:xfrm>
            <a:off x="2617751" y="1135512"/>
            <a:ext cx="5748799" cy="4351338"/>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44</a:t>
            </a:fld>
            <a:endParaRPr lang="en-IN"/>
          </a:p>
        </p:txBody>
      </p:sp>
    </p:spTree>
    <p:extLst>
      <p:ext uri="{BB962C8B-B14F-4D97-AF65-F5344CB8AC3E}">
        <p14:creationId xmlns:p14="http://schemas.microsoft.com/office/powerpoint/2010/main" val="19362964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1466722" y="644667"/>
            <a:ext cx="8278686" cy="4910744"/>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45</a:t>
            </a:fld>
            <a:endParaRPr lang="en-IN"/>
          </a:p>
        </p:txBody>
      </p:sp>
    </p:spTree>
    <p:extLst>
      <p:ext uri="{BB962C8B-B14F-4D97-AF65-F5344CB8AC3E}">
        <p14:creationId xmlns:p14="http://schemas.microsoft.com/office/powerpoint/2010/main" val="36946612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1640403" y="540289"/>
            <a:ext cx="7408309" cy="5084134"/>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46</a:t>
            </a:fld>
            <a:endParaRPr lang="en-IN"/>
          </a:p>
        </p:txBody>
      </p:sp>
    </p:spTree>
    <p:extLst>
      <p:ext uri="{BB962C8B-B14F-4D97-AF65-F5344CB8AC3E}">
        <p14:creationId xmlns:p14="http://schemas.microsoft.com/office/powerpoint/2010/main" val="18568509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1535035" y="2393334"/>
            <a:ext cx="9121930" cy="3215919"/>
          </a:xfrm>
          <a:prstGeom prst="rect">
            <a:avLst/>
          </a:prstGeom>
        </p:spPr>
      </p:pic>
      <p:sp>
        <p:nvSpPr>
          <p:cNvPr id="4" name="Footer Placeholder 3"/>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47</a:t>
            </a:fld>
            <a:endParaRPr lang="en-IN"/>
          </a:p>
        </p:txBody>
      </p:sp>
    </p:spTree>
    <p:extLst>
      <p:ext uri="{BB962C8B-B14F-4D97-AF65-F5344CB8AC3E}">
        <p14:creationId xmlns:p14="http://schemas.microsoft.com/office/powerpoint/2010/main" val="11939855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37528" y="1832174"/>
            <a:ext cx="7226246" cy="3109866"/>
          </a:xfrm>
          <a:prstGeom prst="rect">
            <a:avLst/>
          </a:prstGeom>
        </p:spPr>
      </p:pic>
      <p:sp>
        <p:nvSpPr>
          <p:cNvPr id="3" name="Footer Placeholder 2"/>
          <p:cNvSpPr>
            <a:spLocks noGrp="1"/>
          </p:cNvSpPr>
          <p:nvPr>
            <p:ph type="ftr" sz="quarter" idx="11"/>
          </p:nvPr>
        </p:nvSpPr>
        <p:spPr/>
        <p:txBody>
          <a:bodyPr/>
          <a:lstStyle/>
          <a:p>
            <a:r>
              <a:rPr lang="en-IN" smtClean="0"/>
              <a:t>Reshma S</a:t>
            </a:r>
            <a:endParaRPr lang="en-IN"/>
          </a:p>
        </p:txBody>
      </p:sp>
      <p:sp>
        <p:nvSpPr>
          <p:cNvPr id="5" name="Slide Number Placeholder 4"/>
          <p:cNvSpPr>
            <a:spLocks noGrp="1"/>
          </p:cNvSpPr>
          <p:nvPr>
            <p:ph type="sldNum" sz="quarter" idx="12"/>
          </p:nvPr>
        </p:nvSpPr>
        <p:spPr/>
        <p:txBody>
          <a:bodyPr/>
          <a:lstStyle/>
          <a:p>
            <a:fld id="{1666FA4D-2C83-4AD9-8B7F-568D7F129F64}" type="slidenum">
              <a:rPr lang="en-IN" smtClean="0"/>
              <a:t>48</a:t>
            </a:fld>
            <a:endParaRPr lang="en-IN"/>
          </a:p>
        </p:txBody>
      </p:sp>
    </p:spTree>
    <p:extLst>
      <p:ext uri="{BB962C8B-B14F-4D97-AF65-F5344CB8AC3E}">
        <p14:creationId xmlns:p14="http://schemas.microsoft.com/office/powerpoint/2010/main" val="1526990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2766</TotalTime>
  <Words>1891</Words>
  <Application>Microsoft Office PowerPoint</Application>
  <PresentationFormat>Widescreen</PresentationFormat>
  <Paragraphs>224</Paragraphs>
  <Slides>48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Calibri Light</vt:lpstr>
      <vt:lpstr>Office Theme</vt:lpstr>
      <vt:lpstr>MODULE 1 </vt:lpstr>
      <vt:lpstr>MACHINE LANGUAGE</vt:lpstr>
      <vt:lpstr>Design Principle 4:</vt:lpstr>
      <vt:lpstr>Instructions</vt:lpstr>
      <vt:lpstr>R-Type Instructions</vt:lpstr>
      <vt:lpstr>PowerPoint Presentation</vt:lpstr>
      <vt:lpstr>PowerPoint Presentation</vt:lpstr>
      <vt:lpstr>Solution::::</vt:lpstr>
      <vt:lpstr>l-Type Instructions</vt:lpstr>
      <vt:lpstr>PowerPoint Presentation</vt:lpstr>
      <vt:lpstr>TRANSLATING I-TYPE ASSEMBLY INSTRUCTIONS INTO MACHINE CODE  </vt:lpstr>
      <vt:lpstr>Solution:::</vt:lpstr>
      <vt:lpstr>S/B-Type Instructions</vt:lpstr>
      <vt:lpstr>PowerPoint Presentation</vt:lpstr>
      <vt:lpstr>PowerPoint Presentation</vt:lpstr>
      <vt:lpstr>Solution:::</vt:lpstr>
      <vt:lpstr>U/J-type instructions </vt:lpstr>
      <vt:lpstr>PowerPoint Presentation</vt:lpstr>
      <vt:lpstr>PowerPoint Presentation</vt:lpstr>
      <vt:lpstr>Immediate Encodings</vt:lpstr>
      <vt:lpstr>PowerPoint Presentation</vt:lpstr>
      <vt:lpstr>OPCODE::</vt:lpstr>
      <vt:lpstr>R-Type ALU Instructions</vt:lpstr>
      <vt:lpstr>Immediate ALU  OPCODE: 0010011</vt:lpstr>
      <vt:lpstr>B-type::</vt:lpstr>
      <vt:lpstr>Load Instructions (I-Type)</vt:lpstr>
      <vt:lpstr>Store Instructions (S-Type)</vt:lpstr>
      <vt:lpstr>RISC-V Integer Registers (x0 – x31)</vt:lpstr>
      <vt:lpstr>PowerPoint Presentation</vt:lpstr>
      <vt:lpstr>PowerPoint Presentation</vt:lpstr>
      <vt:lpstr>Addressing Modes</vt:lpstr>
      <vt:lpstr>Register-Only Addressing</vt:lpstr>
      <vt:lpstr>Immediate Addressing</vt:lpstr>
      <vt:lpstr>Base Addressing</vt:lpstr>
      <vt:lpstr>PC-Relative Addressing</vt:lpstr>
      <vt:lpstr> Interpreting Machine Language Code </vt:lpstr>
      <vt:lpstr>TRANSLATING MACHINE LANGUAGE TO ASSEMBLY LANGUAGE</vt:lpstr>
      <vt:lpstr>Solution:::</vt:lpstr>
      <vt:lpstr>The Power of the Stored Program</vt:lpstr>
      <vt:lpstr>PowerPoint Presentation</vt:lpstr>
      <vt:lpstr>PowerPoint Presentation</vt:lpstr>
      <vt:lpstr>PowerPoint Presentation</vt:lpstr>
      <vt:lpstr>EVOLUTION OF THE RISC-V ARCHITECTURE</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dc:title>
  <dc:creator>RESHMA SUDHAKARAN</dc:creator>
  <cp:lastModifiedBy>RESHMA SUDHAKARAN</cp:lastModifiedBy>
  <cp:revision>116</cp:revision>
  <dcterms:created xsi:type="dcterms:W3CDTF">2025-12-23T15:20:56Z</dcterms:created>
  <dcterms:modified xsi:type="dcterms:W3CDTF">2026-01-13T04:11:23Z</dcterms:modified>
</cp:coreProperties>
</file>